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4" r:id="rId6"/>
    <p:sldId id="265" r:id="rId7"/>
    <p:sldId id="260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5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2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79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08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6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19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2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54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89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8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5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C96B5-8CD6-42CD-A2F3-B97FDED654A7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9B3A1-01E3-4CF0-8DD6-71008961A7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1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Perspective on Organization Dynamics and Dysfunction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Malcolm S. Townes</a:t>
            </a:r>
          </a:p>
          <a:p>
            <a:r>
              <a:rPr lang="en-US" dirty="0"/>
              <a:t>POLS 6320 Organization Theory and Behavior</a:t>
            </a:r>
          </a:p>
          <a:p>
            <a:r>
              <a:rPr lang="en-US" dirty="0"/>
              <a:t>Saint Louis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270" y="5539409"/>
            <a:ext cx="10429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May 4, 2020</a:t>
            </a:r>
          </a:p>
        </p:txBody>
      </p:sp>
    </p:spTree>
    <p:extLst>
      <p:ext uri="{BB962C8B-B14F-4D97-AF65-F5344CB8AC3E}">
        <p14:creationId xmlns:p14="http://schemas.microsoft.com/office/powerpoint/2010/main" val="214328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009207"/>
              </p:ext>
            </p:extLst>
          </p:nvPr>
        </p:nvGraphicFramePr>
        <p:xfrm>
          <a:off x="152400" y="228600"/>
          <a:ext cx="1188720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721151701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075546585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38360900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Pre-Course Belief</a:t>
                      </a:r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Post-Course Belief</a:t>
                      </a:r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037781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</a:t>
                      </a:r>
                      <a:r>
                        <a:rPr lang="en-US" baseline="0" dirty="0"/>
                        <a:t> nature of organizations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analogy of an organization being like an organism</a:t>
                      </a:r>
                      <a:r>
                        <a:rPr lang="en-US" baseline="0" dirty="0"/>
                        <a:t> had given way to the notion that an organization is an un-evolving organism that has independent motivations.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 organization</a:t>
                      </a:r>
                      <a:r>
                        <a:rPr lang="en-US" baseline="0" dirty="0"/>
                        <a:t> is a human construct defined by norms and expectations that its members must continually negotiate and affirm.</a:t>
                      </a:r>
                      <a:endParaRPr lang="en-US" dirty="0"/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744382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Exercising human</a:t>
                      </a:r>
                      <a:r>
                        <a:rPr lang="en-US" baseline="0" dirty="0"/>
                        <a:t> agency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Membership in an organization requires one to abdicate</a:t>
                      </a:r>
                      <a:r>
                        <a:rPr lang="en-US" baseline="0" dirty="0"/>
                        <a:t> their human agency.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Membership in an organization does not require</a:t>
                      </a:r>
                      <a:r>
                        <a:rPr lang="en-US" baseline="0" dirty="0"/>
                        <a:t> one to abdicate human agency.</a:t>
                      </a:r>
                      <a:endParaRPr lang="en-US" dirty="0"/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2853049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How</a:t>
                      </a:r>
                      <a:r>
                        <a:rPr lang="en-US" baseline="0" dirty="0"/>
                        <a:t> change occurs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high level fiduciary leaders have the responsibility and authority to effectuate organizational change.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Every member of the organization has a right to try to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effectuate organizational change regardless of</a:t>
                      </a:r>
                      <a:r>
                        <a:rPr lang="en-US" baseline="0" dirty="0"/>
                        <a:t> their</a:t>
                      </a:r>
                      <a:r>
                        <a:rPr lang="en-US" dirty="0"/>
                        <a:t> status.</a:t>
                      </a:r>
                      <a:endParaRPr lang="en-US" dirty="0"/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707808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Appropriateness of guerilla activity</a:t>
                      </a:r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Guerilla activity within an organization is seldom if ever appropriate, a sign of disloyalty to the organization, and damaging</a:t>
                      </a:r>
                      <a:r>
                        <a:rPr lang="en-US" baseline="0" dirty="0"/>
                        <a:t> to the organization</a:t>
                      </a:r>
                      <a:r>
                        <a:rPr lang="en-US" dirty="0"/>
                        <a:t>.</a:t>
                      </a:r>
                      <a:endParaRPr lang="en-US" dirty="0"/>
                    </a:p>
                  </a:txBody>
                  <a:tcPr marT="228600" marB="22860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Guerilla activity is a legitimate</a:t>
                      </a:r>
                      <a:r>
                        <a:rPr lang="en-US" baseline="0" dirty="0"/>
                        <a:t>, appropriate, and useful method to effectuate change in an organization.</a:t>
                      </a:r>
                      <a:endParaRPr lang="en-US" dirty="0"/>
                    </a:p>
                  </a:txBody>
                  <a:tcPr marT="228600" marB="228600"/>
                </a:tc>
                <a:extLst>
                  <a:ext uri="{0D108BD9-81ED-4DB2-BD59-A6C34878D82A}">
                    <a16:rowId xmlns:a16="http://schemas.microsoft.com/office/drawing/2014/main" val="1062439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64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0048" y="1905506"/>
            <a:ext cx="626432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Setting organizational objectives and effectuating organizational change to achieve those objectives are not the exclusive responsibility, right, and privilege of the organization’s fiduciary leaders.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372" y="1473201"/>
            <a:ext cx="3200400" cy="391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81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/>
          <p:cNvSpPr/>
          <p:nvPr/>
        </p:nvSpPr>
        <p:spPr>
          <a:xfrm rot="-1800000" flipH="1">
            <a:off x="7435482" y="868680"/>
            <a:ext cx="3657600" cy="1828800"/>
          </a:xfrm>
          <a:prstGeom prst="homePlat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An organization is a human construct defined by norms and expectations that its members must continually negotiate and affirm.</a:t>
            </a:r>
          </a:p>
        </p:txBody>
      </p:sp>
      <p:sp>
        <p:nvSpPr>
          <p:cNvPr id="4" name="Arrow: Pentagon 3"/>
          <p:cNvSpPr/>
          <p:nvPr/>
        </p:nvSpPr>
        <p:spPr>
          <a:xfrm rot="1816787" flipH="1">
            <a:off x="7434860" y="4155040"/>
            <a:ext cx="3657600" cy="1828800"/>
          </a:xfrm>
          <a:prstGeom prst="homePlat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Membership in an organization does not require one to abdicate human agency.</a:t>
            </a:r>
          </a:p>
        </p:txBody>
      </p:sp>
      <p:sp>
        <p:nvSpPr>
          <p:cNvPr id="5" name="Arrow: Pentagon 4"/>
          <p:cNvSpPr/>
          <p:nvPr/>
        </p:nvSpPr>
        <p:spPr>
          <a:xfrm rot="1800000">
            <a:off x="1100163" y="868679"/>
            <a:ext cx="3657600" cy="18288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Guerilla activity is a legitimate, appropriate, and useful method to effectuate change in an organization.</a:t>
            </a:r>
          </a:p>
        </p:txBody>
      </p:sp>
      <p:sp>
        <p:nvSpPr>
          <p:cNvPr id="6" name="Arrow: Pentagon 5"/>
          <p:cNvSpPr/>
          <p:nvPr/>
        </p:nvSpPr>
        <p:spPr>
          <a:xfrm rot="-1800000">
            <a:off x="1100161" y="4160522"/>
            <a:ext cx="3657600" cy="1828800"/>
          </a:xfrm>
          <a:prstGeom prst="homePlat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Every member of the organization has a right to try to effectuate organizational change regardless of status.</a:t>
            </a:r>
          </a:p>
        </p:txBody>
      </p:sp>
      <p:sp>
        <p:nvSpPr>
          <p:cNvPr id="2" name="Oval 1"/>
          <p:cNvSpPr/>
          <p:nvPr/>
        </p:nvSpPr>
        <p:spPr>
          <a:xfrm>
            <a:off x="4450080" y="1783080"/>
            <a:ext cx="3291840" cy="3291840"/>
          </a:xfrm>
          <a:prstGeom prst="ellips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dirty="0"/>
              <a:t>Every member of an organization has a warrant to influence organizational objectives and effectuate organizational change derived from their membership in the organization.</a:t>
            </a:r>
          </a:p>
        </p:txBody>
      </p:sp>
    </p:spTree>
    <p:extLst>
      <p:ext uri="{BB962C8B-B14F-4D97-AF65-F5344CB8AC3E}">
        <p14:creationId xmlns:p14="http://schemas.microsoft.com/office/powerpoint/2010/main" val="1644096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llout: Down Arrow 2"/>
          <p:cNvSpPr/>
          <p:nvPr/>
        </p:nvSpPr>
        <p:spPr>
          <a:xfrm>
            <a:off x="5038299" y="150119"/>
            <a:ext cx="2115403" cy="1937982"/>
          </a:xfrm>
          <a:prstGeom prst="downArrowCallout">
            <a:avLst/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Whistleblowing</a:t>
            </a:r>
          </a:p>
        </p:txBody>
      </p:sp>
      <p:sp>
        <p:nvSpPr>
          <p:cNvPr id="4" name="Callout: Down Arrow 3"/>
          <p:cNvSpPr/>
          <p:nvPr/>
        </p:nvSpPr>
        <p:spPr>
          <a:xfrm>
            <a:off x="917585" y="150119"/>
            <a:ext cx="2115403" cy="1937982"/>
          </a:xfrm>
          <a:prstGeom prst="downArrowCallou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Dehumanization</a:t>
            </a:r>
          </a:p>
        </p:txBody>
      </p:sp>
      <p:sp>
        <p:nvSpPr>
          <p:cNvPr id="5" name="Callout: Down Arrow 4"/>
          <p:cNvSpPr/>
          <p:nvPr/>
        </p:nvSpPr>
        <p:spPr>
          <a:xfrm>
            <a:off x="9162198" y="150119"/>
            <a:ext cx="2115403" cy="1937982"/>
          </a:xfrm>
          <a:prstGeom prst="downArrowCallou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Bounded Rationality</a:t>
            </a:r>
          </a:p>
        </p:txBody>
      </p:sp>
      <p:sp>
        <p:nvSpPr>
          <p:cNvPr id="6" name="Thought Bubble: Cloud 5"/>
          <p:cNvSpPr/>
          <p:nvPr/>
        </p:nvSpPr>
        <p:spPr>
          <a:xfrm>
            <a:off x="4175760" y="3534767"/>
            <a:ext cx="3840480" cy="3200400"/>
          </a:xfrm>
          <a:prstGeom prst="cloudCallout">
            <a:avLst>
              <a:gd name="adj1" fmla="val 544"/>
              <a:gd name="adj2" fmla="val -826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Affirms whistleblowing as a strategy for effectuating change but creates an environment that minimizes the need for it.</a:t>
            </a:r>
          </a:p>
        </p:txBody>
      </p:sp>
      <p:sp>
        <p:nvSpPr>
          <p:cNvPr id="7" name="Thought Bubble: Cloud 6"/>
          <p:cNvSpPr/>
          <p:nvPr/>
        </p:nvSpPr>
        <p:spPr>
          <a:xfrm>
            <a:off x="51861" y="3534767"/>
            <a:ext cx="3840480" cy="3200400"/>
          </a:xfrm>
          <a:prstGeom prst="cloudCallout">
            <a:avLst>
              <a:gd name="adj1" fmla="val 544"/>
              <a:gd name="adj2" fmla="val -826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Minimizes the dehumanizing nature of organizations.</a:t>
            </a:r>
          </a:p>
        </p:txBody>
      </p:sp>
      <p:sp>
        <p:nvSpPr>
          <p:cNvPr id="8" name="Thought Bubble: Cloud 7"/>
          <p:cNvSpPr/>
          <p:nvPr/>
        </p:nvSpPr>
        <p:spPr>
          <a:xfrm>
            <a:off x="8299659" y="3534767"/>
            <a:ext cx="3840480" cy="3200400"/>
          </a:xfrm>
          <a:prstGeom prst="cloudCallout">
            <a:avLst>
              <a:gd name="adj1" fmla="val 189"/>
              <a:gd name="adj2" fmla="val -826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Mitigates the limitations of bounded rationality.</a:t>
            </a:r>
          </a:p>
        </p:txBody>
      </p:sp>
    </p:spTree>
    <p:extLst>
      <p:ext uri="{BB962C8B-B14F-4D97-AF65-F5344CB8AC3E}">
        <p14:creationId xmlns:p14="http://schemas.microsoft.com/office/powerpoint/2010/main" val="2345814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llout: Down Arrow 2"/>
          <p:cNvSpPr/>
          <p:nvPr/>
        </p:nvSpPr>
        <p:spPr>
          <a:xfrm>
            <a:off x="914400" y="150119"/>
            <a:ext cx="2115403" cy="1937982"/>
          </a:xfrm>
          <a:prstGeom prst="downArrowCallou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Environmental Change</a:t>
            </a:r>
          </a:p>
        </p:txBody>
      </p:sp>
      <p:sp>
        <p:nvSpPr>
          <p:cNvPr id="4" name="Callout: Down Arrow 3"/>
          <p:cNvSpPr/>
          <p:nvPr/>
        </p:nvSpPr>
        <p:spPr>
          <a:xfrm>
            <a:off x="5038299" y="150119"/>
            <a:ext cx="2115403" cy="1937982"/>
          </a:xfrm>
          <a:prstGeom prst="downArrowCallou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The Rationality Paradox</a:t>
            </a:r>
          </a:p>
        </p:txBody>
      </p:sp>
      <p:sp>
        <p:nvSpPr>
          <p:cNvPr id="5" name="Callout: Down Arrow 4"/>
          <p:cNvSpPr/>
          <p:nvPr/>
        </p:nvSpPr>
        <p:spPr>
          <a:xfrm>
            <a:off x="9162198" y="150119"/>
            <a:ext cx="2115403" cy="1937982"/>
          </a:xfrm>
          <a:prstGeom prst="downArrowCallou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Ethical Dilemmas</a:t>
            </a:r>
          </a:p>
        </p:txBody>
      </p:sp>
      <p:sp>
        <p:nvSpPr>
          <p:cNvPr id="6" name="Thought Bubble: Cloud 5"/>
          <p:cNvSpPr/>
          <p:nvPr/>
        </p:nvSpPr>
        <p:spPr>
          <a:xfrm>
            <a:off x="51861" y="3534767"/>
            <a:ext cx="3840480" cy="3200400"/>
          </a:xfrm>
          <a:prstGeom prst="cloudCallout">
            <a:avLst>
              <a:gd name="adj1" fmla="val 544"/>
              <a:gd name="adj2" fmla="val -826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Minimizes the risk of the organization being crippled or destroyed by changes in the operating environment.</a:t>
            </a:r>
          </a:p>
        </p:txBody>
      </p:sp>
      <p:sp>
        <p:nvSpPr>
          <p:cNvPr id="7" name="Thought Bubble: Cloud 6"/>
          <p:cNvSpPr/>
          <p:nvPr/>
        </p:nvSpPr>
        <p:spPr>
          <a:xfrm>
            <a:off x="4172575" y="3534767"/>
            <a:ext cx="3840480" cy="3200400"/>
          </a:xfrm>
          <a:prstGeom prst="cloudCallout">
            <a:avLst>
              <a:gd name="adj1" fmla="val 544"/>
              <a:gd name="adj2" fmla="val -826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Minimizes the risk of blind abidance to rationally constructed rules leading to irrational decisions.</a:t>
            </a:r>
          </a:p>
        </p:txBody>
      </p:sp>
      <p:sp>
        <p:nvSpPr>
          <p:cNvPr id="8" name="Thought Bubble: Cloud 7"/>
          <p:cNvSpPr/>
          <p:nvPr/>
        </p:nvSpPr>
        <p:spPr>
          <a:xfrm>
            <a:off x="8299659" y="3534767"/>
            <a:ext cx="3840480" cy="3200400"/>
          </a:xfrm>
          <a:prstGeom prst="cloudCallout">
            <a:avLst>
              <a:gd name="adj1" fmla="val 189"/>
              <a:gd name="adj2" fmla="val -826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Provides a path for resolving ethical dilemmas.</a:t>
            </a:r>
          </a:p>
        </p:txBody>
      </p:sp>
    </p:spTree>
    <p:extLst>
      <p:ext uri="{BB962C8B-B14F-4D97-AF65-F5344CB8AC3E}">
        <p14:creationId xmlns:p14="http://schemas.microsoft.com/office/powerpoint/2010/main" val="81940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4572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Implications for role as a subordinate within an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4900" y="185609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Think of effectuating change not as matter of “what gives you the right” but a matter of under what circumstances do I choose to exercise my right.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900" y="3182204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organizational allegiance and commitment a matter of fulfilling ethical obligations and satisfying personal needs blind loyalty to the organizational entity.</a:t>
            </a:r>
          </a:p>
        </p:txBody>
      </p:sp>
      <p:sp>
        <p:nvSpPr>
          <p:cNvPr id="5" name="Oval 4"/>
          <p:cNvSpPr/>
          <p:nvPr/>
        </p:nvSpPr>
        <p:spPr>
          <a:xfrm>
            <a:off x="1009934" y="1949768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09934" y="3323382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37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457200"/>
            <a:ext cx="1143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Implications for role as a colleague to other organization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4900" y="1856096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View c</a:t>
            </a:r>
            <a:r>
              <a:rPr lang="en-US" sz="2400" dirty="0"/>
              <a:t>onflict as an opportunity for creative problem solving that helps the organization better adapt to the environment rather than a dysfunction to be avoided at all costs.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900" y="3550697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Pursue interactions with colleagues as negotiations rather than zero sum games characterized by domination and submission.</a:t>
            </a:r>
          </a:p>
        </p:txBody>
      </p:sp>
      <p:sp>
        <p:nvSpPr>
          <p:cNvPr id="5" name="Oval 4"/>
          <p:cNvSpPr/>
          <p:nvPr/>
        </p:nvSpPr>
        <p:spPr>
          <a:xfrm>
            <a:off x="1009934" y="1949768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009934" y="3691875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2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4572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Implications for role as a supervisor within an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14900" y="1856096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Reject the notion that supervisors must do all of the thinking for the group.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14900" y="2866030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Avoid treating subordinates as unthinking automatons whose only function is to carry out the directives of superiors.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4900" y="424529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Create an environment where subordinates have options to express opinions other than guerilla activity.</a:t>
            </a:r>
          </a:p>
        </p:txBody>
      </p:sp>
      <p:sp>
        <p:nvSpPr>
          <p:cNvPr id="6" name="Oval 5"/>
          <p:cNvSpPr/>
          <p:nvPr/>
        </p:nvSpPr>
        <p:spPr>
          <a:xfrm>
            <a:off x="1009934" y="1949768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009934" y="2991202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09934" y="4343172"/>
            <a:ext cx="272956" cy="274320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96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569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A Perspective on Organization Dynamics and Dysfunction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Perspective on Organization Dynamics and Dysfunction</dc:title>
  <dc:creator>Malcolm Townes</dc:creator>
  <cp:lastModifiedBy>Malcolm Townes</cp:lastModifiedBy>
  <cp:revision>25</cp:revision>
  <dcterms:created xsi:type="dcterms:W3CDTF">2020-04-27T23:21:04Z</dcterms:created>
  <dcterms:modified xsi:type="dcterms:W3CDTF">2020-04-28T01:39:35Z</dcterms:modified>
</cp:coreProperties>
</file>