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6" r:id="rId6"/>
    <p:sldId id="267" r:id="rId7"/>
    <p:sldId id="260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>
        <p:scale>
          <a:sx n="70" d="100"/>
          <a:sy n="70" d="100"/>
        </p:scale>
        <p:origin x="73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4500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329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079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108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5/1/2020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7653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5/1/2020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927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5/1/2020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923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540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9891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489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455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1C96B5-8CD6-42CD-A2F3-B97FDED654A7}" type="datetimeFigureOut">
              <a:rPr lang="en-US" smtClean="0"/>
              <a:t>5/1/2020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10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A Perspective on Organization Dynamics and Dysfunction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Malcolm S. Townes</a:t>
            </a:r>
          </a:p>
          <a:p>
            <a:r>
              <a:rPr lang="en-US" dirty="0"/>
              <a:t>POLS 6320 Organization Theory and Behavior</a:t>
            </a:r>
          </a:p>
          <a:p>
            <a:r>
              <a:rPr lang="en-US" dirty="0"/>
              <a:t>Saint Louis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270" y="5539409"/>
            <a:ext cx="104294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May 4, 2020</a:t>
            </a:r>
          </a:p>
        </p:txBody>
      </p:sp>
    </p:spTree>
    <p:extLst>
      <p:ext uri="{BB962C8B-B14F-4D97-AF65-F5344CB8AC3E}">
        <p14:creationId xmlns:p14="http://schemas.microsoft.com/office/powerpoint/2010/main" val="21432860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256244"/>
              </p:ext>
            </p:extLst>
          </p:nvPr>
        </p:nvGraphicFramePr>
        <p:xfrm>
          <a:off x="152400" y="228600"/>
          <a:ext cx="11887200" cy="640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400">
                  <a:extLst>
                    <a:ext uri="{9D8B030D-6E8A-4147-A177-3AD203B41FA5}">
                      <a16:colId xmlns:a16="http://schemas.microsoft.com/office/drawing/2014/main" val="3721151701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1075546585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38360900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Pre-Course Belief</a:t>
                      </a:r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Post-Course Belief</a:t>
                      </a:r>
                    </a:p>
                  </a:txBody>
                  <a:tcPr marT="228600" marB="228600"/>
                </a:tc>
                <a:extLst>
                  <a:ext uri="{0D108BD9-81ED-4DB2-BD59-A6C34878D82A}">
                    <a16:rowId xmlns:a16="http://schemas.microsoft.com/office/drawing/2014/main" val="10377813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The</a:t>
                      </a:r>
                      <a:r>
                        <a:rPr lang="en-US" baseline="0" dirty="0"/>
                        <a:t> nature of organizations</a:t>
                      </a:r>
                      <a:endParaRPr lang="en-US" dirty="0"/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Conceived of organizations as </a:t>
                      </a:r>
                      <a:br>
                        <a:rPr lang="en-US" baseline="0" dirty="0"/>
                      </a:br>
                      <a:r>
                        <a:rPr lang="en-US" baseline="0" dirty="0"/>
                        <a:t>human-like entities capable of independent motivations and action.</a:t>
                      </a:r>
                      <a:endParaRPr lang="en-US" dirty="0"/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 organization</a:t>
                      </a:r>
                      <a:r>
                        <a:rPr lang="en-US" baseline="0" dirty="0"/>
                        <a:t> is a human construct defined by norms and expectations that its members must continually negotiate and affirm.</a:t>
                      </a:r>
                      <a:endParaRPr lang="en-US" dirty="0"/>
                    </a:p>
                  </a:txBody>
                  <a:tcPr marT="228600" marB="228600"/>
                </a:tc>
                <a:extLst>
                  <a:ext uri="{0D108BD9-81ED-4DB2-BD59-A6C34878D82A}">
                    <a16:rowId xmlns:a16="http://schemas.microsoft.com/office/drawing/2014/main" val="174438241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Exercising human</a:t>
                      </a:r>
                      <a:r>
                        <a:rPr lang="en-US" baseline="0" dirty="0"/>
                        <a:t> agency</a:t>
                      </a:r>
                      <a:endParaRPr lang="en-US" dirty="0"/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Membership in an organization requires one to abdicate</a:t>
                      </a:r>
                      <a:r>
                        <a:rPr lang="en-US" baseline="0" dirty="0"/>
                        <a:t> their human agency.</a:t>
                      </a:r>
                      <a:endParaRPr lang="en-US" dirty="0"/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When</a:t>
                      </a:r>
                      <a:r>
                        <a:rPr lang="en-US" baseline="0" dirty="0"/>
                        <a:t> conceived as a set of recursive practices, an </a:t>
                      </a:r>
                      <a:r>
                        <a:rPr lang="en-US" dirty="0"/>
                        <a:t>organization</a:t>
                      </a:r>
                      <a:r>
                        <a:rPr lang="en-US" baseline="0" dirty="0"/>
                        <a:t> cannot exist without human agency.</a:t>
                      </a:r>
                      <a:endParaRPr lang="en-US" dirty="0"/>
                    </a:p>
                  </a:txBody>
                  <a:tcPr marT="228600" marB="228600"/>
                </a:tc>
                <a:extLst>
                  <a:ext uri="{0D108BD9-81ED-4DB2-BD59-A6C34878D82A}">
                    <a16:rowId xmlns:a16="http://schemas.microsoft.com/office/drawing/2014/main" val="2853049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How</a:t>
                      </a:r>
                      <a:r>
                        <a:rPr lang="en-US" baseline="0" dirty="0"/>
                        <a:t> organizational change occurs</a:t>
                      </a:r>
                      <a:endParaRPr lang="en-US" dirty="0"/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Only high level fiduciary leaders have the responsibility and authority to effectuate organizational change.</a:t>
                      </a:r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Every member of the organization has a right to try to</a:t>
                      </a:r>
                      <a:r>
                        <a:rPr lang="en-US" baseline="0" dirty="0"/>
                        <a:t> </a:t>
                      </a:r>
                      <a:r>
                        <a:rPr lang="en-US" dirty="0"/>
                        <a:t>effectuate organizational change regardless of</a:t>
                      </a:r>
                      <a:r>
                        <a:rPr lang="en-US" baseline="0" dirty="0"/>
                        <a:t> their</a:t>
                      </a:r>
                      <a:r>
                        <a:rPr lang="en-US" dirty="0"/>
                        <a:t> status.</a:t>
                      </a:r>
                    </a:p>
                  </a:txBody>
                  <a:tcPr marT="228600" marB="228600"/>
                </a:tc>
                <a:extLst>
                  <a:ext uri="{0D108BD9-81ED-4DB2-BD59-A6C34878D82A}">
                    <a16:rowId xmlns:a16="http://schemas.microsoft.com/office/drawing/2014/main" val="1707808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Appropriateness of guerilla activity</a:t>
                      </a:r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Guerilla activity within an organization is seldom if ever appropriate, a sign of disloyalty to the organization, and damaging</a:t>
                      </a:r>
                      <a:r>
                        <a:rPr lang="en-US" baseline="0" dirty="0"/>
                        <a:t> to the organization</a:t>
                      </a:r>
                      <a:r>
                        <a:rPr lang="en-US" dirty="0"/>
                        <a:t>.</a:t>
                      </a:r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Guerilla activity is a legitimate</a:t>
                      </a:r>
                      <a:r>
                        <a:rPr lang="en-US" baseline="0" dirty="0"/>
                        <a:t>, appropriate, and useful method to effectuate beneficial change in an organization.</a:t>
                      </a:r>
                      <a:endParaRPr lang="en-US" dirty="0"/>
                    </a:p>
                  </a:txBody>
                  <a:tcPr marT="228600" marB="228600"/>
                </a:tc>
                <a:extLst>
                  <a:ext uri="{0D108BD9-81ED-4DB2-BD59-A6C34878D82A}">
                    <a16:rowId xmlns:a16="http://schemas.microsoft.com/office/drawing/2014/main" val="10624393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76439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500048" y="1905506"/>
            <a:ext cx="626432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Setting organizational objectives and effectuating organizational change to achieve those objectives are not the exclusive responsibility, right, and privilege of the organization’s fiduciary leaders.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5372" y="1473201"/>
            <a:ext cx="3200400" cy="3911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8162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rrow: Pentagon 2"/>
          <p:cNvSpPr/>
          <p:nvPr/>
        </p:nvSpPr>
        <p:spPr>
          <a:xfrm rot="-1800000" flipH="1">
            <a:off x="7435482" y="868680"/>
            <a:ext cx="3657600" cy="1828800"/>
          </a:xfrm>
          <a:prstGeom prst="homePlat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9144" tIns="9144" rIns="9144" bIns="9144" rtlCol="0" anchor="ctr"/>
          <a:lstStyle/>
          <a:p>
            <a:pPr algn="ctr"/>
            <a:r>
              <a:rPr lang="en-US" dirty="0"/>
              <a:t>An organization is a human construct defined by norms and expectations that its members must continually negotiate and affirm.</a:t>
            </a:r>
          </a:p>
        </p:txBody>
      </p:sp>
      <p:sp>
        <p:nvSpPr>
          <p:cNvPr id="4" name="Arrow: Pentagon 3"/>
          <p:cNvSpPr/>
          <p:nvPr/>
        </p:nvSpPr>
        <p:spPr>
          <a:xfrm rot="1816787" flipH="1">
            <a:off x="7434860" y="4155040"/>
            <a:ext cx="3657600" cy="1828800"/>
          </a:xfrm>
          <a:prstGeom prst="homePlat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144" tIns="9144" rIns="9144" bIns="9144" rtlCol="0" anchor="ctr"/>
          <a:lstStyle/>
          <a:p>
            <a:pPr algn="ctr"/>
            <a:r>
              <a:rPr lang="en-US" dirty="0"/>
              <a:t>Membership in an organization does not require one to abdicate human agency.</a:t>
            </a:r>
          </a:p>
        </p:txBody>
      </p:sp>
      <p:sp>
        <p:nvSpPr>
          <p:cNvPr id="5" name="Arrow: Pentagon 4"/>
          <p:cNvSpPr/>
          <p:nvPr/>
        </p:nvSpPr>
        <p:spPr>
          <a:xfrm rot="1800000">
            <a:off x="1100163" y="868679"/>
            <a:ext cx="3657600" cy="1828800"/>
          </a:xfrm>
          <a:prstGeom prst="homePlat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9144" tIns="9144" rIns="9144" bIns="9144" rtlCol="0" anchor="ctr"/>
          <a:lstStyle/>
          <a:p>
            <a:pPr algn="ctr"/>
            <a:r>
              <a:rPr lang="en-US" dirty="0"/>
              <a:t>Guerilla activity is a legitimate, appropriate, and useful method to effectuate change in an organization.</a:t>
            </a:r>
          </a:p>
        </p:txBody>
      </p:sp>
      <p:sp>
        <p:nvSpPr>
          <p:cNvPr id="6" name="Arrow: Pentagon 5"/>
          <p:cNvSpPr/>
          <p:nvPr/>
        </p:nvSpPr>
        <p:spPr>
          <a:xfrm rot="-1800000">
            <a:off x="1100161" y="4160522"/>
            <a:ext cx="3657600" cy="1828800"/>
          </a:xfrm>
          <a:prstGeom prst="homePlate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9144" tIns="9144" rIns="9144" bIns="9144" rtlCol="0" anchor="ctr"/>
          <a:lstStyle/>
          <a:p>
            <a:pPr algn="ctr"/>
            <a:r>
              <a:rPr lang="en-US" dirty="0"/>
              <a:t>Every member of the organization has a right to try to effectuate organizational change regardless of status.</a:t>
            </a:r>
          </a:p>
        </p:txBody>
      </p:sp>
      <p:sp>
        <p:nvSpPr>
          <p:cNvPr id="2" name="Oval 1"/>
          <p:cNvSpPr/>
          <p:nvPr/>
        </p:nvSpPr>
        <p:spPr>
          <a:xfrm>
            <a:off x="4450080" y="1783080"/>
            <a:ext cx="3291840" cy="3291840"/>
          </a:xfrm>
          <a:prstGeom prst="ellipse">
            <a:avLst/>
          </a:prstGeom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" tIns="9144" rIns="9144" bIns="9144" rtlCol="0" anchor="ctr"/>
          <a:lstStyle/>
          <a:p>
            <a:pPr algn="ctr"/>
            <a:r>
              <a:rPr lang="en-US" dirty="0"/>
              <a:t>Every member of an organization has a warrant to influence organizational objectives and effectuate organizational change derived from their membership in the organization.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4200" y="76784"/>
            <a:ext cx="5943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The Principle of Distributed Authority</a:t>
            </a:r>
          </a:p>
        </p:txBody>
      </p:sp>
    </p:spTree>
    <p:extLst>
      <p:ext uri="{BB962C8B-B14F-4D97-AF65-F5344CB8AC3E}">
        <p14:creationId xmlns:p14="http://schemas.microsoft.com/office/powerpoint/2010/main" val="16440964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>
            <a:grpSpLocks noChangeAspect="1"/>
          </p:cNvGrpSpPr>
          <p:nvPr/>
        </p:nvGrpSpPr>
        <p:grpSpPr>
          <a:xfrm>
            <a:off x="734407" y="2075504"/>
            <a:ext cx="3049215" cy="1828800"/>
            <a:chOff x="6029740" y="3314038"/>
            <a:chExt cx="2769703" cy="1661160"/>
          </a:xfrm>
        </p:grpSpPr>
        <p:pic>
          <p:nvPicPr>
            <p:cNvPr id="2" name="Picture 1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3671"/>
            <a:stretch/>
          </p:blipFill>
          <p:spPr>
            <a:xfrm>
              <a:off x="8077200" y="3314038"/>
              <a:ext cx="722243" cy="1661160"/>
            </a:xfrm>
            <a:prstGeom prst="rect">
              <a:avLst/>
            </a:prstGeom>
          </p:spPr>
        </p:pic>
        <p:pic>
          <p:nvPicPr>
            <p:cNvPr id="3" name="Picture 2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363" r="50483"/>
            <a:stretch/>
          </p:blipFill>
          <p:spPr>
            <a:xfrm>
              <a:off x="7414591" y="3314038"/>
              <a:ext cx="662609" cy="1661160"/>
            </a:xfrm>
            <a:prstGeom prst="rect">
              <a:avLst/>
            </a:prstGeom>
          </p:spPr>
        </p:pic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00" r="26812"/>
            <a:stretch/>
          </p:blipFill>
          <p:spPr>
            <a:xfrm>
              <a:off x="6765235" y="3314038"/>
              <a:ext cx="636104" cy="1661160"/>
            </a:xfrm>
            <a:prstGeom prst="rect">
              <a:avLst/>
            </a:prstGeom>
          </p:spPr>
        </p:pic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189"/>
            <a:stretch/>
          </p:blipFill>
          <p:spPr>
            <a:xfrm>
              <a:off x="6029740" y="3314038"/>
              <a:ext cx="735495" cy="1661160"/>
            </a:xfrm>
            <a:prstGeom prst="rect">
              <a:avLst/>
            </a:prstGeom>
          </p:spPr>
        </p:pic>
      </p:grp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660" y="1846904"/>
            <a:ext cx="3466680" cy="2286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1334" y="1846904"/>
            <a:ext cx="2870444" cy="2286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0" name="TextBox 9"/>
          <p:cNvSpPr txBox="1"/>
          <p:nvPr/>
        </p:nvSpPr>
        <p:spPr>
          <a:xfrm>
            <a:off x="887414" y="914400"/>
            <a:ext cx="2743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Dehumanization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4400" y="914400"/>
            <a:ext cx="2743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Whistleblowing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4956" y="914400"/>
            <a:ext cx="2743200" cy="461665"/>
          </a:xfrm>
          <a:prstGeom prst="rect">
            <a:avLst/>
          </a:prstGeom>
          <a:noFill/>
        </p:spPr>
        <p:txBody>
          <a:bodyPr wrap="square" lIns="9144" rIns="9144" rtlCol="0">
            <a:spAutoFit/>
          </a:bodyPr>
          <a:lstStyle/>
          <a:p>
            <a:pPr algn="ctr"/>
            <a:r>
              <a:rPr lang="en-US" sz="2400" b="1" dirty="0"/>
              <a:t>Bounded Rationality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814" y="4572000"/>
            <a:ext cx="32004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Minimizes the dehumanizing nature of various organizational paradigms.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24400" y="4572000"/>
            <a:ext cx="27432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Affirms whistleblowing as a legitimate strategy for effectuating organizational change while minimizing the need for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4956" y="4572000"/>
            <a:ext cx="27432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Mitigates the limitations of bounded rationality.</a:t>
            </a:r>
          </a:p>
        </p:txBody>
      </p:sp>
    </p:spTree>
    <p:extLst>
      <p:ext uri="{BB962C8B-B14F-4D97-AF65-F5344CB8AC3E}">
        <p14:creationId xmlns:p14="http://schemas.microsoft.com/office/powerpoint/2010/main" val="32590055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14233" y="4572000"/>
            <a:ext cx="32004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Minimizes the risk of an organization being crippled or destroyed from inadequate or inappropriate responses to changes in the operating environment.</a:t>
            </a:r>
          </a:p>
        </p:txBody>
      </p:sp>
      <p:sp>
        <p:nvSpPr>
          <p:cNvPr id="3" name="Rectangle 2"/>
          <p:cNvSpPr/>
          <p:nvPr/>
        </p:nvSpPr>
        <p:spPr>
          <a:xfrm>
            <a:off x="4808560" y="4572000"/>
            <a:ext cx="27432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Minimizes the risk of blind abidance to rationally constructed rules leading to irrational decisions.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6355" y="4567535"/>
            <a:ext cx="3200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Provides a new perspective for resolving ethical dilemmas.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4233" y="914400"/>
            <a:ext cx="3200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Environmental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95800" y="914400"/>
            <a:ext cx="3200400" cy="461665"/>
          </a:xfrm>
          <a:prstGeom prst="rect">
            <a:avLst/>
          </a:prstGeom>
          <a:noFill/>
        </p:spPr>
        <p:txBody>
          <a:bodyPr wrap="square" lIns="9144" rIns="9144" rtlCol="0">
            <a:spAutoFit/>
          </a:bodyPr>
          <a:lstStyle/>
          <a:p>
            <a:pPr algn="ctr"/>
            <a:r>
              <a:rPr lang="en-US" sz="2400" b="1" dirty="0"/>
              <a:t>Paradox of Rationality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4956" y="914400"/>
            <a:ext cx="2743200" cy="461665"/>
          </a:xfrm>
          <a:prstGeom prst="rect">
            <a:avLst/>
          </a:prstGeom>
          <a:noFill/>
        </p:spPr>
        <p:txBody>
          <a:bodyPr wrap="square" lIns="9144" rIns="9144" rtlCol="0">
            <a:spAutoFit/>
          </a:bodyPr>
          <a:lstStyle/>
          <a:p>
            <a:pPr algn="ctr"/>
            <a:r>
              <a:rPr lang="en-US" sz="2400" b="1" dirty="0"/>
              <a:t>Ethical Dilemmas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2" t="1066" r="1737" b="2985"/>
          <a:stretch/>
        </p:blipFill>
        <p:spPr>
          <a:xfrm>
            <a:off x="4533018" y="1371600"/>
            <a:ext cx="3294283" cy="3200400"/>
          </a:xfrm>
          <a:prstGeom prst="rect">
            <a:avLst/>
          </a:prstGeom>
          <a:ln>
            <a:noFill/>
          </a:ln>
          <a:effectLst>
            <a:softEdge rad="63500"/>
          </a:effectLst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0592" y="1828800"/>
            <a:ext cx="3051927" cy="2286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570" y="1828800"/>
            <a:ext cx="3523726" cy="2286000"/>
          </a:xfrm>
          <a:prstGeom prst="rect">
            <a:avLst/>
          </a:prstGeom>
          <a:ln>
            <a:noFill/>
          </a:ln>
          <a:effectLst>
            <a:softEdge rad="63500"/>
          </a:effectLst>
        </p:spPr>
      </p:pic>
    </p:spTree>
    <p:extLst>
      <p:ext uri="{BB962C8B-B14F-4D97-AF65-F5344CB8AC3E}">
        <p14:creationId xmlns:p14="http://schemas.microsoft.com/office/powerpoint/2010/main" val="3451898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199" y="457200"/>
            <a:ext cx="1051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Implications for role as a subordinate within an organization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14900" y="1856096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Think of effectuating change not as matter of “what gives me the right” but a matter of under what circumstances do I choose to exercise my 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14900" y="3182204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Consider organizational allegiance and commitment a matter of fulfilling ethical obligations and satisfying personal needs blind loyalty to the organizational entity.</a:t>
            </a:r>
          </a:p>
        </p:txBody>
      </p:sp>
      <p:sp>
        <p:nvSpPr>
          <p:cNvPr id="5" name="Oval 4"/>
          <p:cNvSpPr/>
          <p:nvPr/>
        </p:nvSpPr>
        <p:spPr>
          <a:xfrm>
            <a:off x="1009934" y="1949768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09934" y="3323382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3791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199" y="457200"/>
            <a:ext cx="1143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Implications for role as a colleague to other organization members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14900" y="1856096"/>
            <a:ext cx="1051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View conflict as an opportunity for creative problem solving that helps the organization better adapt to the environment rather than a dysfunction to be avoided at all costs.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14900" y="3550697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Pursue interactions with colleagues as negotiations rather than zero sum games characterized by domination and submission.</a:t>
            </a:r>
          </a:p>
        </p:txBody>
      </p:sp>
      <p:sp>
        <p:nvSpPr>
          <p:cNvPr id="5" name="Oval 4"/>
          <p:cNvSpPr/>
          <p:nvPr/>
        </p:nvSpPr>
        <p:spPr>
          <a:xfrm>
            <a:off x="1009934" y="1949768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09934" y="3691875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720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199" y="457200"/>
            <a:ext cx="1051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Implications for role as a supervisor within an organization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14900" y="1856096"/>
            <a:ext cx="1051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Reject the notion that supervisors must do all of the thinking for the group.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14900" y="2866030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Avoid treating subordinates as unthinking automatons whose only function is to carry out the directives of superiors.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4900" y="4245296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Create an environment where subordinates have options to express opinions and influence organization activities other than through guerilla activity.</a:t>
            </a:r>
          </a:p>
        </p:txBody>
      </p:sp>
      <p:sp>
        <p:nvSpPr>
          <p:cNvPr id="6" name="Oval 5"/>
          <p:cNvSpPr/>
          <p:nvPr/>
        </p:nvSpPr>
        <p:spPr>
          <a:xfrm>
            <a:off x="1009934" y="1949768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009934" y="2991202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1009934" y="4343172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4962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568</Words>
  <Application>Microsoft Office PowerPoint</Application>
  <PresentationFormat>Widescreen</PresentationFormat>
  <Paragraphs>48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A Perspective on Organization Dynamics and Dysfunction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Perspective on Organization Dynamics and Dysfunction</dc:title>
  <dc:creator>Malcolm Townes</dc:creator>
  <cp:lastModifiedBy>Malcolm Townes</cp:lastModifiedBy>
  <cp:revision>46</cp:revision>
  <dcterms:created xsi:type="dcterms:W3CDTF">2020-04-27T23:21:04Z</dcterms:created>
  <dcterms:modified xsi:type="dcterms:W3CDTF">2020-05-02T00:44:19Z</dcterms:modified>
</cp:coreProperties>
</file>