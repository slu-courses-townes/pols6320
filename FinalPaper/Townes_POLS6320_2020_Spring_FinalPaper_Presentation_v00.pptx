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6" r:id="rId6"/>
    <p:sldId id="267" r:id="rId7"/>
    <p:sldId id="260" r:id="rId8"/>
    <p:sldId id="262" r:id="rId9"/>
    <p:sldId id="263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630" autoAdjust="0"/>
    <p:restoredTop sz="94660"/>
  </p:normalViewPr>
  <p:slideViewPr>
    <p:cSldViewPr snapToGrid="0">
      <p:cViewPr varScale="1">
        <p:scale>
          <a:sx n="72" d="100"/>
          <a:sy n="72" d="100"/>
        </p:scale>
        <p:origin x="8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5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29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7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08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65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92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23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54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98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8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5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1C96B5-8CD6-42CD-A2F3-B97FDED654A7}" type="datetimeFigureOut">
              <a:rPr lang="en-US" smtClean="0"/>
              <a:t>5/4/2020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1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 Perspective on Organization Dynamics and Dysfunction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Malcolm S. Townes</a:t>
            </a:r>
          </a:p>
          <a:p>
            <a:r>
              <a:rPr lang="en-US" dirty="0"/>
              <a:t>POLS 6320 Organization Theory and Behavior</a:t>
            </a:r>
          </a:p>
          <a:p>
            <a:r>
              <a:rPr lang="en-US" dirty="0"/>
              <a:t>Saint Louis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270" y="5539409"/>
            <a:ext cx="10429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May 4, 2020</a:t>
            </a:r>
          </a:p>
        </p:txBody>
      </p:sp>
    </p:spTree>
    <p:extLst>
      <p:ext uri="{BB962C8B-B14F-4D97-AF65-F5344CB8AC3E}">
        <p14:creationId xmlns:p14="http://schemas.microsoft.com/office/powerpoint/2010/main" val="214328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687583"/>
              </p:ext>
            </p:extLst>
          </p:nvPr>
        </p:nvGraphicFramePr>
        <p:xfrm>
          <a:off x="152400" y="320040"/>
          <a:ext cx="11887200" cy="621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721151701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107554658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38360900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Pre-Course Belief</a:t>
                      </a:r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Post-Course Belief</a:t>
                      </a:r>
                    </a:p>
                  </a:txBody>
                  <a:tcPr marT="182880" marB="182880"/>
                </a:tc>
                <a:extLst>
                  <a:ext uri="{0D108BD9-81ED-4DB2-BD59-A6C34878D82A}">
                    <a16:rowId xmlns:a16="http://schemas.microsoft.com/office/drawing/2014/main" val="1037781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Conceptualizing</a:t>
                      </a:r>
                      <a:r>
                        <a:rPr lang="en-US" baseline="0" dirty="0"/>
                        <a:t> the organization</a:t>
                      </a:r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Conceived of organizations as </a:t>
                      </a:r>
                      <a:br>
                        <a:rPr lang="en-US" baseline="0" dirty="0"/>
                      </a:br>
                      <a:r>
                        <a:rPr lang="en-US" baseline="0" dirty="0"/>
                        <a:t>life-like entities capable of independent motivations and action.</a:t>
                      </a:r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 organization</a:t>
                      </a:r>
                      <a:r>
                        <a:rPr lang="en-US" baseline="0" dirty="0"/>
                        <a:t> is a human construct defined by norms and expectations that its members must continually negotiate and affirm.</a:t>
                      </a:r>
                      <a:endParaRPr lang="en-US" dirty="0"/>
                    </a:p>
                  </a:txBody>
                  <a:tcPr marT="182880" marB="182880"/>
                </a:tc>
                <a:extLst>
                  <a:ext uri="{0D108BD9-81ED-4DB2-BD59-A6C34878D82A}">
                    <a16:rowId xmlns:a16="http://schemas.microsoft.com/office/drawing/2014/main" val="174438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Exercising human</a:t>
                      </a:r>
                      <a:r>
                        <a:rPr lang="en-US" baseline="0" dirty="0"/>
                        <a:t> agency</a:t>
                      </a:r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Membership in an organization requires one to abdicate</a:t>
                      </a:r>
                      <a:r>
                        <a:rPr lang="en-US" baseline="0" dirty="0"/>
                        <a:t> their human agency.</a:t>
                      </a:r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</a:t>
                      </a:r>
                      <a:r>
                        <a:rPr lang="en-US" baseline="0" dirty="0"/>
                        <a:t> conceived as a set of malleable recursive practices, an </a:t>
                      </a:r>
                      <a:r>
                        <a:rPr lang="en-US" dirty="0"/>
                        <a:t>organization</a:t>
                      </a:r>
                      <a:r>
                        <a:rPr lang="en-US" baseline="0" dirty="0"/>
                        <a:t> cannot exist without human agency.</a:t>
                      </a:r>
                      <a:endParaRPr lang="en-US" dirty="0"/>
                    </a:p>
                  </a:txBody>
                  <a:tcPr marT="182880" marB="182880"/>
                </a:tc>
                <a:extLst>
                  <a:ext uri="{0D108BD9-81ED-4DB2-BD59-A6C34878D82A}">
                    <a16:rowId xmlns:a16="http://schemas.microsoft.com/office/drawing/2014/main" val="2853049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aseline="0" dirty="0"/>
                        <a:t>Effectuating organizational change</a:t>
                      </a:r>
                      <a:endParaRPr lang="en-US" dirty="0"/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high level elected and appointed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fiduciary leaders have the responsibility and authority to effectuate organizational change.</a:t>
                      </a:r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Every member of the organization has the right, but not the obligation, to try to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effectuate organizational change regardless of</a:t>
                      </a:r>
                      <a:r>
                        <a:rPr lang="en-US" baseline="0" dirty="0"/>
                        <a:t> their</a:t>
                      </a:r>
                      <a:r>
                        <a:rPr lang="en-US" dirty="0"/>
                        <a:t> status.</a:t>
                      </a:r>
                    </a:p>
                  </a:txBody>
                  <a:tcPr marT="182880" marB="182880"/>
                </a:tc>
                <a:extLst>
                  <a:ext uri="{0D108BD9-81ED-4DB2-BD59-A6C34878D82A}">
                    <a16:rowId xmlns:a16="http://schemas.microsoft.com/office/drawing/2014/main" val="1707808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Appropriateness of guerilla activity</a:t>
                      </a:r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within an organization is seldom if ever appropriate, a sign of disloyalty to the organization, and damaging</a:t>
                      </a:r>
                      <a:r>
                        <a:rPr lang="en-US" baseline="0" dirty="0"/>
                        <a:t> to the organization</a:t>
                      </a:r>
                      <a:r>
                        <a:rPr lang="en-US" dirty="0"/>
                        <a:t>.</a:t>
                      </a:r>
                    </a:p>
                  </a:txBody>
                  <a:tcPr marT="182880" marB="18288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is a legitimate</a:t>
                      </a:r>
                      <a:r>
                        <a:rPr lang="en-US" baseline="0" dirty="0"/>
                        <a:t>, appropriate, and useful method to effectuate beneficial change in an organizational context.</a:t>
                      </a:r>
                      <a:endParaRPr lang="en-US" dirty="0"/>
                    </a:p>
                  </a:txBody>
                  <a:tcPr marT="182880" marB="182880"/>
                </a:tc>
                <a:extLst>
                  <a:ext uri="{0D108BD9-81ED-4DB2-BD59-A6C34878D82A}">
                    <a16:rowId xmlns:a16="http://schemas.microsoft.com/office/drawing/2014/main" val="1062439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643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0048" y="1905506"/>
            <a:ext cx="62643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Setting organizational objectives and effectuating organizational change to achieve those objectives are not the exclusive right and privilege of the organization’s elected or appointed fiduciary leaders.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372" y="1473201"/>
            <a:ext cx="3200400" cy="391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81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row: Pentagon 2"/>
          <p:cNvSpPr/>
          <p:nvPr/>
        </p:nvSpPr>
        <p:spPr>
          <a:xfrm rot="-1800000" flipH="1">
            <a:off x="7435482" y="868680"/>
            <a:ext cx="3657600" cy="1828800"/>
          </a:xfrm>
          <a:prstGeom prst="homePlat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An organization is a human construct defined by norms and expectations that its members must continually negotiate and affirm.</a:t>
            </a:r>
          </a:p>
        </p:txBody>
      </p:sp>
      <p:sp>
        <p:nvSpPr>
          <p:cNvPr id="4" name="Arrow: Pentagon 3"/>
          <p:cNvSpPr/>
          <p:nvPr/>
        </p:nvSpPr>
        <p:spPr>
          <a:xfrm rot="1816787" flipH="1">
            <a:off x="7434860" y="4155040"/>
            <a:ext cx="3657600" cy="1828800"/>
          </a:xfrm>
          <a:prstGeom prst="homePlat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What we conceive of as an organization cannot exist without human agency.</a:t>
            </a:r>
          </a:p>
        </p:txBody>
      </p:sp>
      <p:sp>
        <p:nvSpPr>
          <p:cNvPr id="5" name="Arrow: Pentagon 4"/>
          <p:cNvSpPr/>
          <p:nvPr/>
        </p:nvSpPr>
        <p:spPr>
          <a:xfrm rot="1800000">
            <a:off x="1100163" y="868679"/>
            <a:ext cx="3657600" cy="1828800"/>
          </a:xfrm>
          <a:prstGeom prst="homePlat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Guerilla activity is a legitimate, appropriate, and useful method to effectuate change in an organization.</a:t>
            </a:r>
          </a:p>
        </p:txBody>
      </p:sp>
      <p:sp>
        <p:nvSpPr>
          <p:cNvPr id="6" name="Arrow: Pentagon 5"/>
          <p:cNvSpPr/>
          <p:nvPr/>
        </p:nvSpPr>
        <p:spPr>
          <a:xfrm rot="-1800000">
            <a:off x="1100161" y="4160522"/>
            <a:ext cx="3657600" cy="1828800"/>
          </a:xfrm>
          <a:prstGeom prst="homePlat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the organization has the right to try to effectuate organizational change regardless of status.</a:t>
            </a:r>
          </a:p>
        </p:txBody>
      </p:sp>
      <p:sp>
        <p:nvSpPr>
          <p:cNvPr id="2" name="Oval 1"/>
          <p:cNvSpPr/>
          <p:nvPr/>
        </p:nvSpPr>
        <p:spPr>
          <a:xfrm>
            <a:off x="4450080" y="1783080"/>
            <a:ext cx="3291840" cy="3291840"/>
          </a:xfrm>
          <a:prstGeom prst="ellipse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</a:t>
            </a:r>
            <a:br>
              <a:rPr lang="en-US" dirty="0"/>
            </a:br>
            <a:r>
              <a:rPr lang="en-US" dirty="0"/>
              <a:t>an organization has a warrant, rooted in human agency and their membership in the organization, to influence organizational objectives and pursue organizational change to achieve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200" y="76784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The Principle of Distributed Authority</a:t>
            </a:r>
          </a:p>
        </p:txBody>
      </p:sp>
    </p:spTree>
    <p:extLst>
      <p:ext uri="{BB962C8B-B14F-4D97-AF65-F5344CB8AC3E}">
        <p14:creationId xmlns:p14="http://schemas.microsoft.com/office/powerpoint/2010/main" val="1644096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734407" y="1995605"/>
            <a:ext cx="3049215" cy="1961320"/>
            <a:chOff x="734407" y="2049000"/>
            <a:chExt cx="3049215" cy="1961320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3671"/>
            <a:stretch/>
          </p:blipFill>
          <p:spPr>
            <a:xfrm>
              <a:off x="2988492" y="2181520"/>
              <a:ext cx="795130" cy="182880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63" r="50483"/>
            <a:stretch/>
          </p:blipFill>
          <p:spPr>
            <a:xfrm>
              <a:off x="2259014" y="2115260"/>
              <a:ext cx="729478" cy="182880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 r="26812"/>
            <a:stretch/>
          </p:blipFill>
          <p:spPr>
            <a:xfrm>
              <a:off x="1544126" y="2075504"/>
              <a:ext cx="700298" cy="182880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89"/>
            <a:stretch/>
          </p:blipFill>
          <p:spPr>
            <a:xfrm>
              <a:off x="734407" y="2049000"/>
              <a:ext cx="809719" cy="1828800"/>
            </a:xfrm>
            <a:prstGeom prst="rect">
              <a:avLst/>
            </a:prstGeom>
          </p:spPr>
        </p:pic>
      </p:grp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334" y="1833265"/>
            <a:ext cx="2870444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TextBox 9"/>
          <p:cNvSpPr txBox="1"/>
          <p:nvPr/>
        </p:nvSpPr>
        <p:spPr>
          <a:xfrm>
            <a:off x="887414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Dehumanization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Bounded Rationality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814" y="4572000"/>
            <a:ext cx="3200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dehumanizing nature of various organizational paradigms.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4956" y="4572000"/>
            <a:ext cx="2743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Mitigates the limitations of bounded rationality.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1876" y="4576465"/>
            <a:ext cx="27432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blind abidance to rationally constructed rules leading to irrational decisions and 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9116" y="918865"/>
            <a:ext cx="32004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Paradox of Rationality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1066" r="1737" b="2985"/>
          <a:stretch/>
        </p:blipFill>
        <p:spPr>
          <a:xfrm>
            <a:off x="4356334" y="1376065"/>
            <a:ext cx="3294283" cy="32004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25900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4233" y="4572000"/>
            <a:ext cx="32004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an organization being crippled or destroyed from inadequate or inappropriate responses to changes in the operating environment.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6355" y="4567535"/>
            <a:ext cx="32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Provides a new perspective for resolving ethical dilemmas.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233" y="914400"/>
            <a:ext cx="32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Environmental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Ethical Dilemmas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592" y="1828800"/>
            <a:ext cx="3051927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70" y="1828800"/>
            <a:ext cx="3523726" cy="22860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2660" y="1846904"/>
            <a:ext cx="3466680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/>
          <p:cNvSpPr txBox="1"/>
          <p:nvPr/>
        </p:nvSpPr>
        <p:spPr>
          <a:xfrm>
            <a:off x="4724400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Whistleblowing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4400" y="4572000"/>
            <a:ext cx="27432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Affirms whistleblowing as a legitimate strategy for effectuating organizational change while minimizing the need for it.</a:t>
            </a:r>
          </a:p>
        </p:txBody>
      </p:sp>
    </p:spTree>
    <p:extLst>
      <p:ext uri="{BB962C8B-B14F-4D97-AF65-F5344CB8AC3E}">
        <p14:creationId xmlns:p14="http://schemas.microsoft.com/office/powerpoint/2010/main" val="345189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Application to status of subordinate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 of effectuating change not as matter of “what gives me the right” but a matter of under what circumstances do I choose to exercise my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182204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organizational allegiance and commitment a matter of fulfilling ethical obligations to other living beings and satisfying personal needs rather than blind loyalty to the organizational entity.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32338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7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143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Application to status as colleague to other organization 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View conflict as an opportunity for creative problem solving that helps the organization better adapt to the environment rather than a dysfunction to be avoided at all costs.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550697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Pursue interactions with colleagues as negotiations rather than zero sum games characterized by domination and submission.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691875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Application to status as a supervisor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Reject the notion that supervisors must do all of the thinking for the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2866030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Avoid treating subordinates as unthinking automatons whose only function is to carry out the directives of superiors.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4900" y="42452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Create an environment where subordinates have options to express opinions and influence organization activities other than through guerilla activity.</a:t>
            </a:r>
          </a:p>
        </p:txBody>
      </p:sp>
      <p:sp>
        <p:nvSpPr>
          <p:cNvPr id="6" name="Oval 5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09934" y="299120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009934" y="434317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96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and Discussion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7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</TotalTime>
  <Words>565</Words>
  <Application>Microsoft Office PowerPoint</Application>
  <PresentationFormat>Widescreen</PresentationFormat>
  <Paragraphs>49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A Perspective on Organization Dynamics and Dysfunction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 and 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Perspective on Organization Dynamics and Dysfunction</dc:title>
  <dc:creator>Malcolm Townes</dc:creator>
  <cp:lastModifiedBy>Malcolm Townes</cp:lastModifiedBy>
  <cp:revision>64</cp:revision>
  <dcterms:created xsi:type="dcterms:W3CDTF">2020-04-27T23:21:04Z</dcterms:created>
  <dcterms:modified xsi:type="dcterms:W3CDTF">2020-05-05T01:49:40Z</dcterms:modified>
</cp:coreProperties>
</file>