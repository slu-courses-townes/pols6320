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  <p:sldId id="266" r:id="rId6"/>
    <p:sldId id="267" r:id="rId7"/>
    <p:sldId id="260" r:id="rId8"/>
    <p:sldId id="262" r:id="rId9"/>
    <p:sldId id="263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630" autoAdjust="0"/>
    <p:restoredTop sz="94660"/>
  </p:normalViewPr>
  <p:slideViewPr>
    <p:cSldViewPr snapToGrid="0">
      <p:cViewPr varScale="1">
        <p:scale>
          <a:sx n="45" d="100"/>
          <a:sy n="45" d="100"/>
        </p:scale>
        <p:origin x="60" y="6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C96B5-8CD6-42CD-A2F3-B97FDED654A7}" type="datetimeFigureOut">
              <a:rPr lang="en-US" smtClean="0"/>
              <a:t>5/3/2020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9B3A1-01E3-4CF0-8DD6-71008961A7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84500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C96B5-8CD6-42CD-A2F3-B97FDED654A7}" type="datetimeFigureOut">
              <a:rPr lang="en-US" smtClean="0"/>
              <a:t>5/3/2020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9B3A1-01E3-4CF0-8DD6-71008961A7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53296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C96B5-8CD6-42CD-A2F3-B97FDED654A7}" type="datetimeFigureOut">
              <a:rPr lang="en-US" smtClean="0"/>
              <a:t>5/3/2020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9B3A1-01E3-4CF0-8DD6-71008961A7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0799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C96B5-8CD6-42CD-A2F3-B97FDED654A7}" type="datetimeFigureOut">
              <a:rPr lang="en-US" smtClean="0"/>
              <a:t>5/3/2020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9B3A1-01E3-4CF0-8DD6-71008961A7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108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C96B5-8CD6-42CD-A2F3-B97FDED654A7}" type="datetimeFigureOut">
              <a:rPr lang="en-US" smtClean="0"/>
              <a:t>5/3/2020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9B3A1-01E3-4CF0-8DD6-71008961A7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07653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C96B5-8CD6-42CD-A2F3-B97FDED654A7}" type="datetimeFigureOut">
              <a:rPr lang="en-US" smtClean="0"/>
              <a:t>5/3/2020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9B3A1-01E3-4CF0-8DD6-71008961A7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01927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C96B5-8CD6-42CD-A2F3-B97FDED654A7}" type="datetimeFigureOut">
              <a:rPr lang="en-US" smtClean="0"/>
              <a:t>5/3/2020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9B3A1-01E3-4CF0-8DD6-71008961A7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39239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C96B5-8CD6-42CD-A2F3-B97FDED654A7}" type="datetimeFigureOut">
              <a:rPr lang="en-US" smtClean="0"/>
              <a:t>5/3/2020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9B3A1-01E3-4CF0-8DD6-71008961A7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5406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C96B5-8CD6-42CD-A2F3-B97FDED654A7}" type="datetimeFigureOut">
              <a:rPr lang="en-US" smtClean="0"/>
              <a:t>5/3/2020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9B3A1-01E3-4CF0-8DD6-71008961A7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99891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C96B5-8CD6-42CD-A2F3-B97FDED654A7}" type="datetimeFigureOut">
              <a:rPr lang="en-US" smtClean="0"/>
              <a:t>5/3/2020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9B3A1-01E3-4CF0-8DD6-71008961A7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4898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1C96B5-8CD6-42CD-A2F3-B97FDED654A7}" type="datetimeFigureOut">
              <a:rPr lang="en-US" smtClean="0"/>
              <a:t>5/3/2020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E9B3A1-01E3-4CF0-8DD6-71008961A7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94556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1C96B5-8CD6-42CD-A2F3-B97FDED654A7}" type="datetimeFigureOut">
              <a:rPr lang="en-US" smtClean="0"/>
              <a:t>5/3/2020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E9B3A1-01E3-4CF0-8DD6-71008961A7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9109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A Perspective on Organization Dynamics and Dysfunction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Malcolm S. Townes</a:t>
            </a:r>
          </a:p>
          <a:p>
            <a:r>
              <a:rPr lang="en-US" dirty="0"/>
              <a:t>POLS 6320 Organization Theory and Behavior</a:t>
            </a:r>
          </a:p>
          <a:p>
            <a:r>
              <a:rPr lang="en-US" dirty="0"/>
              <a:t>Saint Louis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270" y="5539409"/>
            <a:ext cx="104294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May 4, 2020</a:t>
            </a:r>
          </a:p>
        </p:txBody>
      </p:sp>
    </p:spTree>
    <p:extLst>
      <p:ext uri="{BB962C8B-B14F-4D97-AF65-F5344CB8AC3E}">
        <p14:creationId xmlns:p14="http://schemas.microsoft.com/office/powerpoint/2010/main" val="21432860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6715799"/>
              </p:ext>
            </p:extLst>
          </p:nvPr>
        </p:nvGraphicFramePr>
        <p:xfrm>
          <a:off x="152400" y="228600"/>
          <a:ext cx="11887200" cy="6400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62400">
                  <a:extLst>
                    <a:ext uri="{9D8B030D-6E8A-4147-A177-3AD203B41FA5}">
                      <a16:colId xmlns:a16="http://schemas.microsoft.com/office/drawing/2014/main" val="3721151701"/>
                    </a:ext>
                  </a:extLst>
                </a:gridCol>
                <a:gridCol w="3962400">
                  <a:extLst>
                    <a:ext uri="{9D8B030D-6E8A-4147-A177-3AD203B41FA5}">
                      <a16:colId xmlns:a16="http://schemas.microsoft.com/office/drawing/2014/main" val="1075546585"/>
                    </a:ext>
                  </a:extLst>
                </a:gridCol>
                <a:gridCol w="3962400">
                  <a:extLst>
                    <a:ext uri="{9D8B030D-6E8A-4147-A177-3AD203B41FA5}">
                      <a16:colId xmlns:a16="http://schemas.microsoft.com/office/drawing/2014/main" val="383609001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T="228600" marB="2286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Pre-Course Belief</a:t>
                      </a:r>
                    </a:p>
                  </a:txBody>
                  <a:tcPr marT="228600" marB="228600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Post-Course Belief</a:t>
                      </a:r>
                    </a:p>
                  </a:txBody>
                  <a:tcPr marT="228600" marB="228600"/>
                </a:tc>
                <a:extLst>
                  <a:ext uri="{0D108BD9-81ED-4DB2-BD59-A6C34878D82A}">
                    <a16:rowId xmlns:a16="http://schemas.microsoft.com/office/drawing/2014/main" val="103778137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Conceptualizing</a:t>
                      </a:r>
                      <a:r>
                        <a:rPr lang="en-US" baseline="0" dirty="0"/>
                        <a:t> the organization</a:t>
                      </a:r>
                      <a:endParaRPr lang="en-US" dirty="0"/>
                    </a:p>
                  </a:txBody>
                  <a:tcPr marT="228600" marB="228600"/>
                </a:tc>
                <a:tc>
                  <a:txBody>
                    <a:bodyPr/>
                    <a:lstStyle/>
                    <a:p>
                      <a:r>
                        <a:rPr lang="en-US" baseline="0" dirty="0"/>
                        <a:t>Conceived of organizations as </a:t>
                      </a:r>
                      <a:br>
                        <a:rPr lang="en-US" baseline="0" dirty="0"/>
                      </a:br>
                      <a:r>
                        <a:rPr lang="en-US" baseline="0" dirty="0"/>
                        <a:t>human-like entities capable of independent motivations and action.</a:t>
                      </a:r>
                      <a:endParaRPr lang="en-US" dirty="0"/>
                    </a:p>
                  </a:txBody>
                  <a:tcPr marT="228600" marB="228600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An organization</a:t>
                      </a:r>
                      <a:r>
                        <a:rPr lang="en-US" baseline="0" dirty="0"/>
                        <a:t> is a human construct defined by norms and expectations that its members must continually negotiate and affirm.</a:t>
                      </a:r>
                      <a:endParaRPr lang="en-US" dirty="0"/>
                    </a:p>
                  </a:txBody>
                  <a:tcPr marT="228600" marB="228600"/>
                </a:tc>
                <a:extLst>
                  <a:ext uri="{0D108BD9-81ED-4DB2-BD59-A6C34878D82A}">
                    <a16:rowId xmlns:a16="http://schemas.microsoft.com/office/drawing/2014/main" val="174438241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Exercising human</a:t>
                      </a:r>
                      <a:r>
                        <a:rPr lang="en-US" baseline="0" dirty="0"/>
                        <a:t> agency</a:t>
                      </a:r>
                      <a:endParaRPr lang="en-US" dirty="0"/>
                    </a:p>
                  </a:txBody>
                  <a:tcPr marT="228600" marB="228600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Membership in an organization requires one to abdicate</a:t>
                      </a:r>
                      <a:r>
                        <a:rPr lang="en-US" baseline="0" dirty="0"/>
                        <a:t> their human agency.</a:t>
                      </a:r>
                      <a:endParaRPr lang="en-US" dirty="0"/>
                    </a:p>
                  </a:txBody>
                  <a:tcPr marT="228600" marB="228600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When</a:t>
                      </a:r>
                      <a:r>
                        <a:rPr lang="en-US" baseline="0" dirty="0"/>
                        <a:t> conceived as a set of malleable recursive practices, an </a:t>
                      </a:r>
                      <a:r>
                        <a:rPr lang="en-US" dirty="0"/>
                        <a:t>organization</a:t>
                      </a:r>
                      <a:r>
                        <a:rPr lang="en-US" baseline="0" dirty="0"/>
                        <a:t> cannot exist without human agency.</a:t>
                      </a:r>
                      <a:endParaRPr lang="en-US" dirty="0"/>
                    </a:p>
                  </a:txBody>
                  <a:tcPr marT="228600" marB="228600"/>
                </a:tc>
                <a:extLst>
                  <a:ext uri="{0D108BD9-81ED-4DB2-BD59-A6C34878D82A}">
                    <a16:rowId xmlns:a16="http://schemas.microsoft.com/office/drawing/2014/main" val="285304998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aseline="0" dirty="0"/>
                        <a:t>Effectuating organizational change</a:t>
                      </a:r>
                      <a:endParaRPr lang="en-US" dirty="0"/>
                    </a:p>
                  </a:txBody>
                  <a:tcPr marT="228600" marB="228600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Only high level fiduciary leaders have the responsibility and authority to effectuate organizational change.</a:t>
                      </a:r>
                    </a:p>
                  </a:txBody>
                  <a:tcPr marT="228600" marB="228600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Every member of the organization has a right to try to</a:t>
                      </a:r>
                      <a:r>
                        <a:rPr lang="en-US" baseline="0" dirty="0"/>
                        <a:t> </a:t>
                      </a:r>
                      <a:r>
                        <a:rPr lang="en-US" dirty="0"/>
                        <a:t>effectuate organizational change regardless of</a:t>
                      </a:r>
                      <a:r>
                        <a:rPr lang="en-US" baseline="0" dirty="0"/>
                        <a:t> their</a:t>
                      </a:r>
                      <a:r>
                        <a:rPr lang="en-US" dirty="0"/>
                        <a:t> status.</a:t>
                      </a:r>
                    </a:p>
                  </a:txBody>
                  <a:tcPr marT="228600" marB="228600"/>
                </a:tc>
                <a:extLst>
                  <a:ext uri="{0D108BD9-81ED-4DB2-BD59-A6C34878D82A}">
                    <a16:rowId xmlns:a16="http://schemas.microsoft.com/office/drawing/2014/main" val="170780884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Appropriateness of guerilla activity</a:t>
                      </a:r>
                    </a:p>
                  </a:txBody>
                  <a:tcPr marT="228600" marB="228600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Guerilla activity within an organization is seldom if ever appropriate, a sign of disloyalty to the organization, and damaging</a:t>
                      </a:r>
                      <a:r>
                        <a:rPr lang="en-US" baseline="0" dirty="0"/>
                        <a:t> to the organization</a:t>
                      </a:r>
                      <a:r>
                        <a:rPr lang="en-US" dirty="0"/>
                        <a:t>.</a:t>
                      </a:r>
                    </a:p>
                  </a:txBody>
                  <a:tcPr marT="228600" marB="228600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Guerilla activity is a legitimate</a:t>
                      </a:r>
                      <a:r>
                        <a:rPr lang="en-US" baseline="0" dirty="0"/>
                        <a:t>, appropriate, and useful method to effectuate beneficial change in an organization.</a:t>
                      </a:r>
                      <a:endParaRPr lang="en-US" dirty="0"/>
                    </a:p>
                  </a:txBody>
                  <a:tcPr marT="228600" marB="228600"/>
                </a:tc>
                <a:extLst>
                  <a:ext uri="{0D108BD9-81ED-4DB2-BD59-A6C34878D82A}">
                    <a16:rowId xmlns:a16="http://schemas.microsoft.com/office/drawing/2014/main" val="10624393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676439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500048" y="1905506"/>
            <a:ext cx="6264322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Setting organizational objectives and effectuating organizational change to achieve those objectives are not the exclusive responsibility, right, and privilege of the organization’s fiduciary leaders. 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5372" y="1473201"/>
            <a:ext cx="3200400" cy="3911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78162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rrow: Pentagon 2"/>
          <p:cNvSpPr/>
          <p:nvPr/>
        </p:nvSpPr>
        <p:spPr>
          <a:xfrm rot="-1800000" flipH="1">
            <a:off x="7435482" y="868680"/>
            <a:ext cx="3657600" cy="1828800"/>
          </a:xfrm>
          <a:prstGeom prst="homePlat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9144" tIns="9144" rIns="9144" bIns="9144" rtlCol="0" anchor="ctr"/>
          <a:lstStyle/>
          <a:p>
            <a:pPr algn="ctr"/>
            <a:r>
              <a:rPr lang="en-US" dirty="0"/>
              <a:t>An organization is a human construct defined by norms and expectations that its members must continually negotiate and affirm.</a:t>
            </a:r>
          </a:p>
        </p:txBody>
      </p:sp>
      <p:sp>
        <p:nvSpPr>
          <p:cNvPr id="4" name="Arrow: Pentagon 3"/>
          <p:cNvSpPr/>
          <p:nvPr/>
        </p:nvSpPr>
        <p:spPr>
          <a:xfrm rot="1816787" flipH="1">
            <a:off x="7434860" y="4155040"/>
            <a:ext cx="3657600" cy="1828800"/>
          </a:xfrm>
          <a:prstGeom prst="homePlat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9144" tIns="9144" rIns="9144" bIns="9144" rtlCol="0" anchor="ctr"/>
          <a:lstStyle/>
          <a:p>
            <a:pPr algn="ctr"/>
            <a:r>
              <a:rPr lang="en-US" dirty="0"/>
              <a:t>Membership in an organization does not require one to abdicate human agency.</a:t>
            </a:r>
          </a:p>
        </p:txBody>
      </p:sp>
      <p:sp>
        <p:nvSpPr>
          <p:cNvPr id="5" name="Arrow: Pentagon 4"/>
          <p:cNvSpPr/>
          <p:nvPr/>
        </p:nvSpPr>
        <p:spPr>
          <a:xfrm rot="1800000">
            <a:off x="1100163" y="868679"/>
            <a:ext cx="3657600" cy="1828800"/>
          </a:xfrm>
          <a:prstGeom prst="homePlat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9144" tIns="9144" rIns="9144" bIns="9144" rtlCol="0" anchor="ctr"/>
          <a:lstStyle/>
          <a:p>
            <a:pPr algn="ctr"/>
            <a:r>
              <a:rPr lang="en-US" dirty="0"/>
              <a:t>Guerilla activity is a legitimate, appropriate, and useful method to effectuate change in an organization.</a:t>
            </a:r>
          </a:p>
        </p:txBody>
      </p:sp>
      <p:sp>
        <p:nvSpPr>
          <p:cNvPr id="6" name="Arrow: Pentagon 5"/>
          <p:cNvSpPr/>
          <p:nvPr/>
        </p:nvSpPr>
        <p:spPr>
          <a:xfrm rot="-1800000">
            <a:off x="1100161" y="4160522"/>
            <a:ext cx="3657600" cy="1828800"/>
          </a:xfrm>
          <a:prstGeom prst="homePlate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lIns="9144" tIns="9144" rIns="9144" bIns="9144" rtlCol="0" anchor="ctr"/>
          <a:lstStyle/>
          <a:p>
            <a:pPr algn="ctr"/>
            <a:r>
              <a:rPr lang="en-US" dirty="0"/>
              <a:t>Every member of the organization has a right to try to effectuate organizational change regardless of status.</a:t>
            </a:r>
          </a:p>
        </p:txBody>
      </p:sp>
      <p:sp>
        <p:nvSpPr>
          <p:cNvPr id="2" name="Oval 1"/>
          <p:cNvSpPr/>
          <p:nvPr/>
        </p:nvSpPr>
        <p:spPr>
          <a:xfrm>
            <a:off x="4450080" y="1783080"/>
            <a:ext cx="3291840" cy="3291840"/>
          </a:xfrm>
          <a:prstGeom prst="ellipse">
            <a:avLst/>
          </a:prstGeom>
          <a:ln>
            <a:noFill/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lIns="9144" tIns="9144" rIns="9144" bIns="9144" rtlCol="0" anchor="ctr"/>
          <a:lstStyle/>
          <a:p>
            <a:pPr algn="ctr"/>
            <a:r>
              <a:rPr lang="en-US" dirty="0"/>
              <a:t>Every member of an organization has a warrant to influence organizational objectives and effectuate organizational change derived from their membership in the organization.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24200" y="76784"/>
            <a:ext cx="59436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The Principle of Distributed Authority</a:t>
            </a:r>
          </a:p>
        </p:txBody>
      </p:sp>
    </p:spTree>
    <p:extLst>
      <p:ext uri="{BB962C8B-B14F-4D97-AF65-F5344CB8AC3E}">
        <p14:creationId xmlns:p14="http://schemas.microsoft.com/office/powerpoint/2010/main" val="16440964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/>
          <p:cNvGrpSpPr>
            <a:grpSpLocks noChangeAspect="1"/>
          </p:cNvGrpSpPr>
          <p:nvPr/>
        </p:nvGrpSpPr>
        <p:grpSpPr>
          <a:xfrm>
            <a:off x="734407" y="2075504"/>
            <a:ext cx="3049215" cy="1828800"/>
            <a:chOff x="6029740" y="3314038"/>
            <a:chExt cx="2769703" cy="1661160"/>
          </a:xfrm>
        </p:grpSpPr>
        <p:pic>
          <p:nvPicPr>
            <p:cNvPr id="2" name="Picture 1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73671"/>
            <a:stretch/>
          </p:blipFill>
          <p:spPr>
            <a:xfrm>
              <a:off x="8077200" y="3314038"/>
              <a:ext cx="722243" cy="1661160"/>
            </a:xfrm>
            <a:prstGeom prst="rect">
              <a:avLst/>
            </a:prstGeom>
          </p:spPr>
        </p:pic>
        <p:pic>
          <p:nvPicPr>
            <p:cNvPr id="3" name="Picture 2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363" r="50483"/>
            <a:stretch/>
          </p:blipFill>
          <p:spPr>
            <a:xfrm>
              <a:off x="7414591" y="3314038"/>
              <a:ext cx="662609" cy="1661160"/>
            </a:xfrm>
            <a:prstGeom prst="rect">
              <a:avLst/>
            </a:prstGeom>
          </p:spPr>
        </p:pic>
        <p:pic>
          <p:nvPicPr>
            <p:cNvPr id="4" name="Picture 3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000" r="26812"/>
            <a:stretch/>
          </p:blipFill>
          <p:spPr>
            <a:xfrm>
              <a:off x="6765235" y="3314038"/>
              <a:ext cx="636104" cy="1661160"/>
            </a:xfrm>
            <a:prstGeom prst="rect">
              <a:avLst/>
            </a:prstGeom>
          </p:spPr>
        </p:pic>
        <p:pic>
          <p:nvPicPr>
            <p:cNvPr id="5" name="Picture 4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3189"/>
            <a:stretch/>
          </p:blipFill>
          <p:spPr>
            <a:xfrm>
              <a:off x="6029740" y="3314038"/>
              <a:ext cx="735495" cy="1661160"/>
            </a:xfrm>
            <a:prstGeom prst="rect">
              <a:avLst/>
            </a:prstGeom>
          </p:spPr>
        </p:pic>
      </p:grpSp>
      <p:pic>
        <p:nvPicPr>
          <p:cNvPr id="9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1334" y="1846904"/>
            <a:ext cx="2870444" cy="2286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0" name="TextBox 9"/>
          <p:cNvSpPr txBox="1"/>
          <p:nvPr/>
        </p:nvSpPr>
        <p:spPr>
          <a:xfrm>
            <a:off x="887414" y="914400"/>
            <a:ext cx="2743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Dehumanization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4956" y="914400"/>
            <a:ext cx="2743200" cy="461665"/>
          </a:xfrm>
          <a:prstGeom prst="rect">
            <a:avLst/>
          </a:prstGeom>
          <a:noFill/>
        </p:spPr>
        <p:txBody>
          <a:bodyPr wrap="square" lIns="9144" rIns="9144" rtlCol="0">
            <a:spAutoFit/>
          </a:bodyPr>
          <a:lstStyle/>
          <a:p>
            <a:pPr algn="ctr"/>
            <a:r>
              <a:rPr lang="en-US" sz="2400" b="1" dirty="0"/>
              <a:t>Bounded Rationality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814" y="4572000"/>
            <a:ext cx="320040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Minimizes the dehumanizing nature of various organizational paradigms.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84956" y="4572000"/>
            <a:ext cx="27432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Mitigates the limitations of bounded rationality.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31876" y="4576465"/>
            <a:ext cx="274320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Minimizes the risk of blind abidance to rationally constructed rules leading to irrational decisions.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19116" y="918865"/>
            <a:ext cx="3200400" cy="461665"/>
          </a:xfrm>
          <a:prstGeom prst="rect">
            <a:avLst/>
          </a:prstGeom>
          <a:noFill/>
        </p:spPr>
        <p:txBody>
          <a:bodyPr wrap="square" lIns="9144" rIns="9144" rtlCol="0">
            <a:spAutoFit/>
          </a:bodyPr>
          <a:lstStyle/>
          <a:p>
            <a:pPr algn="ctr"/>
            <a:r>
              <a:rPr lang="en-US" sz="2400" b="1" dirty="0"/>
              <a:t>Paradox of Rationality</a:t>
            </a:r>
          </a:p>
        </p:txBody>
      </p:sp>
      <p:pic>
        <p:nvPicPr>
          <p:cNvPr id="18" name="Picture 17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2" t="1066" r="1737" b="2985"/>
          <a:stretch/>
        </p:blipFill>
        <p:spPr>
          <a:xfrm>
            <a:off x="4356334" y="1376065"/>
            <a:ext cx="3294283" cy="3200400"/>
          </a:xfrm>
          <a:prstGeom prst="rect">
            <a:avLst/>
          </a:prstGeom>
          <a:ln>
            <a:noFill/>
          </a:ln>
          <a:effectLst>
            <a:softEdge rad="63500"/>
          </a:effectLst>
        </p:spPr>
      </p:pic>
    </p:spTree>
    <p:extLst>
      <p:ext uri="{BB962C8B-B14F-4D97-AF65-F5344CB8AC3E}">
        <p14:creationId xmlns:p14="http://schemas.microsoft.com/office/powerpoint/2010/main" val="32590055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14233" y="4572000"/>
            <a:ext cx="3200400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Minimizes the risk of an organization being crippled or destroyed from inadequate or inappropriate responses to changes in the operating environment.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6355" y="4567535"/>
            <a:ext cx="32004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Provides a new perspective for resolving ethical dilemmas.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4233" y="914400"/>
            <a:ext cx="3200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Environmental Change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4956" y="914400"/>
            <a:ext cx="2743200" cy="461665"/>
          </a:xfrm>
          <a:prstGeom prst="rect">
            <a:avLst/>
          </a:prstGeom>
          <a:noFill/>
        </p:spPr>
        <p:txBody>
          <a:bodyPr wrap="square" lIns="9144" rIns="9144" rtlCol="0">
            <a:spAutoFit/>
          </a:bodyPr>
          <a:lstStyle/>
          <a:p>
            <a:pPr algn="ctr"/>
            <a:r>
              <a:rPr lang="en-US" sz="2400" b="1" dirty="0"/>
              <a:t>Ethical Dilemmas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0592" y="1828800"/>
            <a:ext cx="3051927" cy="2286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570" y="1828800"/>
            <a:ext cx="3523726" cy="2286000"/>
          </a:xfrm>
          <a:prstGeom prst="rect">
            <a:avLst/>
          </a:prstGeom>
          <a:ln>
            <a:noFill/>
          </a:ln>
          <a:effectLst>
            <a:softEdge rad="63500"/>
          </a:effectLst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62660" y="1846904"/>
            <a:ext cx="3466680" cy="22860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2" name="TextBox 11"/>
          <p:cNvSpPr txBox="1"/>
          <p:nvPr/>
        </p:nvSpPr>
        <p:spPr>
          <a:xfrm>
            <a:off x="4724400" y="914400"/>
            <a:ext cx="2743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Whistleblowing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24400" y="4572000"/>
            <a:ext cx="2743200" cy="1477328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/>
              <a:t>Affirms whistleblowing as a legitimate strategy for effectuating organizational change while minimizing the need for it.</a:t>
            </a:r>
          </a:p>
        </p:txBody>
      </p:sp>
    </p:spTree>
    <p:extLst>
      <p:ext uri="{BB962C8B-B14F-4D97-AF65-F5344CB8AC3E}">
        <p14:creationId xmlns:p14="http://schemas.microsoft.com/office/powerpoint/2010/main" val="3451898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199" y="457200"/>
            <a:ext cx="10515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Implications for role as a subordinate within an organization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14900" y="1856096"/>
            <a:ext cx="10515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Think of effectuating change not as matter of “what gives me the right” but a matter of under what circumstances do I choose to exercise my right.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14900" y="3182204"/>
            <a:ext cx="10515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Consider organizational allegiance and commitment a matter of fulfilling ethical obligations and satisfying personal needs blind loyalty to the organizational entity.</a:t>
            </a:r>
          </a:p>
        </p:txBody>
      </p:sp>
      <p:sp>
        <p:nvSpPr>
          <p:cNvPr id="5" name="Oval 4"/>
          <p:cNvSpPr/>
          <p:nvPr/>
        </p:nvSpPr>
        <p:spPr>
          <a:xfrm>
            <a:off x="1009934" y="1949768"/>
            <a:ext cx="272956" cy="274320"/>
          </a:xfrm>
          <a:prstGeom prst="ellipse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1009934" y="3323382"/>
            <a:ext cx="272956" cy="274320"/>
          </a:xfrm>
          <a:prstGeom prst="ellipse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3791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199" y="457200"/>
            <a:ext cx="11430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Implications for role as a colleague to other organization members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14900" y="1856096"/>
            <a:ext cx="10515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View conflict as an opportunity for creative problem solving that helps the organization better adapt to the environment rather than a dysfunction to be avoided at all costs.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14900" y="3550697"/>
            <a:ext cx="10515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Pursue interactions with colleagues as negotiations rather than zero sum games characterized by domination and submission.</a:t>
            </a:r>
          </a:p>
        </p:txBody>
      </p:sp>
      <p:sp>
        <p:nvSpPr>
          <p:cNvPr id="5" name="Oval 4"/>
          <p:cNvSpPr/>
          <p:nvPr/>
        </p:nvSpPr>
        <p:spPr>
          <a:xfrm>
            <a:off x="1009934" y="1949768"/>
            <a:ext cx="272956" cy="274320"/>
          </a:xfrm>
          <a:prstGeom prst="ellipse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1009934" y="3691875"/>
            <a:ext cx="272956" cy="274320"/>
          </a:xfrm>
          <a:prstGeom prst="ellipse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47205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199" y="457200"/>
            <a:ext cx="10515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Implications for role as a supervisor within an organization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14900" y="1856096"/>
            <a:ext cx="105156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Reject the notion that supervisors must do all of the thinking for the group.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14900" y="2866030"/>
            <a:ext cx="10515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Avoid treating subordinates as unthinking automatons whose only function is to carry out the directives of superiors.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4900" y="4245296"/>
            <a:ext cx="105156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Create an environment where subordinates have options to express opinions and influence organization activities other than through guerilla activity.</a:t>
            </a:r>
          </a:p>
        </p:txBody>
      </p:sp>
      <p:sp>
        <p:nvSpPr>
          <p:cNvPr id="6" name="Oval 5"/>
          <p:cNvSpPr/>
          <p:nvPr/>
        </p:nvSpPr>
        <p:spPr>
          <a:xfrm>
            <a:off x="1009934" y="1949768"/>
            <a:ext cx="272956" cy="274320"/>
          </a:xfrm>
          <a:prstGeom prst="ellipse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1009934" y="2991202"/>
            <a:ext cx="272956" cy="274320"/>
          </a:xfrm>
          <a:prstGeom prst="ellipse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/>
          <p:cNvSpPr/>
          <p:nvPr/>
        </p:nvSpPr>
        <p:spPr>
          <a:xfrm>
            <a:off x="1009934" y="4343172"/>
            <a:ext cx="272956" cy="274320"/>
          </a:xfrm>
          <a:prstGeom prst="ellipse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24962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506</TotalTime>
  <Words>567</Words>
  <Application>Microsoft Office PowerPoint</Application>
  <PresentationFormat>Widescreen</PresentationFormat>
  <Paragraphs>48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Office Theme</vt:lpstr>
      <vt:lpstr>A Perspective on Organization Dynamics and Dysfunction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Perspective on Organization Dynamics and Dysfunction</dc:title>
  <dc:creator>Malcolm Townes</dc:creator>
  <cp:lastModifiedBy>Malcolm Townes</cp:lastModifiedBy>
  <cp:revision>49</cp:revision>
  <dcterms:created xsi:type="dcterms:W3CDTF">2020-04-27T23:21:04Z</dcterms:created>
  <dcterms:modified xsi:type="dcterms:W3CDTF">2020-05-03T18:34:41Z</dcterms:modified>
</cp:coreProperties>
</file>