
<file path=[Content_Types].xml><?xml version="1.0" encoding="utf-8"?>
<Types xmlns="http://schemas.openxmlformats.org/package/2006/content-types">
  <Default Extension="png" ContentType="image/png"/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9" r:id="rId4"/>
    <p:sldId id="258" r:id="rId5"/>
    <p:sldId id="264" r:id="rId6"/>
    <p:sldId id="265" r:id="rId7"/>
    <p:sldId id="260" r:id="rId8"/>
    <p:sldId id="262" r:id="rId9"/>
    <p:sldId id="263" r:id="rId10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000" autoAdjust="0"/>
    <p:restoredTop sz="94660"/>
  </p:normalViewPr>
  <p:slideViewPr>
    <p:cSldViewPr snapToGrid="0">
      <p:cViewPr varScale="1">
        <p:scale>
          <a:sx n="72" d="100"/>
          <a:sy n="72" d="100"/>
        </p:scale>
        <p:origin x="660" y="7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presProps" Target="presProps.xml"/><Relationship Id="rId5" Type="http://schemas.openxmlformats.org/officeDocument/2006/relationships/slide" Target="slides/slide4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ableStyles" Target="tableStyle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21C96B5-8CD6-42CD-A2F3-B97FDED654A7}" type="datetimeFigureOut">
              <a:rPr lang="en-US" smtClean="0"/>
              <a:t>4/30/2020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3E9B3A1-01E3-4CF0-8DD6-71008961A7C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1845009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21C96B5-8CD6-42CD-A2F3-B97FDED654A7}" type="datetimeFigureOut">
              <a:rPr lang="en-US" smtClean="0"/>
              <a:t>4/30/2020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3E9B3A1-01E3-4CF0-8DD6-71008961A7C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2532965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21C96B5-8CD6-42CD-A2F3-B97FDED654A7}" type="datetimeFigureOut">
              <a:rPr lang="en-US" smtClean="0"/>
              <a:t>4/30/2020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3E9B3A1-01E3-4CF0-8DD6-71008961A7C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7207999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21C96B5-8CD6-42CD-A2F3-B97FDED654A7}" type="datetimeFigureOut">
              <a:rPr lang="en-US" smtClean="0"/>
              <a:t>4/30/2020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3E9B3A1-01E3-4CF0-8DD6-71008961A7C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4010861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21C96B5-8CD6-42CD-A2F3-B97FDED654A7}" type="datetimeFigureOut">
              <a:rPr lang="en-US" smtClean="0"/>
              <a:t>4/30/2020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3E9B3A1-01E3-4CF0-8DD6-71008961A7C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9076537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21C96B5-8CD6-42CD-A2F3-B97FDED654A7}" type="datetimeFigureOut">
              <a:rPr lang="en-US" smtClean="0"/>
              <a:t>4/30/2020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3E9B3A1-01E3-4CF0-8DD6-71008961A7C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019276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21C96B5-8CD6-42CD-A2F3-B97FDED654A7}" type="datetimeFigureOut">
              <a:rPr lang="en-US" smtClean="0"/>
              <a:t>4/30/2020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3E9B3A1-01E3-4CF0-8DD6-71008961A7C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1392394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21C96B5-8CD6-42CD-A2F3-B97FDED654A7}" type="datetimeFigureOut">
              <a:rPr lang="en-US" smtClean="0"/>
              <a:t>4/30/2020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3E9B3A1-01E3-4CF0-8DD6-71008961A7C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7654062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21C96B5-8CD6-42CD-A2F3-B97FDED654A7}" type="datetimeFigureOut">
              <a:rPr lang="en-US" smtClean="0"/>
              <a:t>4/30/2020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3E9B3A1-01E3-4CF0-8DD6-71008961A7C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5998914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21C96B5-8CD6-42CD-A2F3-B97FDED654A7}" type="datetimeFigureOut">
              <a:rPr lang="en-US" smtClean="0"/>
              <a:t>4/30/2020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3E9B3A1-01E3-4CF0-8DD6-71008961A7C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1948986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21C96B5-8CD6-42CD-A2F3-B97FDED654A7}" type="datetimeFigureOut">
              <a:rPr lang="en-US" smtClean="0"/>
              <a:t>4/30/2020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3E9B3A1-01E3-4CF0-8DD6-71008961A7C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7945561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721C96B5-8CD6-42CD-A2F3-B97FDED654A7}" type="datetimeFigureOut">
              <a:rPr lang="en-US" smtClean="0"/>
              <a:t>4/30/2020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3E9B3A1-01E3-4CF0-8DD6-71008961A7C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1491095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>
            <a:normAutofit/>
          </a:bodyPr>
          <a:lstStyle/>
          <a:p>
            <a:r>
              <a:rPr lang="en-US" b="1" dirty="0"/>
              <a:t>A Perspective on Organization Dynamics and Dysfunction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Malcolm S. Townes</a:t>
            </a:r>
          </a:p>
          <a:p>
            <a:r>
              <a:rPr lang="en-US" dirty="0"/>
              <a:t>POLS 6320 Organization Theory and Behavior</a:t>
            </a:r>
          </a:p>
          <a:p>
            <a:r>
              <a:rPr lang="en-US" dirty="0"/>
              <a:t>Saint Louis University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81270" y="5539409"/>
            <a:ext cx="10429461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400" dirty="0"/>
              <a:t>May 4, 2020</a:t>
            </a:r>
          </a:p>
        </p:txBody>
      </p:sp>
    </p:spTree>
    <p:extLst>
      <p:ext uri="{BB962C8B-B14F-4D97-AF65-F5344CB8AC3E}">
        <p14:creationId xmlns:p14="http://schemas.microsoft.com/office/powerpoint/2010/main" val="214328605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566390037"/>
              </p:ext>
            </p:extLst>
          </p:nvPr>
        </p:nvGraphicFramePr>
        <p:xfrm>
          <a:off x="152400" y="228600"/>
          <a:ext cx="11887200" cy="66751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962400">
                  <a:extLst>
                    <a:ext uri="{9D8B030D-6E8A-4147-A177-3AD203B41FA5}">
                      <a16:colId xmlns:a16="http://schemas.microsoft.com/office/drawing/2014/main" val="3721151701"/>
                    </a:ext>
                  </a:extLst>
                </a:gridCol>
                <a:gridCol w="3962400">
                  <a:extLst>
                    <a:ext uri="{9D8B030D-6E8A-4147-A177-3AD203B41FA5}">
                      <a16:colId xmlns:a16="http://schemas.microsoft.com/office/drawing/2014/main" val="1075546585"/>
                    </a:ext>
                  </a:extLst>
                </a:gridCol>
                <a:gridCol w="3962400">
                  <a:extLst>
                    <a:ext uri="{9D8B030D-6E8A-4147-A177-3AD203B41FA5}">
                      <a16:colId xmlns:a16="http://schemas.microsoft.com/office/drawing/2014/main" val="3836090014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 marT="228600" marB="228600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Pre-Course Belief</a:t>
                      </a:r>
                    </a:p>
                  </a:txBody>
                  <a:tcPr marT="228600" marB="228600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Post-Course Belief</a:t>
                      </a:r>
                    </a:p>
                  </a:txBody>
                  <a:tcPr marT="228600" marB="228600"/>
                </a:tc>
                <a:extLst>
                  <a:ext uri="{0D108BD9-81ED-4DB2-BD59-A6C34878D82A}">
                    <a16:rowId xmlns:a16="http://schemas.microsoft.com/office/drawing/2014/main" val="1037781372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en-US" dirty="0"/>
                        <a:t>The</a:t>
                      </a:r>
                      <a:r>
                        <a:rPr lang="en-US" baseline="0" dirty="0"/>
                        <a:t> nature of organizations</a:t>
                      </a:r>
                      <a:endParaRPr lang="en-US" dirty="0"/>
                    </a:p>
                  </a:txBody>
                  <a:tcPr marT="228600" marB="228600"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The analogy of an organization being like an organism</a:t>
                      </a:r>
                      <a:r>
                        <a:rPr lang="en-US" baseline="0" dirty="0"/>
                        <a:t> had given way to the notion that an organization is an organism that has independent motivations.</a:t>
                      </a:r>
                      <a:endParaRPr lang="en-US" dirty="0"/>
                    </a:p>
                  </a:txBody>
                  <a:tcPr marT="228600" marB="228600"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An organization</a:t>
                      </a:r>
                      <a:r>
                        <a:rPr lang="en-US" baseline="0" dirty="0"/>
                        <a:t> is a human construct defined by norms and expectations that its members must continually negotiate and affirm.</a:t>
                      </a:r>
                      <a:endParaRPr lang="en-US" dirty="0"/>
                    </a:p>
                  </a:txBody>
                  <a:tcPr marT="228600" marB="228600"/>
                </a:tc>
                <a:extLst>
                  <a:ext uri="{0D108BD9-81ED-4DB2-BD59-A6C34878D82A}">
                    <a16:rowId xmlns:a16="http://schemas.microsoft.com/office/drawing/2014/main" val="1744382415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en-US" dirty="0"/>
                        <a:t>Exercising human</a:t>
                      </a:r>
                      <a:r>
                        <a:rPr lang="en-US" baseline="0" dirty="0"/>
                        <a:t> agency</a:t>
                      </a:r>
                      <a:endParaRPr lang="en-US" dirty="0"/>
                    </a:p>
                  </a:txBody>
                  <a:tcPr marT="228600" marB="228600"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Membership in an organization requires one to abdicate</a:t>
                      </a:r>
                      <a:r>
                        <a:rPr lang="en-US" baseline="0" dirty="0"/>
                        <a:t> their human agency.</a:t>
                      </a:r>
                      <a:endParaRPr lang="en-US" dirty="0"/>
                    </a:p>
                  </a:txBody>
                  <a:tcPr marT="228600" marB="228600"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When</a:t>
                      </a:r>
                      <a:r>
                        <a:rPr lang="en-US" baseline="0" dirty="0"/>
                        <a:t> conceived as a set of recursive practices, an </a:t>
                      </a:r>
                      <a:r>
                        <a:rPr lang="en-US" dirty="0"/>
                        <a:t>organization</a:t>
                      </a:r>
                      <a:r>
                        <a:rPr lang="en-US" baseline="0" dirty="0"/>
                        <a:t> cannot exist without human agency.</a:t>
                      </a:r>
                      <a:endParaRPr lang="en-US" dirty="0"/>
                    </a:p>
                  </a:txBody>
                  <a:tcPr marT="228600" marB="228600"/>
                </a:tc>
                <a:extLst>
                  <a:ext uri="{0D108BD9-81ED-4DB2-BD59-A6C34878D82A}">
                    <a16:rowId xmlns:a16="http://schemas.microsoft.com/office/drawing/2014/main" val="2853049982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en-US" dirty="0"/>
                        <a:t>How</a:t>
                      </a:r>
                      <a:r>
                        <a:rPr lang="en-US" baseline="0" dirty="0"/>
                        <a:t> change occurs</a:t>
                      </a:r>
                      <a:endParaRPr lang="en-US" dirty="0"/>
                    </a:p>
                  </a:txBody>
                  <a:tcPr marT="228600" marB="228600"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Only high level fiduciary leaders have the responsibility and authority to effectuate organizational change.</a:t>
                      </a:r>
                    </a:p>
                  </a:txBody>
                  <a:tcPr marT="228600" marB="228600"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Every member of the organization has a right to try to</a:t>
                      </a:r>
                      <a:r>
                        <a:rPr lang="en-US" baseline="0" dirty="0"/>
                        <a:t> </a:t>
                      </a:r>
                      <a:r>
                        <a:rPr lang="en-US" dirty="0"/>
                        <a:t>effectuate organizational change regardless of</a:t>
                      </a:r>
                      <a:r>
                        <a:rPr lang="en-US" baseline="0" dirty="0"/>
                        <a:t> their</a:t>
                      </a:r>
                      <a:r>
                        <a:rPr lang="en-US" dirty="0"/>
                        <a:t> status.</a:t>
                      </a:r>
                    </a:p>
                  </a:txBody>
                  <a:tcPr marT="228600" marB="228600"/>
                </a:tc>
                <a:extLst>
                  <a:ext uri="{0D108BD9-81ED-4DB2-BD59-A6C34878D82A}">
                    <a16:rowId xmlns:a16="http://schemas.microsoft.com/office/drawing/2014/main" val="1707808840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en-US" dirty="0"/>
                        <a:t>Appropriateness of guerilla activity</a:t>
                      </a:r>
                    </a:p>
                  </a:txBody>
                  <a:tcPr marT="228600" marB="228600"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Guerilla activity within an organization is seldom if ever appropriate, a sign of disloyalty to the organization, and damaging</a:t>
                      </a:r>
                      <a:r>
                        <a:rPr lang="en-US" baseline="0" dirty="0"/>
                        <a:t> to the organization</a:t>
                      </a:r>
                      <a:r>
                        <a:rPr lang="en-US" dirty="0"/>
                        <a:t>.</a:t>
                      </a:r>
                    </a:p>
                  </a:txBody>
                  <a:tcPr marT="228600" marB="228600"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Guerilla activity is a legitimate</a:t>
                      </a:r>
                      <a:r>
                        <a:rPr lang="en-US" baseline="0" dirty="0"/>
                        <a:t>, appropriate, and useful method to effectuate change in an organization.</a:t>
                      </a:r>
                      <a:endParaRPr lang="en-US" dirty="0"/>
                    </a:p>
                  </a:txBody>
                  <a:tcPr marT="228600" marB="228600"/>
                </a:tc>
                <a:extLst>
                  <a:ext uri="{0D108BD9-81ED-4DB2-BD59-A6C34878D82A}">
                    <a16:rowId xmlns:a16="http://schemas.microsoft.com/office/drawing/2014/main" val="1062439349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86764395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500048" y="1905506"/>
            <a:ext cx="6264322" cy="30469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dirty="0"/>
              <a:t>Setting organizational objectives and effectuating organizational change to achieve those objectives are not the exclusive responsibility, right, and privilege of the organization’s fiduciary leaders. </a:t>
            </a:r>
          </a:p>
        </p:txBody>
      </p:sp>
      <p:pic>
        <p:nvPicPr>
          <p:cNvPr id="6" name="Picture 5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365372" y="1473201"/>
            <a:ext cx="3200400" cy="391159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77816203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Arrow: Pentagon 2"/>
          <p:cNvSpPr/>
          <p:nvPr/>
        </p:nvSpPr>
        <p:spPr>
          <a:xfrm rot="-1800000" flipH="1">
            <a:off x="7435482" y="868680"/>
            <a:ext cx="3657600" cy="1828800"/>
          </a:xfrm>
          <a:prstGeom prst="homePlate">
            <a:avLst/>
          </a:prstGeom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lIns="9144" tIns="9144" rIns="9144" bIns="9144" rtlCol="0" anchor="ctr"/>
          <a:lstStyle/>
          <a:p>
            <a:pPr algn="ctr"/>
            <a:r>
              <a:rPr lang="en-US" dirty="0"/>
              <a:t>An organization is a human construct defined by norms and expectations that its members must continually negotiate and affirm.</a:t>
            </a:r>
          </a:p>
        </p:txBody>
      </p:sp>
      <p:sp>
        <p:nvSpPr>
          <p:cNvPr id="4" name="Arrow: Pentagon 3"/>
          <p:cNvSpPr/>
          <p:nvPr/>
        </p:nvSpPr>
        <p:spPr>
          <a:xfrm rot="1816787" flipH="1">
            <a:off x="7434860" y="4155040"/>
            <a:ext cx="3657600" cy="1828800"/>
          </a:xfrm>
          <a:prstGeom prst="homePlate">
            <a:avLst/>
          </a:prstGeom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lIns="9144" tIns="9144" rIns="9144" bIns="9144" rtlCol="0" anchor="ctr"/>
          <a:lstStyle/>
          <a:p>
            <a:pPr algn="ctr"/>
            <a:r>
              <a:rPr lang="en-US" dirty="0"/>
              <a:t>Membership in an organization does not require one to abdicate human agency.</a:t>
            </a:r>
          </a:p>
        </p:txBody>
      </p:sp>
      <p:sp>
        <p:nvSpPr>
          <p:cNvPr id="5" name="Arrow: Pentagon 4"/>
          <p:cNvSpPr/>
          <p:nvPr/>
        </p:nvSpPr>
        <p:spPr>
          <a:xfrm rot="1800000">
            <a:off x="1100163" y="868679"/>
            <a:ext cx="3657600" cy="1828800"/>
          </a:xfrm>
          <a:prstGeom prst="homePlate">
            <a:avLst/>
          </a:prstGeom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lIns="9144" tIns="9144" rIns="9144" bIns="9144" rtlCol="0" anchor="ctr"/>
          <a:lstStyle/>
          <a:p>
            <a:pPr algn="ctr"/>
            <a:r>
              <a:rPr lang="en-US" dirty="0"/>
              <a:t>Guerilla activity is a legitimate, appropriate, and useful method to effectuate change in an organization.</a:t>
            </a:r>
          </a:p>
        </p:txBody>
      </p:sp>
      <p:sp>
        <p:nvSpPr>
          <p:cNvPr id="6" name="Arrow: Pentagon 5"/>
          <p:cNvSpPr/>
          <p:nvPr/>
        </p:nvSpPr>
        <p:spPr>
          <a:xfrm rot="-1800000">
            <a:off x="1100161" y="4160522"/>
            <a:ext cx="3657600" cy="1828800"/>
          </a:xfrm>
          <a:prstGeom prst="homePlate">
            <a:avLst/>
          </a:prstGeom>
        </p:spPr>
        <p:style>
          <a:lnRef idx="2">
            <a:schemeClr val="accent5">
              <a:shade val="50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lIns="9144" tIns="9144" rIns="9144" bIns="9144" rtlCol="0" anchor="ctr"/>
          <a:lstStyle/>
          <a:p>
            <a:pPr algn="ctr"/>
            <a:r>
              <a:rPr lang="en-US" dirty="0"/>
              <a:t>Every member of the organization has a right to try to effectuate organizational change regardless of status.</a:t>
            </a:r>
          </a:p>
        </p:txBody>
      </p:sp>
      <p:sp>
        <p:nvSpPr>
          <p:cNvPr id="2" name="Oval 1"/>
          <p:cNvSpPr/>
          <p:nvPr/>
        </p:nvSpPr>
        <p:spPr>
          <a:xfrm>
            <a:off x="4450080" y="1783080"/>
            <a:ext cx="3291840" cy="3291840"/>
          </a:xfrm>
          <a:prstGeom prst="ellipse">
            <a:avLst/>
          </a:prstGeom>
          <a:ln>
            <a:noFill/>
          </a:ln>
          <a:effectLst>
            <a:outerShdw blurRad="149987" dist="250190" dir="8460000" algn="ctr">
              <a:srgbClr val="000000">
                <a:alpha val="28000"/>
              </a:srgbClr>
            </a:outerShdw>
          </a:effectLst>
          <a:scene3d>
            <a:camera prst="orthographicFront">
              <a:rot lat="0" lon="0" rev="0"/>
            </a:camera>
            <a:lightRig rig="contrasting" dir="t">
              <a:rot lat="0" lon="0" rev="1500000"/>
            </a:lightRig>
          </a:scene3d>
          <a:sp3d prstMaterial="metal">
            <a:bevelT w="88900" h="88900"/>
          </a:sp3d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lIns="9144" tIns="9144" rIns="9144" bIns="9144" rtlCol="0" anchor="ctr"/>
          <a:lstStyle/>
          <a:p>
            <a:pPr algn="ctr"/>
            <a:r>
              <a:rPr lang="en-US" dirty="0"/>
              <a:t>Every member of an organization has a warrant to influence organizational objectives and effectuate organizational change derived from their membership in the organization.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124200" y="76784"/>
            <a:ext cx="594360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800" b="1" dirty="0"/>
              <a:t>The Principle of Distributed Authority</a:t>
            </a:r>
          </a:p>
        </p:txBody>
      </p:sp>
    </p:spTree>
    <p:extLst>
      <p:ext uri="{BB962C8B-B14F-4D97-AF65-F5344CB8AC3E}">
        <p14:creationId xmlns:p14="http://schemas.microsoft.com/office/powerpoint/2010/main" val="1644096421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allout: Down Arrow 2"/>
          <p:cNvSpPr/>
          <p:nvPr/>
        </p:nvSpPr>
        <p:spPr>
          <a:xfrm>
            <a:off x="5038299" y="150119"/>
            <a:ext cx="2115403" cy="1937982"/>
          </a:xfrm>
          <a:prstGeom prst="downArrowCallout">
            <a:avLst/>
          </a:prstGeom>
          <a:solidFill>
            <a:srgbClr val="FF0000"/>
          </a:solidFill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b="1" dirty="0"/>
              <a:t>Whistleblowing</a:t>
            </a:r>
          </a:p>
        </p:txBody>
      </p:sp>
      <p:sp>
        <p:nvSpPr>
          <p:cNvPr id="4" name="Callout: Down Arrow 3"/>
          <p:cNvSpPr/>
          <p:nvPr/>
        </p:nvSpPr>
        <p:spPr>
          <a:xfrm>
            <a:off x="917585" y="150119"/>
            <a:ext cx="2115403" cy="1937982"/>
          </a:xfrm>
          <a:prstGeom prst="downArrowCallout">
            <a:avLst/>
          </a:prstGeom>
        </p:spPr>
        <p:style>
          <a:lnRef idx="0">
            <a:schemeClr val="dk1"/>
          </a:lnRef>
          <a:fillRef idx="3">
            <a:schemeClr val="dk1"/>
          </a:fillRef>
          <a:effectRef idx="3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b="1" dirty="0"/>
              <a:t>Dehumanization</a:t>
            </a:r>
          </a:p>
        </p:txBody>
      </p:sp>
      <p:sp>
        <p:nvSpPr>
          <p:cNvPr id="5" name="Callout: Down Arrow 4"/>
          <p:cNvSpPr/>
          <p:nvPr/>
        </p:nvSpPr>
        <p:spPr>
          <a:xfrm>
            <a:off x="9162198" y="150119"/>
            <a:ext cx="2115403" cy="1937982"/>
          </a:xfrm>
          <a:prstGeom prst="downArrowCallout">
            <a:avLst/>
          </a:prstGeom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b="1" dirty="0"/>
              <a:t>Bounded Rationality</a:t>
            </a:r>
          </a:p>
        </p:txBody>
      </p:sp>
      <p:sp>
        <p:nvSpPr>
          <p:cNvPr id="6" name="Thought Bubble: Cloud 5"/>
          <p:cNvSpPr/>
          <p:nvPr/>
        </p:nvSpPr>
        <p:spPr>
          <a:xfrm>
            <a:off x="4175760" y="3534767"/>
            <a:ext cx="3840480" cy="3200400"/>
          </a:xfrm>
          <a:prstGeom prst="cloudCallout">
            <a:avLst>
              <a:gd name="adj1" fmla="val 544"/>
              <a:gd name="adj2" fmla="val -82628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9144" rIns="9144" rtlCol="0" anchor="ctr"/>
          <a:lstStyle/>
          <a:p>
            <a:pPr algn="ctr"/>
            <a:r>
              <a:rPr lang="en-US" dirty="0"/>
              <a:t>Affirms whistleblowing as a legitimate strategy for effectuating organizational change but creates an environment that minimizes the need for it.</a:t>
            </a:r>
          </a:p>
        </p:txBody>
      </p:sp>
      <p:sp>
        <p:nvSpPr>
          <p:cNvPr id="7" name="Thought Bubble: Cloud 6"/>
          <p:cNvSpPr/>
          <p:nvPr/>
        </p:nvSpPr>
        <p:spPr>
          <a:xfrm>
            <a:off x="51861" y="3534767"/>
            <a:ext cx="3840480" cy="3200400"/>
          </a:xfrm>
          <a:prstGeom prst="cloudCallout">
            <a:avLst>
              <a:gd name="adj1" fmla="val 544"/>
              <a:gd name="adj2" fmla="val -82628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Minimizes the dehumanizing nature of organizations.</a:t>
            </a:r>
          </a:p>
        </p:txBody>
      </p:sp>
      <p:sp>
        <p:nvSpPr>
          <p:cNvPr id="8" name="Thought Bubble: Cloud 7"/>
          <p:cNvSpPr/>
          <p:nvPr/>
        </p:nvSpPr>
        <p:spPr>
          <a:xfrm>
            <a:off x="8299659" y="3534767"/>
            <a:ext cx="3840480" cy="3200400"/>
          </a:xfrm>
          <a:prstGeom prst="cloudCallout">
            <a:avLst>
              <a:gd name="adj1" fmla="val 189"/>
              <a:gd name="adj2" fmla="val -82628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Mitigates the limitations of bounded rationality.</a:t>
            </a:r>
          </a:p>
        </p:txBody>
      </p:sp>
    </p:spTree>
    <p:extLst>
      <p:ext uri="{BB962C8B-B14F-4D97-AF65-F5344CB8AC3E}">
        <p14:creationId xmlns:p14="http://schemas.microsoft.com/office/powerpoint/2010/main" val="2345814245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allout: Down Arrow 2"/>
          <p:cNvSpPr/>
          <p:nvPr/>
        </p:nvSpPr>
        <p:spPr>
          <a:xfrm>
            <a:off x="914400" y="150119"/>
            <a:ext cx="2115403" cy="1937982"/>
          </a:xfrm>
          <a:prstGeom prst="downArrowCallout">
            <a:avLst/>
          </a:prstGeom>
        </p:spPr>
        <p:style>
          <a:lnRef idx="0">
            <a:schemeClr val="accent4"/>
          </a:lnRef>
          <a:fillRef idx="3">
            <a:schemeClr val="accent4"/>
          </a:fillRef>
          <a:effectRef idx="3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b="1" dirty="0"/>
              <a:t>Environmental Change</a:t>
            </a:r>
          </a:p>
        </p:txBody>
      </p:sp>
      <p:sp>
        <p:nvSpPr>
          <p:cNvPr id="4" name="Callout: Down Arrow 3"/>
          <p:cNvSpPr/>
          <p:nvPr/>
        </p:nvSpPr>
        <p:spPr>
          <a:xfrm>
            <a:off x="5038299" y="150119"/>
            <a:ext cx="2115403" cy="1937982"/>
          </a:xfrm>
          <a:prstGeom prst="downArrowCallout">
            <a:avLst/>
          </a:prstGeom>
        </p:spPr>
        <p:style>
          <a:lnRef idx="0">
            <a:schemeClr val="accent6"/>
          </a:lnRef>
          <a:fillRef idx="3">
            <a:schemeClr val="accent6"/>
          </a:fillRef>
          <a:effectRef idx="3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b="1" dirty="0"/>
              <a:t>The Rationality Paradox</a:t>
            </a:r>
          </a:p>
        </p:txBody>
      </p:sp>
      <p:sp>
        <p:nvSpPr>
          <p:cNvPr id="5" name="Callout: Down Arrow 4"/>
          <p:cNvSpPr/>
          <p:nvPr/>
        </p:nvSpPr>
        <p:spPr>
          <a:xfrm>
            <a:off x="9162198" y="150119"/>
            <a:ext cx="2115403" cy="1937982"/>
          </a:xfrm>
          <a:prstGeom prst="downArrowCallout">
            <a:avLst/>
          </a:prstGeom>
        </p:spPr>
        <p:style>
          <a:lnRef idx="0">
            <a:schemeClr val="accent3"/>
          </a:lnRef>
          <a:fillRef idx="3">
            <a:schemeClr val="accent3"/>
          </a:fillRef>
          <a:effectRef idx="3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b="1" dirty="0"/>
              <a:t>Ethical Dilemmas</a:t>
            </a:r>
          </a:p>
        </p:txBody>
      </p:sp>
      <p:sp>
        <p:nvSpPr>
          <p:cNvPr id="6" name="Thought Bubble: Cloud 5"/>
          <p:cNvSpPr/>
          <p:nvPr/>
        </p:nvSpPr>
        <p:spPr>
          <a:xfrm>
            <a:off x="51861" y="3534767"/>
            <a:ext cx="3840480" cy="3200400"/>
          </a:xfrm>
          <a:prstGeom prst="cloudCallout">
            <a:avLst>
              <a:gd name="adj1" fmla="val 544"/>
              <a:gd name="adj2" fmla="val -82628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Minimizes the risk of an organization being crippled or destroyed by changes in the operating environment.</a:t>
            </a:r>
          </a:p>
        </p:txBody>
      </p:sp>
      <p:sp>
        <p:nvSpPr>
          <p:cNvPr id="7" name="Thought Bubble: Cloud 6"/>
          <p:cNvSpPr/>
          <p:nvPr/>
        </p:nvSpPr>
        <p:spPr>
          <a:xfrm>
            <a:off x="4172575" y="3534767"/>
            <a:ext cx="3840480" cy="3200400"/>
          </a:xfrm>
          <a:prstGeom prst="cloudCallout">
            <a:avLst>
              <a:gd name="adj1" fmla="val 544"/>
              <a:gd name="adj2" fmla="val -82628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Minimizes the risk of blind abidance to rationally constructed rules leading to irrational decisions.</a:t>
            </a:r>
          </a:p>
        </p:txBody>
      </p:sp>
      <p:sp>
        <p:nvSpPr>
          <p:cNvPr id="8" name="Thought Bubble: Cloud 7"/>
          <p:cNvSpPr/>
          <p:nvPr/>
        </p:nvSpPr>
        <p:spPr>
          <a:xfrm>
            <a:off x="8299659" y="3534767"/>
            <a:ext cx="3840480" cy="3200400"/>
          </a:xfrm>
          <a:prstGeom prst="cloudCallout">
            <a:avLst>
              <a:gd name="adj1" fmla="val 189"/>
              <a:gd name="adj2" fmla="val -82628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Provides a path for resolving ethical dilemmas.</a:t>
            </a:r>
          </a:p>
        </p:txBody>
      </p:sp>
    </p:spTree>
    <p:extLst>
      <p:ext uri="{BB962C8B-B14F-4D97-AF65-F5344CB8AC3E}">
        <p14:creationId xmlns:p14="http://schemas.microsoft.com/office/powerpoint/2010/main" val="819402388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199" y="457200"/>
            <a:ext cx="1051560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b="1" dirty="0"/>
              <a:t>Implications for role as a subordinate within an organization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514900" y="1856096"/>
            <a:ext cx="10515600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/>
              <a:t>Think of effectuating change not as matter of “what gives you the right” but a matter of under what circumstances do I choose to exercise my right.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514900" y="3182204"/>
            <a:ext cx="10515600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/>
              <a:t>Consider organizational allegiance and commitment a matter of fulfilling ethical obligations and satisfying personal needs blind loyalty to the organizational entity.</a:t>
            </a:r>
          </a:p>
        </p:txBody>
      </p:sp>
      <p:sp>
        <p:nvSpPr>
          <p:cNvPr id="5" name="Oval 4"/>
          <p:cNvSpPr/>
          <p:nvPr/>
        </p:nvSpPr>
        <p:spPr>
          <a:xfrm>
            <a:off x="1009934" y="1949768"/>
            <a:ext cx="272956" cy="274320"/>
          </a:xfrm>
          <a:prstGeom prst="ellipse">
            <a:avLst/>
          </a:prstGeom>
        </p:spPr>
        <p:style>
          <a:lnRef idx="0">
            <a:schemeClr val="dk1"/>
          </a:lnRef>
          <a:fillRef idx="3">
            <a:schemeClr val="dk1"/>
          </a:fillRef>
          <a:effectRef idx="3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Oval 5"/>
          <p:cNvSpPr/>
          <p:nvPr/>
        </p:nvSpPr>
        <p:spPr>
          <a:xfrm>
            <a:off x="1009934" y="3323382"/>
            <a:ext cx="272956" cy="274320"/>
          </a:xfrm>
          <a:prstGeom prst="ellipse">
            <a:avLst/>
          </a:prstGeom>
        </p:spPr>
        <p:style>
          <a:lnRef idx="0">
            <a:schemeClr val="dk1"/>
          </a:lnRef>
          <a:fillRef idx="3">
            <a:schemeClr val="dk1"/>
          </a:fillRef>
          <a:effectRef idx="3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7379122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199" y="457200"/>
            <a:ext cx="1143000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b="1" dirty="0"/>
              <a:t>Implications for role as a colleague to other organization members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514900" y="1856096"/>
            <a:ext cx="10515600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/>
              <a:t>View conflict as an opportunity for creative problem solving that helps the organization better adapt to the environment rather than a dysfunction to be avoided at all costs. 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514900" y="3550697"/>
            <a:ext cx="10515600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/>
              <a:t>Pursue interactions with colleagues as negotiations rather than zero sum games characterized by domination and submission.</a:t>
            </a:r>
          </a:p>
        </p:txBody>
      </p:sp>
      <p:sp>
        <p:nvSpPr>
          <p:cNvPr id="5" name="Oval 4"/>
          <p:cNvSpPr/>
          <p:nvPr/>
        </p:nvSpPr>
        <p:spPr>
          <a:xfrm>
            <a:off x="1009934" y="1949768"/>
            <a:ext cx="272956" cy="274320"/>
          </a:xfrm>
          <a:prstGeom prst="ellipse">
            <a:avLst/>
          </a:prstGeom>
        </p:spPr>
        <p:style>
          <a:lnRef idx="0">
            <a:schemeClr val="dk1"/>
          </a:lnRef>
          <a:fillRef idx="3">
            <a:schemeClr val="dk1"/>
          </a:fillRef>
          <a:effectRef idx="3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Oval 5"/>
          <p:cNvSpPr/>
          <p:nvPr/>
        </p:nvSpPr>
        <p:spPr>
          <a:xfrm>
            <a:off x="1009934" y="3691875"/>
            <a:ext cx="272956" cy="274320"/>
          </a:xfrm>
          <a:prstGeom prst="ellipse">
            <a:avLst/>
          </a:prstGeom>
        </p:spPr>
        <p:style>
          <a:lnRef idx="0">
            <a:schemeClr val="dk1"/>
          </a:lnRef>
          <a:fillRef idx="3">
            <a:schemeClr val="dk1"/>
          </a:fillRef>
          <a:effectRef idx="3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54720526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199" y="457200"/>
            <a:ext cx="1051560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b="1" dirty="0"/>
              <a:t>Implications for role as a supervisor within an organization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514900" y="1856096"/>
            <a:ext cx="1051560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/>
              <a:t>Reject the notion that supervisors must do all of the thinking for the group.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514900" y="2866030"/>
            <a:ext cx="10515600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/>
              <a:t>Avoid treating subordinates as unthinking automatons whose only function is to carry out the directives of superiors.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514900" y="4245296"/>
            <a:ext cx="10515600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/>
              <a:t>Create an environment where subordinates have options to express opinions other than guerilla activity.</a:t>
            </a:r>
          </a:p>
        </p:txBody>
      </p:sp>
      <p:sp>
        <p:nvSpPr>
          <p:cNvPr id="6" name="Oval 5"/>
          <p:cNvSpPr/>
          <p:nvPr/>
        </p:nvSpPr>
        <p:spPr>
          <a:xfrm>
            <a:off x="1009934" y="1949768"/>
            <a:ext cx="272956" cy="274320"/>
          </a:xfrm>
          <a:prstGeom prst="ellipse">
            <a:avLst/>
          </a:prstGeom>
        </p:spPr>
        <p:style>
          <a:lnRef idx="0">
            <a:schemeClr val="dk1"/>
          </a:lnRef>
          <a:fillRef idx="3">
            <a:schemeClr val="dk1"/>
          </a:fillRef>
          <a:effectRef idx="3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Oval 6"/>
          <p:cNvSpPr/>
          <p:nvPr/>
        </p:nvSpPr>
        <p:spPr>
          <a:xfrm>
            <a:off x="1009934" y="2991202"/>
            <a:ext cx="272956" cy="274320"/>
          </a:xfrm>
          <a:prstGeom prst="ellipse">
            <a:avLst/>
          </a:prstGeom>
        </p:spPr>
        <p:style>
          <a:lnRef idx="0">
            <a:schemeClr val="dk1"/>
          </a:lnRef>
          <a:fillRef idx="3">
            <a:schemeClr val="dk1"/>
          </a:fillRef>
          <a:effectRef idx="3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Oval 7"/>
          <p:cNvSpPr/>
          <p:nvPr/>
        </p:nvSpPr>
        <p:spPr>
          <a:xfrm>
            <a:off x="1009934" y="4343172"/>
            <a:ext cx="272956" cy="274320"/>
          </a:xfrm>
          <a:prstGeom prst="ellipse">
            <a:avLst/>
          </a:prstGeom>
        </p:spPr>
        <p:style>
          <a:lnRef idx="0">
            <a:schemeClr val="dk1"/>
          </a:lnRef>
          <a:fillRef idx="3">
            <a:schemeClr val="dk1"/>
          </a:fillRef>
          <a:effectRef idx="3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52496217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201</TotalTime>
  <Words>579</Words>
  <Application>Microsoft Office PowerPoint</Application>
  <PresentationFormat>Widescreen</PresentationFormat>
  <Paragraphs>48</Paragraphs>
  <Slides>9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3" baseType="lpstr">
      <vt:lpstr>Arial</vt:lpstr>
      <vt:lpstr>Calibri</vt:lpstr>
      <vt:lpstr>Calibri Light</vt:lpstr>
      <vt:lpstr>Office Theme</vt:lpstr>
      <vt:lpstr>A Perspective on Organization Dynamics and Dysfunction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 Perspective on Organization Dynamics and Dysfunction</dc:title>
  <dc:creator>Malcolm Townes</dc:creator>
  <cp:lastModifiedBy>Malcolm Townes</cp:lastModifiedBy>
  <cp:revision>29</cp:revision>
  <dcterms:created xsi:type="dcterms:W3CDTF">2020-04-27T23:21:04Z</dcterms:created>
  <dcterms:modified xsi:type="dcterms:W3CDTF">2020-04-30T21:09:09Z</dcterms:modified>
</cp:coreProperties>
</file>