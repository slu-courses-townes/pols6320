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handoutMasterIdLst>
    <p:handoutMasterId r:id="rId52"/>
  </p:handoutMasterIdLst>
  <p:sldIdLst>
    <p:sldId id="256" r:id="rId2"/>
    <p:sldId id="300" r:id="rId3"/>
    <p:sldId id="301" r:id="rId4"/>
    <p:sldId id="266" r:id="rId5"/>
    <p:sldId id="307" r:id="rId6"/>
    <p:sldId id="291" r:id="rId7"/>
    <p:sldId id="292" r:id="rId8"/>
    <p:sldId id="302" r:id="rId9"/>
    <p:sldId id="308" r:id="rId10"/>
    <p:sldId id="282" r:id="rId11"/>
    <p:sldId id="283" r:id="rId12"/>
    <p:sldId id="309" r:id="rId13"/>
    <p:sldId id="303" r:id="rId14"/>
    <p:sldId id="304" r:id="rId15"/>
    <p:sldId id="295" r:id="rId16"/>
    <p:sldId id="297" r:id="rId17"/>
    <p:sldId id="298" r:id="rId18"/>
    <p:sldId id="299" r:id="rId19"/>
    <p:sldId id="305" r:id="rId20"/>
    <p:sldId id="279" r:id="rId21"/>
    <p:sldId id="257" r:id="rId22"/>
    <p:sldId id="261" r:id="rId23"/>
    <p:sldId id="258" r:id="rId24"/>
    <p:sldId id="293" r:id="rId25"/>
    <p:sldId id="262" r:id="rId26"/>
    <p:sldId id="263" r:id="rId27"/>
    <p:sldId id="306" r:id="rId28"/>
    <p:sldId id="265" r:id="rId29"/>
    <p:sldId id="267" r:id="rId30"/>
    <p:sldId id="268" r:id="rId31"/>
    <p:sldId id="294" r:id="rId32"/>
    <p:sldId id="272" r:id="rId33"/>
    <p:sldId id="310" r:id="rId34"/>
    <p:sldId id="273" r:id="rId35"/>
    <p:sldId id="274" r:id="rId36"/>
    <p:sldId id="275" r:id="rId37"/>
    <p:sldId id="276" r:id="rId38"/>
    <p:sldId id="277" r:id="rId39"/>
    <p:sldId id="311" r:id="rId40"/>
    <p:sldId id="296" r:id="rId41"/>
    <p:sldId id="280" r:id="rId42"/>
    <p:sldId id="281" r:id="rId43"/>
    <p:sldId id="284" r:id="rId44"/>
    <p:sldId id="285" r:id="rId45"/>
    <p:sldId id="286" r:id="rId46"/>
    <p:sldId id="287" r:id="rId47"/>
    <p:sldId id="288" r:id="rId48"/>
    <p:sldId id="289" r:id="rId49"/>
    <p:sldId id="290" r:id="rId50"/>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47A183-0ECF-4C1E-A455-6DA9ECE9CB6A}" v="15" dt="2020-01-07T15:09:23.498"/>
    <p1510:client id="{7888E553-40BB-42D7-B82C-1B1DFAE0E92D}" v="31" dt="2020-01-06T18:01:56.5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114" d="100"/>
          <a:sy n="114" d="100"/>
        </p:scale>
        <p:origin x="414" y="10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Gislsinan" userId="32f47de1724c8ca4" providerId="LiveId" clId="{4647A183-0ECF-4C1E-A455-6DA9ECE9CB6A}"/>
    <pc:docChg chg="custSel addSld modSld">
      <pc:chgData name="James Gislsinan" userId="32f47de1724c8ca4" providerId="LiveId" clId="{4647A183-0ECF-4C1E-A455-6DA9ECE9CB6A}" dt="2020-01-07T15:15:39.210" v="1080" actId="6549"/>
      <pc:docMkLst>
        <pc:docMk/>
      </pc:docMkLst>
      <pc:sldChg chg="delSp modSp">
        <pc:chgData name="James Gislsinan" userId="32f47de1724c8ca4" providerId="LiveId" clId="{4647A183-0ECF-4C1E-A455-6DA9ECE9CB6A}" dt="2020-01-07T14:55:47.525" v="230"/>
        <pc:sldMkLst>
          <pc:docMk/>
          <pc:sldMk cId="0" sldId="266"/>
        </pc:sldMkLst>
        <pc:spChg chg="del mod">
          <ac:chgData name="James Gislsinan" userId="32f47de1724c8ca4" providerId="LiveId" clId="{4647A183-0ECF-4C1E-A455-6DA9ECE9CB6A}" dt="2020-01-07T14:55:31.465" v="6" actId="478"/>
          <ac:spMkLst>
            <pc:docMk/>
            <pc:sldMk cId="0" sldId="266"/>
            <ac:spMk id="2" creationId="{FFDA49D2-FBF8-4CC8-830F-14C74586FF32}"/>
          </ac:spMkLst>
        </pc:spChg>
        <pc:spChg chg="del mod">
          <ac:chgData name="James Gislsinan" userId="32f47de1724c8ca4" providerId="LiveId" clId="{4647A183-0ECF-4C1E-A455-6DA9ECE9CB6A}" dt="2020-01-07T14:55:47.525" v="230"/>
          <ac:spMkLst>
            <pc:docMk/>
            <pc:sldMk cId="0" sldId="266"/>
            <ac:spMk id="3" creationId="{1A096152-588A-4FEB-AA5E-9F90680773A2}"/>
          </ac:spMkLst>
        </pc:spChg>
      </pc:sldChg>
      <pc:sldChg chg="delSp modSp">
        <pc:chgData name="James Gislsinan" userId="32f47de1724c8ca4" providerId="LiveId" clId="{4647A183-0ECF-4C1E-A455-6DA9ECE9CB6A}" dt="2020-01-07T15:08:36.486" v="462"/>
        <pc:sldMkLst>
          <pc:docMk/>
          <pc:sldMk cId="0" sldId="272"/>
        </pc:sldMkLst>
        <pc:spChg chg="del mod">
          <ac:chgData name="James Gislsinan" userId="32f47de1724c8ca4" providerId="LiveId" clId="{4647A183-0ECF-4C1E-A455-6DA9ECE9CB6A}" dt="2020-01-07T15:08:36.486" v="462"/>
          <ac:spMkLst>
            <pc:docMk/>
            <pc:sldMk cId="0" sldId="272"/>
            <ac:spMk id="2" creationId="{4EFE20AB-2F66-47F8-81A9-6B3CCDE4A8E4}"/>
          </ac:spMkLst>
        </pc:spChg>
      </pc:sldChg>
      <pc:sldChg chg="delSp modSp">
        <pc:chgData name="James Gislsinan" userId="32f47de1724c8ca4" providerId="LiveId" clId="{4647A183-0ECF-4C1E-A455-6DA9ECE9CB6A}" dt="2020-01-07T15:00:29.352" v="302"/>
        <pc:sldMkLst>
          <pc:docMk/>
          <pc:sldMk cId="0" sldId="283"/>
        </pc:sldMkLst>
        <pc:spChg chg="del mod">
          <ac:chgData name="James Gislsinan" userId="32f47de1724c8ca4" providerId="LiveId" clId="{4647A183-0ECF-4C1E-A455-6DA9ECE9CB6A}" dt="2020-01-07T15:00:14.414" v="299" actId="478"/>
          <ac:spMkLst>
            <pc:docMk/>
            <pc:sldMk cId="0" sldId="283"/>
            <ac:spMk id="6" creationId="{1D35AD87-71E4-4C24-BF0B-D05155CEE59C}"/>
          </ac:spMkLst>
        </pc:spChg>
        <pc:spChg chg="del mod">
          <ac:chgData name="James Gislsinan" userId="32f47de1724c8ca4" providerId="LiveId" clId="{4647A183-0ECF-4C1E-A455-6DA9ECE9CB6A}" dt="2020-01-07T15:00:29.352" v="302"/>
          <ac:spMkLst>
            <pc:docMk/>
            <pc:sldMk cId="0" sldId="283"/>
            <ac:spMk id="7" creationId="{591C1707-3F74-4E76-A78A-EA5053B65C98}"/>
          </ac:spMkLst>
        </pc:spChg>
      </pc:sldChg>
      <pc:sldChg chg="delSp modSp">
        <pc:chgData name="James Gislsinan" userId="32f47de1724c8ca4" providerId="LiveId" clId="{4647A183-0ECF-4C1E-A455-6DA9ECE9CB6A}" dt="2020-01-07T15:01:19.405" v="330"/>
        <pc:sldMkLst>
          <pc:docMk/>
          <pc:sldMk cId="3281149600" sldId="302"/>
        </pc:sldMkLst>
        <pc:spChg chg="del mod">
          <ac:chgData name="James Gislsinan" userId="32f47de1724c8ca4" providerId="LiveId" clId="{4647A183-0ECF-4C1E-A455-6DA9ECE9CB6A}" dt="2020-01-07T15:01:19.403" v="328"/>
          <ac:spMkLst>
            <pc:docMk/>
            <pc:sldMk cId="3281149600" sldId="302"/>
            <ac:spMk id="4" creationId="{C124ADFA-512F-43F2-AE39-85ADF952B164}"/>
          </ac:spMkLst>
        </pc:spChg>
        <pc:spChg chg="del mod">
          <ac:chgData name="James Gislsinan" userId="32f47de1724c8ca4" providerId="LiveId" clId="{4647A183-0ECF-4C1E-A455-6DA9ECE9CB6A}" dt="2020-01-07T15:01:19.405" v="330"/>
          <ac:spMkLst>
            <pc:docMk/>
            <pc:sldMk cId="3281149600" sldId="302"/>
            <ac:spMk id="5" creationId="{D995324A-8B00-4CA4-B9E5-D46FF4D042FF}"/>
          </ac:spMkLst>
        </pc:spChg>
      </pc:sldChg>
      <pc:sldChg chg="modSp add">
        <pc:chgData name="James Gislsinan" userId="32f47de1724c8ca4" providerId="LiveId" clId="{4647A183-0ECF-4C1E-A455-6DA9ECE9CB6A}" dt="2020-01-07T14:55:14.325" v="4" actId="6549"/>
        <pc:sldMkLst>
          <pc:docMk/>
          <pc:sldMk cId="784182597" sldId="307"/>
        </pc:sldMkLst>
        <pc:spChg chg="mod">
          <ac:chgData name="James Gislsinan" userId="32f47de1724c8ca4" providerId="LiveId" clId="{4647A183-0ECF-4C1E-A455-6DA9ECE9CB6A}" dt="2020-01-07T14:54:26.512" v="1"/>
          <ac:spMkLst>
            <pc:docMk/>
            <pc:sldMk cId="784182597" sldId="307"/>
            <ac:spMk id="2" creationId="{6029B927-7542-422C-89CD-AEF27ED14AC9}"/>
          </ac:spMkLst>
        </pc:spChg>
        <pc:spChg chg="mod">
          <ac:chgData name="James Gislsinan" userId="32f47de1724c8ca4" providerId="LiveId" clId="{4647A183-0ECF-4C1E-A455-6DA9ECE9CB6A}" dt="2020-01-07T14:55:14.325" v="4" actId="6549"/>
          <ac:spMkLst>
            <pc:docMk/>
            <pc:sldMk cId="784182597" sldId="307"/>
            <ac:spMk id="3" creationId="{754B4D05-D363-41CB-9A54-C6EF201F7E7A}"/>
          </ac:spMkLst>
        </pc:spChg>
      </pc:sldChg>
      <pc:sldChg chg="modSp add">
        <pc:chgData name="James Gislsinan" userId="32f47de1724c8ca4" providerId="LiveId" clId="{4647A183-0ECF-4C1E-A455-6DA9ECE9CB6A}" dt="2020-01-07T14:57:32.523" v="234" actId="6549"/>
        <pc:sldMkLst>
          <pc:docMk/>
          <pc:sldMk cId="1260396493" sldId="308"/>
        </pc:sldMkLst>
        <pc:spChg chg="mod">
          <ac:chgData name="James Gislsinan" userId="32f47de1724c8ca4" providerId="LiveId" clId="{4647A183-0ECF-4C1E-A455-6DA9ECE9CB6A}" dt="2020-01-07T14:57:05.892" v="232"/>
          <ac:spMkLst>
            <pc:docMk/>
            <pc:sldMk cId="1260396493" sldId="308"/>
            <ac:spMk id="2" creationId="{4A84AD94-ED20-422B-8D13-5706D1BEA30B}"/>
          </ac:spMkLst>
        </pc:spChg>
        <pc:spChg chg="mod">
          <ac:chgData name="James Gislsinan" userId="32f47de1724c8ca4" providerId="LiveId" clId="{4647A183-0ECF-4C1E-A455-6DA9ECE9CB6A}" dt="2020-01-07T14:57:32.523" v="234" actId="6549"/>
          <ac:spMkLst>
            <pc:docMk/>
            <pc:sldMk cId="1260396493" sldId="308"/>
            <ac:spMk id="3" creationId="{0ADEC3A9-D806-40FE-A489-55918C097E72}"/>
          </ac:spMkLst>
        </pc:spChg>
      </pc:sldChg>
      <pc:sldChg chg="modSp add">
        <pc:chgData name="James Gislsinan" userId="32f47de1724c8ca4" providerId="LiveId" clId="{4647A183-0ECF-4C1E-A455-6DA9ECE9CB6A}" dt="2020-01-07T15:00:03.324" v="297" actId="20577"/>
        <pc:sldMkLst>
          <pc:docMk/>
          <pc:sldMk cId="3961153236" sldId="309"/>
        </pc:sldMkLst>
        <pc:spChg chg="mod">
          <ac:chgData name="James Gislsinan" userId="32f47de1724c8ca4" providerId="LiveId" clId="{4647A183-0ECF-4C1E-A455-6DA9ECE9CB6A}" dt="2020-01-07T14:59:04.774" v="237" actId="6549"/>
          <ac:spMkLst>
            <pc:docMk/>
            <pc:sldMk cId="3961153236" sldId="309"/>
            <ac:spMk id="2" creationId="{4997E846-1CA7-4EF4-B6CB-D9D122977ABA}"/>
          </ac:spMkLst>
        </pc:spChg>
        <pc:spChg chg="mod">
          <ac:chgData name="James Gislsinan" userId="32f47de1724c8ca4" providerId="LiveId" clId="{4647A183-0ECF-4C1E-A455-6DA9ECE9CB6A}" dt="2020-01-07T15:00:03.324" v="297" actId="20577"/>
          <ac:spMkLst>
            <pc:docMk/>
            <pc:sldMk cId="3961153236" sldId="309"/>
            <ac:spMk id="3" creationId="{37C6860B-1A7F-4FE8-9C5C-975A9BDFCACE}"/>
          </ac:spMkLst>
        </pc:spChg>
      </pc:sldChg>
      <pc:sldChg chg="modSp add">
        <pc:chgData name="James Gislsinan" userId="32f47de1724c8ca4" providerId="LiveId" clId="{4647A183-0ECF-4C1E-A455-6DA9ECE9CB6A}" dt="2020-01-07T15:08:15.771" v="337" actId="20577"/>
        <pc:sldMkLst>
          <pc:docMk/>
          <pc:sldMk cId="3444364392" sldId="310"/>
        </pc:sldMkLst>
        <pc:spChg chg="mod">
          <ac:chgData name="James Gislsinan" userId="32f47de1724c8ca4" providerId="LiveId" clId="{4647A183-0ECF-4C1E-A455-6DA9ECE9CB6A}" dt="2020-01-07T15:07:40.293" v="332"/>
          <ac:spMkLst>
            <pc:docMk/>
            <pc:sldMk cId="3444364392" sldId="310"/>
            <ac:spMk id="2" creationId="{47502737-124A-44E6-AAA2-92CD3DF250E5}"/>
          </ac:spMkLst>
        </pc:spChg>
        <pc:spChg chg="mod">
          <ac:chgData name="James Gislsinan" userId="32f47de1724c8ca4" providerId="LiveId" clId="{4647A183-0ECF-4C1E-A455-6DA9ECE9CB6A}" dt="2020-01-07T15:08:15.771" v="337" actId="20577"/>
          <ac:spMkLst>
            <pc:docMk/>
            <pc:sldMk cId="3444364392" sldId="310"/>
            <ac:spMk id="3" creationId="{4201629A-264C-42D6-8E09-9BA1691F328A}"/>
          </ac:spMkLst>
        </pc:spChg>
      </pc:sldChg>
      <pc:sldChg chg="modSp add">
        <pc:chgData name="James Gislsinan" userId="32f47de1724c8ca4" providerId="LiveId" clId="{4647A183-0ECF-4C1E-A455-6DA9ECE9CB6A}" dt="2020-01-07T15:15:39.210" v="1080" actId="6549"/>
        <pc:sldMkLst>
          <pc:docMk/>
          <pc:sldMk cId="271548590" sldId="311"/>
        </pc:sldMkLst>
        <pc:spChg chg="mod">
          <ac:chgData name="James Gislsinan" userId="32f47de1724c8ca4" providerId="LiveId" clId="{4647A183-0ECF-4C1E-A455-6DA9ECE9CB6A}" dt="2020-01-07T15:09:43.710" v="487" actId="20577"/>
          <ac:spMkLst>
            <pc:docMk/>
            <pc:sldMk cId="271548590" sldId="311"/>
            <ac:spMk id="2" creationId="{1C555835-52E2-4DFC-8636-FB3F404B382E}"/>
          </ac:spMkLst>
        </pc:spChg>
        <pc:spChg chg="mod">
          <ac:chgData name="James Gislsinan" userId="32f47de1724c8ca4" providerId="LiveId" clId="{4647A183-0ECF-4C1E-A455-6DA9ECE9CB6A}" dt="2020-01-07T15:15:39.210" v="1080" actId="6549"/>
          <ac:spMkLst>
            <pc:docMk/>
            <pc:sldMk cId="271548590" sldId="311"/>
            <ac:spMk id="3" creationId="{1C90C94D-01FB-41A2-90A8-F60A27A6BA0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23B78F-BB25-49AA-A1BB-D92BB18B27C6}" type="doc">
      <dgm:prSet loTypeId="urn:microsoft.com/office/officeart/2005/8/layout/cycle4" loCatId="cycle" qsTypeId="urn:microsoft.com/office/officeart/2005/8/quickstyle/simple1" qsCatId="simple" csTypeId="urn:microsoft.com/office/officeart/2005/8/colors/accent1_2" csCatId="accent1" phldr="1"/>
      <dgm:spPr/>
      <dgm:t>
        <a:bodyPr/>
        <a:lstStyle/>
        <a:p>
          <a:endParaRPr lang="en-US"/>
        </a:p>
      </dgm:t>
    </dgm:pt>
    <dgm:pt modelId="{B5246D22-F1C4-42EF-AF7E-5A6E083E06BE}">
      <dgm:prSet phldrT="[Text]"/>
      <dgm:spPr/>
      <dgm:t>
        <a:bodyPr/>
        <a:lstStyle/>
        <a:p>
          <a:r>
            <a:rPr lang="en-US" dirty="0"/>
            <a:t>Productivity model found wanting (Type II Error)</a:t>
          </a:r>
        </a:p>
      </dgm:t>
    </dgm:pt>
    <dgm:pt modelId="{CB75EFC9-CC7C-4984-B21F-8EC9F40FE35E}" type="parTrans" cxnId="{F7EEEBCA-D72A-4843-9771-28FFA8CDF037}">
      <dgm:prSet/>
      <dgm:spPr/>
      <dgm:t>
        <a:bodyPr/>
        <a:lstStyle/>
        <a:p>
          <a:endParaRPr lang="en-US"/>
        </a:p>
      </dgm:t>
    </dgm:pt>
    <dgm:pt modelId="{1D9D3BBA-0EE7-4B0B-83FD-C7BBDA83761B}" type="sibTrans" cxnId="{F7EEEBCA-D72A-4843-9771-28FFA8CDF037}">
      <dgm:prSet/>
      <dgm:spPr/>
      <dgm:t>
        <a:bodyPr/>
        <a:lstStyle/>
        <a:p>
          <a:endParaRPr lang="en-US"/>
        </a:p>
      </dgm:t>
    </dgm:pt>
    <dgm:pt modelId="{DD4BE7A6-7D48-4015-858C-41A555729EE6}">
      <dgm:prSet phldrT="[Text]"/>
      <dgm:spPr/>
      <dgm:t>
        <a:bodyPr/>
        <a:lstStyle/>
        <a:p>
          <a:r>
            <a:rPr lang="en-US" dirty="0"/>
            <a:t>Organizational crisis</a:t>
          </a:r>
        </a:p>
      </dgm:t>
    </dgm:pt>
    <dgm:pt modelId="{5C8BF3E7-EB50-4DB3-A492-9D6CCABA4F13}" type="parTrans" cxnId="{C938C346-BFC6-4BBB-8A5E-23CDCA2AA01F}">
      <dgm:prSet/>
      <dgm:spPr/>
      <dgm:t>
        <a:bodyPr/>
        <a:lstStyle/>
        <a:p>
          <a:endParaRPr lang="en-US"/>
        </a:p>
      </dgm:t>
    </dgm:pt>
    <dgm:pt modelId="{D859C5C0-39C3-418E-A4A3-7BC52404B07C}" type="sibTrans" cxnId="{C938C346-BFC6-4BBB-8A5E-23CDCA2AA01F}">
      <dgm:prSet/>
      <dgm:spPr/>
      <dgm:t>
        <a:bodyPr/>
        <a:lstStyle/>
        <a:p>
          <a:endParaRPr lang="en-US"/>
        </a:p>
      </dgm:t>
    </dgm:pt>
    <dgm:pt modelId="{E2A41C94-1F9F-452D-83C6-DA9B2D1A2C68}">
      <dgm:prSet phldrT="[Text]"/>
      <dgm:spPr/>
      <dgm:t>
        <a:bodyPr/>
        <a:lstStyle/>
        <a:p>
          <a:r>
            <a:rPr lang="en-US" dirty="0"/>
            <a:t>System becomes less error tolerant </a:t>
          </a:r>
        </a:p>
      </dgm:t>
    </dgm:pt>
    <dgm:pt modelId="{B1A99176-0D53-463F-95E6-54FB983E494B}" type="parTrans" cxnId="{B7B35D3C-99E2-4865-9D6C-C3DF7A22D988}">
      <dgm:prSet/>
      <dgm:spPr/>
      <dgm:t>
        <a:bodyPr/>
        <a:lstStyle/>
        <a:p>
          <a:endParaRPr lang="en-US"/>
        </a:p>
      </dgm:t>
    </dgm:pt>
    <dgm:pt modelId="{1B72A678-30C1-43D0-A16B-0379AC004B9E}" type="sibTrans" cxnId="{B7B35D3C-99E2-4865-9D6C-C3DF7A22D988}">
      <dgm:prSet/>
      <dgm:spPr/>
      <dgm:t>
        <a:bodyPr/>
        <a:lstStyle/>
        <a:p>
          <a:endParaRPr lang="en-US"/>
        </a:p>
      </dgm:t>
    </dgm:pt>
    <dgm:pt modelId="{EA5DB221-F9BE-4AC9-BF6B-681613B4498B}">
      <dgm:prSet phldrT="[Text]"/>
      <dgm:spPr/>
      <dgm:t>
        <a:bodyPr/>
        <a:lstStyle/>
        <a:p>
          <a:r>
            <a:rPr lang="en-US" dirty="0"/>
            <a:t>Move from productivity to reliability model </a:t>
          </a:r>
        </a:p>
      </dgm:t>
    </dgm:pt>
    <dgm:pt modelId="{83FA5649-E297-4FF8-961C-A110D464F7DD}" type="parTrans" cxnId="{FAB39BC5-9C73-4AE5-8CC0-C882D4B93751}">
      <dgm:prSet/>
      <dgm:spPr/>
      <dgm:t>
        <a:bodyPr/>
        <a:lstStyle/>
        <a:p>
          <a:endParaRPr lang="en-US"/>
        </a:p>
      </dgm:t>
    </dgm:pt>
    <dgm:pt modelId="{2CD6C70B-E063-4275-95AF-69CDF063F02B}" type="sibTrans" cxnId="{FAB39BC5-9C73-4AE5-8CC0-C882D4B93751}">
      <dgm:prSet/>
      <dgm:spPr/>
      <dgm:t>
        <a:bodyPr/>
        <a:lstStyle/>
        <a:p>
          <a:endParaRPr lang="en-US"/>
        </a:p>
      </dgm:t>
    </dgm:pt>
    <dgm:pt modelId="{160F1536-9538-4B76-BFA1-B29DB4A6F2CC}">
      <dgm:prSet phldrT="[Text]"/>
      <dgm:spPr/>
      <dgm:t>
        <a:bodyPr/>
        <a:lstStyle/>
        <a:p>
          <a:r>
            <a:rPr lang="en-US" dirty="0"/>
            <a:t>Avoiding Type II errors becomes costly</a:t>
          </a:r>
        </a:p>
      </dgm:t>
    </dgm:pt>
    <dgm:pt modelId="{344FCEED-87F7-4C37-93B8-660EBD2EC9C5}" type="parTrans" cxnId="{7B9ED8A9-DC19-4CE0-94EB-25B5D6FEB116}">
      <dgm:prSet/>
      <dgm:spPr/>
      <dgm:t>
        <a:bodyPr/>
        <a:lstStyle/>
        <a:p>
          <a:endParaRPr lang="en-US"/>
        </a:p>
      </dgm:t>
    </dgm:pt>
    <dgm:pt modelId="{1E9C847E-E0F6-45A9-9CCF-58F24E915BAE}" type="sibTrans" cxnId="{7B9ED8A9-DC19-4CE0-94EB-25B5D6FEB116}">
      <dgm:prSet/>
      <dgm:spPr/>
      <dgm:t>
        <a:bodyPr/>
        <a:lstStyle/>
        <a:p>
          <a:endParaRPr lang="en-US"/>
        </a:p>
      </dgm:t>
    </dgm:pt>
    <dgm:pt modelId="{7A8A297C-7A33-48B3-888B-D62F93ABB95F}">
      <dgm:prSet phldrT="[Text]"/>
      <dgm:spPr/>
      <dgm:t>
        <a:bodyPr/>
        <a:lstStyle/>
        <a:p>
          <a:r>
            <a:rPr lang="en-US" dirty="0"/>
            <a:t>As time from crisis lengthens, pressures to increase efficiencies</a:t>
          </a:r>
        </a:p>
      </dgm:t>
    </dgm:pt>
    <dgm:pt modelId="{CE91B881-1DDD-4C72-872C-7994585695B5}" type="parTrans" cxnId="{54C94A31-8839-4FFD-9900-5F1145CA0506}">
      <dgm:prSet/>
      <dgm:spPr/>
      <dgm:t>
        <a:bodyPr/>
        <a:lstStyle/>
        <a:p>
          <a:endParaRPr lang="en-US"/>
        </a:p>
      </dgm:t>
    </dgm:pt>
    <dgm:pt modelId="{571DE5C9-6164-44AD-9C1D-F577AF68DCD7}" type="sibTrans" cxnId="{54C94A31-8839-4FFD-9900-5F1145CA0506}">
      <dgm:prSet/>
      <dgm:spPr/>
      <dgm:t>
        <a:bodyPr/>
        <a:lstStyle/>
        <a:p>
          <a:endParaRPr lang="en-US"/>
        </a:p>
      </dgm:t>
    </dgm:pt>
    <dgm:pt modelId="{8718D101-6F58-4713-9023-E04FB802558B}">
      <dgm:prSet phldrT="[Text]"/>
      <dgm:spPr/>
      <dgm:t>
        <a:bodyPr/>
        <a:lstStyle/>
        <a:p>
          <a:r>
            <a:rPr lang="en-US" dirty="0"/>
            <a:t>Concern with Type I error becomes dominant, organization more error tolerant</a:t>
          </a:r>
        </a:p>
      </dgm:t>
    </dgm:pt>
    <dgm:pt modelId="{E1997932-BABB-479B-A898-DCE1B67D947D}" type="parTrans" cxnId="{65B2CB78-4D15-46F0-A1CE-4817674E28B9}">
      <dgm:prSet/>
      <dgm:spPr/>
      <dgm:t>
        <a:bodyPr/>
        <a:lstStyle/>
        <a:p>
          <a:endParaRPr lang="en-US"/>
        </a:p>
      </dgm:t>
    </dgm:pt>
    <dgm:pt modelId="{C6B4061C-D82D-4AE9-8C9E-C84FC7804DE9}" type="sibTrans" cxnId="{65B2CB78-4D15-46F0-A1CE-4817674E28B9}">
      <dgm:prSet/>
      <dgm:spPr/>
      <dgm:t>
        <a:bodyPr/>
        <a:lstStyle/>
        <a:p>
          <a:endParaRPr lang="en-US"/>
        </a:p>
      </dgm:t>
    </dgm:pt>
    <dgm:pt modelId="{4C45CB6E-386C-483F-849F-3962BD872546}">
      <dgm:prSet phldrT="[Text]"/>
      <dgm:spPr/>
      <dgm:t>
        <a:bodyPr/>
        <a:lstStyle/>
        <a:p>
          <a:r>
            <a:rPr lang="en-US" dirty="0"/>
            <a:t>Move back to productivity model </a:t>
          </a:r>
        </a:p>
      </dgm:t>
    </dgm:pt>
    <dgm:pt modelId="{E5C9AA1E-07A2-48A3-8D33-8316BD638599}" type="parTrans" cxnId="{9ECB8A65-B04F-4ECF-873B-0A3EF70B1213}">
      <dgm:prSet/>
      <dgm:spPr/>
      <dgm:t>
        <a:bodyPr/>
        <a:lstStyle/>
        <a:p>
          <a:endParaRPr lang="en-US"/>
        </a:p>
      </dgm:t>
    </dgm:pt>
    <dgm:pt modelId="{41CDFAC5-E827-4582-830F-6CA3AF7427AF}" type="sibTrans" cxnId="{9ECB8A65-B04F-4ECF-873B-0A3EF70B1213}">
      <dgm:prSet/>
      <dgm:spPr/>
      <dgm:t>
        <a:bodyPr/>
        <a:lstStyle/>
        <a:p>
          <a:endParaRPr lang="en-US"/>
        </a:p>
      </dgm:t>
    </dgm:pt>
    <dgm:pt modelId="{7F3AED1E-5E34-49A9-80EE-2BAF95662F63}" type="pres">
      <dgm:prSet presAssocID="{B323B78F-BB25-49AA-A1BB-D92BB18B27C6}" presName="cycleMatrixDiagram" presStyleCnt="0">
        <dgm:presLayoutVars>
          <dgm:chMax val="1"/>
          <dgm:dir/>
          <dgm:animLvl val="lvl"/>
          <dgm:resizeHandles val="exact"/>
        </dgm:presLayoutVars>
      </dgm:prSet>
      <dgm:spPr/>
    </dgm:pt>
    <dgm:pt modelId="{49DCCC0D-D2E9-45D5-B207-C99490015020}" type="pres">
      <dgm:prSet presAssocID="{B323B78F-BB25-49AA-A1BB-D92BB18B27C6}" presName="children" presStyleCnt="0"/>
      <dgm:spPr/>
    </dgm:pt>
    <dgm:pt modelId="{CB0F2D12-7932-4443-89B7-28C7C427EE6A}" type="pres">
      <dgm:prSet presAssocID="{B323B78F-BB25-49AA-A1BB-D92BB18B27C6}" presName="child1group" presStyleCnt="0"/>
      <dgm:spPr/>
    </dgm:pt>
    <dgm:pt modelId="{C5BC7F09-7482-4602-8BCA-A6450C56B822}" type="pres">
      <dgm:prSet presAssocID="{B323B78F-BB25-49AA-A1BB-D92BB18B27C6}" presName="child1" presStyleLbl="bgAcc1" presStyleIdx="0" presStyleCnt="4"/>
      <dgm:spPr/>
    </dgm:pt>
    <dgm:pt modelId="{DC0E0ED7-EEF4-4931-8EA6-B0593F71D27D}" type="pres">
      <dgm:prSet presAssocID="{B323B78F-BB25-49AA-A1BB-D92BB18B27C6}" presName="child1Text" presStyleLbl="bgAcc1" presStyleIdx="0" presStyleCnt="4">
        <dgm:presLayoutVars>
          <dgm:bulletEnabled val="1"/>
        </dgm:presLayoutVars>
      </dgm:prSet>
      <dgm:spPr/>
    </dgm:pt>
    <dgm:pt modelId="{407B0A04-9068-40FD-8CC3-466165498B9A}" type="pres">
      <dgm:prSet presAssocID="{B323B78F-BB25-49AA-A1BB-D92BB18B27C6}" presName="child2group" presStyleCnt="0"/>
      <dgm:spPr/>
    </dgm:pt>
    <dgm:pt modelId="{09A3B669-FE4F-484E-A2F8-568EC36E55F8}" type="pres">
      <dgm:prSet presAssocID="{B323B78F-BB25-49AA-A1BB-D92BB18B27C6}" presName="child2" presStyleLbl="bgAcc1" presStyleIdx="1" presStyleCnt="4"/>
      <dgm:spPr/>
    </dgm:pt>
    <dgm:pt modelId="{956765D7-1687-4132-B2F6-EEAF9BE72C73}" type="pres">
      <dgm:prSet presAssocID="{B323B78F-BB25-49AA-A1BB-D92BB18B27C6}" presName="child2Text" presStyleLbl="bgAcc1" presStyleIdx="1" presStyleCnt="4">
        <dgm:presLayoutVars>
          <dgm:bulletEnabled val="1"/>
        </dgm:presLayoutVars>
      </dgm:prSet>
      <dgm:spPr/>
    </dgm:pt>
    <dgm:pt modelId="{2FA77AA9-CB82-4CD5-9F3F-49B73B019B47}" type="pres">
      <dgm:prSet presAssocID="{B323B78F-BB25-49AA-A1BB-D92BB18B27C6}" presName="child3group" presStyleCnt="0"/>
      <dgm:spPr/>
    </dgm:pt>
    <dgm:pt modelId="{26F33BD2-96FC-4362-900B-9153F27E2535}" type="pres">
      <dgm:prSet presAssocID="{B323B78F-BB25-49AA-A1BB-D92BB18B27C6}" presName="child3" presStyleLbl="bgAcc1" presStyleIdx="2" presStyleCnt="4"/>
      <dgm:spPr/>
    </dgm:pt>
    <dgm:pt modelId="{853F5BE1-35E6-41B6-A868-B0C4AE3C30C3}" type="pres">
      <dgm:prSet presAssocID="{B323B78F-BB25-49AA-A1BB-D92BB18B27C6}" presName="child3Text" presStyleLbl="bgAcc1" presStyleIdx="2" presStyleCnt="4">
        <dgm:presLayoutVars>
          <dgm:bulletEnabled val="1"/>
        </dgm:presLayoutVars>
      </dgm:prSet>
      <dgm:spPr/>
    </dgm:pt>
    <dgm:pt modelId="{60F5B6BD-3AA1-448D-B8A9-9F534ECA846A}" type="pres">
      <dgm:prSet presAssocID="{B323B78F-BB25-49AA-A1BB-D92BB18B27C6}" presName="child4group" presStyleCnt="0"/>
      <dgm:spPr/>
    </dgm:pt>
    <dgm:pt modelId="{C7F7CC99-D77D-4950-A006-B2B47EF8124F}" type="pres">
      <dgm:prSet presAssocID="{B323B78F-BB25-49AA-A1BB-D92BB18B27C6}" presName="child4" presStyleLbl="bgAcc1" presStyleIdx="3" presStyleCnt="4"/>
      <dgm:spPr/>
    </dgm:pt>
    <dgm:pt modelId="{544580C4-CA5A-4274-8187-1C906BB74BA2}" type="pres">
      <dgm:prSet presAssocID="{B323B78F-BB25-49AA-A1BB-D92BB18B27C6}" presName="child4Text" presStyleLbl="bgAcc1" presStyleIdx="3" presStyleCnt="4">
        <dgm:presLayoutVars>
          <dgm:bulletEnabled val="1"/>
        </dgm:presLayoutVars>
      </dgm:prSet>
      <dgm:spPr/>
    </dgm:pt>
    <dgm:pt modelId="{F53EA046-DBAE-4A7B-A0A4-9997AD1B91C6}" type="pres">
      <dgm:prSet presAssocID="{B323B78F-BB25-49AA-A1BB-D92BB18B27C6}" presName="childPlaceholder" presStyleCnt="0"/>
      <dgm:spPr/>
    </dgm:pt>
    <dgm:pt modelId="{BFC86FAF-4F9A-4461-B412-213B163EE3D2}" type="pres">
      <dgm:prSet presAssocID="{B323B78F-BB25-49AA-A1BB-D92BB18B27C6}" presName="circle" presStyleCnt="0"/>
      <dgm:spPr/>
    </dgm:pt>
    <dgm:pt modelId="{F888FE5C-8131-4834-9C83-167149FC77C3}" type="pres">
      <dgm:prSet presAssocID="{B323B78F-BB25-49AA-A1BB-D92BB18B27C6}" presName="quadrant1" presStyleLbl="node1" presStyleIdx="0" presStyleCnt="4">
        <dgm:presLayoutVars>
          <dgm:chMax val="1"/>
          <dgm:bulletEnabled val="1"/>
        </dgm:presLayoutVars>
      </dgm:prSet>
      <dgm:spPr/>
    </dgm:pt>
    <dgm:pt modelId="{2B9613C3-D2E9-40EF-A4AA-68924063BA1F}" type="pres">
      <dgm:prSet presAssocID="{B323B78F-BB25-49AA-A1BB-D92BB18B27C6}" presName="quadrant2" presStyleLbl="node1" presStyleIdx="1" presStyleCnt="4">
        <dgm:presLayoutVars>
          <dgm:chMax val="1"/>
          <dgm:bulletEnabled val="1"/>
        </dgm:presLayoutVars>
      </dgm:prSet>
      <dgm:spPr/>
    </dgm:pt>
    <dgm:pt modelId="{07DD3E41-9278-4491-AA47-989F55BBBBEE}" type="pres">
      <dgm:prSet presAssocID="{B323B78F-BB25-49AA-A1BB-D92BB18B27C6}" presName="quadrant3" presStyleLbl="node1" presStyleIdx="2" presStyleCnt="4">
        <dgm:presLayoutVars>
          <dgm:chMax val="1"/>
          <dgm:bulletEnabled val="1"/>
        </dgm:presLayoutVars>
      </dgm:prSet>
      <dgm:spPr/>
    </dgm:pt>
    <dgm:pt modelId="{6C1B52EF-0897-493D-8151-CCD00F1DE4F3}" type="pres">
      <dgm:prSet presAssocID="{B323B78F-BB25-49AA-A1BB-D92BB18B27C6}" presName="quadrant4" presStyleLbl="node1" presStyleIdx="3" presStyleCnt="4">
        <dgm:presLayoutVars>
          <dgm:chMax val="1"/>
          <dgm:bulletEnabled val="1"/>
        </dgm:presLayoutVars>
      </dgm:prSet>
      <dgm:spPr/>
    </dgm:pt>
    <dgm:pt modelId="{A8CB017A-FC35-49FF-A948-7D86D8FDF595}" type="pres">
      <dgm:prSet presAssocID="{B323B78F-BB25-49AA-A1BB-D92BB18B27C6}" presName="quadrantPlaceholder" presStyleCnt="0"/>
      <dgm:spPr/>
    </dgm:pt>
    <dgm:pt modelId="{A094C615-CE77-47D3-AFF8-0FF271532C5D}" type="pres">
      <dgm:prSet presAssocID="{B323B78F-BB25-49AA-A1BB-D92BB18B27C6}" presName="center1" presStyleLbl="fgShp" presStyleIdx="0" presStyleCnt="2"/>
      <dgm:spPr/>
    </dgm:pt>
    <dgm:pt modelId="{B11C8938-067A-48B3-9380-6FB6C06DB634}" type="pres">
      <dgm:prSet presAssocID="{B323B78F-BB25-49AA-A1BB-D92BB18B27C6}" presName="center2" presStyleLbl="fgShp" presStyleIdx="1" presStyleCnt="2"/>
      <dgm:spPr/>
    </dgm:pt>
  </dgm:ptLst>
  <dgm:cxnLst>
    <dgm:cxn modelId="{AD8795E8-DA3E-4223-9BB9-366C01F03279}" type="presOf" srcId="{DD4BE7A6-7D48-4015-858C-41A555729EE6}" destId="{DC0E0ED7-EEF4-4931-8EA6-B0593F71D27D}" srcOrd="1" destOrd="0" presId="urn:microsoft.com/office/officeart/2005/8/layout/cycle4"/>
    <dgm:cxn modelId="{54C94A31-8839-4FFD-9900-5F1145CA0506}" srcId="{160F1536-9538-4B76-BFA1-B29DB4A6F2CC}" destId="{7A8A297C-7A33-48B3-888B-D62F93ABB95F}" srcOrd="0" destOrd="0" parTransId="{CE91B881-1DDD-4C72-872C-7994585695B5}" sibTransId="{571DE5C9-6164-44AD-9C1D-F577AF68DCD7}"/>
    <dgm:cxn modelId="{C938C346-BFC6-4BBB-8A5E-23CDCA2AA01F}" srcId="{B5246D22-F1C4-42EF-AF7E-5A6E083E06BE}" destId="{DD4BE7A6-7D48-4015-858C-41A555729EE6}" srcOrd="0" destOrd="0" parTransId="{5C8BF3E7-EB50-4DB3-A492-9D6CCABA4F13}" sibTransId="{D859C5C0-39C3-418E-A4A3-7BC52404B07C}"/>
    <dgm:cxn modelId="{9ECB8A65-B04F-4ECF-873B-0A3EF70B1213}" srcId="{8718D101-6F58-4713-9023-E04FB802558B}" destId="{4C45CB6E-386C-483F-849F-3962BD872546}" srcOrd="0" destOrd="0" parTransId="{E5C9AA1E-07A2-48A3-8D33-8316BD638599}" sibTransId="{41CDFAC5-E827-4582-830F-6CA3AF7427AF}"/>
    <dgm:cxn modelId="{28EAB083-08DB-4C8E-87D9-2D807C699C77}" type="presOf" srcId="{4C45CB6E-386C-483F-849F-3962BD872546}" destId="{544580C4-CA5A-4274-8187-1C906BB74BA2}" srcOrd="1" destOrd="0" presId="urn:microsoft.com/office/officeart/2005/8/layout/cycle4"/>
    <dgm:cxn modelId="{AF0F0661-2887-4660-8CDE-70726F2015F2}" type="presOf" srcId="{7A8A297C-7A33-48B3-888B-D62F93ABB95F}" destId="{853F5BE1-35E6-41B6-A868-B0C4AE3C30C3}" srcOrd="1" destOrd="0" presId="urn:microsoft.com/office/officeart/2005/8/layout/cycle4"/>
    <dgm:cxn modelId="{12F67248-A0B4-4703-B000-1C23B2A5B388}" type="presOf" srcId="{4C45CB6E-386C-483F-849F-3962BD872546}" destId="{C7F7CC99-D77D-4950-A006-B2B47EF8124F}" srcOrd="0" destOrd="0" presId="urn:microsoft.com/office/officeart/2005/8/layout/cycle4"/>
    <dgm:cxn modelId="{7B9ED8A9-DC19-4CE0-94EB-25B5D6FEB116}" srcId="{B323B78F-BB25-49AA-A1BB-D92BB18B27C6}" destId="{160F1536-9538-4B76-BFA1-B29DB4A6F2CC}" srcOrd="2" destOrd="0" parTransId="{344FCEED-87F7-4C37-93B8-660EBD2EC9C5}" sibTransId="{1E9C847E-E0F6-45A9-9CCF-58F24E915BAE}"/>
    <dgm:cxn modelId="{9952A954-A397-46DD-9343-2656B2D8454C}" type="presOf" srcId="{EA5DB221-F9BE-4AC9-BF6B-681613B4498B}" destId="{09A3B669-FE4F-484E-A2F8-568EC36E55F8}" srcOrd="0" destOrd="0" presId="urn:microsoft.com/office/officeart/2005/8/layout/cycle4"/>
    <dgm:cxn modelId="{C2EA404F-640C-439B-921B-165756642CF3}" type="presOf" srcId="{B323B78F-BB25-49AA-A1BB-D92BB18B27C6}" destId="{7F3AED1E-5E34-49A9-80EE-2BAF95662F63}" srcOrd="0" destOrd="0" presId="urn:microsoft.com/office/officeart/2005/8/layout/cycle4"/>
    <dgm:cxn modelId="{752DD2ED-F008-4B76-B3AC-3B5250D4A691}" type="presOf" srcId="{DD4BE7A6-7D48-4015-858C-41A555729EE6}" destId="{C5BC7F09-7482-4602-8BCA-A6450C56B822}" srcOrd="0" destOrd="0" presId="urn:microsoft.com/office/officeart/2005/8/layout/cycle4"/>
    <dgm:cxn modelId="{EA24EA07-9790-414C-8549-5C105314E28E}" type="presOf" srcId="{E2A41C94-1F9F-452D-83C6-DA9B2D1A2C68}" destId="{2B9613C3-D2E9-40EF-A4AA-68924063BA1F}" srcOrd="0" destOrd="0" presId="urn:microsoft.com/office/officeart/2005/8/layout/cycle4"/>
    <dgm:cxn modelId="{FAB39BC5-9C73-4AE5-8CC0-C882D4B93751}" srcId="{E2A41C94-1F9F-452D-83C6-DA9B2D1A2C68}" destId="{EA5DB221-F9BE-4AC9-BF6B-681613B4498B}" srcOrd="0" destOrd="0" parTransId="{83FA5649-E297-4FF8-961C-A110D464F7DD}" sibTransId="{2CD6C70B-E063-4275-95AF-69CDF063F02B}"/>
    <dgm:cxn modelId="{5F32F9EB-EA38-431B-892B-C22E94E5A8F8}" type="presOf" srcId="{7A8A297C-7A33-48B3-888B-D62F93ABB95F}" destId="{26F33BD2-96FC-4362-900B-9153F27E2535}" srcOrd="0" destOrd="0" presId="urn:microsoft.com/office/officeart/2005/8/layout/cycle4"/>
    <dgm:cxn modelId="{72431A6F-4D1C-4898-BF7D-5C79DB8660F0}" type="presOf" srcId="{8718D101-6F58-4713-9023-E04FB802558B}" destId="{6C1B52EF-0897-493D-8151-CCD00F1DE4F3}" srcOrd="0" destOrd="0" presId="urn:microsoft.com/office/officeart/2005/8/layout/cycle4"/>
    <dgm:cxn modelId="{B7B35D3C-99E2-4865-9D6C-C3DF7A22D988}" srcId="{B323B78F-BB25-49AA-A1BB-D92BB18B27C6}" destId="{E2A41C94-1F9F-452D-83C6-DA9B2D1A2C68}" srcOrd="1" destOrd="0" parTransId="{B1A99176-0D53-463F-95E6-54FB983E494B}" sibTransId="{1B72A678-30C1-43D0-A16B-0379AC004B9E}"/>
    <dgm:cxn modelId="{E8D11270-5DA8-4DD6-BFB6-3D68B7FD2206}" type="presOf" srcId="{B5246D22-F1C4-42EF-AF7E-5A6E083E06BE}" destId="{F888FE5C-8131-4834-9C83-167149FC77C3}" srcOrd="0" destOrd="0" presId="urn:microsoft.com/office/officeart/2005/8/layout/cycle4"/>
    <dgm:cxn modelId="{BD363C03-72B8-4374-9376-61145FDB1668}" type="presOf" srcId="{160F1536-9538-4B76-BFA1-B29DB4A6F2CC}" destId="{07DD3E41-9278-4491-AA47-989F55BBBBEE}" srcOrd="0" destOrd="0" presId="urn:microsoft.com/office/officeart/2005/8/layout/cycle4"/>
    <dgm:cxn modelId="{925372E7-450C-460F-BB87-161383FE8C0F}" type="presOf" srcId="{EA5DB221-F9BE-4AC9-BF6B-681613B4498B}" destId="{956765D7-1687-4132-B2F6-EEAF9BE72C73}" srcOrd="1" destOrd="0" presId="urn:microsoft.com/office/officeart/2005/8/layout/cycle4"/>
    <dgm:cxn modelId="{65B2CB78-4D15-46F0-A1CE-4817674E28B9}" srcId="{B323B78F-BB25-49AA-A1BB-D92BB18B27C6}" destId="{8718D101-6F58-4713-9023-E04FB802558B}" srcOrd="3" destOrd="0" parTransId="{E1997932-BABB-479B-A898-DCE1B67D947D}" sibTransId="{C6B4061C-D82D-4AE9-8C9E-C84FC7804DE9}"/>
    <dgm:cxn modelId="{F7EEEBCA-D72A-4843-9771-28FFA8CDF037}" srcId="{B323B78F-BB25-49AA-A1BB-D92BB18B27C6}" destId="{B5246D22-F1C4-42EF-AF7E-5A6E083E06BE}" srcOrd="0" destOrd="0" parTransId="{CB75EFC9-CC7C-4984-B21F-8EC9F40FE35E}" sibTransId="{1D9D3BBA-0EE7-4B0B-83FD-C7BBDA83761B}"/>
    <dgm:cxn modelId="{11339C88-6B2B-4723-89BE-F046EDE97779}" type="presParOf" srcId="{7F3AED1E-5E34-49A9-80EE-2BAF95662F63}" destId="{49DCCC0D-D2E9-45D5-B207-C99490015020}" srcOrd="0" destOrd="0" presId="urn:microsoft.com/office/officeart/2005/8/layout/cycle4"/>
    <dgm:cxn modelId="{DF388F3B-7B75-44CD-B59D-3F35AA1F3E5E}" type="presParOf" srcId="{49DCCC0D-D2E9-45D5-B207-C99490015020}" destId="{CB0F2D12-7932-4443-89B7-28C7C427EE6A}" srcOrd="0" destOrd="0" presId="urn:microsoft.com/office/officeart/2005/8/layout/cycle4"/>
    <dgm:cxn modelId="{7F196059-F036-4623-BA41-D8EC298744A8}" type="presParOf" srcId="{CB0F2D12-7932-4443-89B7-28C7C427EE6A}" destId="{C5BC7F09-7482-4602-8BCA-A6450C56B822}" srcOrd="0" destOrd="0" presId="urn:microsoft.com/office/officeart/2005/8/layout/cycle4"/>
    <dgm:cxn modelId="{5650A16E-E6A1-48F0-8FCD-5CB25728EC1F}" type="presParOf" srcId="{CB0F2D12-7932-4443-89B7-28C7C427EE6A}" destId="{DC0E0ED7-EEF4-4931-8EA6-B0593F71D27D}" srcOrd="1" destOrd="0" presId="urn:microsoft.com/office/officeart/2005/8/layout/cycle4"/>
    <dgm:cxn modelId="{EE359291-C31C-4FAB-B8CB-B29333AD4355}" type="presParOf" srcId="{49DCCC0D-D2E9-45D5-B207-C99490015020}" destId="{407B0A04-9068-40FD-8CC3-466165498B9A}" srcOrd="1" destOrd="0" presId="urn:microsoft.com/office/officeart/2005/8/layout/cycle4"/>
    <dgm:cxn modelId="{1FD37C5E-0947-4D5C-9E25-CB008756CE08}" type="presParOf" srcId="{407B0A04-9068-40FD-8CC3-466165498B9A}" destId="{09A3B669-FE4F-484E-A2F8-568EC36E55F8}" srcOrd="0" destOrd="0" presId="urn:microsoft.com/office/officeart/2005/8/layout/cycle4"/>
    <dgm:cxn modelId="{3BD06D14-4752-4075-861E-2AA4B08AF60A}" type="presParOf" srcId="{407B0A04-9068-40FD-8CC3-466165498B9A}" destId="{956765D7-1687-4132-B2F6-EEAF9BE72C73}" srcOrd="1" destOrd="0" presId="urn:microsoft.com/office/officeart/2005/8/layout/cycle4"/>
    <dgm:cxn modelId="{BB74CFB9-B8DC-4303-8ECD-7323E85F03AE}" type="presParOf" srcId="{49DCCC0D-D2E9-45D5-B207-C99490015020}" destId="{2FA77AA9-CB82-4CD5-9F3F-49B73B019B47}" srcOrd="2" destOrd="0" presId="urn:microsoft.com/office/officeart/2005/8/layout/cycle4"/>
    <dgm:cxn modelId="{4E31D9BB-6E9E-49FB-9933-3DB0EBB2E627}" type="presParOf" srcId="{2FA77AA9-CB82-4CD5-9F3F-49B73B019B47}" destId="{26F33BD2-96FC-4362-900B-9153F27E2535}" srcOrd="0" destOrd="0" presId="urn:microsoft.com/office/officeart/2005/8/layout/cycle4"/>
    <dgm:cxn modelId="{9FF3A46C-4A23-4EFF-A2A6-01D7922880DA}" type="presParOf" srcId="{2FA77AA9-CB82-4CD5-9F3F-49B73B019B47}" destId="{853F5BE1-35E6-41B6-A868-B0C4AE3C30C3}" srcOrd="1" destOrd="0" presId="urn:microsoft.com/office/officeart/2005/8/layout/cycle4"/>
    <dgm:cxn modelId="{D834D7D4-5548-4D97-A6C5-F032F151A04A}" type="presParOf" srcId="{49DCCC0D-D2E9-45D5-B207-C99490015020}" destId="{60F5B6BD-3AA1-448D-B8A9-9F534ECA846A}" srcOrd="3" destOrd="0" presId="urn:microsoft.com/office/officeart/2005/8/layout/cycle4"/>
    <dgm:cxn modelId="{4DF03C3A-C1F7-4891-BC99-CFE31E6ED0B2}" type="presParOf" srcId="{60F5B6BD-3AA1-448D-B8A9-9F534ECA846A}" destId="{C7F7CC99-D77D-4950-A006-B2B47EF8124F}" srcOrd="0" destOrd="0" presId="urn:microsoft.com/office/officeart/2005/8/layout/cycle4"/>
    <dgm:cxn modelId="{BBDED80B-B5FB-4611-A1FA-3BC84E5218A0}" type="presParOf" srcId="{60F5B6BD-3AA1-448D-B8A9-9F534ECA846A}" destId="{544580C4-CA5A-4274-8187-1C906BB74BA2}" srcOrd="1" destOrd="0" presId="urn:microsoft.com/office/officeart/2005/8/layout/cycle4"/>
    <dgm:cxn modelId="{F7841908-105F-4494-89C6-18A0A3C25CCA}" type="presParOf" srcId="{49DCCC0D-D2E9-45D5-B207-C99490015020}" destId="{F53EA046-DBAE-4A7B-A0A4-9997AD1B91C6}" srcOrd="4" destOrd="0" presId="urn:microsoft.com/office/officeart/2005/8/layout/cycle4"/>
    <dgm:cxn modelId="{897BA112-F4F1-48CA-A44B-52112394FAEC}" type="presParOf" srcId="{7F3AED1E-5E34-49A9-80EE-2BAF95662F63}" destId="{BFC86FAF-4F9A-4461-B412-213B163EE3D2}" srcOrd="1" destOrd="0" presId="urn:microsoft.com/office/officeart/2005/8/layout/cycle4"/>
    <dgm:cxn modelId="{9357CC74-CCCA-4B2F-8243-921B82C9A218}" type="presParOf" srcId="{BFC86FAF-4F9A-4461-B412-213B163EE3D2}" destId="{F888FE5C-8131-4834-9C83-167149FC77C3}" srcOrd="0" destOrd="0" presId="urn:microsoft.com/office/officeart/2005/8/layout/cycle4"/>
    <dgm:cxn modelId="{61325890-B87A-4C9B-ABC4-BFE500111E09}" type="presParOf" srcId="{BFC86FAF-4F9A-4461-B412-213B163EE3D2}" destId="{2B9613C3-D2E9-40EF-A4AA-68924063BA1F}" srcOrd="1" destOrd="0" presId="urn:microsoft.com/office/officeart/2005/8/layout/cycle4"/>
    <dgm:cxn modelId="{DA9A66E7-614E-4B92-8784-F12199C6ED1E}" type="presParOf" srcId="{BFC86FAF-4F9A-4461-B412-213B163EE3D2}" destId="{07DD3E41-9278-4491-AA47-989F55BBBBEE}" srcOrd="2" destOrd="0" presId="urn:microsoft.com/office/officeart/2005/8/layout/cycle4"/>
    <dgm:cxn modelId="{DB861B34-CD81-4211-87C7-8310BF3FD926}" type="presParOf" srcId="{BFC86FAF-4F9A-4461-B412-213B163EE3D2}" destId="{6C1B52EF-0897-493D-8151-CCD00F1DE4F3}" srcOrd="3" destOrd="0" presId="urn:microsoft.com/office/officeart/2005/8/layout/cycle4"/>
    <dgm:cxn modelId="{D243CE50-BC79-4FFB-B8D2-3B5FAB3BF788}" type="presParOf" srcId="{BFC86FAF-4F9A-4461-B412-213B163EE3D2}" destId="{A8CB017A-FC35-49FF-A948-7D86D8FDF595}" srcOrd="4" destOrd="0" presId="urn:microsoft.com/office/officeart/2005/8/layout/cycle4"/>
    <dgm:cxn modelId="{C2D13AB9-072B-4FAC-9D4B-42AD2BE00F8E}" type="presParOf" srcId="{7F3AED1E-5E34-49A9-80EE-2BAF95662F63}" destId="{A094C615-CE77-47D3-AFF8-0FF271532C5D}" srcOrd="2" destOrd="0" presId="urn:microsoft.com/office/officeart/2005/8/layout/cycle4"/>
    <dgm:cxn modelId="{C8B18087-625F-4FEA-B185-777E73083DCE}" type="presParOf" srcId="{7F3AED1E-5E34-49A9-80EE-2BAF95662F63}" destId="{B11C8938-067A-48B3-9380-6FB6C06DB634}"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F33BD2-96FC-4362-900B-9153F27E2535}">
      <dsp:nvSpPr>
        <dsp:cNvPr id="0" name=""/>
        <dsp:cNvSpPr/>
      </dsp:nvSpPr>
      <dsp:spPr>
        <a:xfrm>
          <a:off x="5936608" y="2958909"/>
          <a:ext cx="2149560" cy="13924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14300" lvl="1" indent="-114300" algn="l" defTabSz="533400">
            <a:lnSpc>
              <a:spcPct val="90000"/>
            </a:lnSpc>
            <a:spcBef>
              <a:spcPct val="0"/>
            </a:spcBef>
            <a:spcAft>
              <a:spcPct val="15000"/>
            </a:spcAft>
            <a:buChar char="•"/>
          </a:pPr>
          <a:r>
            <a:rPr lang="en-US" sz="1200" kern="1200" dirty="0"/>
            <a:t>As time from crisis lengthens, pressures to increase efficiencies</a:t>
          </a:r>
        </a:p>
      </dsp:txBody>
      <dsp:txXfrm>
        <a:off x="6612064" y="3337603"/>
        <a:ext cx="1443518" cy="983147"/>
      </dsp:txXfrm>
    </dsp:sp>
    <dsp:sp modelId="{C7F7CC99-D77D-4950-A006-B2B47EF8124F}">
      <dsp:nvSpPr>
        <dsp:cNvPr id="0" name=""/>
        <dsp:cNvSpPr/>
      </dsp:nvSpPr>
      <dsp:spPr>
        <a:xfrm>
          <a:off x="2429430" y="2958909"/>
          <a:ext cx="2149560" cy="13924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14300" lvl="1" indent="-114300" algn="l" defTabSz="533400">
            <a:lnSpc>
              <a:spcPct val="90000"/>
            </a:lnSpc>
            <a:spcBef>
              <a:spcPct val="0"/>
            </a:spcBef>
            <a:spcAft>
              <a:spcPct val="15000"/>
            </a:spcAft>
            <a:buChar char="•"/>
          </a:pPr>
          <a:r>
            <a:rPr lang="en-US" sz="1200" kern="1200" dirty="0"/>
            <a:t>Move back to productivity model </a:t>
          </a:r>
        </a:p>
      </dsp:txBody>
      <dsp:txXfrm>
        <a:off x="2460017" y="3337603"/>
        <a:ext cx="1443518" cy="983147"/>
      </dsp:txXfrm>
    </dsp:sp>
    <dsp:sp modelId="{09A3B669-FE4F-484E-A2F8-568EC36E55F8}">
      <dsp:nvSpPr>
        <dsp:cNvPr id="0" name=""/>
        <dsp:cNvSpPr/>
      </dsp:nvSpPr>
      <dsp:spPr>
        <a:xfrm>
          <a:off x="5936608" y="0"/>
          <a:ext cx="2149560" cy="13924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14300" lvl="1" indent="-114300" algn="l" defTabSz="533400">
            <a:lnSpc>
              <a:spcPct val="90000"/>
            </a:lnSpc>
            <a:spcBef>
              <a:spcPct val="0"/>
            </a:spcBef>
            <a:spcAft>
              <a:spcPct val="15000"/>
            </a:spcAft>
            <a:buChar char="•"/>
          </a:pPr>
          <a:r>
            <a:rPr lang="en-US" sz="1200" kern="1200" dirty="0"/>
            <a:t>Move from productivity to reliability model </a:t>
          </a:r>
        </a:p>
      </dsp:txBody>
      <dsp:txXfrm>
        <a:off x="6612064" y="30587"/>
        <a:ext cx="1443518" cy="983147"/>
      </dsp:txXfrm>
    </dsp:sp>
    <dsp:sp modelId="{C5BC7F09-7482-4602-8BCA-A6450C56B822}">
      <dsp:nvSpPr>
        <dsp:cNvPr id="0" name=""/>
        <dsp:cNvSpPr/>
      </dsp:nvSpPr>
      <dsp:spPr>
        <a:xfrm>
          <a:off x="2429430" y="0"/>
          <a:ext cx="2149560" cy="13924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14300" lvl="1" indent="-114300" algn="l" defTabSz="533400">
            <a:lnSpc>
              <a:spcPct val="90000"/>
            </a:lnSpc>
            <a:spcBef>
              <a:spcPct val="0"/>
            </a:spcBef>
            <a:spcAft>
              <a:spcPct val="15000"/>
            </a:spcAft>
            <a:buChar char="•"/>
          </a:pPr>
          <a:r>
            <a:rPr lang="en-US" sz="1200" kern="1200" dirty="0"/>
            <a:t>Organizational crisis</a:t>
          </a:r>
        </a:p>
      </dsp:txBody>
      <dsp:txXfrm>
        <a:off x="2460017" y="30587"/>
        <a:ext cx="1443518" cy="983147"/>
      </dsp:txXfrm>
    </dsp:sp>
    <dsp:sp modelId="{F888FE5C-8131-4834-9C83-167149FC77C3}">
      <dsp:nvSpPr>
        <dsp:cNvPr id="0" name=""/>
        <dsp:cNvSpPr/>
      </dsp:nvSpPr>
      <dsp:spPr>
        <a:xfrm>
          <a:off x="3330157" y="248026"/>
          <a:ext cx="1884129" cy="1884129"/>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dirty="0"/>
            <a:t>Productivity model found wanting (Type II Error)</a:t>
          </a:r>
        </a:p>
      </dsp:txBody>
      <dsp:txXfrm>
        <a:off x="3882006" y="799875"/>
        <a:ext cx="1332280" cy="1332280"/>
      </dsp:txXfrm>
    </dsp:sp>
    <dsp:sp modelId="{2B9613C3-D2E9-40EF-A4AA-68924063BA1F}">
      <dsp:nvSpPr>
        <dsp:cNvPr id="0" name=""/>
        <dsp:cNvSpPr/>
      </dsp:nvSpPr>
      <dsp:spPr>
        <a:xfrm rot="5400000">
          <a:off x="5301313" y="248026"/>
          <a:ext cx="1884129" cy="1884129"/>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dirty="0"/>
            <a:t>System becomes less error tolerant </a:t>
          </a:r>
        </a:p>
      </dsp:txBody>
      <dsp:txXfrm rot="-5400000">
        <a:off x="5301313" y="799875"/>
        <a:ext cx="1332280" cy="1332280"/>
      </dsp:txXfrm>
    </dsp:sp>
    <dsp:sp modelId="{07DD3E41-9278-4491-AA47-989F55BBBBEE}">
      <dsp:nvSpPr>
        <dsp:cNvPr id="0" name=""/>
        <dsp:cNvSpPr/>
      </dsp:nvSpPr>
      <dsp:spPr>
        <a:xfrm rot="10800000">
          <a:off x="5301313" y="2219182"/>
          <a:ext cx="1884129" cy="1884129"/>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dirty="0"/>
            <a:t>Avoiding Type II errors becomes costly</a:t>
          </a:r>
        </a:p>
      </dsp:txBody>
      <dsp:txXfrm rot="10800000">
        <a:off x="5301313" y="2219182"/>
        <a:ext cx="1332280" cy="1332280"/>
      </dsp:txXfrm>
    </dsp:sp>
    <dsp:sp modelId="{6C1B52EF-0897-493D-8151-CCD00F1DE4F3}">
      <dsp:nvSpPr>
        <dsp:cNvPr id="0" name=""/>
        <dsp:cNvSpPr/>
      </dsp:nvSpPr>
      <dsp:spPr>
        <a:xfrm rot="16200000">
          <a:off x="3330157" y="2219182"/>
          <a:ext cx="1884129" cy="1884129"/>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dirty="0"/>
            <a:t>Concern with Type I error becomes dominant, organization more error tolerant</a:t>
          </a:r>
        </a:p>
      </dsp:txBody>
      <dsp:txXfrm rot="5400000">
        <a:off x="3882006" y="2219182"/>
        <a:ext cx="1332280" cy="1332280"/>
      </dsp:txXfrm>
    </dsp:sp>
    <dsp:sp modelId="{A094C615-CE77-47D3-AFF8-0FF271532C5D}">
      <dsp:nvSpPr>
        <dsp:cNvPr id="0" name=""/>
        <dsp:cNvSpPr/>
      </dsp:nvSpPr>
      <dsp:spPr>
        <a:xfrm>
          <a:off x="4932537" y="1784048"/>
          <a:ext cx="650525" cy="565673"/>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1C8938-067A-48B3-9380-6FB6C06DB634}">
      <dsp:nvSpPr>
        <dsp:cNvPr id="0" name=""/>
        <dsp:cNvSpPr/>
      </dsp:nvSpPr>
      <dsp:spPr>
        <a:xfrm rot="10800000">
          <a:off x="4932537" y="2001615"/>
          <a:ext cx="650525" cy="565673"/>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8317704E-6B30-443D-8C32-B7EE8DE8C08D}" type="datetimeFigureOut">
              <a:rPr lang="en-US" smtClean="0"/>
              <a:t>1/16/2020</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76A333C2-A550-4A05-A734-EBEF738A1613}" type="slidenum">
              <a:rPr lang="en-US" smtClean="0"/>
              <a:t>‹#›</a:t>
            </a:fld>
            <a:endParaRPr lang="en-US"/>
          </a:p>
        </p:txBody>
      </p:sp>
    </p:spTree>
    <p:extLst>
      <p:ext uri="{BB962C8B-B14F-4D97-AF65-F5344CB8AC3E}">
        <p14:creationId xmlns:p14="http://schemas.microsoft.com/office/powerpoint/2010/main" val="405853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9ED66144-58ED-4AB2-95A1-AA23D13FB790}" type="datetimeFigureOut">
              <a:rPr lang="en-US" smtClean="0"/>
              <a:t>1/16/2020</a:t>
            </a:fld>
            <a:endParaRPr 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35E54F49-5F2C-49A8-8D9B-9FC6E482EDE7}" type="slidenum">
              <a:rPr lang="en-US" smtClean="0"/>
              <a:t>‹#›</a:t>
            </a:fld>
            <a:endParaRPr lang="en-US"/>
          </a:p>
        </p:txBody>
      </p:sp>
    </p:spTree>
    <p:extLst>
      <p:ext uri="{BB962C8B-B14F-4D97-AF65-F5344CB8AC3E}">
        <p14:creationId xmlns:p14="http://schemas.microsoft.com/office/powerpoint/2010/main" val="3074577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CC5D86A6-4C0D-4CEC-9259-15999068D72C}" type="slidenum">
              <a:rPr lang="en-US"/>
              <a:pPr/>
              <a:t>29</a:t>
            </a:fld>
            <a:endParaRPr lang="en-US"/>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pPr marL="2095122" lvl="4" indent="-231921">
              <a:spcBef>
                <a:spcPct val="0"/>
              </a:spcBef>
              <a:buFontTx/>
              <a:buAutoNum type="arabicPeriod"/>
            </a:pPr>
            <a:endParaRPr lang="en-US" sz="2400" b="1" dirty="0"/>
          </a:p>
          <a:p>
            <a:pPr marL="231921" indent="-231921"/>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0156384-11F4-4F82-9BAF-86EC487D8F39}" type="datetimeFigureOut">
              <a:rPr lang="en-US" smtClean="0"/>
              <a:t>1/16/2020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35881-FB4F-4464-B41A-BF43013A4030}" type="slidenum">
              <a:rPr lang="en-US" smtClean="0"/>
              <a:t>‹#›</a:t>
            </a:fld>
            <a:endParaRPr lang="en-US"/>
          </a:p>
        </p:txBody>
      </p:sp>
    </p:spTree>
    <p:extLst>
      <p:ext uri="{BB962C8B-B14F-4D97-AF65-F5344CB8AC3E}">
        <p14:creationId xmlns:p14="http://schemas.microsoft.com/office/powerpoint/2010/main" val="636697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0156384-11F4-4F82-9BAF-86EC487D8F39}" type="datetimeFigureOut">
              <a:rPr lang="en-US" smtClean="0"/>
              <a:t>1/16/2020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35881-FB4F-4464-B41A-BF43013A4030}" type="slidenum">
              <a:rPr lang="en-US" smtClean="0"/>
              <a:t>‹#›</a:t>
            </a:fld>
            <a:endParaRPr lang="en-US"/>
          </a:p>
        </p:txBody>
      </p:sp>
    </p:spTree>
    <p:extLst>
      <p:ext uri="{BB962C8B-B14F-4D97-AF65-F5344CB8AC3E}">
        <p14:creationId xmlns:p14="http://schemas.microsoft.com/office/powerpoint/2010/main" val="3941146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156384-11F4-4F82-9BAF-86EC487D8F39}" type="datetimeFigureOut">
              <a:rPr lang="en-US" smtClean="0"/>
              <a:t>1/16/2020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35881-FB4F-4464-B41A-BF43013A4030}" type="slidenum">
              <a:rPr lang="en-US" smtClean="0"/>
              <a:t>‹#›</a:t>
            </a:fld>
            <a:endParaRPr lang="en-US"/>
          </a:p>
        </p:txBody>
      </p:sp>
    </p:spTree>
    <p:extLst>
      <p:ext uri="{BB962C8B-B14F-4D97-AF65-F5344CB8AC3E}">
        <p14:creationId xmlns:p14="http://schemas.microsoft.com/office/powerpoint/2010/main" val="34360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0156384-11F4-4F82-9BAF-86EC487D8F39}" type="datetimeFigureOut">
              <a:rPr lang="en-US" smtClean="0"/>
              <a:t>1/16/2020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35881-FB4F-4464-B41A-BF43013A4030}" type="slidenum">
              <a:rPr lang="en-US" smtClean="0"/>
              <a:t>‹#›</a:t>
            </a:fld>
            <a:endParaRPr lang="en-US"/>
          </a:p>
        </p:txBody>
      </p:sp>
    </p:spTree>
    <p:extLst>
      <p:ext uri="{BB962C8B-B14F-4D97-AF65-F5344CB8AC3E}">
        <p14:creationId xmlns:p14="http://schemas.microsoft.com/office/powerpoint/2010/main" val="4054122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0156384-11F4-4F82-9BAF-86EC487D8F39}" type="datetimeFigureOut">
              <a:rPr lang="en-US" smtClean="0"/>
              <a:t>1/16/2020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7F35881-FB4F-4464-B41A-BF43013A4030}" type="slidenum">
              <a:rPr lang="en-US" smtClean="0"/>
              <a:t>‹#›</a:t>
            </a:fld>
            <a:endParaRPr lang="en-US"/>
          </a:p>
        </p:txBody>
      </p:sp>
    </p:spTree>
    <p:extLst>
      <p:ext uri="{BB962C8B-B14F-4D97-AF65-F5344CB8AC3E}">
        <p14:creationId xmlns:p14="http://schemas.microsoft.com/office/powerpoint/2010/main" val="643472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0156384-11F4-4F82-9BAF-86EC487D8F39}" type="datetimeFigureOut">
              <a:rPr lang="en-US" smtClean="0"/>
              <a:t>1/16/2020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7F35881-FB4F-4464-B41A-BF43013A4030}" type="slidenum">
              <a:rPr lang="en-US" smtClean="0"/>
              <a:t>‹#›</a:t>
            </a:fld>
            <a:endParaRPr lang="en-US"/>
          </a:p>
        </p:txBody>
      </p:sp>
    </p:spTree>
    <p:extLst>
      <p:ext uri="{BB962C8B-B14F-4D97-AF65-F5344CB8AC3E}">
        <p14:creationId xmlns:p14="http://schemas.microsoft.com/office/powerpoint/2010/main" val="759938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156384-11F4-4F82-9BAF-86EC487D8F39}" type="datetimeFigureOut">
              <a:rPr lang="en-US" smtClean="0"/>
              <a:t>1/16/2020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7F35881-FB4F-4464-B41A-BF43013A4030}" type="slidenum">
              <a:rPr lang="en-US" smtClean="0"/>
              <a:t>‹#›</a:t>
            </a:fld>
            <a:endParaRPr lang="en-US"/>
          </a:p>
        </p:txBody>
      </p:sp>
    </p:spTree>
    <p:extLst>
      <p:ext uri="{BB962C8B-B14F-4D97-AF65-F5344CB8AC3E}">
        <p14:creationId xmlns:p14="http://schemas.microsoft.com/office/powerpoint/2010/main" val="4177687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0156384-11F4-4F82-9BAF-86EC487D8F39}" type="datetimeFigureOut">
              <a:rPr lang="en-US" smtClean="0"/>
              <a:t>1/16/2020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35881-FB4F-4464-B41A-BF43013A4030}" type="slidenum">
              <a:rPr lang="en-US" smtClean="0"/>
              <a:t>‹#›</a:t>
            </a:fld>
            <a:endParaRPr lang="en-US"/>
          </a:p>
        </p:txBody>
      </p:sp>
    </p:spTree>
    <p:extLst>
      <p:ext uri="{BB962C8B-B14F-4D97-AF65-F5344CB8AC3E}">
        <p14:creationId xmlns:p14="http://schemas.microsoft.com/office/powerpoint/2010/main" val="39150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0156384-11F4-4F82-9BAF-86EC487D8F39}" type="datetimeFigureOut">
              <a:rPr lang="en-US" smtClean="0"/>
              <a:t>1/16/2020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35881-FB4F-4464-B41A-BF43013A4030}" type="slidenum">
              <a:rPr lang="en-US" smtClean="0"/>
              <a:t>‹#›</a:t>
            </a:fld>
            <a:endParaRPr lang="en-US"/>
          </a:p>
        </p:txBody>
      </p:sp>
    </p:spTree>
    <p:extLst>
      <p:ext uri="{BB962C8B-B14F-4D97-AF65-F5344CB8AC3E}">
        <p14:creationId xmlns:p14="http://schemas.microsoft.com/office/powerpoint/2010/main" val="2880951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0156384-11F4-4F82-9BAF-86EC487D8F39}" type="datetimeFigureOut">
              <a:rPr lang="en-US" smtClean="0"/>
              <a:t>1/16/2020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35881-FB4F-4464-B41A-BF43013A4030}" type="slidenum">
              <a:rPr lang="en-US" smtClean="0"/>
              <a:t>‹#›</a:t>
            </a:fld>
            <a:endParaRPr lang="en-US"/>
          </a:p>
        </p:txBody>
      </p:sp>
    </p:spTree>
    <p:extLst>
      <p:ext uri="{BB962C8B-B14F-4D97-AF65-F5344CB8AC3E}">
        <p14:creationId xmlns:p14="http://schemas.microsoft.com/office/powerpoint/2010/main" val="1330944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0156384-11F4-4F82-9BAF-86EC487D8F39}" type="datetimeFigureOut">
              <a:rPr lang="en-US" smtClean="0"/>
              <a:t>1/16/2020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35881-FB4F-4464-B41A-BF43013A4030}" type="slidenum">
              <a:rPr lang="en-US" smtClean="0"/>
              <a:t>‹#›</a:t>
            </a:fld>
            <a:endParaRPr lang="en-US"/>
          </a:p>
        </p:txBody>
      </p:sp>
    </p:spTree>
    <p:extLst>
      <p:ext uri="{BB962C8B-B14F-4D97-AF65-F5344CB8AC3E}">
        <p14:creationId xmlns:p14="http://schemas.microsoft.com/office/powerpoint/2010/main" val="171058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156384-11F4-4F82-9BAF-86EC487D8F39}" type="datetimeFigureOut">
              <a:rPr lang="en-US" smtClean="0"/>
              <a:t>1/16/2020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F35881-FB4F-4464-B41A-BF43013A4030}" type="slidenum">
              <a:rPr lang="en-US" smtClean="0"/>
              <a:t>‹#›</a:t>
            </a:fld>
            <a:endParaRPr lang="en-US"/>
          </a:p>
        </p:txBody>
      </p:sp>
    </p:spTree>
    <p:extLst>
      <p:ext uri="{BB962C8B-B14F-4D97-AF65-F5344CB8AC3E}">
        <p14:creationId xmlns:p14="http://schemas.microsoft.com/office/powerpoint/2010/main" val="13336455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youtube.com/watch?v=sWK9RwGTWNA"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9.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audio" Target="../media/audio5.wav"/><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audio" Target="../media/audio4.wav"/><Relationship Id="rId5" Type="http://schemas.openxmlformats.org/officeDocument/2006/relationships/audio" Target="../media/audio3.wav"/><Relationship Id="rId4" Type="http://schemas.openxmlformats.org/officeDocument/2006/relationships/audio" Target="../media/audio2.wav"/></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news.gallup.com/poll/1597/Confidence-Institutions.aspx"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audio" Target="../media/audio6.wav"/><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audio" Target="../media/audio6.wav"/><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Organizations, Mental Health, and Ethics</a:t>
            </a:r>
          </a:p>
        </p:txBody>
      </p:sp>
      <p:sp>
        <p:nvSpPr>
          <p:cNvPr id="3" name="Subtitle 2"/>
          <p:cNvSpPr>
            <a:spLocks noGrp="1"/>
          </p:cNvSpPr>
          <p:nvPr>
            <p:ph type="subTitle" idx="1"/>
          </p:nvPr>
        </p:nvSpPr>
        <p:spPr/>
        <p:txBody>
          <a:bodyPr/>
          <a:lstStyle/>
          <a:p>
            <a:r>
              <a:rPr lang="en-US" dirty="0"/>
              <a:t>Spring, 2020</a:t>
            </a:r>
          </a:p>
        </p:txBody>
      </p:sp>
    </p:spTree>
    <p:extLst>
      <p:ext uri="{BB962C8B-B14F-4D97-AF65-F5344CB8AC3E}">
        <p14:creationId xmlns:p14="http://schemas.microsoft.com/office/powerpoint/2010/main" val="1262406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comes to mind when you hear the name:</a:t>
            </a:r>
          </a:p>
        </p:txBody>
      </p:sp>
      <p:sp>
        <p:nvSpPr>
          <p:cNvPr id="3" name="Content Placeholder 2"/>
          <p:cNvSpPr>
            <a:spLocks noGrp="1"/>
          </p:cNvSpPr>
          <p:nvPr>
            <p:ph idx="1"/>
          </p:nvPr>
        </p:nvSpPr>
        <p:spPr/>
        <p:txBody>
          <a:bodyPr>
            <a:normAutofit fontScale="92500" lnSpcReduction="10000"/>
          </a:bodyPr>
          <a:lstStyle/>
          <a:p>
            <a:r>
              <a:rPr lang="en-US" dirty="0"/>
              <a:t>Equifax</a:t>
            </a:r>
          </a:p>
          <a:p>
            <a:pPr lvl="1"/>
            <a:r>
              <a:rPr lang="en-US" dirty="0"/>
              <a:t>145.5 million personal financial information hacked</a:t>
            </a:r>
          </a:p>
          <a:p>
            <a:pPr lvl="1"/>
            <a:r>
              <a:rPr lang="en-US" dirty="0"/>
              <a:t>Homeland Security notifies company of a data breach on March 9, 2017</a:t>
            </a:r>
          </a:p>
          <a:p>
            <a:pPr lvl="2"/>
            <a:r>
              <a:rPr lang="en-US" dirty="0"/>
              <a:t>Scan by company on March 15 fails to detect vulnerability</a:t>
            </a:r>
          </a:p>
          <a:p>
            <a:pPr lvl="2"/>
            <a:r>
              <a:rPr lang="en-US" dirty="0"/>
              <a:t>Hackers begin to access information on May 13</a:t>
            </a:r>
          </a:p>
          <a:p>
            <a:pPr lvl="2"/>
            <a:r>
              <a:rPr lang="en-US" dirty="0"/>
              <a:t>July 30, Equifax disabled compromised Web application ending the hacking</a:t>
            </a:r>
          </a:p>
          <a:p>
            <a:pPr lvl="1"/>
            <a:r>
              <a:rPr lang="en-US" dirty="0"/>
              <a:t>Since disclosure – stock down 31%, fines likely between $500 million to $1 billion  </a:t>
            </a:r>
          </a:p>
          <a:p>
            <a:r>
              <a:rPr lang="en-US" dirty="0"/>
              <a:t>Harvey Weinstein Studio</a:t>
            </a:r>
          </a:p>
          <a:p>
            <a:pPr lvl="1"/>
            <a:r>
              <a:rPr lang="en-US" dirty="0"/>
              <a:t>Sexual predator</a:t>
            </a:r>
          </a:p>
          <a:p>
            <a:pPr lvl="1"/>
            <a:r>
              <a:rPr lang="en-US" dirty="0"/>
              <a:t>Known for sexual harassment activity for over thirty years</a:t>
            </a:r>
          </a:p>
          <a:p>
            <a:pPr lvl="1"/>
            <a:r>
              <a:rPr lang="en-US" dirty="0"/>
              <a:t>During that time, he paid in excess of $800,000 to settle claims and company is being sued for $5 million for knowingly facilitating his </a:t>
            </a:r>
            <a:r>
              <a:rPr lang="en-US" dirty="0" err="1"/>
              <a:t>behaviour</a:t>
            </a:r>
            <a:r>
              <a:rPr lang="en-US" dirty="0"/>
              <a:t> </a:t>
            </a:r>
          </a:p>
        </p:txBody>
      </p:sp>
    </p:spTree>
    <p:extLst>
      <p:ext uri="{BB962C8B-B14F-4D97-AF65-F5344CB8AC3E}">
        <p14:creationId xmlns:p14="http://schemas.microsoft.com/office/powerpoint/2010/main" val="1621870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Volkswagen</a:t>
            </a:r>
          </a:p>
          <a:p>
            <a:pPr lvl="1"/>
            <a:r>
              <a:rPr lang="en-US" dirty="0" err="1"/>
              <a:t>Emissionsgate</a:t>
            </a:r>
            <a:r>
              <a:rPr lang="en-US" dirty="0"/>
              <a:t> – cars programmed to activate emissions controls only during laboratory emissions testing</a:t>
            </a:r>
          </a:p>
          <a:p>
            <a:pPr lvl="1"/>
            <a:r>
              <a:rPr lang="en-US" dirty="0"/>
              <a:t>In place from 2009 through 2015</a:t>
            </a:r>
          </a:p>
          <a:p>
            <a:pPr lvl="1"/>
            <a:r>
              <a:rPr lang="en-US" dirty="0"/>
              <a:t>Cost to company as of October, 2017, $23billion </a:t>
            </a:r>
          </a:p>
          <a:p>
            <a:r>
              <a:rPr lang="en-US" dirty="0"/>
              <a:t>Wells Fargo</a:t>
            </a:r>
          </a:p>
          <a:p>
            <a:pPr lvl="1"/>
            <a:r>
              <a:rPr lang="en-US" dirty="0"/>
              <a:t>Employees created 2 million sham accounts generating $1.5 million in fees </a:t>
            </a:r>
          </a:p>
          <a:p>
            <a:pPr lvl="1"/>
            <a:r>
              <a:rPr lang="en-US" dirty="0"/>
              <a:t>Practice began in 2011</a:t>
            </a:r>
          </a:p>
          <a:p>
            <a:pPr lvl="1"/>
            <a:r>
              <a:rPr lang="en-US" dirty="0"/>
              <a:t>5,300 lower levels employees fired in September of 2016; company fined $185 million  by consumer protection bureau and $85 million in assorted other fines </a:t>
            </a:r>
          </a:p>
        </p:txBody>
      </p:sp>
    </p:spTree>
    <p:extLst>
      <p:ext uri="{BB962C8B-B14F-4D97-AF65-F5344CB8AC3E}">
        <p14:creationId xmlns:p14="http://schemas.microsoft.com/office/powerpoint/2010/main" val="3210718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508000" y="762000"/>
            <a:ext cx="10363200" cy="1143000"/>
          </a:xfrm>
        </p:spPr>
        <p:txBody>
          <a:bodyPr>
            <a:normAutofit fontScale="90000"/>
          </a:bodyPr>
          <a:lstStyle/>
          <a:p>
            <a:r>
              <a:rPr lang="en-US" dirty="0"/>
              <a:t>What do these organizational failures have in common?</a:t>
            </a:r>
          </a:p>
        </p:txBody>
      </p:sp>
      <p:sp>
        <p:nvSpPr>
          <p:cNvPr id="18437" name="Text Box 5"/>
          <p:cNvSpPr txBox="1">
            <a:spLocks noChangeArrowheads="1"/>
          </p:cNvSpPr>
          <p:nvPr/>
        </p:nvSpPr>
        <p:spPr bwMode="auto">
          <a:xfrm>
            <a:off x="283634" y="1946276"/>
            <a:ext cx="6616811" cy="646331"/>
          </a:xfrm>
          <a:prstGeom prst="rect">
            <a:avLst/>
          </a:prstGeom>
          <a:noFill/>
          <a:ln w="9525">
            <a:noFill/>
            <a:miter lim="800000"/>
            <a:headEnd/>
            <a:tailEnd/>
          </a:ln>
          <a:effectLst/>
        </p:spPr>
        <p:txBody>
          <a:bodyPr wrap="none">
            <a:spAutoFit/>
          </a:bodyPr>
          <a:lstStyle/>
          <a:p>
            <a:pPr marL="457200" indent="-457200"/>
            <a:r>
              <a:rPr lang="en-US" dirty="0"/>
              <a:t>“…large scale failures can only be produced if time and resources are</a:t>
            </a:r>
          </a:p>
          <a:p>
            <a:pPr marL="457200" indent="-457200"/>
            <a:r>
              <a:rPr lang="en-US" dirty="0"/>
              <a:t>devoted to them (Turner, ASQ, vol. 21, No. 3, 1976)</a:t>
            </a:r>
          </a:p>
        </p:txBody>
      </p:sp>
      <p:sp>
        <p:nvSpPr>
          <p:cNvPr id="18439" name="Text Box 7"/>
          <p:cNvSpPr txBox="1">
            <a:spLocks noChangeArrowheads="1"/>
          </p:cNvSpPr>
          <p:nvPr/>
        </p:nvSpPr>
        <p:spPr bwMode="auto">
          <a:xfrm>
            <a:off x="421171" y="3309855"/>
            <a:ext cx="6341736" cy="646331"/>
          </a:xfrm>
          <a:prstGeom prst="rect">
            <a:avLst/>
          </a:prstGeom>
          <a:noFill/>
          <a:ln w="9525">
            <a:noFill/>
            <a:miter lim="800000"/>
            <a:headEnd/>
            <a:tailEnd/>
          </a:ln>
          <a:effectLst/>
        </p:spPr>
        <p:txBody>
          <a:bodyPr wrap="none">
            <a:spAutoFit/>
          </a:bodyPr>
          <a:lstStyle/>
          <a:p>
            <a:r>
              <a:rPr lang="en-US" dirty="0"/>
              <a:t>Major organizational failures have an incubation period – there is </a:t>
            </a:r>
          </a:p>
          <a:p>
            <a:r>
              <a:rPr lang="en-US" dirty="0"/>
              <a:t>failure of foresight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4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43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4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autoUpdateAnimBg="0"/>
      <p:bldP spid="18439"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9B927-7542-422C-89CD-AEF27ED14AC9}"/>
              </a:ext>
            </a:extLst>
          </p:cNvPr>
          <p:cNvSpPr>
            <a:spLocks noGrp="1"/>
          </p:cNvSpPr>
          <p:nvPr>
            <p:ph type="title"/>
          </p:nvPr>
        </p:nvSpPr>
        <p:spPr/>
        <p:txBody>
          <a:bodyPr/>
          <a:lstStyle/>
          <a:p>
            <a:r>
              <a:rPr lang="en-US" dirty="0"/>
              <a:t>First Reflective Pause:</a:t>
            </a:r>
            <a:br>
              <a:rPr lang="en-US" dirty="0"/>
            </a:br>
            <a:endParaRPr lang="en-US" dirty="0"/>
          </a:p>
        </p:txBody>
      </p:sp>
      <p:sp>
        <p:nvSpPr>
          <p:cNvPr id="3" name="Content Placeholder 2">
            <a:extLst>
              <a:ext uri="{FF2B5EF4-FFF2-40B4-BE49-F238E27FC236}">
                <a16:creationId xmlns:a16="http://schemas.microsoft.com/office/drawing/2014/main" id="{754B4D05-D363-41CB-9A54-C6EF201F7E7A}"/>
              </a:ext>
            </a:extLst>
          </p:cNvPr>
          <p:cNvSpPr>
            <a:spLocks noGrp="1"/>
          </p:cNvSpPr>
          <p:nvPr>
            <p:ph idx="1"/>
          </p:nvPr>
        </p:nvSpPr>
        <p:spPr/>
        <p:txBody>
          <a:bodyPr/>
          <a:lstStyle/>
          <a:p>
            <a:r>
              <a:rPr lang="en-US" dirty="0"/>
              <a:t>The argument being made is rather astounding – organizations expend considerable effort to produce major failures!  Do you believe it/why or why not?  What examples can you find that demonstrate the argument being made?  </a:t>
            </a:r>
          </a:p>
          <a:p>
            <a:endParaRPr lang="en-US" dirty="0"/>
          </a:p>
        </p:txBody>
      </p:sp>
    </p:spTree>
    <p:extLst>
      <p:ext uri="{BB962C8B-B14F-4D97-AF65-F5344CB8AC3E}">
        <p14:creationId xmlns:p14="http://schemas.microsoft.com/office/powerpoint/2010/main" val="784182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Organizational Screw Ups Are Predictable   </a:t>
            </a:r>
          </a:p>
        </p:txBody>
      </p:sp>
      <p:sp>
        <p:nvSpPr>
          <p:cNvPr id="3" name="Content Placeholder 2"/>
          <p:cNvSpPr>
            <a:spLocks noGrp="1"/>
          </p:cNvSpPr>
          <p:nvPr>
            <p:ph idx="1"/>
          </p:nvPr>
        </p:nvSpPr>
        <p:spPr/>
        <p:txBody>
          <a:bodyPr>
            <a:normAutofit fontScale="85000" lnSpcReduction="20000"/>
          </a:bodyPr>
          <a:lstStyle/>
          <a:p>
            <a:r>
              <a:rPr lang="en-US" dirty="0"/>
              <a:t>General Motors failed for years to recognize a safety defect in millions of small cars</a:t>
            </a:r>
          </a:p>
          <a:p>
            <a:pPr lvl="1"/>
            <a:r>
              <a:rPr lang="en-US" dirty="0"/>
              <a:t>Recalled 2.6 million cars in 2014 to fix the defect</a:t>
            </a:r>
          </a:p>
          <a:p>
            <a:pPr lvl="1"/>
            <a:r>
              <a:rPr lang="en-US" dirty="0"/>
              <a:t>But An August 2001 memo noted the defect in the ignition power switch</a:t>
            </a:r>
          </a:p>
          <a:p>
            <a:pPr lvl="1"/>
            <a:r>
              <a:rPr lang="en-US" dirty="0"/>
              <a:t>13 deaths and 54 accidents</a:t>
            </a:r>
          </a:p>
          <a:p>
            <a:r>
              <a:rPr lang="en-US" dirty="0"/>
              <a:t>NASA managers had known that the design of the Solid Rocket Booster (SRB)contained a potentially catastrophic flaw in the O-rings since 1977</a:t>
            </a:r>
          </a:p>
          <a:p>
            <a:pPr lvl="1"/>
            <a:r>
              <a:rPr lang="en-US" dirty="0"/>
              <a:t>The failure of the O-ring caused the 1986 Challenger disaster</a:t>
            </a:r>
          </a:p>
          <a:p>
            <a:r>
              <a:rPr lang="en-US" dirty="0"/>
              <a:t>During the launch of </a:t>
            </a:r>
            <a:r>
              <a:rPr lang="en-US" i="1" dirty="0"/>
              <a:t>Columbia'</a:t>
            </a:r>
            <a:r>
              <a:rPr lang="en-US" dirty="0"/>
              <a:t>s 28th mission in 2003, a piece of foam insulation broke off from the shuttle’s  external tank and struck the left wing. Most previous shuttle launches had seen minor damage from foam shedding, but some engineers suspected that the damage to </a:t>
            </a:r>
            <a:r>
              <a:rPr lang="en-US" i="1" dirty="0"/>
              <a:t>Columbia</a:t>
            </a:r>
            <a:r>
              <a:rPr lang="en-US" dirty="0"/>
              <a:t> was more serious.</a:t>
            </a:r>
          </a:p>
          <a:p>
            <a:pPr lvl="1"/>
            <a:r>
              <a:rPr lang="en-US" dirty="0"/>
              <a:t> NASA managers limited the investigation, reasoning that the crew could not have fixed the problem if it were confirmed.</a:t>
            </a:r>
          </a:p>
          <a:p>
            <a:pPr lvl="1"/>
            <a:r>
              <a:rPr lang="en-US" dirty="0"/>
              <a:t>Seven Astronauts perished on reentry</a:t>
            </a:r>
          </a:p>
          <a:p>
            <a:pPr lvl="1"/>
            <a:endParaRPr lang="en-US" baseline="30000" dirty="0"/>
          </a:p>
          <a:p>
            <a:pPr lvl="1"/>
            <a:endParaRPr lang="en-US" sz="3800" dirty="0"/>
          </a:p>
          <a:p>
            <a:endParaRPr lang="en-US" dirty="0"/>
          </a:p>
        </p:txBody>
      </p:sp>
    </p:spTree>
    <p:extLst>
      <p:ext uri="{BB962C8B-B14F-4D97-AF65-F5344CB8AC3E}">
        <p14:creationId xmlns:p14="http://schemas.microsoft.com/office/powerpoint/2010/main" val="2265025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 March 1979, a sticky valve at the nuclear plant on Three Mile Island mislead operators into shutting off the system that would have prevented a nuclear meltdown.	</a:t>
            </a:r>
          </a:p>
          <a:p>
            <a:pPr lvl="1"/>
            <a:r>
              <a:rPr lang="en-US" dirty="0"/>
              <a:t>The sticky valve issue was known about at least a year and a half earlier, but the builder had not realized it’s significance  (Four cases from a summary by Matthew L. Wald, </a:t>
            </a:r>
            <a:r>
              <a:rPr lang="en-US" i="1" dirty="0"/>
              <a:t>International N.Y. Times,</a:t>
            </a:r>
            <a:r>
              <a:rPr lang="en-US" dirty="0"/>
              <a:t> 6/10/2014, p.12)</a:t>
            </a:r>
          </a:p>
          <a:p>
            <a:r>
              <a:rPr lang="en-US" dirty="0"/>
              <a:t> BP Documents Show Early Worries on Rig</a:t>
            </a:r>
          </a:p>
          <a:p>
            <a:pPr lvl="1"/>
            <a:r>
              <a:rPr lang="en-US" dirty="0"/>
              <a:t>“…in March…BP was struggling with a loss of well control…and as far back as 11 months ago, it was concerned about well casings and the blow out preventer” (NY Times, 5/30/10)</a:t>
            </a:r>
          </a:p>
          <a:p>
            <a:endParaRPr lang="en-US" sz="3800" b="1" dirty="0"/>
          </a:p>
          <a:p>
            <a:endParaRPr lang="en-US" dirty="0"/>
          </a:p>
        </p:txBody>
      </p:sp>
    </p:spTree>
    <p:extLst>
      <p:ext uri="{BB962C8B-B14F-4D97-AF65-F5344CB8AC3E}">
        <p14:creationId xmlns:p14="http://schemas.microsoft.com/office/powerpoint/2010/main" val="2275928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Three elements need to be examined to understand organizational snafus/</a:t>
            </a:r>
            <a:r>
              <a:rPr lang="en-US" dirty="0" err="1"/>
              <a:t>fubars</a:t>
            </a:r>
            <a:r>
              <a:rPr lang="en-US" dirty="0"/>
              <a:t>/and </a:t>
            </a:r>
            <a:r>
              <a:rPr lang="en-US" dirty="0" err="1"/>
              <a:t>tarfus</a:t>
            </a:r>
            <a:r>
              <a:rPr lang="en-US" dirty="0"/>
              <a:t> </a:t>
            </a:r>
          </a:p>
        </p:txBody>
      </p:sp>
      <p:sp>
        <p:nvSpPr>
          <p:cNvPr id="3" name="Content Placeholder 2"/>
          <p:cNvSpPr>
            <a:spLocks noGrp="1"/>
          </p:cNvSpPr>
          <p:nvPr>
            <p:ph idx="1"/>
          </p:nvPr>
        </p:nvSpPr>
        <p:spPr/>
        <p:txBody>
          <a:bodyPr/>
          <a:lstStyle/>
          <a:p>
            <a:r>
              <a:rPr lang="en-US" dirty="0"/>
              <a:t>The individual human element	</a:t>
            </a:r>
          </a:p>
          <a:p>
            <a:pPr lvl="1"/>
            <a:r>
              <a:rPr lang="en-US" dirty="0"/>
              <a:t>Purposeful deception, fraud, evil intent – the bad apple theory</a:t>
            </a:r>
          </a:p>
          <a:p>
            <a:r>
              <a:rPr lang="en-US" dirty="0"/>
              <a:t>The element of organizational cultural </a:t>
            </a:r>
          </a:p>
          <a:p>
            <a:pPr lvl="1"/>
            <a:r>
              <a:rPr lang="en-US" dirty="0"/>
              <a:t>Norms and values of the organization </a:t>
            </a:r>
          </a:p>
          <a:p>
            <a:pPr lvl="2"/>
            <a:r>
              <a:rPr lang="en-US" dirty="0"/>
              <a:t>“That’s just the way it is; that’s how we do things around here.”</a:t>
            </a:r>
          </a:p>
          <a:p>
            <a:r>
              <a:rPr lang="en-US" dirty="0"/>
              <a:t>The structural element – how is the place organized	</a:t>
            </a:r>
          </a:p>
          <a:p>
            <a:pPr lvl="1"/>
            <a:r>
              <a:rPr lang="en-US" dirty="0"/>
              <a:t>Division of labor, task specialization, compartmentalization by function  = diffusion of responsibility – the Holocaust problem and administrative evil</a:t>
            </a:r>
          </a:p>
        </p:txBody>
      </p:sp>
    </p:spTree>
    <p:extLst>
      <p:ext uri="{BB962C8B-B14F-4D97-AF65-F5344CB8AC3E}">
        <p14:creationId xmlns:p14="http://schemas.microsoft.com/office/powerpoint/2010/main" val="328114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4AD94-ED20-422B-8D13-5706D1BEA30B}"/>
              </a:ext>
            </a:extLst>
          </p:cNvPr>
          <p:cNvSpPr>
            <a:spLocks noGrp="1"/>
          </p:cNvSpPr>
          <p:nvPr>
            <p:ph type="title"/>
          </p:nvPr>
        </p:nvSpPr>
        <p:spPr/>
        <p:txBody>
          <a:bodyPr/>
          <a:lstStyle/>
          <a:p>
            <a:r>
              <a:rPr lang="en-US" dirty="0"/>
              <a:t>Second Reflective Pause:</a:t>
            </a:r>
            <a:br>
              <a:rPr lang="en-US" dirty="0"/>
            </a:br>
            <a:endParaRPr lang="en-US" dirty="0"/>
          </a:p>
        </p:txBody>
      </p:sp>
      <p:sp>
        <p:nvSpPr>
          <p:cNvPr id="3" name="Content Placeholder 2">
            <a:extLst>
              <a:ext uri="{FF2B5EF4-FFF2-40B4-BE49-F238E27FC236}">
                <a16:creationId xmlns:a16="http://schemas.microsoft.com/office/drawing/2014/main" id="{0ADEC3A9-D806-40FE-A489-55918C097E72}"/>
              </a:ext>
            </a:extLst>
          </p:cNvPr>
          <p:cNvSpPr>
            <a:spLocks noGrp="1"/>
          </p:cNvSpPr>
          <p:nvPr>
            <p:ph idx="1"/>
          </p:nvPr>
        </p:nvSpPr>
        <p:spPr/>
        <p:txBody>
          <a:bodyPr/>
          <a:lstStyle/>
          <a:p>
            <a:r>
              <a:rPr lang="en-US" dirty="0"/>
              <a:t>Ethics is often considered an individual challenge.  As you review the next slide, construct an ethical concern that each position incumbent should consider given their role.  </a:t>
            </a:r>
          </a:p>
        </p:txBody>
      </p:sp>
    </p:spTree>
    <p:extLst>
      <p:ext uri="{BB962C8B-B14F-4D97-AF65-F5344CB8AC3E}">
        <p14:creationId xmlns:p14="http://schemas.microsoft.com/office/powerpoint/2010/main" val="1260396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rational organization and the division of labor</a:t>
            </a:r>
          </a:p>
        </p:txBody>
      </p:sp>
      <p:sp>
        <p:nvSpPr>
          <p:cNvPr id="3" name="Content Placeholder 2"/>
          <p:cNvSpPr>
            <a:spLocks noGrp="1"/>
          </p:cNvSpPr>
          <p:nvPr>
            <p:ph idx="1"/>
          </p:nvPr>
        </p:nvSpPr>
        <p:spPr/>
        <p:txBody>
          <a:bodyPr/>
          <a:lstStyle/>
          <a:p>
            <a:r>
              <a:rPr lang="en-US" dirty="0"/>
              <a:t>Job description:</a:t>
            </a:r>
          </a:p>
          <a:p>
            <a:pPr lvl="1"/>
            <a:r>
              <a:rPr lang="en-US" dirty="0"/>
              <a:t>I am responsible for scheduling all rail transport, passenger, freight, and special trains.</a:t>
            </a:r>
          </a:p>
          <a:p>
            <a:pPr lvl="1"/>
            <a:r>
              <a:rPr lang="en-US" dirty="0"/>
              <a:t>I am responsible for records, creating, updating and keeping track of files of people under government jurisdiction.</a:t>
            </a:r>
          </a:p>
          <a:p>
            <a:pPr lvl="1"/>
            <a:r>
              <a:rPr lang="en-US" dirty="0"/>
              <a:t>We are responsible for heavy equipment maintenance  (pipe fitters, boiler makers, welders)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Holocaust Is An Example of Administrative Evil </a:t>
            </a:r>
          </a:p>
        </p:txBody>
      </p:sp>
      <p:sp>
        <p:nvSpPr>
          <p:cNvPr id="3" name="Content Placeholder 2"/>
          <p:cNvSpPr>
            <a:spLocks noGrp="1"/>
          </p:cNvSpPr>
          <p:nvPr>
            <p:ph idx="1"/>
          </p:nvPr>
        </p:nvSpPr>
        <p:spPr/>
        <p:txBody>
          <a:bodyPr/>
          <a:lstStyle/>
          <a:p>
            <a:r>
              <a:rPr lang="en-US" dirty="0"/>
              <a:t>The holocaust could not have happened without the people in the previous slide doing their ordinary jobs! </a:t>
            </a:r>
          </a:p>
          <a:p>
            <a:r>
              <a:rPr lang="en-US" dirty="0"/>
              <a:t>Modern organization stress technical, rational competence</a:t>
            </a:r>
          </a:p>
          <a:p>
            <a:r>
              <a:rPr lang="en-US" dirty="0"/>
              <a:t>Leads to a division of labor and specialization</a:t>
            </a:r>
          </a:p>
          <a:p>
            <a:r>
              <a:rPr lang="en-US" dirty="0"/>
              <a:t>Organizational tasks are compartmentalized </a:t>
            </a:r>
          </a:p>
          <a:p>
            <a:r>
              <a:rPr lang="en-US" dirty="0"/>
              <a:t>Thus a diffusion of moral responsibility</a:t>
            </a:r>
          </a:p>
          <a:p>
            <a:r>
              <a:rPr lang="en-US" dirty="0"/>
              <a:t>The Banality of Evil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7E846-1CA7-4EF4-B6CB-D9D122977ABA}"/>
              </a:ext>
            </a:extLst>
          </p:cNvPr>
          <p:cNvSpPr>
            <a:spLocks noGrp="1"/>
          </p:cNvSpPr>
          <p:nvPr>
            <p:ph type="title"/>
          </p:nvPr>
        </p:nvSpPr>
        <p:spPr/>
        <p:txBody>
          <a:bodyPr/>
          <a:lstStyle/>
          <a:p>
            <a:r>
              <a:rPr lang="en-US" dirty="0"/>
              <a:t>Third Reflective Pause</a:t>
            </a:r>
            <a:br>
              <a:rPr lang="en-US" dirty="0"/>
            </a:br>
            <a:endParaRPr lang="en-US" dirty="0"/>
          </a:p>
        </p:txBody>
      </p:sp>
      <p:sp>
        <p:nvSpPr>
          <p:cNvPr id="3" name="Content Placeholder 2">
            <a:extLst>
              <a:ext uri="{FF2B5EF4-FFF2-40B4-BE49-F238E27FC236}">
                <a16:creationId xmlns:a16="http://schemas.microsoft.com/office/drawing/2014/main" id="{37C6860B-1A7F-4FE8-9C5C-975A9BDFCACE}"/>
              </a:ext>
            </a:extLst>
          </p:cNvPr>
          <p:cNvSpPr>
            <a:spLocks noGrp="1"/>
          </p:cNvSpPr>
          <p:nvPr>
            <p:ph idx="1"/>
          </p:nvPr>
        </p:nvSpPr>
        <p:spPr/>
        <p:txBody>
          <a:bodyPr/>
          <a:lstStyle/>
          <a:p>
            <a:r>
              <a:rPr lang="en-US" dirty="0"/>
              <a:t>When you consider ethics from the level of organizational structure, an individual’s ethical responsibility changes.</a:t>
            </a:r>
          </a:p>
          <a:p>
            <a:r>
              <a:rPr lang="en-US" dirty="0"/>
              <a:t>Make a second list of ethical concerns for each of the positions using an organizational rather than individual perspective.  How does this list compare with the first? </a:t>
            </a:r>
          </a:p>
          <a:p>
            <a:endParaRPr lang="en-US" dirty="0"/>
          </a:p>
        </p:txBody>
      </p:sp>
    </p:spTree>
    <p:extLst>
      <p:ext uri="{BB962C8B-B14F-4D97-AF65-F5344CB8AC3E}">
        <p14:creationId xmlns:p14="http://schemas.microsoft.com/office/powerpoint/2010/main" val="3961153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Individual purpose, culture, and structure are also involved in change or lack thereof </a:t>
            </a:r>
          </a:p>
        </p:txBody>
      </p:sp>
      <p:sp>
        <p:nvSpPr>
          <p:cNvPr id="3" name="Content Placeholder 2"/>
          <p:cNvSpPr>
            <a:spLocks noGrp="1"/>
          </p:cNvSpPr>
          <p:nvPr>
            <p:ph idx="1"/>
          </p:nvPr>
        </p:nvSpPr>
        <p:spPr/>
        <p:txBody>
          <a:bodyPr/>
          <a:lstStyle/>
          <a:p>
            <a:r>
              <a:rPr lang="en-US" dirty="0"/>
              <a:t>Individual Human Element</a:t>
            </a:r>
          </a:p>
          <a:p>
            <a:pPr lvl="1"/>
            <a:r>
              <a:rPr lang="en-US" dirty="0"/>
              <a:t>People who challenge rules and customs vs</a:t>
            </a:r>
          </a:p>
          <a:p>
            <a:pPr lvl="1"/>
            <a:r>
              <a:rPr lang="en-US" dirty="0"/>
              <a:t>The need to belong and be liked </a:t>
            </a:r>
          </a:p>
          <a:p>
            <a:r>
              <a:rPr lang="en-US" dirty="0"/>
              <a:t>The cultural element</a:t>
            </a:r>
          </a:p>
          <a:p>
            <a:pPr lvl="1"/>
            <a:r>
              <a:rPr lang="en-US" dirty="0"/>
              <a:t>The need for new ways of seeing the world vs</a:t>
            </a:r>
          </a:p>
          <a:p>
            <a:pPr lvl="1"/>
            <a:r>
              <a:rPr lang="en-US" dirty="0"/>
              <a:t>Security</a:t>
            </a:r>
          </a:p>
          <a:p>
            <a:r>
              <a:rPr lang="en-US" dirty="0"/>
              <a:t>Structural element</a:t>
            </a:r>
          </a:p>
          <a:p>
            <a:pPr lvl="1"/>
            <a:r>
              <a:rPr lang="en-US" dirty="0"/>
              <a:t>Error adverse structures vs</a:t>
            </a:r>
          </a:p>
          <a:p>
            <a:pPr lvl="1"/>
            <a:r>
              <a:rPr lang="en-US" dirty="0"/>
              <a:t>Error tolerant structures </a:t>
            </a:r>
          </a:p>
          <a:p>
            <a:pPr lvl="1"/>
            <a:endParaRPr lang="en-US" dirty="0"/>
          </a:p>
        </p:txBody>
      </p:sp>
    </p:spTree>
    <p:extLst>
      <p:ext uri="{BB962C8B-B14F-4D97-AF65-F5344CB8AC3E}">
        <p14:creationId xmlns:p14="http://schemas.microsoft.com/office/powerpoint/2010/main" val="366808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While we separate the three elements for analytical purposes, in fact they all occur and  interact together</a:t>
            </a:r>
          </a:p>
        </p:txBody>
      </p:sp>
      <p:sp>
        <p:nvSpPr>
          <p:cNvPr id="13" name="Text Placeholder 12"/>
          <p:cNvSpPr>
            <a:spLocks noGrp="1"/>
          </p:cNvSpPr>
          <p:nvPr>
            <p:ph type="body" idx="1"/>
          </p:nvPr>
        </p:nvSpPr>
        <p:spPr>
          <a:xfrm>
            <a:off x="863003" y="2093738"/>
            <a:ext cx="5157787" cy="823912"/>
          </a:xfrm>
        </p:spPr>
        <p:txBody>
          <a:bodyPr/>
          <a:lstStyle/>
          <a:p>
            <a:r>
              <a:rPr lang="en-US" dirty="0"/>
              <a:t>Elements</a:t>
            </a:r>
          </a:p>
        </p:txBody>
      </p:sp>
      <p:sp>
        <p:nvSpPr>
          <p:cNvPr id="5" name="Content Placeholder 4"/>
          <p:cNvSpPr>
            <a:spLocks noGrp="1"/>
          </p:cNvSpPr>
          <p:nvPr>
            <p:ph sz="half" idx="2"/>
          </p:nvPr>
        </p:nvSpPr>
        <p:spPr>
          <a:xfrm>
            <a:off x="788582" y="2908836"/>
            <a:ext cx="5157787" cy="3684588"/>
          </a:xfrm>
        </p:spPr>
        <p:txBody>
          <a:bodyPr/>
          <a:lstStyle/>
          <a:p>
            <a:r>
              <a:rPr lang="en-US" dirty="0"/>
              <a:t>Human Actor</a:t>
            </a:r>
          </a:p>
          <a:p>
            <a:r>
              <a:rPr lang="en-US" dirty="0"/>
              <a:t>Organizational Culture</a:t>
            </a:r>
          </a:p>
          <a:p>
            <a:r>
              <a:rPr lang="en-US" dirty="0"/>
              <a:t>Organizational Structure</a:t>
            </a:r>
          </a:p>
        </p:txBody>
      </p:sp>
      <p:sp>
        <p:nvSpPr>
          <p:cNvPr id="14" name="Text Placeholder 13"/>
          <p:cNvSpPr>
            <a:spLocks noGrp="1"/>
          </p:cNvSpPr>
          <p:nvPr>
            <p:ph type="body" sz="quarter" idx="3"/>
          </p:nvPr>
        </p:nvSpPr>
        <p:spPr>
          <a:xfrm>
            <a:off x="6092042" y="1894918"/>
            <a:ext cx="5183188" cy="823912"/>
          </a:xfrm>
        </p:spPr>
        <p:txBody>
          <a:bodyPr/>
          <a:lstStyle/>
          <a:p>
            <a:r>
              <a:rPr lang="en-US" dirty="0"/>
              <a:t>Sources of Change</a:t>
            </a:r>
          </a:p>
        </p:txBody>
      </p:sp>
      <p:sp>
        <p:nvSpPr>
          <p:cNvPr id="6" name="Content Placeholder 5"/>
          <p:cNvSpPr>
            <a:spLocks noGrp="1"/>
          </p:cNvSpPr>
          <p:nvPr>
            <p:ph sz="quarter" idx="4"/>
          </p:nvPr>
        </p:nvSpPr>
        <p:spPr>
          <a:xfrm>
            <a:off x="6184076" y="2766332"/>
            <a:ext cx="5183188" cy="3684588"/>
          </a:xfrm>
        </p:spPr>
        <p:txBody>
          <a:bodyPr/>
          <a:lstStyle/>
          <a:p>
            <a:pPr lvl="1"/>
            <a:r>
              <a:rPr lang="en-US" dirty="0"/>
              <a:t>Diversity</a:t>
            </a:r>
          </a:p>
          <a:p>
            <a:pPr lvl="2"/>
            <a:r>
              <a:rPr lang="en-US" dirty="0"/>
              <a:t>Gender</a:t>
            </a:r>
          </a:p>
          <a:p>
            <a:pPr lvl="2"/>
            <a:r>
              <a:rPr lang="en-US" dirty="0"/>
              <a:t>Generational</a:t>
            </a:r>
          </a:p>
          <a:p>
            <a:pPr lvl="2"/>
            <a:r>
              <a:rPr lang="en-US" dirty="0"/>
              <a:t>Racial</a:t>
            </a:r>
          </a:p>
          <a:p>
            <a:pPr lvl="2"/>
            <a:r>
              <a:rPr lang="en-US" dirty="0"/>
              <a:t>Ideas/Ideological </a:t>
            </a:r>
          </a:p>
          <a:p>
            <a:pPr lvl="1"/>
            <a:r>
              <a:rPr lang="en-US" dirty="0"/>
              <a:t>Technology</a:t>
            </a:r>
          </a:p>
          <a:p>
            <a:pPr lvl="2"/>
            <a:r>
              <a:rPr lang="en-US" dirty="0"/>
              <a:t>AI</a:t>
            </a:r>
          </a:p>
          <a:p>
            <a:pPr lvl="2"/>
            <a:r>
              <a:rPr lang="en-US" dirty="0"/>
              <a:t>Social Media</a:t>
            </a:r>
          </a:p>
          <a:p>
            <a:pPr lvl="1"/>
            <a:r>
              <a:rPr lang="en-US" dirty="0"/>
              <a:t>External Environment</a:t>
            </a:r>
          </a:p>
          <a:p>
            <a:pPr lvl="2"/>
            <a:endParaRPr lang="en-US" dirty="0"/>
          </a:p>
        </p:txBody>
      </p:sp>
      <p:sp>
        <p:nvSpPr>
          <p:cNvPr id="9" name="Right Bracket 8"/>
          <p:cNvSpPr/>
          <p:nvPr/>
        </p:nvSpPr>
        <p:spPr>
          <a:xfrm>
            <a:off x="4672638" y="2956956"/>
            <a:ext cx="45719" cy="1223158"/>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Up-Down Arrow 11"/>
          <p:cNvSpPr/>
          <p:nvPr/>
        </p:nvSpPr>
        <p:spPr>
          <a:xfrm>
            <a:off x="303950" y="2963962"/>
            <a:ext cx="484632" cy="121615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3910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Organizational Folk Heroes Are Those Who Challenge the Status Quo </a:t>
            </a:r>
          </a:p>
        </p:txBody>
      </p:sp>
      <p:sp>
        <p:nvSpPr>
          <p:cNvPr id="3" name="Content Placeholder 2"/>
          <p:cNvSpPr>
            <a:spLocks noGrp="1"/>
          </p:cNvSpPr>
          <p:nvPr>
            <p:ph idx="1"/>
          </p:nvPr>
        </p:nvSpPr>
        <p:spPr/>
        <p:txBody>
          <a:bodyPr/>
          <a:lstStyle/>
          <a:p>
            <a:r>
              <a:rPr lang="en-US" dirty="0"/>
              <a:t>People who demonstrate exceptional skill</a:t>
            </a:r>
          </a:p>
          <a:p>
            <a:pPr lvl="1"/>
            <a:r>
              <a:rPr lang="en-US" dirty="0"/>
              <a:t>Captain </a:t>
            </a:r>
            <a:r>
              <a:rPr lang="en-US" dirty="0" err="1"/>
              <a:t>Chesley</a:t>
            </a:r>
            <a:r>
              <a:rPr lang="en-US" dirty="0"/>
              <a:t>  </a:t>
            </a:r>
            <a:r>
              <a:rPr lang="en-US" dirty="0" err="1"/>
              <a:t>Sullenberger</a:t>
            </a:r>
            <a:endParaRPr lang="en-US" dirty="0"/>
          </a:p>
          <a:p>
            <a:r>
              <a:rPr lang="en-US" dirty="0"/>
              <a:t>People who demonstrate exceptional political courage to change systems</a:t>
            </a:r>
          </a:p>
          <a:p>
            <a:pPr lvl="1"/>
            <a:r>
              <a:rPr lang="en-US" dirty="0"/>
              <a:t>Rosa Parks, Nelson Mandela </a:t>
            </a:r>
          </a:p>
          <a:p>
            <a:r>
              <a:rPr lang="en-US" dirty="0"/>
              <a:t>The Bandit Hero – “I won’t take it anymore!!”</a:t>
            </a:r>
          </a:p>
          <a:p>
            <a:pPr lvl="1"/>
            <a:r>
              <a:rPr lang="en-US" dirty="0"/>
              <a:t>Steven Slater</a:t>
            </a:r>
          </a:p>
          <a:p>
            <a:r>
              <a:rPr lang="en-US" dirty="0"/>
              <a:t>The whistler blower</a:t>
            </a:r>
          </a:p>
          <a:p>
            <a:pPr lvl="1"/>
            <a:r>
              <a:rPr lang="en-US" dirty="0"/>
              <a:t>Edward Snowden – Hero or traitor? </a:t>
            </a:r>
          </a:p>
          <a:p>
            <a:pPr lvl="1"/>
            <a:endParaRPr lang="en-US" dirty="0"/>
          </a:p>
        </p:txBody>
      </p:sp>
    </p:spTree>
    <p:extLst>
      <p:ext uri="{BB962C8B-B14F-4D97-AF65-F5344CB8AC3E}">
        <p14:creationId xmlns:p14="http://schemas.microsoft.com/office/powerpoint/2010/main" val="3842860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Whistle Blowers have been in the news previously and now big time</a:t>
            </a:r>
          </a:p>
        </p:txBody>
      </p:sp>
      <p:sp>
        <p:nvSpPr>
          <p:cNvPr id="3" name="Content Placeholder 2"/>
          <p:cNvSpPr>
            <a:spLocks noGrp="1"/>
          </p:cNvSpPr>
          <p:nvPr>
            <p:ph idx="1"/>
          </p:nvPr>
        </p:nvSpPr>
        <p:spPr/>
        <p:txBody>
          <a:bodyPr/>
          <a:lstStyle/>
          <a:p>
            <a:r>
              <a:rPr lang="en-US" dirty="0"/>
              <a:t>Anonymous – the Impeachment</a:t>
            </a:r>
          </a:p>
          <a:p>
            <a:r>
              <a:rPr lang="en-US" dirty="0"/>
              <a:t>Chelsea Manning</a:t>
            </a:r>
          </a:p>
          <a:p>
            <a:r>
              <a:rPr lang="en-US" dirty="0"/>
              <a:t>Edward Snowden</a:t>
            </a:r>
          </a:p>
          <a:p>
            <a:r>
              <a:rPr lang="en-US" dirty="0"/>
              <a:t>Bob Cocker </a:t>
            </a:r>
          </a:p>
          <a:p>
            <a:r>
              <a:rPr lang="en-US" dirty="0"/>
              <a:t>Jeff Flake</a:t>
            </a:r>
          </a:p>
        </p:txBody>
      </p:sp>
    </p:spTree>
    <p:extLst>
      <p:ext uri="{BB962C8B-B14F-4D97-AF65-F5344CB8AC3E}">
        <p14:creationId xmlns:p14="http://schemas.microsoft.com/office/powerpoint/2010/main" val="1143374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5748"/>
            <a:ext cx="10515600" cy="1325563"/>
          </a:xfrm>
        </p:spPr>
        <p:txBody>
          <a:bodyPr/>
          <a:lstStyle/>
          <a:p>
            <a:r>
              <a:rPr lang="en-US" dirty="0"/>
              <a:t>An add campaign in Washington, D.C.</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9070" y="1742272"/>
            <a:ext cx="6175168" cy="3820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1314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Box 2"/>
          <p:cNvSpPr txBox="1"/>
          <p:nvPr/>
        </p:nvSpPr>
        <p:spPr>
          <a:xfrm>
            <a:off x="190500" y="2686050"/>
            <a:ext cx="11954172" cy="2308324"/>
          </a:xfrm>
          <a:prstGeom prst="rect">
            <a:avLst/>
          </a:prstGeom>
          <a:noFill/>
        </p:spPr>
        <p:txBody>
          <a:bodyPr wrap="square" rtlCol="0">
            <a:spAutoFit/>
          </a:bodyPr>
          <a:lstStyle/>
          <a:p>
            <a:r>
              <a:rPr lang="en-US" sz="2400" dirty="0"/>
              <a:t>The whistle-blowing campaign is the work of ExposeFacts.org,</a:t>
            </a:r>
          </a:p>
          <a:p>
            <a:r>
              <a:rPr lang="en-US" sz="2400" dirty="0"/>
              <a:t> an off-shoot of the liberal activist Institute for Public Accuracy, </a:t>
            </a:r>
          </a:p>
          <a:p>
            <a:r>
              <a:rPr lang="en-US" sz="2400" dirty="0"/>
              <a:t>which is promising more posters — for Wall Street and Silicon Valley workers,</a:t>
            </a:r>
          </a:p>
          <a:p>
            <a:r>
              <a:rPr lang="en-US" sz="2400" dirty="0"/>
              <a:t> too —in an attempt “to shed light on concealed activities that are relevant</a:t>
            </a:r>
          </a:p>
          <a:p>
            <a:r>
              <a:rPr lang="en-US" sz="2400" dirty="0"/>
              <a:t> to human rights, corporate malfeasance, the environment, civil liberties</a:t>
            </a:r>
          </a:p>
          <a:p>
            <a:r>
              <a:rPr lang="en-US" sz="2400" dirty="0"/>
              <a:t> and war.”</a:t>
            </a:r>
          </a:p>
        </p:txBody>
      </p:sp>
    </p:spTree>
    <p:extLst>
      <p:ext uri="{BB962C8B-B14F-4D97-AF65-F5344CB8AC3E}">
        <p14:creationId xmlns:p14="http://schemas.microsoft.com/office/powerpoint/2010/main" val="36821966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CB2A84-BEDF-4300-9D5A-FF38D983FD55}"/>
              </a:ext>
            </a:extLst>
          </p:cNvPr>
          <p:cNvSpPr txBox="1"/>
          <p:nvPr/>
        </p:nvSpPr>
        <p:spPr>
          <a:xfrm>
            <a:off x="794084" y="866274"/>
            <a:ext cx="3197222" cy="461665"/>
          </a:xfrm>
          <a:prstGeom prst="rect">
            <a:avLst/>
          </a:prstGeom>
          <a:noFill/>
        </p:spPr>
        <p:txBody>
          <a:bodyPr wrap="none" rtlCol="0">
            <a:spAutoFit/>
          </a:bodyPr>
          <a:lstStyle/>
          <a:p>
            <a:r>
              <a:rPr lang="en-US" sz="2400" dirty="0"/>
              <a:t>Fourth Reflective Pause:</a:t>
            </a:r>
          </a:p>
        </p:txBody>
      </p:sp>
      <p:sp>
        <p:nvSpPr>
          <p:cNvPr id="3" name="TextBox 2">
            <a:extLst>
              <a:ext uri="{FF2B5EF4-FFF2-40B4-BE49-F238E27FC236}">
                <a16:creationId xmlns:a16="http://schemas.microsoft.com/office/drawing/2014/main" id="{A6A72D1E-98D7-42CD-9181-36196350C3F7}"/>
              </a:ext>
            </a:extLst>
          </p:cNvPr>
          <p:cNvSpPr txBox="1"/>
          <p:nvPr/>
        </p:nvSpPr>
        <p:spPr>
          <a:xfrm>
            <a:off x="794084" y="1876926"/>
            <a:ext cx="11176136" cy="3416320"/>
          </a:xfrm>
          <a:prstGeom prst="rect">
            <a:avLst/>
          </a:prstGeom>
          <a:noFill/>
        </p:spPr>
        <p:txBody>
          <a:bodyPr wrap="none" rtlCol="0">
            <a:spAutoFit/>
          </a:bodyPr>
          <a:lstStyle/>
          <a:p>
            <a:r>
              <a:rPr lang="en-US" dirty="0"/>
              <a:t>We will be discussing whistle blowing quite a bit, but it might be worthwhile at this point to consider your personal</a:t>
            </a:r>
          </a:p>
          <a:p>
            <a:r>
              <a:rPr lang="en-US" dirty="0"/>
              <a:t>Organizational Preferences – What does your organizational self prefer?</a:t>
            </a:r>
          </a:p>
          <a:p>
            <a:endParaRPr lang="en-US" dirty="0"/>
          </a:p>
          <a:p>
            <a:r>
              <a:rPr lang="en-US" dirty="0"/>
              <a:t>        Rocking the boat and agitating for improvement or wanting to be liked and feel accepted? </a:t>
            </a:r>
          </a:p>
          <a:p>
            <a:endParaRPr lang="en-US" dirty="0"/>
          </a:p>
          <a:p>
            <a:pPr lvl="1"/>
            <a:r>
              <a:rPr lang="en-US" dirty="0"/>
              <a:t>Look for new ways to consider processes and tasks or liking routine and the sense of security and competence it </a:t>
            </a:r>
          </a:p>
          <a:p>
            <a:pPr lvl="1"/>
            <a:r>
              <a:rPr lang="en-US" dirty="0"/>
              <a:t>provides?</a:t>
            </a:r>
          </a:p>
          <a:p>
            <a:pPr lvl="1"/>
            <a:endParaRPr lang="en-US" dirty="0"/>
          </a:p>
          <a:p>
            <a:pPr lvl="1"/>
            <a:r>
              <a:rPr lang="en-US" dirty="0"/>
              <a:t>Answers to these questions will determine your own capacity for whistle blowing.  </a:t>
            </a:r>
          </a:p>
          <a:p>
            <a:endParaRPr lang="en-US" dirty="0"/>
          </a:p>
          <a:p>
            <a:endParaRPr lang="en-US" dirty="0"/>
          </a:p>
          <a:p>
            <a:r>
              <a:rPr lang="en-US" dirty="0"/>
              <a:t> </a:t>
            </a:r>
          </a:p>
        </p:txBody>
      </p:sp>
    </p:spTree>
    <p:extLst>
      <p:ext uri="{BB962C8B-B14F-4D97-AF65-F5344CB8AC3E}">
        <p14:creationId xmlns:p14="http://schemas.microsoft.com/office/powerpoint/2010/main" val="2091459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are the conditions that make organizations ripe for whistle blowing?</a:t>
            </a:r>
          </a:p>
        </p:txBody>
      </p:sp>
      <p:sp>
        <p:nvSpPr>
          <p:cNvPr id="3" name="Content Placeholder 2"/>
          <p:cNvSpPr>
            <a:spLocks noGrp="1"/>
          </p:cNvSpPr>
          <p:nvPr>
            <p:ph idx="1"/>
          </p:nvPr>
        </p:nvSpPr>
        <p:spPr/>
        <p:txBody>
          <a:bodyPr/>
          <a:lstStyle/>
          <a:p>
            <a:r>
              <a:rPr lang="en-US" dirty="0"/>
              <a:t>Success breads failure </a:t>
            </a:r>
          </a:p>
          <a:p>
            <a:r>
              <a:rPr lang="en-US" dirty="0"/>
              <a:t>Complacency </a:t>
            </a:r>
          </a:p>
          <a:p>
            <a:pPr lvl="1"/>
            <a:r>
              <a:rPr lang="en-US" dirty="0"/>
              <a:t>Failure to examine routines’ relevancy to changing circumstances</a:t>
            </a:r>
          </a:p>
          <a:p>
            <a:r>
              <a:rPr lang="en-US" dirty="0"/>
              <a:t>Arrogance </a:t>
            </a:r>
          </a:p>
          <a:p>
            <a:pPr lvl="1"/>
            <a:r>
              <a:rPr lang="en-US" dirty="0"/>
              <a:t>Nobody can do what we do </a:t>
            </a:r>
          </a:p>
          <a:p>
            <a:r>
              <a:rPr lang="en-US" dirty="0"/>
              <a:t>Tribalism</a:t>
            </a:r>
          </a:p>
          <a:p>
            <a:pPr lvl="1"/>
            <a:r>
              <a:rPr lang="en-US" dirty="0"/>
              <a:t>“Companies aren’t families. They’re battlefields in a civil war” </a:t>
            </a:r>
            <a:r>
              <a:rPr lang="en-US" sz="2000" dirty="0"/>
              <a:t>Charles </a:t>
            </a:r>
            <a:r>
              <a:rPr lang="en-US" sz="2000" dirty="0" err="1"/>
              <a:t>Duhigg</a:t>
            </a:r>
            <a:r>
              <a:rPr lang="en-US" sz="2000" dirty="0"/>
              <a:t>, </a:t>
            </a:r>
            <a:r>
              <a:rPr lang="en-US" sz="2000" u="sng" dirty="0"/>
              <a:t>The Power of Habit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To understand why organizations fail to recognize changing circumstances, risking turmoil and failure, we turn to Research Methods!!</a:t>
            </a:r>
          </a:p>
        </p:txBody>
      </p:sp>
      <p:sp>
        <p:nvSpPr>
          <p:cNvPr id="3" name="Content Placeholder 2"/>
          <p:cNvSpPr>
            <a:spLocks noGrp="1"/>
          </p:cNvSpPr>
          <p:nvPr>
            <p:ph idx="1"/>
          </p:nvPr>
        </p:nvSpPr>
        <p:spPr>
          <a:xfrm>
            <a:off x="838200" y="2003755"/>
            <a:ext cx="10515600" cy="4351338"/>
          </a:xfrm>
        </p:spPr>
        <p:txBody>
          <a:bodyPr/>
          <a:lstStyle/>
          <a:p>
            <a:r>
              <a:rPr lang="en-US" dirty="0"/>
              <a:t>What is Type I Error:</a:t>
            </a:r>
          </a:p>
          <a:p>
            <a:pPr lvl="1"/>
            <a:r>
              <a:rPr lang="en-US" dirty="0"/>
              <a:t>rejecting the null hypothesis when it should be accepted</a:t>
            </a:r>
          </a:p>
          <a:p>
            <a:pPr lvl="1"/>
            <a:r>
              <a:rPr lang="en-US" dirty="0"/>
              <a:t>in plan English, detecting a pattern where none exists</a:t>
            </a:r>
          </a:p>
          <a:p>
            <a:r>
              <a:rPr lang="en-US" dirty="0"/>
              <a:t>What is Type II Error:</a:t>
            </a:r>
          </a:p>
          <a:p>
            <a:pPr lvl="1"/>
            <a:r>
              <a:rPr lang="en-US" dirty="0"/>
              <a:t>accepting the null hypothesis when it should be rejected</a:t>
            </a:r>
          </a:p>
          <a:p>
            <a:pPr lvl="1"/>
            <a:r>
              <a:rPr lang="en-US" dirty="0"/>
              <a:t>in plan English, failing to see a pattern</a:t>
            </a:r>
          </a:p>
          <a:p>
            <a:pPr lvl="1"/>
            <a:endParaRPr lang="en-US" dirty="0"/>
          </a:p>
          <a:p>
            <a:r>
              <a:rPr lang="en-US" dirty="0"/>
              <a:t>What does this have to do with organizations?</a:t>
            </a:r>
          </a:p>
          <a:p>
            <a:pPr lvl="1"/>
            <a:endParaRPr lang="en-US" dirty="0"/>
          </a:p>
        </p:txBody>
      </p:sp>
    </p:spTree>
    <p:extLst>
      <p:ext uri="{BB962C8B-B14F-4D97-AF65-F5344CB8AC3E}">
        <p14:creationId xmlns:p14="http://schemas.microsoft.com/office/powerpoint/2010/main" val="3463990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why do organizations seem to miss patterns?</a:t>
            </a:r>
          </a:p>
        </p:txBody>
      </p:sp>
      <p:sp>
        <p:nvSpPr>
          <p:cNvPr id="3" name="Content Placeholder 2"/>
          <p:cNvSpPr>
            <a:spLocks noGrp="1"/>
          </p:cNvSpPr>
          <p:nvPr>
            <p:ph idx="1"/>
          </p:nvPr>
        </p:nvSpPr>
        <p:spPr>
          <a:xfrm>
            <a:off x="838200" y="1779905"/>
            <a:ext cx="10515600" cy="4351338"/>
          </a:xfrm>
        </p:spPr>
        <p:txBody>
          <a:bodyPr/>
          <a:lstStyle/>
          <a:p>
            <a:r>
              <a:rPr lang="en-US" dirty="0"/>
              <a:t>Pressure to Avoid Type I error</a:t>
            </a:r>
          </a:p>
          <a:p>
            <a:r>
              <a:rPr lang="en-US" dirty="0"/>
              <a:t>If you plan for patterns that are not there you</a:t>
            </a:r>
          </a:p>
          <a:p>
            <a:pPr lvl="1"/>
            <a:r>
              <a:rPr lang="en-US" dirty="0"/>
              <a:t>Decrease efficiency</a:t>
            </a:r>
          </a:p>
          <a:p>
            <a:pPr lvl="1"/>
            <a:r>
              <a:rPr lang="en-US" dirty="0"/>
              <a:t>It’s costly</a:t>
            </a:r>
          </a:p>
          <a:p>
            <a:pPr lvl="1"/>
            <a:r>
              <a:rPr lang="en-US" dirty="0"/>
              <a:t>Too many false positives affect productivity</a:t>
            </a:r>
          </a:p>
          <a:p>
            <a:r>
              <a:rPr lang="en-US" dirty="0"/>
              <a:t>Think TSA at Airports</a:t>
            </a:r>
          </a:p>
          <a:p>
            <a:r>
              <a:rPr lang="en-US" dirty="0"/>
              <a:t>Trade off between productivity and reliability</a:t>
            </a:r>
          </a:p>
          <a:p>
            <a:pPr marL="0" indent="0">
              <a:buNone/>
            </a:pPr>
            <a:r>
              <a:rPr lang="en-US" sz="2000" dirty="0"/>
              <a:t>“Airport Security, High Reliability, and the Problem of Rationality,” H. George Frederickson and Todd R. </a:t>
            </a:r>
            <a:r>
              <a:rPr lang="en-US" sz="2000" dirty="0" err="1"/>
              <a:t>LaPorte</a:t>
            </a:r>
            <a:r>
              <a:rPr lang="en-US" sz="2000" dirty="0"/>
              <a:t>, </a:t>
            </a:r>
            <a:r>
              <a:rPr lang="en-US" sz="2000" i="1" dirty="0"/>
              <a:t>Public Administration Review, v. 62 (September, 2002), pp. 33-43</a:t>
            </a:r>
            <a:endParaRPr lang="en-US" sz="2000" dirty="0"/>
          </a:p>
          <a:p>
            <a:endParaRPr lang="en-US" sz="2000" dirty="0"/>
          </a:p>
          <a:p>
            <a:pPr lvl="1"/>
            <a:endParaRPr lang="en-US" dirty="0"/>
          </a:p>
        </p:txBody>
      </p:sp>
    </p:spTree>
    <p:extLst>
      <p:ext uri="{BB962C8B-B14F-4D97-AF65-F5344CB8AC3E}">
        <p14:creationId xmlns:p14="http://schemas.microsoft.com/office/powerpoint/2010/main" val="3327175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happened on 9/11 at Logan International Airport?</a:t>
            </a:r>
          </a:p>
        </p:txBody>
      </p:sp>
      <p:sp>
        <p:nvSpPr>
          <p:cNvPr id="3" name="Content Placeholder 2"/>
          <p:cNvSpPr>
            <a:spLocks noGrp="1"/>
          </p:cNvSpPr>
          <p:nvPr>
            <p:ph idx="1"/>
          </p:nvPr>
        </p:nvSpPr>
        <p:spPr/>
        <p:txBody>
          <a:bodyPr/>
          <a:lstStyle/>
          <a:p>
            <a:r>
              <a:rPr lang="en-US" dirty="0"/>
              <a:t>10 Type II errors</a:t>
            </a:r>
          </a:p>
          <a:p>
            <a:r>
              <a:rPr lang="en-US" dirty="0"/>
              <a:t>At Newark International Airport – 4 Type II errors</a:t>
            </a:r>
          </a:p>
          <a:p>
            <a:r>
              <a:rPr lang="en-US" dirty="0"/>
              <a:t>At Dulles, 5 Type II errors</a:t>
            </a:r>
          </a:p>
          <a:p>
            <a:r>
              <a:rPr lang="en-US" dirty="0"/>
              <a:t>Patterns were missed – “it can’t happen here”</a:t>
            </a:r>
          </a:p>
          <a:p>
            <a:pPr lvl="1"/>
            <a:r>
              <a:rPr lang="en-US" dirty="0"/>
              <a:t>Accepting the null hypothesis when it should have been rejected </a:t>
            </a:r>
          </a:p>
        </p:txBody>
      </p:sp>
    </p:spTree>
    <p:extLst>
      <p:ext uri="{BB962C8B-B14F-4D97-AF65-F5344CB8AC3E}">
        <p14:creationId xmlns:p14="http://schemas.microsoft.com/office/powerpoint/2010/main" val="3035203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kind of Error was common in the cases we’ve looked at (Equifax, NASA, General Motors, etc.) ?     </a:t>
            </a:r>
          </a:p>
        </p:txBody>
      </p:sp>
      <p:sp>
        <p:nvSpPr>
          <p:cNvPr id="3" name="Content Placeholder 2"/>
          <p:cNvSpPr>
            <a:spLocks noGrp="1"/>
          </p:cNvSpPr>
          <p:nvPr>
            <p:ph idx="1"/>
          </p:nvPr>
        </p:nvSpPr>
        <p:spPr>
          <a:xfrm>
            <a:off x="838200" y="1968129"/>
            <a:ext cx="10515600" cy="4351338"/>
          </a:xfrm>
        </p:spPr>
        <p:txBody>
          <a:bodyPr/>
          <a:lstStyle/>
          <a:p>
            <a:r>
              <a:rPr lang="en-US" dirty="0"/>
              <a:t>Type II error</a:t>
            </a:r>
          </a:p>
          <a:p>
            <a:endParaRPr lang="en-US" dirty="0"/>
          </a:p>
          <a:p>
            <a:pPr marL="0" indent="0">
              <a:buNone/>
            </a:pPr>
            <a:endParaRPr lang="en-US" dirty="0"/>
          </a:p>
          <a:p>
            <a:r>
              <a:rPr lang="en-US" dirty="0"/>
              <a:t>Accepting the null hypothesis when it should have been rejected i.e. failure to see a pattern or to see the significance of a problem beyond its immediate manifestation</a:t>
            </a:r>
          </a:p>
          <a:p>
            <a:endParaRPr lang="en-US" dirty="0"/>
          </a:p>
        </p:txBody>
      </p:sp>
    </p:spTree>
    <p:extLst>
      <p:ext uri="{BB962C8B-B14F-4D97-AF65-F5344CB8AC3E}">
        <p14:creationId xmlns:p14="http://schemas.microsoft.com/office/powerpoint/2010/main" val="3538829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Ways to think about eliminating errors</a:t>
            </a:r>
          </a:p>
        </p:txBody>
      </p:sp>
      <p:sp>
        <p:nvSpPr>
          <p:cNvPr id="3" name="Content Placeholder 2"/>
          <p:cNvSpPr>
            <a:spLocks noGrp="1"/>
          </p:cNvSpPr>
          <p:nvPr>
            <p:ph idx="1"/>
          </p:nvPr>
        </p:nvSpPr>
        <p:spPr/>
        <p:txBody>
          <a:bodyPr/>
          <a:lstStyle/>
          <a:p>
            <a:r>
              <a:rPr lang="en-US" dirty="0"/>
              <a:t>Classical Model</a:t>
            </a:r>
          </a:p>
          <a:p>
            <a:pPr lvl="1"/>
            <a:r>
              <a:rPr lang="en-US" dirty="0"/>
              <a:t>Hierarchy</a:t>
            </a:r>
          </a:p>
          <a:p>
            <a:pPr lvl="1"/>
            <a:r>
              <a:rPr lang="en-US" dirty="0"/>
              <a:t>Control</a:t>
            </a:r>
          </a:p>
          <a:p>
            <a:pPr lvl="1"/>
            <a:r>
              <a:rPr lang="en-US" dirty="0"/>
              <a:t>Rules</a:t>
            </a:r>
          </a:p>
          <a:p>
            <a:pPr lvl="1"/>
            <a:r>
              <a:rPr lang="en-US" dirty="0"/>
              <a:t>Efficiency criteria (Avoid Type I Errors)</a:t>
            </a:r>
          </a:p>
          <a:p>
            <a:r>
              <a:rPr lang="en-US" dirty="0"/>
              <a:t>Redundancy Models</a:t>
            </a:r>
          </a:p>
          <a:p>
            <a:pPr lvl="1"/>
            <a:r>
              <a:rPr lang="en-US" dirty="0"/>
              <a:t>Backup duplicative systems</a:t>
            </a:r>
          </a:p>
          <a:p>
            <a:pPr lvl="1"/>
            <a:r>
              <a:rPr lang="en-US" dirty="0"/>
              <a:t>Loose Coupling  (Avoid Type II Errors)</a:t>
            </a:r>
          </a:p>
          <a:p>
            <a:r>
              <a:rPr lang="en-US" dirty="0"/>
              <a:t>Error tolerant organizations vs. error adverse organizations</a:t>
            </a:r>
          </a:p>
        </p:txBody>
      </p:sp>
    </p:spTree>
    <p:extLst>
      <p:ext uri="{BB962C8B-B14F-4D97-AF65-F5344CB8AC3E}">
        <p14:creationId xmlns:p14="http://schemas.microsoft.com/office/powerpoint/2010/main" val="2372079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Which one is Disneyland?    </a:t>
            </a:r>
          </a:p>
        </p:txBody>
      </p:sp>
      <p:sp>
        <p:nvSpPr>
          <p:cNvPr id="3" name="Content Placeholder 2"/>
          <p:cNvSpPr>
            <a:spLocks noGrp="1"/>
          </p:cNvSpPr>
          <p:nvPr>
            <p:ph idx="1"/>
          </p:nvPr>
        </p:nvSpPr>
        <p:spPr/>
        <p:txBody>
          <a:bodyPr>
            <a:normAutofit fontScale="40000" lnSpcReduction="20000"/>
          </a:bodyPr>
          <a:lstStyle/>
          <a:p>
            <a:r>
              <a:rPr lang="en-US" dirty="0">
                <a:hlinkClick r:id="rId2"/>
              </a:rPr>
              <a:t>https://www.youtube.com/watch?v=sWK9RwGTWNA</a:t>
            </a:r>
            <a:endParaRPr lang="en-US" dirty="0"/>
          </a:p>
          <a:p>
            <a:endParaRPr lang="en-US" dirty="0"/>
          </a:p>
          <a:p>
            <a:r>
              <a:rPr lang="en-US" sz="3400" dirty="0"/>
              <a:t>Characteristics of High Performing Organizations  (Error Adverse) </a:t>
            </a:r>
          </a:p>
          <a:p>
            <a:pPr lvl="1"/>
            <a:r>
              <a:rPr lang="en-US" sz="3400" dirty="0"/>
              <a:t>Adequate Funding</a:t>
            </a:r>
          </a:p>
          <a:p>
            <a:pPr lvl="1"/>
            <a:r>
              <a:rPr lang="en-US" sz="3400" dirty="0"/>
              <a:t>Strong Collective Sense of Mission</a:t>
            </a:r>
          </a:p>
          <a:p>
            <a:pPr lvl="1"/>
            <a:r>
              <a:rPr lang="en-US" sz="3400" dirty="0"/>
              <a:t>Complex Technologies and patterned interactions between these technologies and their human operators</a:t>
            </a:r>
          </a:p>
          <a:p>
            <a:pPr lvl="2"/>
            <a:r>
              <a:rPr lang="en-US" sz="3400" dirty="0"/>
              <a:t>Training that is continuous</a:t>
            </a:r>
          </a:p>
          <a:p>
            <a:pPr lvl="2"/>
            <a:r>
              <a:rPr lang="en-US" sz="3400" dirty="0"/>
              <a:t>High level Entrance Standards</a:t>
            </a:r>
          </a:p>
          <a:p>
            <a:pPr lvl="2"/>
            <a:r>
              <a:rPr lang="en-US" sz="3400" dirty="0"/>
              <a:t>Established protocols</a:t>
            </a:r>
          </a:p>
          <a:p>
            <a:pPr lvl="2"/>
            <a:r>
              <a:rPr lang="en-US" sz="3400" dirty="0"/>
              <a:t>Emphasis on the development of teams that are collegial, flexible, and a decentralized authority pattern </a:t>
            </a:r>
          </a:p>
          <a:p>
            <a:pPr marL="914400" lvl="2" indent="0">
              <a:buNone/>
            </a:pPr>
            <a:r>
              <a:rPr lang="en-US" sz="3400" dirty="0"/>
              <a:t>“Airport Security, High Reliability, and the Problem of Rationality,” Ibid.</a:t>
            </a:r>
          </a:p>
          <a:p>
            <a:pPr marL="914400" lvl="2" indent="0">
              <a:buNone/>
            </a:pPr>
            <a:r>
              <a:rPr lang="en-US" sz="3400" dirty="0"/>
              <a:t>		</a:t>
            </a:r>
          </a:p>
          <a:p>
            <a:r>
              <a:rPr lang="en-US" sz="3400" dirty="0"/>
              <a:t>The decision making network and the information distribution network must match</a:t>
            </a:r>
          </a:p>
          <a:p>
            <a:pPr lvl="1"/>
            <a:r>
              <a:rPr lang="en-US" sz="3400" dirty="0"/>
              <a:t>Complex technologies require integration not </a:t>
            </a:r>
            <a:r>
              <a:rPr lang="en-US" sz="3400" dirty="0" err="1"/>
              <a:t>siloing</a:t>
            </a:r>
            <a:r>
              <a:rPr lang="en-US" sz="3400" dirty="0"/>
              <a:t> </a:t>
            </a:r>
          </a:p>
          <a:p>
            <a:pPr lvl="1"/>
            <a:r>
              <a:rPr lang="en-US" sz="3400" dirty="0"/>
              <a:t>The significance of complex technical/ structural information requires integrated communication networks</a:t>
            </a:r>
          </a:p>
          <a:p>
            <a:r>
              <a:rPr lang="en-US" sz="3400" dirty="0"/>
              <a:t>Three elements affect the integration of the networks</a:t>
            </a:r>
          </a:p>
          <a:p>
            <a:pPr lvl="1"/>
            <a:r>
              <a:rPr lang="en-US" sz="3400" dirty="0"/>
              <a:t>Organizational Structure i.e. Silos discourage integration</a:t>
            </a:r>
          </a:p>
          <a:p>
            <a:pPr lvl="1"/>
            <a:r>
              <a:rPr lang="en-US" sz="3400" dirty="0"/>
              <a:t>Culture i.e.  Executives Known to Shoot the Messenger</a:t>
            </a:r>
          </a:p>
          <a:p>
            <a:pPr lvl="1"/>
            <a:r>
              <a:rPr lang="en-US" sz="3400" dirty="0"/>
              <a:t>Individual Personalities and Relationships i.e. knowing the politics of getting along / going along to get along or rock the boat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C5203F-D83A-41C4-A464-68AD311DFD4F}"/>
              </a:ext>
            </a:extLst>
          </p:cNvPr>
          <p:cNvSpPr txBox="1"/>
          <p:nvPr/>
        </p:nvSpPr>
        <p:spPr>
          <a:xfrm>
            <a:off x="757989" y="721895"/>
            <a:ext cx="2935355" cy="461665"/>
          </a:xfrm>
          <a:prstGeom prst="rect">
            <a:avLst/>
          </a:prstGeom>
          <a:noFill/>
        </p:spPr>
        <p:txBody>
          <a:bodyPr wrap="none" rtlCol="0">
            <a:spAutoFit/>
          </a:bodyPr>
          <a:lstStyle/>
          <a:p>
            <a:r>
              <a:rPr lang="en-US" sz="2400" dirty="0"/>
              <a:t>Fifth Reflective Pause:</a:t>
            </a:r>
          </a:p>
        </p:txBody>
      </p:sp>
      <p:sp>
        <p:nvSpPr>
          <p:cNvPr id="3" name="TextBox 2">
            <a:extLst>
              <a:ext uri="{FF2B5EF4-FFF2-40B4-BE49-F238E27FC236}">
                <a16:creationId xmlns:a16="http://schemas.microsoft.com/office/drawing/2014/main" id="{84716646-6DA8-457A-BC93-BBF7F136EEB5}"/>
              </a:ext>
            </a:extLst>
          </p:cNvPr>
          <p:cNvSpPr txBox="1"/>
          <p:nvPr/>
        </p:nvSpPr>
        <p:spPr>
          <a:xfrm>
            <a:off x="1407695" y="2033337"/>
            <a:ext cx="10910616" cy="2862322"/>
          </a:xfrm>
          <a:prstGeom prst="rect">
            <a:avLst/>
          </a:prstGeom>
          <a:noFill/>
        </p:spPr>
        <p:txBody>
          <a:bodyPr wrap="none" rtlCol="0">
            <a:spAutoFit/>
          </a:bodyPr>
          <a:lstStyle/>
          <a:p>
            <a:r>
              <a:rPr lang="en-US" dirty="0"/>
              <a:t>What kind of organization do you belong to? Risk Adverse or Risk Tolerant?  What is your basis for this </a:t>
            </a:r>
          </a:p>
          <a:p>
            <a:r>
              <a:rPr lang="en-US" dirty="0"/>
              <a:t>Assessment?</a:t>
            </a:r>
          </a:p>
          <a:p>
            <a:endParaRPr lang="en-US" dirty="0"/>
          </a:p>
          <a:p>
            <a:r>
              <a:rPr lang="en-US" dirty="0"/>
              <a:t>Are Risk Adverse Organizations necessarily the best?  “Uncle” Walt, as we’ll see, was actually pretty mean</a:t>
            </a:r>
          </a:p>
          <a:p>
            <a:r>
              <a:rPr lang="en-US" dirty="0"/>
              <a:t>to his employees.  Steve Jobs was notorious for his lack of compassion for employees at Apple, and Jeff Bezos </a:t>
            </a:r>
          </a:p>
          <a:p>
            <a:r>
              <a:rPr lang="en-US" dirty="0"/>
              <a:t>of Amazon has created organizational systems that foster high stress among workers.     </a:t>
            </a:r>
          </a:p>
          <a:p>
            <a:endParaRPr lang="en-US" dirty="0"/>
          </a:p>
          <a:p>
            <a:r>
              <a:rPr lang="en-US" dirty="0"/>
              <a:t>Thus there are counter pressures to move towards risk tolerance – it can be cheaper and less stressful and, at least</a:t>
            </a:r>
          </a:p>
          <a:p>
            <a:r>
              <a:rPr lang="en-US" dirty="0"/>
              <a:t>Initially seem more efficient.  Think of Airport Security again/ right after 911, everybody was screened – now we </a:t>
            </a:r>
          </a:p>
          <a:p>
            <a:r>
              <a:rPr lang="en-US" dirty="0"/>
              <a:t>have TSA preapproved boarding/ shorter lines but more error tolerance.     </a:t>
            </a:r>
          </a:p>
        </p:txBody>
      </p:sp>
    </p:spTree>
    <p:extLst>
      <p:ext uri="{BB962C8B-B14F-4D97-AF65-F5344CB8AC3E}">
        <p14:creationId xmlns:p14="http://schemas.microsoft.com/office/powerpoint/2010/main" val="17259164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efficiency/reliability vicious circle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9520719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968416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4"/>
          <p:cNvSpPr>
            <a:spLocks noChangeArrowheads="1"/>
          </p:cNvSpPr>
          <p:nvPr/>
        </p:nvSpPr>
        <p:spPr bwMode="auto">
          <a:xfrm>
            <a:off x="0" y="1143000"/>
            <a:ext cx="10684933" cy="369332"/>
          </a:xfrm>
          <a:prstGeom prst="rect">
            <a:avLst/>
          </a:prstGeom>
          <a:noFill/>
          <a:ln w="9525">
            <a:noFill/>
            <a:miter lim="800000"/>
            <a:headEnd/>
            <a:tailEnd/>
          </a:ln>
        </p:spPr>
        <p:txBody>
          <a:bodyPr>
            <a:spAutoFit/>
          </a:bodyPr>
          <a:lstStyle/>
          <a:p>
            <a:pPr marL="457200" indent="-457200">
              <a:buFontTx/>
              <a:buAutoNum type="arabicPeriod"/>
            </a:pPr>
            <a:r>
              <a:rPr lang="en-US" b="1"/>
              <a:t>Normal = culturally accepted beliefs about the world</a:t>
            </a:r>
          </a:p>
        </p:txBody>
      </p:sp>
      <p:sp>
        <p:nvSpPr>
          <p:cNvPr id="22533" name="Rectangle 5"/>
          <p:cNvSpPr>
            <a:spLocks noChangeArrowheads="1"/>
          </p:cNvSpPr>
          <p:nvPr/>
        </p:nvSpPr>
        <p:spPr bwMode="auto">
          <a:xfrm>
            <a:off x="406401" y="1371600"/>
            <a:ext cx="10090151" cy="369332"/>
          </a:xfrm>
          <a:prstGeom prst="rect">
            <a:avLst/>
          </a:prstGeom>
          <a:noFill/>
          <a:ln w="9525">
            <a:noFill/>
            <a:miter lim="800000"/>
            <a:headEnd/>
            <a:tailEnd/>
          </a:ln>
        </p:spPr>
        <p:txBody>
          <a:bodyPr wrap="square">
            <a:spAutoFit/>
          </a:bodyPr>
          <a:lstStyle/>
          <a:p>
            <a:r>
              <a:rPr lang="en-US" b="1" dirty="0"/>
              <a:t>and its hazards, and these are codified in laws, norms etc</a:t>
            </a:r>
          </a:p>
        </p:txBody>
      </p:sp>
      <p:sp>
        <p:nvSpPr>
          <p:cNvPr id="22534" name="Rectangle 6"/>
          <p:cNvSpPr>
            <a:spLocks noChangeArrowheads="1"/>
          </p:cNvSpPr>
          <p:nvPr/>
        </p:nvSpPr>
        <p:spPr bwMode="auto">
          <a:xfrm>
            <a:off x="0" y="2057400"/>
            <a:ext cx="10871200" cy="1061829"/>
          </a:xfrm>
          <a:prstGeom prst="rect">
            <a:avLst/>
          </a:prstGeom>
          <a:noFill/>
          <a:ln w="9525">
            <a:noFill/>
            <a:miter lim="800000"/>
            <a:headEnd/>
            <a:tailEnd/>
          </a:ln>
        </p:spPr>
        <p:txBody>
          <a:bodyPr>
            <a:spAutoFit/>
          </a:bodyPr>
          <a:lstStyle/>
          <a:p>
            <a:pPr marL="457200" indent="-457200">
              <a:buFontTx/>
              <a:buAutoNum type="arabicPeriod" startAt="2"/>
            </a:pPr>
            <a:r>
              <a:rPr lang="en-US" b="1" dirty="0"/>
              <a:t>Incubation period = unnoticed sets of events accumulate at odds with accepted beliefs about hazards and avoidance</a:t>
            </a:r>
          </a:p>
          <a:p>
            <a:pPr marL="457200" indent="-457200">
              <a:spcBef>
                <a:spcPct val="50000"/>
              </a:spcBef>
              <a:buFontTx/>
              <a:buAutoNum type="arabicPeriod"/>
            </a:pPr>
            <a:endParaRPr lang="en-US" b="1" dirty="0"/>
          </a:p>
        </p:txBody>
      </p:sp>
      <p:sp>
        <p:nvSpPr>
          <p:cNvPr id="22535" name="Rectangle 7"/>
          <p:cNvSpPr>
            <a:spLocks noChangeArrowheads="1"/>
          </p:cNvSpPr>
          <p:nvPr/>
        </p:nvSpPr>
        <p:spPr bwMode="auto">
          <a:xfrm>
            <a:off x="1" y="3276600"/>
            <a:ext cx="4745567" cy="369332"/>
          </a:xfrm>
          <a:prstGeom prst="rect">
            <a:avLst/>
          </a:prstGeom>
          <a:noFill/>
          <a:ln w="9525">
            <a:noFill/>
            <a:miter lim="800000"/>
            <a:headEnd/>
            <a:tailEnd/>
          </a:ln>
        </p:spPr>
        <p:txBody>
          <a:bodyPr>
            <a:spAutoFit/>
          </a:bodyPr>
          <a:lstStyle/>
          <a:p>
            <a:r>
              <a:rPr lang="en-US" b="1"/>
              <a:t>3.  Precipitating event</a:t>
            </a:r>
          </a:p>
        </p:txBody>
      </p:sp>
      <p:sp>
        <p:nvSpPr>
          <p:cNvPr id="22536" name="Rectangle 8"/>
          <p:cNvSpPr>
            <a:spLocks noChangeArrowheads="1"/>
          </p:cNvSpPr>
          <p:nvPr/>
        </p:nvSpPr>
        <p:spPr bwMode="auto">
          <a:xfrm>
            <a:off x="0" y="3810001"/>
            <a:ext cx="9245600" cy="369332"/>
          </a:xfrm>
          <a:prstGeom prst="rect">
            <a:avLst/>
          </a:prstGeom>
          <a:noFill/>
          <a:ln w="9525">
            <a:noFill/>
            <a:miter lim="800000"/>
            <a:headEnd/>
            <a:tailEnd/>
          </a:ln>
        </p:spPr>
        <p:txBody>
          <a:bodyPr>
            <a:spAutoFit/>
          </a:bodyPr>
          <a:lstStyle/>
          <a:p>
            <a:pPr marL="457200" indent="-457200">
              <a:spcBef>
                <a:spcPct val="50000"/>
              </a:spcBef>
              <a:buFontTx/>
              <a:buAutoNum type="arabicPeriod" startAt="4"/>
            </a:pPr>
            <a:r>
              <a:rPr lang="en-US" b="1"/>
              <a:t>Onset = consequences of collapse of cultural precautions become apparent</a:t>
            </a:r>
          </a:p>
        </p:txBody>
      </p:sp>
      <p:sp>
        <p:nvSpPr>
          <p:cNvPr id="22538" name="Rectangle 10"/>
          <p:cNvSpPr>
            <a:spLocks noChangeArrowheads="1"/>
          </p:cNvSpPr>
          <p:nvPr/>
        </p:nvSpPr>
        <p:spPr bwMode="auto">
          <a:xfrm>
            <a:off x="0" y="4648200"/>
            <a:ext cx="5486400" cy="369332"/>
          </a:xfrm>
          <a:prstGeom prst="rect">
            <a:avLst/>
          </a:prstGeom>
          <a:noFill/>
          <a:ln w="9525">
            <a:noFill/>
            <a:miter lim="800000"/>
            <a:headEnd/>
            <a:tailEnd/>
          </a:ln>
        </p:spPr>
        <p:txBody>
          <a:bodyPr>
            <a:spAutoFit/>
          </a:bodyPr>
          <a:lstStyle/>
          <a:p>
            <a:r>
              <a:rPr lang="en-US" b="1"/>
              <a:t>5.  Rescue and salvage</a:t>
            </a:r>
          </a:p>
        </p:txBody>
      </p:sp>
      <p:sp>
        <p:nvSpPr>
          <p:cNvPr id="22539" name="Rectangle 11"/>
          <p:cNvSpPr>
            <a:spLocks noChangeArrowheads="1"/>
          </p:cNvSpPr>
          <p:nvPr/>
        </p:nvSpPr>
        <p:spPr bwMode="auto">
          <a:xfrm>
            <a:off x="1" y="5410200"/>
            <a:ext cx="5865284" cy="369332"/>
          </a:xfrm>
          <a:prstGeom prst="rect">
            <a:avLst/>
          </a:prstGeom>
          <a:noFill/>
          <a:ln w="9525">
            <a:noFill/>
            <a:miter lim="800000"/>
            <a:headEnd/>
            <a:tailEnd/>
          </a:ln>
        </p:spPr>
        <p:txBody>
          <a:bodyPr>
            <a:spAutoFit/>
          </a:bodyPr>
          <a:lstStyle/>
          <a:p>
            <a:r>
              <a:rPr lang="en-US" b="1"/>
              <a:t>6. Full cultural readjustment</a:t>
            </a:r>
          </a:p>
        </p:txBody>
      </p:sp>
      <p:sp>
        <p:nvSpPr>
          <p:cNvPr id="12297" name="Rectangle 12"/>
          <p:cNvSpPr>
            <a:spLocks noGrp="1" noChangeArrowheads="1"/>
          </p:cNvSpPr>
          <p:nvPr>
            <p:ph type="title" idx="4294967295"/>
          </p:nvPr>
        </p:nvSpPr>
        <p:spPr>
          <a:xfrm>
            <a:off x="0" y="-304800"/>
            <a:ext cx="11379200" cy="1143000"/>
          </a:xfrm>
        </p:spPr>
        <p:txBody>
          <a:bodyPr/>
          <a:lstStyle/>
          <a:p>
            <a:pPr eaLnBrk="1" hangingPunct="1"/>
            <a:r>
              <a:rPr lang="en-US"/>
              <a:t>Stages in Failure of Foresight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532"/>
                                        </p:tgtEl>
                                        <p:attrNameLst>
                                          <p:attrName>style.visibility</p:attrName>
                                        </p:attrNameLst>
                                      </p:cBhvr>
                                      <p:to>
                                        <p:strVal val="visible"/>
                                      </p:to>
                                    </p:set>
                                    <p:anim calcmode="lin" valueType="num">
                                      <p:cBhvr additive="base">
                                        <p:cTn id="7" dur="500" fill="hold"/>
                                        <p:tgtEl>
                                          <p:spTgt spid="22532"/>
                                        </p:tgtEl>
                                        <p:attrNameLst>
                                          <p:attrName>ppt_x</p:attrName>
                                        </p:attrNameLst>
                                      </p:cBhvr>
                                      <p:tavLst>
                                        <p:tav tm="0">
                                          <p:val>
                                            <p:strVal val="0-#ppt_w/2"/>
                                          </p:val>
                                        </p:tav>
                                        <p:tav tm="100000">
                                          <p:val>
                                            <p:strVal val="#ppt_x"/>
                                          </p:val>
                                        </p:tav>
                                      </p:tavLst>
                                    </p:anim>
                                    <p:anim calcmode="lin" valueType="num">
                                      <p:cBhvr additive="base">
                                        <p:cTn id="8" dur="500" fill="hold"/>
                                        <p:tgtEl>
                                          <p:spTgt spid="2253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533"/>
                                        </p:tgtEl>
                                        <p:attrNameLst>
                                          <p:attrName>style.visibility</p:attrName>
                                        </p:attrNameLst>
                                      </p:cBhvr>
                                      <p:to>
                                        <p:strVal val="visible"/>
                                      </p:to>
                                    </p:set>
                                    <p:anim calcmode="lin" valueType="num">
                                      <p:cBhvr additive="base">
                                        <p:cTn id="13" dur="500" fill="hold"/>
                                        <p:tgtEl>
                                          <p:spTgt spid="22533"/>
                                        </p:tgtEl>
                                        <p:attrNameLst>
                                          <p:attrName>ppt_x</p:attrName>
                                        </p:attrNameLst>
                                      </p:cBhvr>
                                      <p:tavLst>
                                        <p:tav tm="0">
                                          <p:val>
                                            <p:strVal val="0-#ppt_w/2"/>
                                          </p:val>
                                        </p:tav>
                                        <p:tav tm="100000">
                                          <p:val>
                                            <p:strVal val="#ppt_x"/>
                                          </p:val>
                                        </p:tav>
                                      </p:tavLst>
                                    </p:anim>
                                    <p:anim calcmode="lin" valueType="num">
                                      <p:cBhvr additive="base">
                                        <p:cTn id="14" dur="500" fill="hold"/>
                                        <p:tgtEl>
                                          <p:spTgt spid="2253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534"/>
                                        </p:tgtEl>
                                        <p:attrNameLst>
                                          <p:attrName>style.visibility</p:attrName>
                                        </p:attrNameLst>
                                      </p:cBhvr>
                                      <p:to>
                                        <p:strVal val="visible"/>
                                      </p:to>
                                    </p:set>
                                    <p:anim calcmode="lin" valueType="num">
                                      <p:cBhvr additive="base">
                                        <p:cTn id="19" dur="500" fill="hold"/>
                                        <p:tgtEl>
                                          <p:spTgt spid="22534"/>
                                        </p:tgtEl>
                                        <p:attrNameLst>
                                          <p:attrName>ppt_x</p:attrName>
                                        </p:attrNameLst>
                                      </p:cBhvr>
                                      <p:tavLst>
                                        <p:tav tm="0">
                                          <p:val>
                                            <p:strVal val="0-#ppt_w/2"/>
                                          </p:val>
                                        </p:tav>
                                        <p:tav tm="100000">
                                          <p:val>
                                            <p:strVal val="#ppt_x"/>
                                          </p:val>
                                        </p:tav>
                                      </p:tavLst>
                                    </p:anim>
                                    <p:anim calcmode="lin" valueType="num">
                                      <p:cBhvr additive="base">
                                        <p:cTn id="20" dur="500" fill="hold"/>
                                        <p:tgtEl>
                                          <p:spTgt spid="2253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4" name="glass.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535"/>
                                        </p:tgtEl>
                                        <p:attrNameLst>
                                          <p:attrName>style.visibility</p:attrName>
                                        </p:attrNameLst>
                                      </p:cBhvr>
                                      <p:to>
                                        <p:strVal val="visible"/>
                                      </p:to>
                                    </p:set>
                                    <p:anim calcmode="lin" valueType="num">
                                      <p:cBhvr additive="base">
                                        <p:cTn id="25" dur="500" fill="hold"/>
                                        <p:tgtEl>
                                          <p:spTgt spid="22535"/>
                                        </p:tgtEl>
                                        <p:attrNameLst>
                                          <p:attrName>ppt_x</p:attrName>
                                        </p:attrNameLst>
                                      </p:cBhvr>
                                      <p:tavLst>
                                        <p:tav tm="0">
                                          <p:val>
                                            <p:strVal val="0-#ppt_w/2"/>
                                          </p:val>
                                        </p:tav>
                                        <p:tav tm="100000">
                                          <p:val>
                                            <p:strVal val="#ppt_x"/>
                                          </p:val>
                                        </p:tav>
                                      </p:tavLst>
                                    </p:anim>
                                    <p:anim calcmode="lin" valueType="num">
                                      <p:cBhvr additive="base">
                                        <p:cTn id="26" dur="500" fill="hold"/>
                                        <p:tgtEl>
                                          <p:spTgt spid="2253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5" name="explode.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2536"/>
                                        </p:tgtEl>
                                        <p:attrNameLst>
                                          <p:attrName>style.visibility</p:attrName>
                                        </p:attrNameLst>
                                      </p:cBhvr>
                                      <p:to>
                                        <p:strVal val="visible"/>
                                      </p:to>
                                    </p:set>
                                    <p:anim calcmode="lin" valueType="num">
                                      <p:cBhvr additive="base">
                                        <p:cTn id="31" dur="500" fill="hold"/>
                                        <p:tgtEl>
                                          <p:spTgt spid="22536"/>
                                        </p:tgtEl>
                                        <p:attrNameLst>
                                          <p:attrName>ppt_x</p:attrName>
                                        </p:attrNameLst>
                                      </p:cBhvr>
                                      <p:tavLst>
                                        <p:tav tm="0">
                                          <p:val>
                                            <p:strVal val="0-#ppt_w/2"/>
                                          </p:val>
                                        </p:tav>
                                        <p:tav tm="100000">
                                          <p:val>
                                            <p:strVal val="#ppt_x"/>
                                          </p:val>
                                        </p:tav>
                                      </p:tavLst>
                                    </p:anim>
                                    <p:anim calcmode="lin" valueType="num">
                                      <p:cBhvr additive="base">
                                        <p:cTn id="32" dur="500" fill="hold"/>
                                        <p:tgtEl>
                                          <p:spTgt spid="2253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6" name="driveby.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2538"/>
                                        </p:tgtEl>
                                        <p:attrNameLst>
                                          <p:attrName>style.visibility</p:attrName>
                                        </p:attrNameLst>
                                      </p:cBhvr>
                                      <p:to>
                                        <p:strVal val="visible"/>
                                      </p:to>
                                    </p:set>
                                    <p:anim calcmode="lin" valueType="num">
                                      <p:cBhvr additive="base">
                                        <p:cTn id="37" dur="500" fill="hold"/>
                                        <p:tgtEl>
                                          <p:spTgt spid="22538"/>
                                        </p:tgtEl>
                                        <p:attrNameLst>
                                          <p:attrName>ppt_x</p:attrName>
                                        </p:attrNameLst>
                                      </p:cBhvr>
                                      <p:tavLst>
                                        <p:tav tm="0">
                                          <p:val>
                                            <p:strVal val="0-#ppt_w/2"/>
                                          </p:val>
                                        </p:tav>
                                        <p:tav tm="100000">
                                          <p:val>
                                            <p:strVal val="#ppt_x"/>
                                          </p:val>
                                        </p:tav>
                                      </p:tavLst>
                                    </p:anim>
                                    <p:anim calcmode="lin" valueType="num">
                                      <p:cBhvr additive="base">
                                        <p:cTn id="38" dur="500" fill="hold"/>
                                        <p:tgtEl>
                                          <p:spTgt spid="2253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chimes.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2539"/>
                                        </p:tgtEl>
                                        <p:attrNameLst>
                                          <p:attrName>style.visibility</p:attrName>
                                        </p:attrNameLst>
                                      </p:cBhvr>
                                      <p:to>
                                        <p:strVal val="visible"/>
                                      </p:to>
                                    </p:set>
                                    <p:anim calcmode="lin" valueType="num">
                                      <p:cBhvr additive="base">
                                        <p:cTn id="43" dur="500" fill="hold"/>
                                        <p:tgtEl>
                                          <p:spTgt spid="22539"/>
                                        </p:tgtEl>
                                        <p:attrNameLst>
                                          <p:attrName>ppt_x</p:attrName>
                                        </p:attrNameLst>
                                      </p:cBhvr>
                                      <p:tavLst>
                                        <p:tav tm="0">
                                          <p:val>
                                            <p:strVal val="0-#ppt_w/2"/>
                                          </p:val>
                                        </p:tav>
                                        <p:tav tm="100000">
                                          <p:val>
                                            <p:strVal val="#ppt_x"/>
                                          </p:val>
                                        </p:tav>
                                      </p:tavLst>
                                    </p:anim>
                                    <p:anim calcmode="lin" valueType="num">
                                      <p:cBhvr additive="base">
                                        <p:cTn id="44" dur="500" fill="hold"/>
                                        <p:tgtEl>
                                          <p:spTgt spid="2253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7" name="drumroll.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autoUpdateAnimBg="0"/>
      <p:bldP spid="22533" grpId="0" autoUpdateAnimBg="0"/>
      <p:bldP spid="22534" grpId="0" autoUpdateAnimBg="0"/>
      <p:bldP spid="22535" grpId="0" autoUpdateAnimBg="0"/>
      <p:bldP spid="22536" grpId="0" autoUpdateAnimBg="0"/>
      <p:bldP spid="22538" grpId="0" autoUpdateAnimBg="0"/>
      <p:bldP spid="22539"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efficiency/reliability vicious circle has both social and psychological consequences</a:t>
            </a:r>
          </a:p>
        </p:txBody>
      </p:sp>
      <p:sp>
        <p:nvSpPr>
          <p:cNvPr id="3" name="Content Placeholder 2"/>
          <p:cNvSpPr>
            <a:spLocks noGrp="1"/>
          </p:cNvSpPr>
          <p:nvPr>
            <p:ph idx="1"/>
          </p:nvPr>
        </p:nvSpPr>
        <p:spPr/>
        <p:txBody>
          <a:bodyPr/>
          <a:lstStyle/>
          <a:p>
            <a:r>
              <a:rPr lang="en-US" dirty="0"/>
              <a:t>From the perspective of society major organizational failures erode trust</a:t>
            </a:r>
          </a:p>
          <a:p>
            <a:endParaRPr lang="en-US" dirty="0"/>
          </a:p>
          <a:p>
            <a:r>
              <a:rPr lang="en-US" dirty="0"/>
              <a:t>From the perspective of the individual, organizational life has significant periods of dissatisfaction </a:t>
            </a:r>
          </a:p>
        </p:txBody>
      </p:sp>
    </p:spTree>
    <p:extLst>
      <p:ext uri="{BB962C8B-B14F-4D97-AF65-F5344CB8AC3E}">
        <p14:creationId xmlns:p14="http://schemas.microsoft.com/office/powerpoint/2010/main" val="23807855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Trust in American Institutions</a:t>
            </a:r>
          </a:p>
        </p:txBody>
      </p:sp>
      <p:sp>
        <p:nvSpPr>
          <p:cNvPr id="3" name="Content Placeholder 2"/>
          <p:cNvSpPr>
            <a:spLocks noGrp="1"/>
          </p:cNvSpPr>
          <p:nvPr>
            <p:ph idx="1"/>
          </p:nvPr>
        </p:nvSpPr>
        <p:spPr/>
        <p:txBody>
          <a:bodyPr/>
          <a:lstStyle/>
          <a:p>
            <a:r>
              <a:rPr lang="en-US" dirty="0">
                <a:hlinkClick r:id="rId2"/>
              </a:rPr>
              <a:t>http://news.gallup.com/poll/1597/Confidence-Institutions.aspx</a:t>
            </a:r>
            <a:endParaRPr lang="en-US" dirty="0"/>
          </a:p>
        </p:txBody>
      </p:sp>
    </p:spTree>
    <p:extLst>
      <p:ext uri="{BB962C8B-B14F-4D97-AF65-F5344CB8AC3E}">
        <p14:creationId xmlns:p14="http://schemas.microsoft.com/office/powerpoint/2010/main" val="20585757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rmAutofit/>
          </a:bodyPr>
          <a:lstStyle/>
          <a:p>
            <a:r>
              <a:rPr lang="en-US"/>
              <a:t>HAVE YOU EVER HEARD THE PHRASE - </a:t>
            </a:r>
          </a:p>
        </p:txBody>
      </p:sp>
      <p:sp>
        <p:nvSpPr>
          <p:cNvPr id="3075" name="Rectangle 3"/>
          <p:cNvSpPr>
            <a:spLocks noGrp="1" noChangeArrowheads="1"/>
          </p:cNvSpPr>
          <p:nvPr>
            <p:ph type="body" idx="1"/>
          </p:nvPr>
        </p:nvSpPr>
        <p:spPr/>
        <p:txBody>
          <a:bodyPr/>
          <a:lstStyle/>
          <a:p>
            <a:r>
              <a:rPr lang="en-US" dirty="0"/>
              <a:t>“ Going postal”</a:t>
            </a:r>
          </a:p>
          <a:p>
            <a:r>
              <a:rPr lang="en-US" dirty="0"/>
              <a:t>“Good enough for government work”</a:t>
            </a:r>
          </a:p>
          <a:p>
            <a:r>
              <a:rPr lang="en-US" dirty="0"/>
              <a:t>“Too much bureaucracy”</a:t>
            </a:r>
          </a:p>
          <a:p>
            <a:r>
              <a:rPr lang="en-US" dirty="0"/>
              <a:t>“SNAFU”</a:t>
            </a:r>
          </a:p>
          <a:p>
            <a:r>
              <a:rPr lang="en-US" dirty="0"/>
              <a:t>“FUBAR”</a:t>
            </a:r>
          </a:p>
          <a:p>
            <a:r>
              <a:rPr lang="en-US" dirty="0"/>
              <a:t>“TARFU”</a:t>
            </a:r>
          </a:p>
          <a:p>
            <a:r>
              <a:rPr lang="en-US" dirty="0"/>
              <a:t>Organizational SNAFUS lead to individual alienation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 calcmode="lin" valueType="num">
                                      <p:cBhvr additive="base">
                                        <p:cTn id="7" dur="500" fill="hold"/>
                                        <p:tgtEl>
                                          <p:spTgt spid="30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7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75">
                                            <p:txEl>
                                              <p:pRg st="1" end="1"/>
                                            </p:txEl>
                                          </p:spTgt>
                                        </p:tgtEl>
                                        <p:attrNameLst>
                                          <p:attrName>style.visibility</p:attrName>
                                        </p:attrNameLst>
                                      </p:cBhvr>
                                      <p:to>
                                        <p:strVal val="visible"/>
                                      </p:to>
                                    </p:set>
                                    <p:anim calcmode="lin" valueType="num">
                                      <p:cBhvr additive="base">
                                        <p:cTn id="13" dur="500" fill="hold"/>
                                        <p:tgtEl>
                                          <p:spTgt spid="307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7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75">
                                            <p:txEl>
                                              <p:pRg st="2" end="2"/>
                                            </p:txEl>
                                          </p:spTgt>
                                        </p:tgtEl>
                                        <p:attrNameLst>
                                          <p:attrName>style.visibility</p:attrName>
                                        </p:attrNameLst>
                                      </p:cBhvr>
                                      <p:to>
                                        <p:strVal val="visible"/>
                                      </p:to>
                                    </p:set>
                                    <p:anim calcmode="lin" valueType="num">
                                      <p:cBhvr additive="base">
                                        <p:cTn id="19" dur="500" fill="hold"/>
                                        <p:tgtEl>
                                          <p:spTgt spid="307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07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075">
                                            <p:txEl>
                                              <p:pRg st="3" end="3"/>
                                            </p:txEl>
                                          </p:spTgt>
                                        </p:tgtEl>
                                        <p:attrNameLst>
                                          <p:attrName>style.visibility</p:attrName>
                                        </p:attrNameLst>
                                      </p:cBhvr>
                                      <p:to>
                                        <p:strVal val="visible"/>
                                      </p:to>
                                    </p:set>
                                    <p:anim calcmode="lin" valueType="num">
                                      <p:cBhvr additive="base">
                                        <p:cTn id="25" dur="500" fill="hold"/>
                                        <p:tgtEl>
                                          <p:spTgt spid="307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075">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075">
                                            <p:txEl>
                                              <p:pRg st="4" end="4"/>
                                            </p:txEl>
                                          </p:spTgt>
                                        </p:tgtEl>
                                        <p:attrNameLst>
                                          <p:attrName>style.visibility</p:attrName>
                                        </p:attrNameLst>
                                      </p:cBhvr>
                                      <p:to>
                                        <p:strVal val="visible"/>
                                      </p:to>
                                    </p:set>
                                    <p:anim calcmode="lin" valueType="num">
                                      <p:cBhvr additive="base">
                                        <p:cTn id="31" dur="500" fill="hold"/>
                                        <p:tgtEl>
                                          <p:spTgt spid="307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075">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075">
                                            <p:txEl>
                                              <p:pRg st="5" end="5"/>
                                            </p:txEl>
                                          </p:spTgt>
                                        </p:tgtEl>
                                        <p:attrNameLst>
                                          <p:attrName>style.visibility</p:attrName>
                                        </p:attrNameLst>
                                      </p:cBhvr>
                                      <p:to>
                                        <p:strVal val="visible"/>
                                      </p:to>
                                    </p:set>
                                    <p:anim calcmode="lin" valueType="num">
                                      <p:cBhvr additive="base">
                                        <p:cTn id="37" dur="500" fill="hold"/>
                                        <p:tgtEl>
                                          <p:spTgt spid="307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075">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075">
                                            <p:txEl>
                                              <p:pRg st="6" end="6"/>
                                            </p:txEl>
                                          </p:spTgt>
                                        </p:tgtEl>
                                        <p:attrNameLst>
                                          <p:attrName>style.visibility</p:attrName>
                                        </p:attrNameLst>
                                      </p:cBhvr>
                                      <p:to>
                                        <p:strVal val="visible"/>
                                      </p:to>
                                    </p:set>
                                    <p:anim calcmode="lin" valueType="num">
                                      <p:cBhvr additive="base">
                                        <p:cTn id="43" dur="500" fill="hold"/>
                                        <p:tgtEl>
                                          <p:spTgt spid="307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075">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02737-124A-44E6-AAA2-92CD3DF250E5}"/>
              </a:ext>
            </a:extLst>
          </p:cNvPr>
          <p:cNvSpPr>
            <a:spLocks noGrp="1"/>
          </p:cNvSpPr>
          <p:nvPr>
            <p:ph type="title"/>
          </p:nvPr>
        </p:nvSpPr>
        <p:spPr/>
        <p:txBody>
          <a:bodyPr/>
          <a:lstStyle/>
          <a:p>
            <a:r>
              <a:rPr lang="en-US" dirty="0"/>
              <a:t>Sixth Reflective Pause:</a:t>
            </a:r>
            <a:br>
              <a:rPr lang="en-US" dirty="0"/>
            </a:br>
            <a:endParaRPr lang="en-US" dirty="0"/>
          </a:p>
        </p:txBody>
      </p:sp>
      <p:sp>
        <p:nvSpPr>
          <p:cNvPr id="3" name="Content Placeholder 2">
            <a:extLst>
              <a:ext uri="{FF2B5EF4-FFF2-40B4-BE49-F238E27FC236}">
                <a16:creationId xmlns:a16="http://schemas.microsoft.com/office/drawing/2014/main" id="{4201629A-264C-42D6-8E09-9BA1691F328A}"/>
              </a:ext>
            </a:extLst>
          </p:cNvPr>
          <p:cNvSpPr>
            <a:spLocks noGrp="1"/>
          </p:cNvSpPr>
          <p:nvPr>
            <p:ph idx="1"/>
          </p:nvPr>
        </p:nvSpPr>
        <p:spPr/>
        <p:txBody>
          <a:bodyPr/>
          <a:lstStyle/>
          <a:p>
            <a:r>
              <a:rPr lang="en-US" dirty="0"/>
              <a:t>What do each of these terms mean – what does it say about organizational life as we experience it? </a:t>
            </a:r>
          </a:p>
          <a:p>
            <a:endParaRPr lang="en-US" dirty="0"/>
          </a:p>
        </p:txBody>
      </p:sp>
    </p:spTree>
    <p:extLst>
      <p:ext uri="{BB962C8B-B14F-4D97-AF65-F5344CB8AC3E}">
        <p14:creationId xmlns:p14="http://schemas.microsoft.com/office/powerpoint/2010/main" val="34443643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Documents and Settings\gilsinan\Desktop\Dad ppt\slide 1.jpg"/>
          <p:cNvPicPr>
            <a:picLocks noChangeAspect="1" noChangeArrowheads="1"/>
          </p:cNvPicPr>
          <p:nvPr/>
        </p:nvPicPr>
        <p:blipFill>
          <a:blip r:embed="rId2" cstate="print"/>
          <a:srcRect/>
          <a:stretch>
            <a:fillRect/>
          </a:stretch>
        </p:blipFill>
        <p:spPr bwMode="auto">
          <a:xfrm>
            <a:off x="304800" y="2286001"/>
            <a:ext cx="11582400" cy="2697163"/>
          </a:xfrm>
          <a:prstGeom prst="rect">
            <a:avLst/>
          </a:prstGeom>
          <a:noFill/>
        </p:spPr>
      </p:pic>
      <p:sp>
        <p:nvSpPr>
          <p:cNvPr id="4099" name="Rectangle 3"/>
          <p:cNvSpPr>
            <a:spLocks noGrp="1" noChangeArrowheads="1"/>
          </p:cNvSpPr>
          <p:nvPr>
            <p:ph type="title" idx="4294967295"/>
          </p:nvPr>
        </p:nvSpPr>
        <p:spPr/>
        <p:txBody>
          <a:bodyPr/>
          <a:lstStyle/>
          <a:p>
            <a:r>
              <a:rPr lang="en-US"/>
              <a:t>Alienation from the Bosses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p:txBody>
          <a:bodyPr/>
          <a:lstStyle/>
          <a:p>
            <a:r>
              <a:rPr lang="en-US"/>
              <a:t>Alienation from Processes</a:t>
            </a:r>
          </a:p>
        </p:txBody>
      </p:sp>
      <p:pic>
        <p:nvPicPr>
          <p:cNvPr id="5123" name="Picture 3" descr="C:\Documents and Settings\gilsinan\Desktop\Dad ppt\slide 2.jpg"/>
          <p:cNvPicPr>
            <a:picLocks noChangeAspect="1" noChangeArrowheads="1"/>
          </p:cNvPicPr>
          <p:nvPr/>
        </p:nvPicPr>
        <p:blipFill>
          <a:blip r:embed="rId2" cstate="print"/>
          <a:srcRect/>
          <a:stretch>
            <a:fillRect/>
          </a:stretch>
        </p:blipFill>
        <p:spPr bwMode="auto">
          <a:xfrm>
            <a:off x="304800" y="2514600"/>
            <a:ext cx="11582400" cy="2686050"/>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p:txBody>
          <a:bodyPr/>
          <a:lstStyle/>
          <a:p>
            <a:r>
              <a:rPr lang="en-US"/>
              <a:t>Alienation from Colleagues</a:t>
            </a:r>
          </a:p>
        </p:txBody>
      </p:sp>
      <p:pic>
        <p:nvPicPr>
          <p:cNvPr id="6147" name="Picture 3" descr="C:\Documents and Settings\gilsinan\Desktop\Dad ppt\slide 3.jpg"/>
          <p:cNvPicPr>
            <a:picLocks noChangeAspect="1" noChangeArrowheads="1"/>
          </p:cNvPicPr>
          <p:nvPr/>
        </p:nvPicPr>
        <p:blipFill>
          <a:blip r:embed="rId2" cstate="print"/>
          <a:srcRect/>
          <a:stretch>
            <a:fillRect/>
          </a:stretch>
        </p:blipFill>
        <p:spPr bwMode="auto">
          <a:xfrm>
            <a:off x="406400" y="2362201"/>
            <a:ext cx="11480800" cy="2644775"/>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p:txBody>
          <a:bodyPr/>
          <a:lstStyle/>
          <a:p>
            <a:r>
              <a:rPr lang="en-US"/>
              <a:t>Alienation from Change Efforts</a:t>
            </a:r>
          </a:p>
        </p:txBody>
      </p:sp>
      <p:pic>
        <p:nvPicPr>
          <p:cNvPr id="7171" name="Picture 3" descr="C:\Documents and Settings\gilsinan\Desktop\Dad ppt\slide 4.jpg"/>
          <p:cNvPicPr>
            <a:picLocks noChangeAspect="1" noChangeArrowheads="1"/>
          </p:cNvPicPr>
          <p:nvPr/>
        </p:nvPicPr>
        <p:blipFill>
          <a:blip r:embed="rId2" cstate="print"/>
          <a:srcRect/>
          <a:stretch>
            <a:fillRect/>
          </a:stretch>
        </p:blipFill>
        <p:spPr bwMode="auto">
          <a:xfrm>
            <a:off x="304800" y="2286000"/>
            <a:ext cx="11684000" cy="2471738"/>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p:txBody>
          <a:bodyPr/>
          <a:lstStyle/>
          <a:p>
            <a:r>
              <a:rPr lang="en-US"/>
              <a:t>Alienation from Self</a:t>
            </a:r>
          </a:p>
        </p:txBody>
      </p:sp>
      <p:pic>
        <p:nvPicPr>
          <p:cNvPr id="8195" name="Picture 3" descr="C:\Documents and Settings\gilsinan\Desktop\Dad ppt\slide 5.jpg"/>
          <p:cNvPicPr>
            <a:picLocks noChangeAspect="1" noChangeArrowheads="1"/>
          </p:cNvPicPr>
          <p:nvPr/>
        </p:nvPicPr>
        <p:blipFill>
          <a:blip r:embed="rId2" cstate="print"/>
          <a:srcRect/>
          <a:stretch>
            <a:fillRect/>
          </a:stretch>
        </p:blipFill>
        <p:spPr bwMode="auto">
          <a:xfrm>
            <a:off x="203200" y="2362201"/>
            <a:ext cx="11684000" cy="2708275"/>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55835-52E2-4DFC-8636-FB3F404B382E}"/>
              </a:ext>
            </a:extLst>
          </p:cNvPr>
          <p:cNvSpPr>
            <a:spLocks noGrp="1"/>
          </p:cNvSpPr>
          <p:nvPr>
            <p:ph type="title"/>
          </p:nvPr>
        </p:nvSpPr>
        <p:spPr/>
        <p:txBody>
          <a:bodyPr/>
          <a:lstStyle/>
          <a:p>
            <a:r>
              <a:rPr lang="en-US" dirty="0"/>
              <a:t>Seventh Reflective Pause</a:t>
            </a:r>
          </a:p>
        </p:txBody>
      </p:sp>
      <p:sp>
        <p:nvSpPr>
          <p:cNvPr id="3" name="Content Placeholder 2">
            <a:extLst>
              <a:ext uri="{FF2B5EF4-FFF2-40B4-BE49-F238E27FC236}">
                <a16:creationId xmlns:a16="http://schemas.microsoft.com/office/drawing/2014/main" id="{1C90C94D-01FB-41A2-90A8-F60A27A6BA0B}"/>
              </a:ext>
            </a:extLst>
          </p:cNvPr>
          <p:cNvSpPr>
            <a:spLocks noGrp="1"/>
          </p:cNvSpPr>
          <p:nvPr>
            <p:ph idx="1"/>
          </p:nvPr>
        </p:nvSpPr>
        <p:spPr/>
        <p:txBody>
          <a:bodyPr/>
          <a:lstStyle/>
          <a:p>
            <a:r>
              <a:rPr lang="en-US" dirty="0"/>
              <a:t>The model suggests that employees get frustrated and alienated by organizational incompetence – in a sense a failure to act rationally.</a:t>
            </a:r>
          </a:p>
          <a:p>
            <a:r>
              <a:rPr lang="en-US" dirty="0"/>
              <a:t>Artificial Intelligence introduces a new element into the equation – the ability to produce rationally 24/7 and to assess employees continually on their ability to meet rational goals</a:t>
            </a:r>
          </a:p>
          <a:p>
            <a:r>
              <a:rPr lang="en-US" dirty="0"/>
              <a:t>The result is Amazon – a place where employees are frustrated and alienated by too much rationality! </a:t>
            </a:r>
          </a:p>
          <a:p>
            <a:r>
              <a:rPr lang="en-US" dirty="0"/>
              <a:t>As a leader or manager, how to you confront this paradox </a:t>
            </a:r>
          </a:p>
          <a:p>
            <a:pPr lvl="1"/>
            <a:r>
              <a:rPr lang="en-US" dirty="0"/>
              <a:t>Too much rationality leads to alienation</a:t>
            </a:r>
          </a:p>
          <a:p>
            <a:pPr lvl="1"/>
            <a:r>
              <a:rPr lang="en-US" dirty="0"/>
              <a:t>Too little rationality leads </a:t>
            </a:r>
            <a:r>
              <a:rPr lang="en-US"/>
              <a:t>to alienation   </a:t>
            </a:r>
            <a:endParaRPr lang="en-US" dirty="0"/>
          </a:p>
        </p:txBody>
      </p:sp>
    </p:spTree>
    <p:extLst>
      <p:ext uri="{BB962C8B-B14F-4D97-AF65-F5344CB8AC3E}">
        <p14:creationId xmlns:p14="http://schemas.microsoft.com/office/powerpoint/2010/main" val="2715485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we’re at and where we’re going</a:t>
            </a:r>
          </a:p>
        </p:txBody>
      </p:sp>
      <p:sp>
        <p:nvSpPr>
          <p:cNvPr id="3" name="Content Placeholder 2"/>
          <p:cNvSpPr>
            <a:spLocks noGrp="1"/>
          </p:cNvSpPr>
          <p:nvPr>
            <p:ph idx="1"/>
          </p:nvPr>
        </p:nvSpPr>
        <p:spPr/>
        <p:txBody>
          <a:bodyPr>
            <a:normAutofit fontScale="92500" lnSpcReduction="10000"/>
          </a:bodyPr>
          <a:lstStyle/>
          <a:p>
            <a:r>
              <a:rPr lang="en-US" dirty="0"/>
              <a:t>The ability of organizations to see and act upon patterns (i.e. avoiding a TYPE II Error) depends upon: </a:t>
            </a:r>
          </a:p>
          <a:p>
            <a:pPr lvl="1"/>
            <a:r>
              <a:rPr lang="en-US" dirty="0"/>
              <a:t>Structure</a:t>
            </a:r>
          </a:p>
          <a:p>
            <a:pPr lvl="1"/>
            <a:r>
              <a:rPr lang="en-US" dirty="0"/>
              <a:t>Culture</a:t>
            </a:r>
          </a:p>
          <a:p>
            <a:pPr lvl="1"/>
            <a:r>
              <a:rPr lang="en-US" dirty="0"/>
              <a:t>People</a:t>
            </a:r>
          </a:p>
          <a:p>
            <a:pPr lvl="1"/>
            <a:endParaRPr lang="en-US" dirty="0"/>
          </a:p>
          <a:p>
            <a:r>
              <a:rPr lang="en-US" dirty="0"/>
              <a:t>We’re going to start with people – The Ethics 0f Dissent  i.e. whistle blowing  (The Rosemary O’Leary book)</a:t>
            </a:r>
          </a:p>
          <a:p>
            <a:r>
              <a:rPr lang="en-US" dirty="0"/>
              <a:t>Then we’re going to move onto Structure and Culture (Fry and </a:t>
            </a:r>
            <a:r>
              <a:rPr lang="en-US" dirty="0" err="1"/>
              <a:t>Raadschelders</a:t>
            </a:r>
            <a:r>
              <a:rPr lang="en-US" dirty="0"/>
              <a:t>)</a:t>
            </a:r>
          </a:p>
          <a:p>
            <a:r>
              <a:rPr lang="en-US" dirty="0"/>
              <a:t>We finish with the Fox and Miller book, which looks at a different way of conceptualizing organizations </a:t>
            </a:r>
          </a:p>
        </p:txBody>
      </p:sp>
    </p:spTree>
    <p:extLst>
      <p:ext uri="{BB962C8B-B14F-4D97-AF65-F5344CB8AC3E}">
        <p14:creationId xmlns:p14="http://schemas.microsoft.com/office/powerpoint/2010/main" val="18573099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normAutofit/>
          </a:bodyPr>
          <a:lstStyle/>
          <a:p>
            <a:r>
              <a:rPr lang="en-US" dirty="0"/>
              <a:t>Routines, Standard Operating Procedures, The Habit Loop</a:t>
            </a:r>
          </a:p>
        </p:txBody>
      </p:sp>
      <p:sp>
        <p:nvSpPr>
          <p:cNvPr id="15363" name="Content Placeholder 2"/>
          <p:cNvSpPr>
            <a:spLocks noGrp="1"/>
          </p:cNvSpPr>
          <p:nvPr>
            <p:ph idx="1"/>
          </p:nvPr>
        </p:nvSpPr>
        <p:spPr/>
        <p:txBody>
          <a:bodyPr>
            <a:normAutofit/>
          </a:bodyPr>
          <a:lstStyle/>
          <a:p>
            <a:endParaRPr lang="en-US" dirty="0"/>
          </a:p>
          <a:p>
            <a:endParaRPr lang="en-US" dirty="0"/>
          </a:p>
          <a:p>
            <a:pPr lvl="1">
              <a:buFontTx/>
              <a:buNone/>
            </a:pPr>
            <a:r>
              <a:rPr lang="en-US" dirty="0"/>
              <a:t>	</a:t>
            </a:r>
          </a:p>
          <a:p>
            <a:pPr lvl="1">
              <a:buFontTx/>
              <a:buNone/>
            </a:pPr>
            <a:r>
              <a:rPr lang="en-US" dirty="0"/>
              <a:t>	 </a:t>
            </a:r>
          </a:p>
        </p:txBody>
      </p:sp>
      <p:sp>
        <p:nvSpPr>
          <p:cNvPr id="4" name="TextBox 3"/>
          <p:cNvSpPr txBox="1"/>
          <p:nvPr/>
        </p:nvSpPr>
        <p:spPr>
          <a:xfrm>
            <a:off x="2438401" y="3429001"/>
            <a:ext cx="902811" cy="646331"/>
          </a:xfrm>
          <a:prstGeom prst="rect">
            <a:avLst/>
          </a:prstGeom>
          <a:noFill/>
        </p:spPr>
        <p:txBody>
          <a:bodyPr wrap="none" rtlCol="0">
            <a:spAutoFit/>
          </a:bodyPr>
          <a:lstStyle/>
          <a:p>
            <a:r>
              <a:rPr lang="en-US" sz="3600" dirty="0"/>
              <a:t>Cue</a:t>
            </a:r>
          </a:p>
        </p:txBody>
      </p:sp>
      <p:sp>
        <p:nvSpPr>
          <p:cNvPr id="7" name="TextBox 6"/>
          <p:cNvSpPr txBox="1"/>
          <p:nvPr/>
        </p:nvSpPr>
        <p:spPr>
          <a:xfrm>
            <a:off x="5181600" y="2819401"/>
            <a:ext cx="1554208" cy="646331"/>
          </a:xfrm>
          <a:prstGeom prst="rect">
            <a:avLst/>
          </a:prstGeom>
          <a:noFill/>
        </p:spPr>
        <p:txBody>
          <a:bodyPr wrap="none" rtlCol="0">
            <a:spAutoFit/>
          </a:bodyPr>
          <a:lstStyle/>
          <a:p>
            <a:r>
              <a:rPr lang="en-US" sz="3600" dirty="0"/>
              <a:t>routine</a:t>
            </a:r>
          </a:p>
        </p:txBody>
      </p:sp>
      <p:sp>
        <p:nvSpPr>
          <p:cNvPr id="10" name="TextBox 9"/>
          <p:cNvSpPr txBox="1"/>
          <p:nvPr/>
        </p:nvSpPr>
        <p:spPr>
          <a:xfrm>
            <a:off x="7213600" y="3733800"/>
            <a:ext cx="2417293" cy="646331"/>
          </a:xfrm>
          <a:prstGeom prst="rect">
            <a:avLst/>
          </a:prstGeom>
          <a:noFill/>
        </p:spPr>
        <p:txBody>
          <a:bodyPr wrap="square" rtlCol="0">
            <a:spAutoFit/>
          </a:bodyPr>
          <a:lstStyle/>
          <a:p>
            <a:r>
              <a:rPr lang="en-US" sz="3600" dirty="0"/>
              <a:t>reward</a:t>
            </a:r>
          </a:p>
        </p:txBody>
      </p:sp>
      <p:cxnSp>
        <p:nvCxnSpPr>
          <p:cNvPr id="18" name="Straight Arrow Connector 17"/>
          <p:cNvCxnSpPr>
            <a:stCxn id="4" idx="3"/>
            <a:endCxn id="7" idx="1"/>
          </p:cNvCxnSpPr>
          <p:nvPr/>
        </p:nvCxnSpPr>
        <p:spPr>
          <a:xfrm flipV="1">
            <a:off x="3341212" y="3142567"/>
            <a:ext cx="1840388"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7010400" y="3276600"/>
            <a:ext cx="467723" cy="6674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10972800" cy="1143000"/>
          </a:xfrm>
        </p:spPr>
        <p:txBody>
          <a:bodyPr>
            <a:noAutofit/>
          </a:bodyPr>
          <a:lstStyle/>
          <a:p>
            <a:r>
              <a:rPr lang="en-US" sz="3200" dirty="0"/>
              <a:t>Standard operating procedures</a:t>
            </a:r>
            <a:br>
              <a:rPr lang="en-US" sz="3200" dirty="0"/>
            </a:br>
            <a:r>
              <a:rPr lang="en-US" sz="3200" dirty="0"/>
              <a:t>Can’t live with ‘</a:t>
            </a:r>
            <a:r>
              <a:rPr lang="en-US" sz="3200" dirty="0" err="1"/>
              <a:t>em</a:t>
            </a:r>
            <a:r>
              <a:rPr lang="en-US" sz="3200" dirty="0"/>
              <a:t>, can’t live without</a:t>
            </a:r>
            <a:br>
              <a:rPr lang="en-US" sz="3200" dirty="0"/>
            </a:br>
            <a:r>
              <a:rPr lang="en-US" sz="3200" dirty="0"/>
              <a:t>‘</a:t>
            </a:r>
            <a:r>
              <a:rPr lang="en-US" sz="3200" dirty="0" err="1"/>
              <a:t>em</a:t>
            </a:r>
            <a:r>
              <a:rPr lang="en-US" sz="3200" dirty="0"/>
              <a:t> </a:t>
            </a:r>
          </a:p>
        </p:txBody>
      </p:sp>
      <p:sp>
        <p:nvSpPr>
          <p:cNvPr id="3" name="Content Placeholder 2"/>
          <p:cNvSpPr>
            <a:spLocks noGrp="1"/>
          </p:cNvSpPr>
          <p:nvPr>
            <p:ph idx="1"/>
          </p:nvPr>
        </p:nvSpPr>
        <p:spPr/>
        <p:txBody>
          <a:bodyPr/>
          <a:lstStyle/>
          <a:p>
            <a:r>
              <a:rPr lang="en-US" dirty="0"/>
              <a:t>They save time and resources and increase efficiency</a:t>
            </a:r>
          </a:p>
          <a:p>
            <a:r>
              <a:rPr lang="en-US" dirty="0"/>
              <a:t>They provide security and a sense of direction</a:t>
            </a:r>
          </a:p>
          <a:p>
            <a:endParaRPr lang="en-US" dirty="0"/>
          </a:p>
          <a:p>
            <a:r>
              <a:rPr lang="en-US" dirty="0"/>
              <a:t>They inhibit the desire to change</a:t>
            </a:r>
          </a:p>
          <a:p>
            <a:r>
              <a:rPr lang="en-US" dirty="0"/>
              <a:t>They can become dysfunctional and destructive</a:t>
            </a: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t>An organizational map</a:t>
            </a:r>
          </a:p>
        </p:txBody>
      </p:sp>
      <p:sp>
        <p:nvSpPr>
          <p:cNvPr id="12291" name="Line 3"/>
          <p:cNvSpPr>
            <a:spLocks noChangeShapeType="1"/>
          </p:cNvSpPr>
          <p:nvPr/>
        </p:nvSpPr>
        <p:spPr bwMode="auto">
          <a:xfrm>
            <a:off x="5689600" y="2209800"/>
            <a:ext cx="0" cy="4419600"/>
          </a:xfrm>
          <a:prstGeom prst="line">
            <a:avLst/>
          </a:prstGeom>
          <a:noFill/>
          <a:ln w="9525">
            <a:solidFill>
              <a:schemeClr val="tx1"/>
            </a:solidFill>
            <a:round/>
            <a:headEnd/>
            <a:tailEnd/>
          </a:ln>
        </p:spPr>
        <p:txBody>
          <a:bodyPr/>
          <a:lstStyle/>
          <a:p>
            <a:endParaRPr lang="en-US"/>
          </a:p>
        </p:txBody>
      </p:sp>
      <p:sp>
        <p:nvSpPr>
          <p:cNvPr id="12295" name="Text Box 7"/>
          <p:cNvSpPr txBox="1">
            <a:spLocks noChangeArrowheads="1"/>
          </p:cNvSpPr>
          <p:nvPr/>
        </p:nvSpPr>
        <p:spPr bwMode="auto">
          <a:xfrm>
            <a:off x="5791200" y="1981200"/>
            <a:ext cx="3962400" cy="369332"/>
          </a:xfrm>
          <a:prstGeom prst="rect">
            <a:avLst/>
          </a:prstGeom>
          <a:noFill/>
          <a:ln w="9525">
            <a:noFill/>
            <a:miter lim="800000"/>
            <a:headEnd/>
            <a:tailEnd/>
          </a:ln>
        </p:spPr>
        <p:txBody>
          <a:bodyPr>
            <a:spAutoFit/>
          </a:bodyPr>
          <a:lstStyle/>
          <a:p>
            <a:pPr>
              <a:spcBef>
                <a:spcPct val="50000"/>
              </a:spcBef>
            </a:pPr>
            <a:r>
              <a:rPr lang="en-US"/>
              <a:t>flexibility</a:t>
            </a:r>
          </a:p>
        </p:txBody>
      </p:sp>
      <p:sp>
        <p:nvSpPr>
          <p:cNvPr id="12296" name="Text Box 8"/>
          <p:cNvSpPr txBox="1">
            <a:spLocks noChangeArrowheads="1"/>
          </p:cNvSpPr>
          <p:nvPr/>
        </p:nvSpPr>
        <p:spPr bwMode="auto">
          <a:xfrm>
            <a:off x="5892800" y="6172200"/>
            <a:ext cx="1524000" cy="369332"/>
          </a:xfrm>
          <a:prstGeom prst="rect">
            <a:avLst/>
          </a:prstGeom>
          <a:noFill/>
          <a:ln w="9525">
            <a:noFill/>
            <a:miter lim="800000"/>
            <a:headEnd/>
            <a:tailEnd/>
          </a:ln>
        </p:spPr>
        <p:txBody>
          <a:bodyPr>
            <a:spAutoFit/>
          </a:bodyPr>
          <a:lstStyle/>
          <a:p>
            <a:pPr>
              <a:spcBef>
                <a:spcPct val="50000"/>
              </a:spcBef>
            </a:pPr>
            <a:r>
              <a:rPr lang="en-US"/>
              <a:t>control</a:t>
            </a:r>
          </a:p>
        </p:txBody>
      </p:sp>
      <p:sp>
        <p:nvSpPr>
          <p:cNvPr id="12298" name="Line 10"/>
          <p:cNvSpPr>
            <a:spLocks noChangeShapeType="1"/>
          </p:cNvSpPr>
          <p:nvPr/>
        </p:nvSpPr>
        <p:spPr bwMode="auto">
          <a:xfrm>
            <a:off x="2540000" y="3962400"/>
            <a:ext cx="6502400" cy="0"/>
          </a:xfrm>
          <a:prstGeom prst="line">
            <a:avLst/>
          </a:prstGeom>
          <a:noFill/>
          <a:ln w="9525">
            <a:solidFill>
              <a:schemeClr val="tx1"/>
            </a:solidFill>
            <a:round/>
            <a:headEnd/>
            <a:tailEnd/>
          </a:ln>
        </p:spPr>
        <p:txBody>
          <a:bodyPr/>
          <a:lstStyle/>
          <a:p>
            <a:endParaRPr lang="en-US"/>
          </a:p>
        </p:txBody>
      </p:sp>
      <p:sp>
        <p:nvSpPr>
          <p:cNvPr id="12299" name="Text Box 11"/>
          <p:cNvSpPr txBox="1">
            <a:spLocks noChangeArrowheads="1"/>
          </p:cNvSpPr>
          <p:nvPr/>
        </p:nvSpPr>
        <p:spPr bwMode="auto">
          <a:xfrm>
            <a:off x="0" y="3733800"/>
            <a:ext cx="2438400" cy="369332"/>
          </a:xfrm>
          <a:prstGeom prst="rect">
            <a:avLst/>
          </a:prstGeom>
          <a:noFill/>
          <a:ln w="9525">
            <a:noFill/>
            <a:miter lim="800000"/>
            <a:headEnd/>
            <a:tailEnd/>
          </a:ln>
        </p:spPr>
        <p:txBody>
          <a:bodyPr>
            <a:spAutoFit/>
          </a:bodyPr>
          <a:lstStyle/>
          <a:p>
            <a:pPr>
              <a:spcBef>
                <a:spcPct val="50000"/>
              </a:spcBef>
            </a:pPr>
            <a:r>
              <a:rPr lang="en-US"/>
              <a:t>internal</a:t>
            </a:r>
          </a:p>
        </p:txBody>
      </p:sp>
      <p:sp>
        <p:nvSpPr>
          <p:cNvPr id="12300" name="Text Box 12"/>
          <p:cNvSpPr txBox="1">
            <a:spLocks noChangeArrowheads="1"/>
          </p:cNvSpPr>
          <p:nvPr/>
        </p:nvSpPr>
        <p:spPr bwMode="auto">
          <a:xfrm>
            <a:off x="9448800" y="3810000"/>
            <a:ext cx="2438400" cy="369332"/>
          </a:xfrm>
          <a:prstGeom prst="rect">
            <a:avLst/>
          </a:prstGeom>
          <a:noFill/>
          <a:ln w="9525">
            <a:noFill/>
            <a:miter lim="800000"/>
            <a:headEnd/>
            <a:tailEnd/>
          </a:ln>
        </p:spPr>
        <p:txBody>
          <a:bodyPr>
            <a:spAutoFit/>
          </a:bodyPr>
          <a:lstStyle/>
          <a:p>
            <a:pPr>
              <a:spcBef>
                <a:spcPct val="50000"/>
              </a:spcBef>
            </a:pPr>
            <a:r>
              <a:rPr lang="en-US"/>
              <a:t>External</a:t>
            </a:r>
          </a:p>
        </p:txBody>
      </p:sp>
      <p:sp>
        <p:nvSpPr>
          <p:cNvPr id="12301" name="Text Box 13"/>
          <p:cNvSpPr txBox="1">
            <a:spLocks noChangeArrowheads="1"/>
          </p:cNvSpPr>
          <p:nvPr/>
        </p:nvSpPr>
        <p:spPr bwMode="auto">
          <a:xfrm>
            <a:off x="812800" y="4876800"/>
            <a:ext cx="4267200" cy="369332"/>
          </a:xfrm>
          <a:prstGeom prst="rect">
            <a:avLst/>
          </a:prstGeom>
          <a:noFill/>
          <a:ln w="9525">
            <a:noFill/>
            <a:miter lim="800000"/>
            <a:headEnd/>
            <a:tailEnd/>
          </a:ln>
        </p:spPr>
        <p:txBody>
          <a:bodyPr>
            <a:spAutoFit/>
          </a:bodyPr>
          <a:lstStyle/>
          <a:p>
            <a:pPr>
              <a:spcBef>
                <a:spcPct val="50000"/>
              </a:spcBef>
            </a:pPr>
            <a:r>
              <a:rPr lang="en-US"/>
              <a:t>Classic bureaucracy</a:t>
            </a:r>
          </a:p>
        </p:txBody>
      </p:sp>
      <p:sp>
        <p:nvSpPr>
          <p:cNvPr id="12302" name="Text Box 14"/>
          <p:cNvSpPr txBox="1">
            <a:spLocks noChangeArrowheads="1"/>
          </p:cNvSpPr>
          <p:nvPr/>
        </p:nvSpPr>
        <p:spPr bwMode="auto">
          <a:xfrm>
            <a:off x="1219200" y="5410200"/>
            <a:ext cx="4165600" cy="369332"/>
          </a:xfrm>
          <a:prstGeom prst="rect">
            <a:avLst/>
          </a:prstGeom>
          <a:noFill/>
          <a:ln w="9525">
            <a:noFill/>
            <a:miter lim="800000"/>
            <a:headEnd/>
            <a:tailEnd/>
          </a:ln>
        </p:spPr>
        <p:txBody>
          <a:bodyPr>
            <a:spAutoFit/>
          </a:bodyPr>
          <a:lstStyle/>
          <a:p>
            <a:pPr>
              <a:spcBef>
                <a:spcPct val="50000"/>
              </a:spcBef>
            </a:pPr>
            <a:r>
              <a:rPr lang="en-US"/>
              <a:t>(The machine)</a:t>
            </a:r>
          </a:p>
        </p:txBody>
      </p:sp>
      <p:sp>
        <p:nvSpPr>
          <p:cNvPr id="12303" name="Text Box 15"/>
          <p:cNvSpPr txBox="1">
            <a:spLocks noChangeArrowheads="1"/>
          </p:cNvSpPr>
          <p:nvPr/>
        </p:nvSpPr>
        <p:spPr bwMode="auto">
          <a:xfrm>
            <a:off x="2336800" y="2362200"/>
            <a:ext cx="3149600" cy="784830"/>
          </a:xfrm>
          <a:prstGeom prst="rect">
            <a:avLst/>
          </a:prstGeom>
          <a:noFill/>
          <a:ln w="9525">
            <a:noFill/>
            <a:miter lim="800000"/>
            <a:headEnd/>
            <a:tailEnd/>
          </a:ln>
        </p:spPr>
        <p:txBody>
          <a:bodyPr>
            <a:spAutoFit/>
          </a:bodyPr>
          <a:lstStyle/>
          <a:p>
            <a:pPr>
              <a:spcBef>
                <a:spcPct val="50000"/>
              </a:spcBef>
            </a:pPr>
            <a:r>
              <a:rPr lang="en-US"/>
              <a:t>Human relations</a:t>
            </a:r>
          </a:p>
          <a:p>
            <a:pPr>
              <a:spcBef>
                <a:spcPct val="50000"/>
              </a:spcBef>
            </a:pPr>
            <a:endParaRPr lang="en-US"/>
          </a:p>
        </p:txBody>
      </p:sp>
      <p:sp>
        <p:nvSpPr>
          <p:cNvPr id="12304" name="Text Box 16"/>
          <p:cNvSpPr txBox="1">
            <a:spLocks noChangeArrowheads="1"/>
          </p:cNvSpPr>
          <p:nvPr/>
        </p:nvSpPr>
        <p:spPr bwMode="auto">
          <a:xfrm>
            <a:off x="2641601" y="3352800"/>
            <a:ext cx="1299074" cy="369332"/>
          </a:xfrm>
          <a:prstGeom prst="rect">
            <a:avLst/>
          </a:prstGeom>
          <a:noFill/>
          <a:ln w="9525">
            <a:noFill/>
            <a:miter lim="800000"/>
            <a:headEnd/>
            <a:tailEnd/>
          </a:ln>
        </p:spPr>
        <p:txBody>
          <a:bodyPr wrap="none">
            <a:spAutoFit/>
          </a:bodyPr>
          <a:lstStyle/>
          <a:p>
            <a:r>
              <a:rPr lang="en-US"/>
              <a:t>(The family)</a:t>
            </a:r>
          </a:p>
        </p:txBody>
      </p:sp>
      <p:sp>
        <p:nvSpPr>
          <p:cNvPr id="12305" name="Text Box 17"/>
          <p:cNvSpPr txBox="1">
            <a:spLocks noChangeArrowheads="1"/>
          </p:cNvSpPr>
          <p:nvPr/>
        </p:nvSpPr>
        <p:spPr bwMode="auto">
          <a:xfrm>
            <a:off x="6786033" y="2403475"/>
            <a:ext cx="1487780" cy="369332"/>
          </a:xfrm>
          <a:prstGeom prst="rect">
            <a:avLst/>
          </a:prstGeom>
          <a:noFill/>
          <a:ln w="9525">
            <a:noFill/>
            <a:miter lim="800000"/>
            <a:headEnd/>
            <a:tailEnd/>
          </a:ln>
        </p:spPr>
        <p:txBody>
          <a:bodyPr wrap="none">
            <a:spAutoFit/>
          </a:bodyPr>
          <a:lstStyle/>
          <a:p>
            <a:r>
              <a:rPr lang="en-US"/>
              <a:t>Open systems</a:t>
            </a:r>
          </a:p>
        </p:txBody>
      </p:sp>
      <p:sp>
        <p:nvSpPr>
          <p:cNvPr id="12307" name="Text Box 19"/>
          <p:cNvSpPr txBox="1">
            <a:spLocks noChangeArrowheads="1"/>
          </p:cNvSpPr>
          <p:nvPr/>
        </p:nvSpPr>
        <p:spPr bwMode="auto">
          <a:xfrm>
            <a:off x="6299200" y="3352800"/>
            <a:ext cx="3251200" cy="369332"/>
          </a:xfrm>
          <a:prstGeom prst="rect">
            <a:avLst/>
          </a:prstGeom>
          <a:noFill/>
          <a:ln w="9525">
            <a:noFill/>
            <a:miter lim="800000"/>
            <a:headEnd/>
            <a:tailEnd/>
          </a:ln>
        </p:spPr>
        <p:txBody>
          <a:bodyPr>
            <a:spAutoFit/>
          </a:bodyPr>
          <a:lstStyle/>
          <a:p>
            <a:pPr>
              <a:spcBef>
                <a:spcPct val="50000"/>
              </a:spcBef>
            </a:pPr>
            <a:r>
              <a:rPr lang="en-US"/>
              <a:t>(The Organism)</a:t>
            </a:r>
          </a:p>
        </p:txBody>
      </p:sp>
      <p:sp>
        <p:nvSpPr>
          <p:cNvPr id="12308" name="Text Box 20"/>
          <p:cNvSpPr txBox="1">
            <a:spLocks noChangeArrowheads="1"/>
          </p:cNvSpPr>
          <p:nvPr/>
        </p:nvSpPr>
        <p:spPr bwMode="auto">
          <a:xfrm>
            <a:off x="6299200" y="4495800"/>
            <a:ext cx="2946400" cy="369332"/>
          </a:xfrm>
          <a:prstGeom prst="rect">
            <a:avLst/>
          </a:prstGeom>
          <a:noFill/>
          <a:ln w="9525">
            <a:noFill/>
            <a:miter lim="800000"/>
            <a:headEnd/>
            <a:tailEnd/>
          </a:ln>
        </p:spPr>
        <p:txBody>
          <a:bodyPr>
            <a:spAutoFit/>
          </a:bodyPr>
          <a:lstStyle/>
          <a:p>
            <a:pPr>
              <a:spcBef>
                <a:spcPct val="50000"/>
              </a:spcBef>
            </a:pPr>
            <a:r>
              <a:rPr lang="en-US"/>
              <a:t>Planning</a:t>
            </a:r>
          </a:p>
        </p:txBody>
      </p:sp>
      <p:sp>
        <p:nvSpPr>
          <p:cNvPr id="12311" name="Text Box 23"/>
          <p:cNvSpPr txBox="1">
            <a:spLocks noChangeArrowheads="1"/>
          </p:cNvSpPr>
          <p:nvPr/>
        </p:nvSpPr>
        <p:spPr bwMode="auto">
          <a:xfrm>
            <a:off x="6074834" y="5222875"/>
            <a:ext cx="1151277" cy="369332"/>
          </a:xfrm>
          <a:prstGeom prst="rect">
            <a:avLst/>
          </a:prstGeom>
          <a:noFill/>
          <a:ln w="9525">
            <a:noFill/>
            <a:miter lim="800000"/>
            <a:headEnd/>
            <a:tailEnd/>
          </a:ln>
        </p:spPr>
        <p:txBody>
          <a:bodyPr wrap="none">
            <a:spAutoFit/>
          </a:bodyPr>
          <a:lstStyle/>
          <a:p>
            <a:r>
              <a:rPr lang="en-US"/>
              <a:t>(The Firm)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additive="base">
                                        <p:cTn id="7" dur="500" fill="hold"/>
                                        <p:tgtEl>
                                          <p:spTgt spid="12291"/>
                                        </p:tgtEl>
                                        <p:attrNameLst>
                                          <p:attrName>ppt_x</p:attrName>
                                        </p:attrNameLst>
                                      </p:cBhvr>
                                      <p:tavLst>
                                        <p:tav tm="0">
                                          <p:val>
                                            <p:strVal val="#ppt_x"/>
                                          </p:val>
                                        </p:tav>
                                        <p:tav tm="100000">
                                          <p:val>
                                            <p:strVal val="#ppt_x"/>
                                          </p:val>
                                        </p:tav>
                                      </p:tavLst>
                                    </p:anim>
                                    <p:anim calcmode="lin" valueType="num">
                                      <p:cBhvr additive="base">
                                        <p:cTn id="8" dur="500" fill="hold"/>
                                        <p:tgtEl>
                                          <p:spTgt spid="12291"/>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295"/>
                                        </p:tgtEl>
                                        <p:attrNameLst>
                                          <p:attrName>style.visibility</p:attrName>
                                        </p:attrNameLst>
                                      </p:cBhvr>
                                      <p:to>
                                        <p:strVal val="visible"/>
                                      </p:to>
                                    </p:set>
                                    <p:anim calcmode="lin" valueType="num">
                                      <p:cBhvr additive="base">
                                        <p:cTn id="13" dur="500" fill="hold"/>
                                        <p:tgtEl>
                                          <p:spTgt spid="12295"/>
                                        </p:tgtEl>
                                        <p:attrNameLst>
                                          <p:attrName>ppt_x</p:attrName>
                                        </p:attrNameLst>
                                      </p:cBhvr>
                                      <p:tavLst>
                                        <p:tav tm="0">
                                          <p:val>
                                            <p:strVal val="0-#ppt_w/2"/>
                                          </p:val>
                                        </p:tav>
                                        <p:tav tm="100000">
                                          <p:val>
                                            <p:strVal val="#ppt_x"/>
                                          </p:val>
                                        </p:tav>
                                      </p:tavLst>
                                    </p:anim>
                                    <p:anim calcmode="lin" valueType="num">
                                      <p:cBhvr additive="base">
                                        <p:cTn id="14" dur="500" fill="hold"/>
                                        <p:tgtEl>
                                          <p:spTgt spid="1229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296"/>
                                        </p:tgtEl>
                                        <p:attrNameLst>
                                          <p:attrName>style.visibility</p:attrName>
                                        </p:attrNameLst>
                                      </p:cBhvr>
                                      <p:to>
                                        <p:strVal val="visible"/>
                                      </p:to>
                                    </p:set>
                                    <p:anim calcmode="lin" valueType="num">
                                      <p:cBhvr additive="base">
                                        <p:cTn id="19" dur="500" fill="hold"/>
                                        <p:tgtEl>
                                          <p:spTgt spid="12296"/>
                                        </p:tgtEl>
                                        <p:attrNameLst>
                                          <p:attrName>ppt_x</p:attrName>
                                        </p:attrNameLst>
                                      </p:cBhvr>
                                      <p:tavLst>
                                        <p:tav tm="0">
                                          <p:val>
                                            <p:strVal val="0-#ppt_w/2"/>
                                          </p:val>
                                        </p:tav>
                                        <p:tav tm="100000">
                                          <p:val>
                                            <p:strVal val="#ppt_x"/>
                                          </p:val>
                                        </p:tav>
                                      </p:tavLst>
                                    </p:anim>
                                    <p:anim calcmode="lin" valueType="num">
                                      <p:cBhvr additive="base">
                                        <p:cTn id="20" dur="500" fill="hold"/>
                                        <p:tgtEl>
                                          <p:spTgt spid="1229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298"/>
                                        </p:tgtEl>
                                        <p:attrNameLst>
                                          <p:attrName>style.visibility</p:attrName>
                                        </p:attrNameLst>
                                      </p:cBhvr>
                                      <p:to>
                                        <p:strVal val="visible"/>
                                      </p:to>
                                    </p:set>
                                    <p:anim calcmode="lin" valueType="num">
                                      <p:cBhvr additive="base">
                                        <p:cTn id="25" dur="500" fill="hold"/>
                                        <p:tgtEl>
                                          <p:spTgt spid="12298"/>
                                        </p:tgtEl>
                                        <p:attrNameLst>
                                          <p:attrName>ppt_x</p:attrName>
                                        </p:attrNameLst>
                                      </p:cBhvr>
                                      <p:tavLst>
                                        <p:tav tm="0">
                                          <p:val>
                                            <p:strVal val="0-#ppt_w/2"/>
                                          </p:val>
                                        </p:tav>
                                        <p:tav tm="100000">
                                          <p:val>
                                            <p:strVal val="#ppt_x"/>
                                          </p:val>
                                        </p:tav>
                                      </p:tavLst>
                                    </p:anim>
                                    <p:anim calcmode="lin" valueType="num">
                                      <p:cBhvr additive="base">
                                        <p:cTn id="26" dur="500" fill="hold"/>
                                        <p:tgtEl>
                                          <p:spTgt spid="1229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2299"/>
                                        </p:tgtEl>
                                        <p:attrNameLst>
                                          <p:attrName>style.visibility</p:attrName>
                                        </p:attrNameLst>
                                      </p:cBhvr>
                                      <p:to>
                                        <p:strVal val="visible"/>
                                      </p:to>
                                    </p:set>
                                    <p:anim calcmode="lin" valueType="num">
                                      <p:cBhvr additive="base">
                                        <p:cTn id="31" dur="500" fill="hold"/>
                                        <p:tgtEl>
                                          <p:spTgt spid="12299"/>
                                        </p:tgtEl>
                                        <p:attrNameLst>
                                          <p:attrName>ppt_x</p:attrName>
                                        </p:attrNameLst>
                                      </p:cBhvr>
                                      <p:tavLst>
                                        <p:tav tm="0">
                                          <p:val>
                                            <p:strVal val="0-#ppt_w/2"/>
                                          </p:val>
                                        </p:tav>
                                        <p:tav tm="100000">
                                          <p:val>
                                            <p:strVal val="#ppt_x"/>
                                          </p:val>
                                        </p:tav>
                                      </p:tavLst>
                                    </p:anim>
                                    <p:anim calcmode="lin" valueType="num">
                                      <p:cBhvr additive="base">
                                        <p:cTn id="32" dur="500" fill="hold"/>
                                        <p:tgtEl>
                                          <p:spTgt spid="1229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2300"/>
                                        </p:tgtEl>
                                        <p:attrNameLst>
                                          <p:attrName>style.visibility</p:attrName>
                                        </p:attrNameLst>
                                      </p:cBhvr>
                                      <p:to>
                                        <p:strVal val="visible"/>
                                      </p:to>
                                    </p:set>
                                    <p:anim calcmode="lin" valueType="num">
                                      <p:cBhvr additive="base">
                                        <p:cTn id="37" dur="500" fill="hold"/>
                                        <p:tgtEl>
                                          <p:spTgt spid="12300"/>
                                        </p:tgtEl>
                                        <p:attrNameLst>
                                          <p:attrName>ppt_x</p:attrName>
                                        </p:attrNameLst>
                                      </p:cBhvr>
                                      <p:tavLst>
                                        <p:tav tm="0">
                                          <p:val>
                                            <p:strVal val="0-#ppt_w/2"/>
                                          </p:val>
                                        </p:tav>
                                        <p:tav tm="100000">
                                          <p:val>
                                            <p:strVal val="#ppt_x"/>
                                          </p:val>
                                        </p:tav>
                                      </p:tavLst>
                                    </p:anim>
                                    <p:anim calcmode="lin" valueType="num">
                                      <p:cBhvr additive="base">
                                        <p:cTn id="38" dur="500" fill="hold"/>
                                        <p:tgtEl>
                                          <p:spTgt spid="1230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2301"/>
                                        </p:tgtEl>
                                        <p:attrNameLst>
                                          <p:attrName>style.visibility</p:attrName>
                                        </p:attrNameLst>
                                      </p:cBhvr>
                                      <p:to>
                                        <p:strVal val="visible"/>
                                      </p:to>
                                    </p:set>
                                    <p:anim calcmode="lin" valueType="num">
                                      <p:cBhvr additive="base">
                                        <p:cTn id="43" dur="500" fill="hold"/>
                                        <p:tgtEl>
                                          <p:spTgt spid="12301"/>
                                        </p:tgtEl>
                                        <p:attrNameLst>
                                          <p:attrName>ppt_x</p:attrName>
                                        </p:attrNameLst>
                                      </p:cBhvr>
                                      <p:tavLst>
                                        <p:tav tm="0">
                                          <p:val>
                                            <p:strVal val="0-#ppt_w/2"/>
                                          </p:val>
                                        </p:tav>
                                        <p:tav tm="100000">
                                          <p:val>
                                            <p:strVal val="#ppt_x"/>
                                          </p:val>
                                        </p:tav>
                                      </p:tavLst>
                                    </p:anim>
                                    <p:anim calcmode="lin" valueType="num">
                                      <p:cBhvr additive="base">
                                        <p:cTn id="44" dur="500" fill="hold"/>
                                        <p:tgtEl>
                                          <p:spTgt spid="1230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2302"/>
                                        </p:tgtEl>
                                        <p:attrNameLst>
                                          <p:attrName>style.visibility</p:attrName>
                                        </p:attrNameLst>
                                      </p:cBhvr>
                                      <p:to>
                                        <p:strVal val="visible"/>
                                      </p:to>
                                    </p:set>
                                    <p:anim calcmode="lin" valueType="num">
                                      <p:cBhvr additive="base">
                                        <p:cTn id="49" dur="500" fill="hold"/>
                                        <p:tgtEl>
                                          <p:spTgt spid="12302"/>
                                        </p:tgtEl>
                                        <p:attrNameLst>
                                          <p:attrName>ppt_x</p:attrName>
                                        </p:attrNameLst>
                                      </p:cBhvr>
                                      <p:tavLst>
                                        <p:tav tm="0">
                                          <p:val>
                                            <p:strVal val="0-#ppt_w/2"/>
                                          </p:val>
                                        </p:tav>
                                        <p:tav tm="100000">
                                          <p:val>
                                            <p:strVal val="#ppt_x"/>
                                          </p:val>
                                        </p:tav>
                                      </p:tavLst>
                                    </p:anim>
                                    <p:anim calcmode="lin" valueType="num">
                                      <p:cBhvr additive="base">
                                        <p:cTn id="50" dur="500" fill="hold"/>
                                        <p:tgtEl>
                                          <p:spTgt spid="12302"/>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2303"/>
                                        </p:tgtEl>
                                        <p:attrNameLst>
                                          <p:attrName>style.visibility</p:attrName>
                                        </p:attrNameLst>
                                      </p:cBhvr>
                                      <p:to>
                                        <p:strVal val="visible"/>
                                      </p:to>
                                    </p:set>
                                    <p:anim calcmode="lin" valueType="num">
                                      <p:cBhvr additive="base">
                                        <p:cTn id="55" dur="500" fill="hold"/>
                                        <p:tgtEl>
                                          <p:spTgt spid="12303"/>
                                        </p:tgtEl>
                                        <p:attrNameLst>
                                          <p:attrName>ppt_x</p:attrName>
                                        </p:attrNameLst>
                                      </p:cBhvr>
                                      <p:tavLst>
                                        <p:tav tm="0">
                                          <p:val>
                                            <p:strVal val="0-#ppt_w/2"/>
                                          </p:val>
                                        </p:tav>
                                        <p:tav tm="100000">
                                          <p:val>
                                            <p:strVal val="#ppt_x"/>
                                          </p:val>
                                        </p:tav>
                                      </p:tavLst>
                                    </p:anim>
                                    <p:anim calcmode="lin" valueType="num">
                                      <p:cBhvr additive="base">
                                        <p:cTn id="56" dur="500" fill="hold"/>
                                        <p:tgtEl>
                                          <p:spTgt spid="12303"/>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2304"/>
                                        </p:tgtEl>
                                        <p:attrNameLst>
                                          <p:attrName>style.visibility</p:attrName>
                                        </p:attrNameLst>
                                      </p:cBhvr>
                                      <p:to>
                                        <p:strVal val="visible"/>
                                      </p:to>
                                    </p:set>
                                    <p:anim calcmode="lin" valueType="num">
                                      <p:cBhvr additive="base">
                                        <p:cTn id="61" dur="500" fill="hold"/>
                                        <p:tgtEl>
                                          <p:spTgt spid="12304"/>
                                        </p:tgtEl>
                                        <p:attrNameLst>
                                          <p:attrName>ppt_x</p:attrName>
                                        </p:attrNameLst>
                                      </p:cBhvr>
                                      <p:tavLst>
                                        <p:tav tm="0">
                                          <p:val>
                                            <p:strVal val="0-#ppt_w/2"/>
                                          </p:val>
                                        </p:tav>
                                        <p:tav tm="100000">
                                          <p:val>
                                            <p:strVal val="#ppt_x"/>
                                          </p:val>
                                        </p:tav>
                                      </p:tavLst>
                                    </p:anim>
                                    <p:anim calcmode="lin" valueType="num">
                                      <p:cBhvr additive="base">
                                        <p:cTn id="62" dur="500" fill="hold"/>
                                        <p:tgtEl>
                                          <p:spTgt spid="12304"/>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2305"/>
                                        </p:tgtEl>
                                        <p:attrNameLst>
                                          <p:attrName>style.visibility</p:attrName>
                                        </p:attrNameLst>
                                      </p:cBhvr>
                                      <p:to>
                                        <p:strVal val="visible"/>
                                      </p:to>
                                    </p:set>
                                    <p:anim calcmode="lin" valueType="num">
                                      <p:cBhvr additive="base">
                                        <p:cTn id="67" dur="500" fill="hold"/>
                                        <p:tgtEl>
                                          <p:spTgt spid="12305"/>
                                        </p:tgtEl>
                                        <p:attrNameLst>
                                          <p:attrName>ppt_x</p:attrName>
                                        </p:attrNameLst>
                                      </p:cBhvr>
                                      <p:tavLst>
                                        <p:tav tm="0">
                                          <p:val>
                                            <p:strVal val="0-#ppt_w/2"/>
                                          </p:val>
                                        </p:tav>
                                        <p:tav tm="100000">
                                          <p:val>
                                            <p:strVal val="#ppt_x"/>
                                          </p:val>
                                        </p:tav>
                                      </p:tavLst>
                                    </p:anim>
                                    <p:anim calcmode="lin" valueType="num">
                                      <p:cBhvr additive="base">
                                        <p:cTn id="68" dur="500" fill="hold"/>
                                        <p:tgtEl>
                                          <p:spTgt spid="1230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2307"/>
                                        </p:tgtEl>
                                        <p:attrNameLst>
                                          <p:attrName>style.visibility</p:attrName>
                                        </p:attrNameLst>
                                      </p:cBhvr>
                                      <p:to>
                                        <p:strVal val="visible"/>
                                      </p:to>
                                    </p:set>
                                    <p:anim calcmode="lin" valueType="num">
                                      <p:cBhvr additive="base">
                                        <p:cTn id="73" dur="500" fill="hold"/>
                                        <p:tgtEl>
                                          <p:spTgt spid="12307"/>
                                        </p:tgtEl>
                                        <p:attrNameLst>
                                          <p:attrName>ppt_x</p:attrName>
                                        </p:attrNameLst>
                                      </p:cBhvr>
                                      <p:tavLst>
                                        <p:tav tm="0">
                                          <p:val>
                                            <p:strVal val="0-#ppt_w/2"/>
                                          </p:val>
                                        </p:tav>
                                        <p:tav tm="100000">
                                          <p:val>
                                            <p:strVal val="#ppt_x"/>
                                          </p:val>
                                        </p:tav>
                                      </p:tavLst>
                                    </p:anim>
                                    <p:anim calcmode="lin" valueType="num">
                                      <p:cBhvr additive="base">
                                        <p:cTn id="74" dur="500" fill="hold"/>
                                        <p:tgtEl>
                                          <p:spTgt spid="12307"/>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2308"/>
                                        </p:tgtEl>
                                        <p:attrNameLst>
                                          <p:attrName>style.visibility</p:attrName>
                                        </p:attrNameLst>
                                      </p:cBhvr>
                                      <p:to>
                                        <p:strVal val="visible"/>
                                      </p:to>
                                    </p:set>
                                    <p:anim calcmode="lin" valueType="num">
                                      <p:cBhvr additive="base">
                                        <p:cTn id="79" dur="500" fill="hold"/>
                                        <p:tgtEl>
                                          <p:spTgt spid="12308"/>
                                        </p:tgtEl>
                                        <p:attrNameLst>
                                          <p:attrName>ppt_x</p:attrName>
                                        </p:attrNameLst>
                                      </p:cBhvr>
                                      <p:tavLst>
                                        <p:tav tm="0">
                                          <p:val>
                                            <p:strVal val="0-#ppt_w/2"/>
                                          </p:val>
                                        </p:tav>
                                        <p:tav tm="100000">
                                          <p:val>
                                            <p:strVal val="#ppt_x"/>
                                          </p:val>
                                        </p:tav>
                                      </p:tavLst>
                                    </p:anim>
                                    <p:anim calcmode="lin" valueType="num">
                                      <p:cBhvr additive="base">
                                        <p:cTn id="80" dur="500" fill="hold"/>
                                        <p:tgtEl>
                                          <p:spTgt spid="12308"/>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12311"/>
                                        </p:tgtEl>
                                        <p:attrNameLst>
                                          <p:attrName>style.visibility</p:attrName>
                                        </p:attrNameLst>
                                      </p:cBhvr>
                                      <p:to>
                                        <p:strVal val="visible"/>
                                      </p:to>
                                    </p:set>
                                    <p:anim calcmode="lin" valueType="num">
                                      <p:cBhvr additive="base">
                                        <p:cTn id="85" dur="500" fill="hold"/>
                                        <p:tgtEl>
                                          <p:spTgt spid="12311"/>
                                        </p:tgtEl>
                                        <p:attrNameLst>
                                          <p:attrName>ppt_x</p:attrName>
                                        </p:attrNameLst>
                                      </p:cBhvr>
                                      <p:tavLst>
                                        <p:tav tm="0">
                                          <p:val>
                                            <p:strVal val="0-#ppt_w/2"/>
                                          </p:val>
                                        </p:tav>
                                        <p:tav tm="100000">
                                          <p:val>
                                            <p:strVal val="#ppt_x"/>
                                          </p:val>
                                        </p:tav>
                                      </p:tavLst>
                                    </p:anim>
                                    <p:anim calcmode="lin" valueType="num">
                                      <p:cBhvr additive="base">
                                        <p:cTn id="86" dur="500" fill="hold"/>
                                        <p:tgtEl>
                                          <p:spTgt spid="123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animBg="1"/>
      <p:bldP spid="12295" grpId="0" autoUpdateAnimBg="0"/>
      <p:bldP spid="12296" grpId="0" autoUpdateAnimBg="0"/>
      <p:bldP spid="12298" grpId="0" animBg="1"/>
      <p:bldP spid="12299" grpId="0" autoUpdateAnimBg="0"/>
      <p:bldP spid="12300" grpId="0" autoUpdateAnimBg="0"/>
      <p:bldP spid="12301" grpId="0" autoUpdateAnimBg="0"/>
      <p:bldP spid="12302" grpId="0" autoUpdateAnimBg="0"/>
      <p:bldP spid="12303" grpId="0" autoUpdateAnimBg="0"/>
      <p:bldP spid="12304" grpId="0" autoUpdateAnimBg="0"/>
      <p:bldP spid="12305" grpId="0" autoUpdateAnimBg="0"/>
      <p:bldP spid="12307" grpId="0" autoUpdateAnimBg="0"/>
      <p:bldP spid="12308" grpId="0" autoUpdateAnimBg="0"/>
      <p:bldP spid="12311"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A brief intellectual history</a:t>
            </a:r>
          </a:p>
        </p:txBody>
      </p:sp>
      <p:sp>
        <p:nvSpPr>
          <p:cNvPr id="14339" name="Text Box 3"/>
          <p:cNvSpPr txBox="1">
            <a:spLocks noChangeArrowheads="1"/>
          </p:cNvSpPr>
          <p:nvPr/>
        </p:nvSpPr>
        <p:spPr bwMode="auto">
          <a:xfrm>
            <a:off x="1096434" y="2327275"/>
            <a:ext cx="5401992" cy="369332"/>
          </a:xfrm>
          <a:prstGeom prst="rect">
            <a:avLst/>
          </a:prstGeom>
          <a:noFill/>
          <a:ln w="9525">
            <a:noFill/>
            <a:miter lim="800000"/>
            <a:headEnd/>
            <a:tailEnd/>
          </a:ln>
        </p:spPr>
        <p:txBody>
          <a:bodyPr wrap="none">
            <a:spAutoFit/>
          </a:bodyPr>
          <a:lstStyle/>
          <a:p>
            <a:r>
              <a:rPr lang="en-US"/>
              <a:t>Intellectual history is often presented in a linear fashion</a:t>
            </a:r>
          </a:p>
        </p:txBody>
      </p:sp>
      <p:sp>
        <p:nvSpPr>
          <p:cNvPr id="14343" name="Line 7"/>
          <p:cNvSpPr>
            <a:spLocks noChangeShapeType="1"/>
          </p:cNvSpPr>
          <p:nvPr/>
        </p:nvSpPr>
        <p:spPr bwMode="auto">
          <a:xfrm flipV="1">
            <a:off x="1524000" y="3505200"/>
            <a:ext cx="9652000" cy="1676400"/>
          </a:xfrm>
          <a:prstGeom prst="line">
            <a:avLst/>
          </a:prstGeom>
          <a:noFill/>
          <a:ln w="9525">
            <a:solidFill>
              <a:schemeClr val="tx1"/>
            </a:solidFill>
            <a:round/>
            <a:headEnd/>
            <a:tailEnd type="triangle" w="med" len="med"/>
          </a:ln>
        </p:spPr>
        <p:txBody>
          <a:bodyPr/>
          <a:lstStyle/>
          <a:p>
            <a:endParaRPr lang="en-US"/>
          </a:p>
        </p:txBody>
      </p:sp>
      <p:sp>
        <p:nvSpPr>
          <p:cNvPr id="14344" name="Line 8"/>
          <p:cNvSpPr>
            <a:spLocks noChangeShapeType="1"/>
          </p:cNvSpPr>
          <p:nvPr/>
        </p:nvSpPr>
        <p:spPr bwMode="auto">
          <a:xfrm>
            <a:off x="4165600" y="4191000"/>
            <a:ext cx="0" cy="1447800"/>
          </a:xfrm>
          <a:prstGeom prst="line">
            <a:avLst/>
          </a:prstGeom>
          <a:noFill/>
          <a:ln w="9525">
            <a:solidFill>
              <a:schemeClr val="tx1"/>
            </a:solidFill>
            <a:round/>
            <a:headEnd/>
            <a:tailEnd/>
          </a:ln>
        </p:spPr>
        <p:txBody>
          <a:bodyPr/>
          <a:lstStyle/>
          <a:p>
            <a:endParaRPr lang="en-US"/>
          </a:p>
        </p:txBody>
      </p:sp>
      <p:sp>
        <p:nvSpPr>
          <p:cNvPr id="14345" name="Line 9"/>
          <p:cNvSpPr>
            <a:spLocks noChangeShapeType="1"/>
          </p:cNvSpPr>
          <p:nvPr/>
        </p:nvSpPr>
        <p:spPr bwMode="auto">
          <a:xfrm>
            <a:off x="7518400" y="3733800"/>
            <a:ext cx="0" cy="1600200"/>
          </a:xfrm>
          <a:prstGeom prst="line">
            <a:avLst/>
          </a:prstGeom>
          <a:noFill/>
          <a:ln w="9525">
            <a:solidFill>
              <a:schemeClr val="tx1"/>
            </a:solidFill>
            <a:round/>
            <a:headEnd/>
            <a:tailEnd/>
          </a:ln>
        </p:spPr>
        <p:txBody>
          <a:bodyPr/>
          <a:lstStyle/>
          <a:p>
            <a:endParaRPr lang="en-US"/>
          </a:p>
        </p:txBody>
      </p:sp>
      <p:sp>
        <p:nvSpPr>
          <p:cNvPr id="14346" name="Text Box 10"/>
          <p:cNvSpPr txBox="1">
            <a:spLocks noChangeArrowheads="1"/>
          </p:cNvSpPr>
          <p:nvPr/>
        </p:nvSpPr>
        <p:spPr bwMode="auto">
          <a:xfrm>
            <a:off x="1524001" y="4267200"/>
            <a:ext cx="902298" cy="369332"/>
          </a:xfrm>
          <a:prstGeom prst="rect">
            <a:avLst/>
          </a:prstGeom>
          <a:noFill/>
          <a:ln w="9525">
            <a:noFill/>
            <a:miter lim="800000"/>
            <a:headEnd/>
            <a:tailEnd/>
          </a:ln>
        </p:spPr>
        <p:txBody>
          <a:bodyPr wrap="none">
            <a:spAutoFit/>
          </a:bodyPr>
          <a:lstStyle/>
          <a:p>
            <a:r>
              <a:rPr lang="en-US"/>
              <a:t>Ancient</a:t>
            </a:r>
          </a:p>
        </p:txBody>
      </p:sp>
      <p:sp>
        <p:nvSpPr>
          <p:cNvPr id="14347" name="Text Box 11"/>
          <p:cNvSpPr txBox="1">
            <a:spLocks noChangeArrowheads="1"/>
          </p:cNvSpPr>
          <p:nvPr/>
        </p:nvSpPr>
        <p:spPr bwMode="auto">
          <a:xfrm>
            <a:off x="4652433" y="3698875"/>
            <a:ext cx="742704" cy="369332"/>
          </a:xfrm>
          <a:prstGeom prst="rect">
            <a:avLst/>
          </a:prstGeom>
          <a:noFill/>
          <a:ln w="9525">
            <a:noFill/>
            <a:miter lim="800000"/>
            <a:headEnd/>
            <a:tailEnd/>
          </a:ln>
        </p:spPr>
        <p:txBody>
          <a:bodyPr wrap="none">
            <a:spAutoFit/>
          </a:bodyPr>
          <a:lstStyle/>
          <a:p>
            <a:r>
              <a:rPr lang="en-US"/>
              <a:t>Greek</a:t>
            </a:r>
          </a:p>
        </p:txBody>
      </p:sp>
      <p:sp>
        <p:nvSpPr>
          <p:cNvPr id="14350" name="Rectangle 14"/>
          <p:cNvSpPr>
            <a:spLocks noChangeArrowheads="1"/>
          </p:cNvSpPr>
          <p:nvPr/>
        </p:nvSpPr>
        <p:spPr bwMode="auto">
          <a:xfrm>
            <a:off x="5126567" y="4721225"/>
            <a:ext cx="948208" cy="369332"/>
          </a:xfrm>
          <a:prstGeom prst="rect">
            <a:avLst/>
          </a:prstGeom>
          <a:noFill/>
          <a:ln w="9525">
            <a:noFill/>
            <a:miter lim="800000"/>
            <a:headEnd/>
            <a:tailEnd/>
          </a:ln>
        </p:spPr>
        <p:txBody>
          <a:bodyPr wrap="none">
            <a:spAutoFit/>
          </a:bodyPr>
          <a:lstStyle/>
          <a:p>
            <a:r>
              <a:rPr lang="en-US"/>
              <a:t>300 B.C.</a:t>
            </a:r>
          </a:p>
        </p:txBody>
      </p:sp>
      <p:sp>
        <p:nvSpPr>
          <p:cNvPr id="14351" name="Text Box 15"/>
          <p:cNvSpPr txBox="1">
            <a:spLocks noChangeArrowheads="1"/>
          </p:cNvSpPr>
          <p:nvPr/>
        </p:nvSpPr>
        <p:spPr bwMode="auto">
          <a:xfrm>
            <a:off x="7924800" y="2895600"/>
            <a:ext cx="2694517" cy="369332"/>
          </a:xfrm>
          <a:prstGeom prst="rect">
            <a:avLst/>
          </a:prstGeom>
          <a:noFill/>
          <a:ln w="9525">
            <a:noFill/>
            <a:miter lim="800000"/>
            <a:headEnd/>
            <a:tailEnd/>
          </a:ln>
        </p:spPr>
        <p:txBody>
          <a:bodyPr>
            <a:spAutoFit/>
          </a:bodyPr>
          <a:lstStyle/>
          <a:p>
            <a:r>
              <a:rPr lang="en-US"/>
              <a:t>Western</a:t>
            </a:r>
          </a:p>
        </p:txBody>
      </p:sp>
      <p:sp>
        <p:nvSpPr>
          <p:cNvPr id="14352" name="Text Box 16"/>
          <p:cNvSpPr txBox="1">
            <a:spLocks noChangeArrowheads="1"/>
          </p:cNvSpPr>
          <p:nvPr/>
        </p:nvSpPr>
        <p:spPr bwMode="auto">
          <a:xfrm>
            <a:off x="9326034" y="3013075"/>
            <a:ext cx="1086644" cy="369332"/>
          </a:xfrm>
          <a:prstGeom prst="rect">
            <a:avLst/>
          </a:prstGeom>
          <a:noFill/>
          <a:ln w="9525">
            <a:noFill/>
            <a:miter lim="800000"/>
            <a:headEnd/>
            <a:tailEnd/>
          </a:ln>
        </p:spPr>
        <p:txBody>
          <a:bodyPr wrap="none">
            <a:spAutoFit/>
          </a:bodyPr>
          <a:lstStyle/>
          <a:p>
            <a:r>
              <a:rPr lang="en-US"/>
              <a:t>European</a:t>
            </a:r>
          </a:p>
        </p:txBody>
      </p:sp>
      <p:sp>
        <p:nvSpPr>
          <p:cNvPr id="14353" name="Text Box 17"/>
          <p:cNvSpPr txBox="1">
            <a:spLocks noChangeArrowheads="1"/>
          </p:cNvSpPr>
          <p:nvPr/>
        </p:nvSpPr>
        <p:spPr bwMode="auto">
          <a:xfrm>
            <a:off x="8208434" y="4232275"/>
            <a:ext cx="786113" cy="369332"/>
          </a:xfrm>
          <a:prstGeom prst="rect">
            <a:avLst/>
          </a:prstGeom>
          <a:noFill/>
          <a:ln w="9525">
            <a:noFill/>
            <a:miter lim="800000"/>
            <a:headEnd/>
            <a:tailEnd/>
          </a:ln>
        </p:spPr>
        <p:txBody>
          <a:bodyPr wrap="none">
            <a:spAutoFit/>
          </a:bodyPr>
          <a:lstStyle/>
          <a:p>
            <a:r>
              <a:rPr lang="en-US"/>
              <a:t>1700’s</a:t>
            </a:r>
          </a:p>
        </p:txBody>
      </p:sp>
      <p:sp>
        <p:nvSpPr>
          <p:cNvPr id="14354" name="Text Box 18"/>
          <p:cNvSpPr txBox="1">
            <a:spLocks noChangeArrowheads="1"/>
          </p:cNvSpPr>
          <p:nvPr/>
        </p:nvSpPr>
        <p:spPr bwMode="auto">
          <a:xfrm>
            <a:off x="1604434" y="6289675"/>
            <a:ext cx="1251946" cy="369332"/>
          </a:xfrm>
          <a:prstGeom prst="rect">
            <a:avLst/>
          </a:prstGeom>
          <a:noFill/>
          <a:ln w="9525">
            <a:noFill/>
            <a:miter lim="800000"/>
            <a:headEnd/>
            <a:tailEnd/>
          </a:ln>
        </p:spPr>
        <p:txBody>
          <a:bodyPr wrap="none">
            <a:spAutoFit/>
          </a:bodyPr>
          <a:lstStyle/>
          <a:p>
            <a:r>
              <a:rPr lang="en-US"/>
              <a:t>Theological</a:t>
            </a:r>
          </a:p>
        </p:txBody>
      </p:sp>
      <p:sp>
        <p:nvSpPr>
          <p:cNvPr id="14356" name="Text Box 20"/>
          <p:cNvSpPr txBox="1">
            <a:spLocks noChangeArrowheads="1"/>
          </p:cNvSpPr>
          <p:nvPr/>
        </p:nvSpPr>
        <p:spPr bwMode="auto">
          <a:xfrm>
            <a:off x="4347634" y="6213475"/>
            <a:ext cx="1420261" cy="369332"/>
          </a:xfrm>
          <a:prstGeom prst="rect">
            <a:avLst/>
          </a:prstGeom>
          <a:noFill/>
          <a:ln w="9525">
            <a:noFill/>
            <a:miter lim="800000"/>
            <a:headEnd/>
            <a:tailEnd/>
          </a:ln>
        </p:spPr>
        <p:txBody>
          <a:bodyPr wrap="none">
            <a:spAutoFit/>
          </a:bodyPr>
          <a:lstStyle/>
          <a:p>
            <a:r>
              <a:rPr lang="en-US"/>
              <a:t>Philosophical</a:t>
            </a:r>
          </a:p>
        </p:txBody>
      </p:sp>
      <p:sp>
        <p:nvSpPr>
          <p:cNvPr id="14357" name="Text Box 21"/>
          <p:cNvSpPr txBox="1">
            <a:spLocks noChangeArrowheads="1"/>
          </p:cNvSpPr>
          <p:nvPr/>
        </p:nvSpPr>
        <p:spPr bwMode="auto">
          <a:xfrm>
            <a:off x="8026400" y="6324600"/>
            <a:ext cx="2743200" cy="369332"/>
          </a:xfrm>
          <a:prstGeom prst="rect">
            <a:avLst/>
          </a:prstGeom>
          <a:noFill/>
          <a:ln w="9525">
            <a:noFill/>
            <a:miter lim="800000"/>
            <a:headEnd/>
            <a:tailEnd/>
          </a:ln>
        </p:spPr>
        <p:txBody>
          <a:bodyPr>
            <a:spAutoFit/>
          </a:bodyPr>
          <a:lstStyle/>
          <a:p>
            <a:pPr>
              <a:spcBef>
                <a:spcPct val="50000"/>
              </a:spcBef>
            </a:pPr>
            <a:r>
              <a:rPr lang="en-US"/>
              <a:t>Scientific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39"/>
                                        </p:tgtEl>
                                        <p:attrNameLst>
                                          <p:attrName>style.visibility</p:attrName>
                                        </p:attrNameLst>
                                      </p:cBhvr>
                                      <p:to>
                                        <p:strVal val="visible"/>
                                      </p:to>
                                    </p:set>
                                    <p:anim calcmode="lin" valueType="num">
                                      <p:cBhvr additive="base">
                                        <p:cTn id="7" dur="500" fill="hold"/>
                                        <p:tgtEl>
                                          <p:spTgt spid="14339"/>
                                        </p:tgtEl>
                                        <p:attrNameLst>
                                          <p:attrName>ppt_x</p:attrName>
                                        </p:attrNameLst>
                                      </p:cBhvr>
                                      <p:tavLst>
                                        <p:tav tm="0">
                                          <p:val>
                                            <p:strVal val="0-#ppt_w/2"/>
                                          </p:val>
                                        </p:tav>
                                        <p:tav tm="100000">
                                          <p:val>
                                            <p:strVal val="#ppt_x"/>
                                          </p:val>
                                        </p:tav>
                                      </p:tavLst>
                                    </p:anim>
                                    <p:anim calcmode="lin" valueType="num">
                                      <p:cBhvr additive="base">
                                        <p:cTn id="8" dur="500" fill="hold"/>
                                        <p:tgtEl>
                                          <p:spTgt spid="1433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343"/>
                                        </p:tgtEl>
                                        <p:attrNameLst>
                                          <p:attrName>style.visibility</p:attrName>
                                        </p:attrNameLst>
                                      </p:cBhvr>
                                      <p:to>
                                        <p:strVal val="visible"/>
                                      </p:to>
                                    </p:set>
                                    <p:anim calcmode="lin" valueType="num">
                                      <p:cBhvr additive="base">
                                        <p:cTn id="13" dur="500" fill="hold"/>
                                        <p:tgtEl>
                                          <p:spTgt spid="14343"/>
                                        </p:tgtEl>
                                        <p:attrNameLst>
                                          <p:attrName>ppt_x</p:attrName>
                                        </p:attrNameLst>
                                      </p:cBhvr>
                                      <p:tavLst>
                                        <p:tav tm="0">
                                          <p:val>
                                            <p:strVal val="0-#ppt_w/2"/>
                                          </p:val>
                                        </p:tav>
                                        <p:tav tm="100000">
                                          <p:val>
                                            <p:strVal val="#ppt_x"/>
                                          </p:val>
                                        </p:tav>
                                      </p:tavLst>
                                    </p:anim>
                                    <p:anim calcmode="lin" valueType="num">
                                      <p:cBhvr additive="base">
                                        <p:cTn id="14" dur="500" fill="hold"/>
                                        <p:tgtEl>
                                          <p:spTgt spid="1434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344"/>
                                        </p:tgtEl>
                                        <p:attrNameLst>
                                          <p:attrName>style.visibility</p:attrName>
                                        </p:attrNameLst>
                                      </p:cBhvr>
                                      <p:to>
                                        <p:strVal val="visible"/>
                                      </p:to>
                                    </p:set>
                                    <p:anim calcmode="lin" valueType="num">
                                      <p:cBhvr additive="base">
                                        <p:cTn id="19" dur="500" fill="hold"/>
                                        <p:tgtEl>
                                          <p:spTgt spid="14344"/>
                                        </p:tgtEl>
                                        <p:attrNameLst>
                                          <p:attrName>ppt_x</p:attrName>
                                        </p:attrNameLst>
                                      </p:cBhvr>
                                      <p:tavLst>
                                        <p:tav tm="0">
                                          <p:val>
                                            <p:strVal val="0-#ppt_w/2"/>
                                          </p:val>
                                        </p:tav>
                                        <p:tav tm="100000">
                                          <p:val>
                                            <p:strVal val="#ppt_x"/>
                                          </p:val>
                                        </p:tav>
                                      </p:tavLst>
                                    </p:anim>
                                    <p:anim calcmode="lin" valueType="num">
                                      <p:cBhvr additive="base">
                                        <p:cTn id="20" dur="500" fill="hold"/>
                                        <p:tgtEl>
                                          <p:spTgt spid="1434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345"/>
                                        </p:tgtEl>
                                        <p:attrNameLst>
                                          <p:attrName>style.visibility</p:attrName>
                                        </p:attrNameLst>
                                      </p:cBhvr>
                                      <p:to>
                                        <p:strVal val="visible"/>
                                      </p:to>
                                    </p:set>
                                    <p:anim calcmode="lin" valueType="num">
                                      <p:cBhvr additive="base">
                                        <p:cTn id="25" dur="500" fill="hold"/>
                                        <p:tgtEl>
                                          <p:spTgt spid="14345"/>
                                        </p:tgtEl>
                                        <p:attrNameLst>
                                          <p:attrName>ppt_x</p:attrName>
                                        </p:attrNameLst>
                                      </p:cBhvr>
                                      <p:tavLst>
                                        <p:tav tm="0">
                                          <p:val>
                                            <p:strVal val="0-#ppt_w/2"/>
                                          </p:val>
                                        </p:tav>
                                        <p:tav tm="100000">
                                          <p:val>
                                            <p:strVal val="#ppt_x"/>
                                          </p:val>
                                        </p:tav>
                                      </p:tavLst>
                                    </p:anim>
                                    <p:anim calcmode="lin" valueType="num">
                                      <p:cBhvr additive="base">
                                        <p:cTn id="26" dur="500" fill="hold"/>
                                        <p:tgtEl>
                                          <p:spTgt spid="1434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4346"/>
                                        </p:tgtEl>
                                        <p:attrNameLst>
                                          <p:attrName>style.visibility</p:attrName>
                                        </p:attrNameLst>
                                      </p:cBhvr>
                                      <p:to>
                                        <p:strVal val="visible"/>
                                      </p:to>
                                    </p:set>
                                    <p:anim calcmode="lin" valueType="num">
                                      <p:cBhvr additive="base">
                                        <p:cTn id="31" dur="500" fill="hold"/>
                                        <p:tgtEl>
                                          <p:spTgt spid="14346"/>
                                        </p:tgtEl>
                                        <p:attrNameLst>
                                          <p:attrName>ppt_x</p:attrName>
                                        </p:attrNameLst>
                                      </p:cBhvr>
                                      <p:tavLst>
                                        <p:tav tm="0">
                                          <p:val>
                                            <p:strVal val="0-#ppt_w/2"/>
                                          </p:val>
                                        </p:tav>
                                        <p:tav tm="100000">
                                          <p:val>
                                            <p:strVal val="#ppt_x"/>
                                          </p:val>
                                        </p:tav>
                                      </p:tavLst>
                                    </p:anim>
                                    <p:anim calcmode="lin" valueType="num">
                                      <p:cBhvr additive="base">
                                        <p:cTn id="32" dur="500" fill="hold"/>
                                        <p:tgtEl>
                                          <p:spTgt spid="1434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4347"/>
                                        </p:tgtEl>
                                        <p:attrNameLst>
                                          <p:attrName>style.visibility</p:attrName>
                                        </p:attrNameLst>
                                      </p:cBhvr>
                                      <p:to>
                                        <p:strVal val="visible"/>
                                      </p:to>
                                    </p:set>
                                    <p:anim calcmode="lin" valueType="num">
                                      <p:cBhvr additive="base">
                                        <p:cTn id="37" dur="500" fill="hold"/>
                                        <p:tgtEl>
                                          <p:spTgt spid="14347"/>
                                        </p:tgtEl>
                                        <p:attrNameLst>
                                          <p:attrName>ppt_x</p:attrName>
                                        </p:attrNameLst>
                                      </p:cBhvr>
                                      <p:tavLst>
                                        <p:tav tm="0">
                                          <p:val>
                                            <p:strVal val="0-#ppt_w/2"/>
                                          </p:val>
                                        </p:tav>
                                        <p:tav tm="100000">
                                          <p:val>
                                            <p:strVal val="#ppt_x"/>
                                          </p:val>
                                        </p:tav>
                                      </p:tavLst>
                                    </p:anim>
                                    <p:anim calcmode="lin" valueType="num">
                                      <p:cBhvr additive="base">
                                        <p:cTn id="38" dur="500" fill="hold"/>
                                        <p:tgtEl>
                                          <p:spTgt spid="14347"/>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4350"/>
                                        </p:tgtEl>
                                        <p:attrNameLst>
                                          <p:attrName>style.visibility</p:attrName>
                                        </p:attrNameLst>
                                      </p:cBhvr>
                                      <p:to>
                                        <p:strVal val="visible"/>
                                      </p:to>
                                    </p:set>
                                    <p:anim calcmode="lin" valueType="num">
                                      <p:cBhvr additive="base">
                                        <p:cTn id="43" dur="500" fill="hold"/>
                                        <p:tgtEl>
                                          <p:spTgt spid="14350"/>
                                        </p:tgtEl>
                                        <p:attrNameLst>
                                          <p:attrName>ppt_x</p:attrName>
                                        </p:attrNameLst>
                                      </p:cBhvr>
                                      <p:tavLst>
                                        <p:tav tm="0">
                                          <p:val>
                                            <p:strVal val="0-#ppt_w/2"/>
                                          </p:val>
                                        </p:tav>
                                        <p:tav tm="100000">
                                          <p:val>
                                            <p:strVal val="#ppt_x"/>
                                          </p:val>
                                        </p:tav>
                                      </p:tavLst>
                                    </p:anim>
                                    <p:anim calcmode="lin" valueType="num">
                                      <p:cBhvr additive="base">
                                        <p:cTn id="44" dur="500" fill="hold"/>
                                        <p:tgtEl>
                                          <p:spTgt spid="14350"/>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4351"/>
                                        </p:tgtEl>
                                        <p:attrNameLst>
                                          <p:attrName>style.visibility</p:attrName>
                                        </p:attrNameLst>
                                      </p:cBhvr>
                                      <p:to>
                                        <p:strVal val="visible"/>
                                      </p:to>
                                    </p:set>
                                    <p:anim calcmode="lin" valueType="num">
                                      <p:cBhvr additive="base">
                                        <p:cTn id="49" dur="500" fill="hold"/>
                                        <p:tgtEl>
                                          <p:spTgt spid="14351"/>
                                        </p:tgtEl>
                                        <p:attrNameLst>
                                          <p:attrName>ppt_x</p:attrName>
                                        </p:attrNameLst>
                                      </p:cBhvr>
                                      <p:tavLst>
                                        <p:tav tm="0">
                                          <p:val>
                                            <p:strVal val="0-#ppt_w/2"/>
                                          </p:val>
                                        </p:tav>
                                        <p:tav tm="100000">
                                          <p:val>
                                            <p:strVal val="#ppt_x"/>
                                          </p:val>
                                        </p:tav>
                                      </p:tavLst>
                                    </p:anim>
                                    <p:anim calcmode="lin" valueType="num">
                                      <p:cBhvr additive="base">
                                        <p:cTn id="50" dur="500" fill="hold"/>
                                        <p:tgtEl>
                                          <p:spTgt spid="14351"/>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4352"/>
                                        </p:tgtEl>
                                        <p:attrNameLst>
                                          <p:attrName>style.visibility</p:attrName>
                                        </p:attrNameLst>
                                      </p:cBhvr>
                                      <p:to>
                                        <p:strVal val="visible"/>
                                      </p:to>
                                    </p:set>
                                    <p:anim calcmode="lin" valueType="num">
                                      <p:cBhvr additive="base">
                                        <p:cTn id="55" dur="500" fill="hold"/>
                                        <p:tgtEl>
                                          <p:spTgt spid="14352"/>
                                        </p:tgtEl>
                                        <p:attrNameLst>
                                          <p:attrName>ppt_x</p:attrName>
                                        </p:attrNameLst>
                                      </p:cBhvr>
                                      <p:tavLst>
                                        <p:tav tm="0">
                                          <p:val>
                                            <p:strVal val="0-#ppt_w/2"/>
                                          </p:val>
                                        </p:tav>
                                        <p:tav tm="100000">
                                          <p:val>
                                            <p:strVal val="#ppt_x"/>
                                          </p:val>
                                        </p:tav>
                                      </p:tavLst>
                                    </p:anim>
                                    <p:anim calcmode="lin" valueType="num">
                                      <p:cBhvr additive="base">
                                        <p:cTn id="56" dur="500" fill="hold"/>
                                        <p:tgtEl>
                                          <p:spTgt spid="14352"/>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4353"/>
                                        </p:tgtEl>
                                        <p:attrNameLst>
                                          <p:attrName>style.visibility</p:attrName>
                                        </p:attrNameLst>
                                      </p:cBhvr>
                                      <p:to>
                                        <p:strVal val="visible"/>
                                      </p:to>
                                    </p:set>
                                    <p:anim calcmode="lin" valueType="num">
                                      <p:cBhvr additive="base">
                                        <p:cTn id="61" dur="500" fill="hold"/>
                                        <p:tgtEl>
                                          <p:spTgt spid="14353"/>
                                        </p:tgtEl>
                                        <p:attrNameLst>
                                          <p:attrName>ppt_x</p:attrName>
                                        </p:attrNameLst>
                                      </p:cBhvr>
                                      <p:tavLst>
                                        <p:tav tm="0">
                                          <p:val>
                                            <p:strVal val="0-#ppt_w/2"/>
                                          </p:val>
                                        </p:tav>
                                        <p:tav tm="100000">
                                          <p:val>
                                            <p:strVal val="#ppt_x"/>
                                          </p:val>
                                        </p:tav>
                                      </p:tavLst>
                                    </p:anim>
                                    <p:anim calcmode="lin" valueType="num">
                                      <p:cBhvr additive="base">
                                        <p:cTn id="62" dur="500" fill="hold"/>
                                        <p:tgtEl>
                                          <p:spTgt spid="14353"/>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4354"/>
                                        </p:tgtEl>
                                        <p:attrNameLst>
                                          <p:attrName>style.visibility</p:attrName>
                                        </p:attrNameLst>
                                      </p:cBhvr>
                                      <p:to>
                                        <p:strVal val="visible"/>
                                      </p:to>
                                    </p:set>
                                    <p:anim calcmode="lin" valueType="num">
                                      <p:cBhvr additive="base">
                                        <p:cTn id="67" dur="500" fill="hold"/>
                                        <p:tgtEl>
                                          <p:spTgt spid="14354"/>
                                        </p:tgtEl>
                                        <p:attrNameLst>
                                          <p:attrName>ppt_x</p:attrName>
                                        </p:attrNameLst>
                                      </p:cBhvr>
                                      <p:tavLst>
                                        <p:tav tm="0">
                                          <p:val>
                                            <p:strVal val="0-#ppt_w/2"/>
                                          </p:val>
                                        </p:tav>
                                        <p:tav tm="100000">
                                          <p:val>
                                            <p:strVal val="#ppt_x"/>
                                          </p:val>
                                        </p:tav>
                                      </p:tavLst>
                                    </p:anim>
                                    <p:anim calcmode="lin" valueType="num">
                                      <p:cBhvr additive="base">
                                        <p:cTn id="68" dur="500" fill="hold"/>
                                        <p:tgtEl>
                                          <p:spTgt spid="14354"/>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4356"/>
                                        </p:tgtEl>
                                        <p:attrNameLst>
                                          <p:attrName>style.visibility</p:attrName>
                                        </p:attrNameLst>
                                      </p:cBhvr>
                                      <p:to>
                                        <p:strVal val="visible"/>
                                      </p:to>
                                    </p:set>
                                    <p:anim calcmode="lin" valueType="num">
                                      <p:cBhvr additive="base">
                                        <p:cTn id="73" dur="500" fill="hold"/>
                                        <p:tgtEl>
                                          <p:spTgt spid="14356"/>
                                        </p:tgtEl>
                                        <p:attrNameLst>
                                          <p:attrName>ppt_x</p:attrName>
                                        </p:attrNameLst>
                                      </p:cBhvr>
                                      <p:tavLst>
                                        <p:tav tm="0">
                                          <p:val>
                                            <p:strVal val="0-#ppt_w/2"/>
                                          </p:val>
                                        </p:tav>
                                        <p:tav tm="100000">
                                          <p:val>
                                            <p:strVal val="#ppt_x"/>
                                          </p:val>
                                        </p:tav>
                                      </p:tavLst>
                                    </p:anim>
                                    <p:anim calcmode="lin" valueType="num">
                                      <p:cBhvr additive="base">
                                        <p:cTn id="74" dur="500" fill="hold"/>
                                        <p:tgtEl>
                                          <p:spTgt spid="14356"/>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4357"/>
                                        </p:tgtEl>
                                        <p:attrNameLst>
                                          <p:attrName>style.visibility</p:attrName>
                                        </p:attrNameLst>
                                      </p:cBhvr>
                                      <p:to>
                                        <p:strVal val="visible"/>
                                      </p:to>
                                    </p:set>
                                    <p:anim calcmode="lin" valueType="num">
                                      <p:cBhvr additive="base">
                                        <p:cTn id="79" dur="500" fill="hold"/>
                                        <p:tgtEl>
                                          <p:spTgt spid="14357"/>
                                        </p:tgtEl>
                                        <p:attrNameLst>
                                          <p:attrName>ppt_x</p:attrName>
                                        </p:attrNameLst>
                                      </p:cBhvr>
                                      <p:tavLst>
                                        <p:tav tm="0">
                                          <p:val>
                                            <p:strVal val="0-#ppt_w/2"/>
                                          </p:val>
                                        </p:tav>
                                        <p:tav tm="100000">
                                          <p:val>
                                            <p:strVal val="#ppt_x"/>
                                          </p:val>
                                        </p:tav>
                                      </p:tavLst>
                                    </p:anim>
                                    <p:anim calcmode="lin" valueType="num">
                                      <p:cBhvr additive="base">
                                        <p:cTn id="80" dur="500" fill="hold"/>
                                        <p:tgtEl>
                                          <p:spTgt spid="143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autoUpdateAnimBg="0"/>
      <p:bldP spid="14343" grpId="0" animBg="1"/>
      <p:bldP spid="14344" grpId="0" animBg="1"/>
      <p:bldP spid="14345" grpId="0" animBg="1"/>
      <p:bldP spid="14346" grpId="0" autoUpdateAnimBg="0"/>
      <p:bldP spid="14347" grpId="0" autoUpdateAnimBg="0"/>
      <p:bldP spid="14350" grpId="0" autoUpdateAnimBg="0"/>
      <p:bldP spid="14351" grpId="0" autoUpdateAnimBg="0"/>
      <p:bldP spid="14352" grpId="0" autoUpdateAnimBg="0"/>
      <p:bldP spid="14353" grpId="0" autoUpdateAnimBg="0"/>
      <p:bldP spid="14354" grpId="0" autoUpdateAnimBg="0"/>
      <p:bldP spid="14356" grpId="0" autoUpdateAnimBg="0"/>
      <p:bldP spid="14357"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a:bodyPr>
          <a:lstStyle/>
          <a:p>
            <a:pPr eaLnBrk="1" hangingPunct="1"/>
            <a:r>
              <a:rPr lang="en-US" dirty="0"/>
              <a:t>The Intellectual Currents Affecting Org. Theory</a:t>
            </a:r>
          </a:p>
        </p:txBody>
      </p:sp>
      <p:sp>
        <p:nvSpPr>
          <p:cNvPr id="13315" name="Oval 3"/>
          <p:cNvSpPr>
            <a:spLocks noChangeArrowheads="1"/>
          </p:cNvSpPr>
          <p:nvPr/>
        </p:nvSpPr>
        <p:spPr bwMode="auto">
          <a:xfrm>
            <a:off x="711200" y="2971800"/>
            <a:ext cx="4064000" cy="2286000"/>
          </a:xfrm>
          <a:prstGeom prst="ellipse">
            <a:avLst/>
          </a:prstGeom>
          <a:noFill/>
          <a:ln w="9525">
            <a:solidFill>
              <a:schemeClr val="tx1"/>
            </a:solidFill>
            <a:round/>
            <a:headEnd/>
            <a:tailEnd/>
          </a:ln>
        </p:spPr>
        <p:txBody>
          <a:bodyPr wrap="none" anchor="ctr"/>
          <a:lstStyle/>
          <a:p>
            <a:endParaRPr lang="en-US"/>
          </a:p>
        </p:txBody>
      </p:sp>
      <p:sp>
        <p:nvSpPr>
          <p:cNvPr id="13316" name="Text Box 4"/>
          <p:cNvSpPr txBox="1">
            <a:spLocks noChangeArrowheads="1"/>
          </p:cNvSpPr>
          <p:nvPr/>
        </p:nvSpPr>
        <p:spPr bwMode="auto">
          <a:xfrm>
            <a:off x="690034" y="3698875"/>
            <a:ext cx="2967567" cy="369332"/>
          </a:xfrm>
          <a:prstGeom prst="rect">
            <a:avLst/>
          </a:prstGeom>
          <a:noFill/>
          <a:ln w="9525">
            <a:noFill/>
            <a:miter lim="800000"/>
            <a:headEnd/>
            <a:tailEnd/>
          </a:ln>
        </p:spPr>
        <p:txBody>
          <a:bodyPr>
            <a:spAutoFit/>
          </a:bodyPr>
          <a:lstStyle/>
          <a:p>
            <a:r>
              <a:rPr lang="en-US"/>
              <a:t>Religion</a:t>
            </a:r>
          </a:p>
        </p:txBody>
      </p:sp>
      <p:sp>
        <p:nvSpPr>
          <p:cNvPr id="13319" name="Oval 7"/>
          <p:cNvSpPr>
            <a:spLocks noChangeArrowheads="1"/>
          </p:cNvSpPr>
          <p:nvPr/>
        </p:nvSpPr>
        <p:spPr bwMode="auto">
          <a:xfrm>
            <a:off x="2133600" y="3352800"/>
            <a:ext cx="7315200" cy="2819400"/>
          </a:xfrm>
          <a:prstGeom prst="ellipse">
            <a:avLst/>
          </a:prstGeom>
          <a:noFill/>
          <a:ln w="9525">
            <a:solidFill>
              <a:schemeClr val="tx1"/>
            </a:solidFill>
            <a:round/>
            <a:headEnd/>
            <a:tailEnd/>
          </a:ln>
        </p:spPr>
        <p:txBody>
          <a:bodyPr wrap="none" anchor="ctr"/>
          <a:lstStyle/>
          <a:p>
            <a:endParaRPr lang="en-US"/>
          </a:p>
        </p:txBody>
      </p:sp>
      <p:sp>
        <p:nvSpPr>
          <p:cNvPr id="13320" name="Text Box 8"/>
          <p:cNvSpPr txBox="1">
            <a:spLocks noChangeArrowheads="1"/>
          </p:cNvSpPr>
          <p:nvPr/>
        </p:nvSpPr>
        <p:spPr bwMode="auto">
          <a:xfrm>
            <a:off x="6379633" y="4460875"/>
            <a:ext cx="1207895" cy="369332"/>
          </a:xfrm>
          <a:prstGeom prst="rect">
            <a:avLst/>
          </a:prstGeom>
          <a:noFill/>
          <a:ln w="9525">
            <a:noFill/>
            <a:miter lim="800000"/>
            <a:headEnd/>
            <a:tailEnd/>
          </a:ln>
        </p:spPr>
        <p:txBody>
          <a:bodyPr wrap="none">
            <a:spAutoFit/>
          </a:bodyPr>
          <a:lstStyle/>
          <a:p>
            <a:r>
              <a:rPr lang="en-US"/>
              <a:t>Philosophy</a:t>
            </a:r>
          </a:p>
        </p:txBody>
      </p:sp>
      <p:sp>
        <p:nvSpPr>
          <p:cNvPr id="13321" name="Oval 9"/>
          <p:cNvSpPr>
            <a:spLocks noChangeArrowheads="1"/>
          </p:cNvSpPr>
          <p:nvPr/>
        </p:nvSpPr>
        <p:spPr bwMode="auto">
          <a:xfrm>
            <a:off x="2133600" y="2057400"/>
            <a:ext cx="3556000" cy="2819400"/>
          </a:xfrm>
          <a:prstGeom prst="ellipse">
            <a:avLst/>
          </a:prstGeom>
          <a:noFill/>
          <a:ln w="9525">
            <a:solidFill>
              <a:schemeClr val="tx1"/>
            </a:solidFill>
            <a:round/>
            <a:headEnd/>
            <a:tailEnd/>
          </a:ln>
        </p:spPr>
        <p:txBody>
          <a:bodyPr wrap="none" anchor="ctr"/>
          <a:lstStyle/>
          <a:p>
            <a:endParaRPr lang="en-US"/>
          </a:p>
        </p:txBody>
      </p:sp>
      <p:sp>
        <p:nvSpPr>
          <p:cNvPr id="13322" name="Text Box 10"/>
          <p:cNvSpPr txBox="1">
            <a:spLocks noChangeArrowheads="1"/>
          </p:cNvSpPr>
          <p:nvPr/>
        </p:nvSpPr>
        <p:spPr bwMode="auto">
          <a:xfrm>
            <a:off x="2722033" y="2403475"/>
            <a:ext cx="891591" cy="369332"/>
          </a:xfrm>
          <a:prstGeom prst="rect">
            <a:avLst/>
          </a:prstGeom>
          <a:noFill/>
          <a:ln w="9525">
            <a:noFill/>
            <a:miter lim="800000"/>
            <a:headEnd/>
            <a:tailEnd/>
          </a:ln>
        </p:spPr>
        <p:txBody>
          <a:bodyPr wrap="none">
            <a:spAutoFit/>
          </a:bodyPr>
          <a:lstStyle/>
          <a:p>
            <a:r>
              <a:rPr lang="en-US"/>
              <a:t>Science</a:t>
            </a:r>
          </a:p>
        </p:txBody>
      </p:sp>
      <p:sp>
        <p:nvSpPr>
          <p:cNvPr id="13323" name="Text Box 11"/>
          <p:cNvSpPr txBox="1">
            <a:spLocks noChangeArrowheads="1"/>
          </p:cNvSpPr>
          <p:nvPr/>
        </p:nvSpPr>
        <p:spPr bwMode="auto">
          <a:xfrm>
            <a:off x="2518833" y="4003675"/>
            <a:ext cx="1290353" cy="369332"/>
          </a:xfrm>
          <a:prstGeom prst="rect">
            <a:avLst/>
          </a:prstGeom>
          <a:noFill/>
          <a:ln w="9525">
            <a:noFill/>
            <a:miter lim="800000"/>
            <a:headEnd/>
            <a:tailEnd/>
          </a:ln>
        </p:spPr>
        <p:txBody>
          <a:bodyPr wrap="none">
            <a:spAutoFit/>
          </a:bodyPr>
          <a:lstStyle/>
          <a:p>
            <a:r>
              <a:rPr lang="en-US"/>
              <a:t>Org. Theory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additive="base">
                                        <p:cTn id="7" dur="500" fill="hold"/>
                                        <p:tgtEl>
                                          <p:spTgt spid="13315"/>
                                        </p:tgtEl>
                                        <p:attrNameLst>
                                          <p:attrName>ppt_x</p:attrName>
                                        </p:attrNameLst>
                                      </p:cBhvr>
                                      <p:tavLst>
                                        <p:tav tm="0">
                                          <p:val>
                                            <p:strVal val="0-#ppt_w/2"/>
                                          </p:val>
                                        </p:tav>
                                        <p:tav tm="100000">
                                          <p:val>
                                            <p:strVal val="#ppt_x"/>
                                          </p:val>
                                        </p:tav>
                                      </p:tavLst>
                                    </p:anim>
                                    <p:anim calcmode="lin" valueType="num">
                                      <p:cBhvr additive="base">
                                        <p:cTn id="8" dur="500" fill="hold"/>
                                        <p:tgtEl>
                                          <p:spTgt spid="133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316"/>
                                        </p:tgtEl>
                                        <p:attrNameLst>
                                          <p:attrName>style.visibility</p:attrName>
                                        </p:attrNameLst>
                                      </p:cBhvr>
                                      <p:to>
                                        <p:strVal val="visible"/>
                                      </p:to>
                                    </p:set>
                                    <p:anim calcmode="lin" valueType="num">
                                      <p:cBhvr additive="base">
                                        <p:cTn id="13" dur="500" fill="hold"/>
                                        <p:tgtEl>
                                          <p:spTgt spid="13316"/>
                                        </p:tgtEl>
                                        <p:attrNameLst>
                                          <p:attrName>ppt_x</p:attrName>
                                        </p:attrNameLst>
                                      </p:cBhvr>
                                      <p:tavLst>
                                        <p:tav tm="0">
                                          <p:val>
                                            <p:strVal val="0-#ppt_w/2"/>
                                          </p:val>
                                        </p:tav>
                                        <p:tav tm="100000">
                                          <p:val>
                                            <p:strVal val="#ppt_x"/>
                                          </p:val>
                                        </p:tav>
                                      </p:tavLst>
                                    </p:anim>
                                    <p:anim calcmode="lin" valueType="num">
                                      <p:cBhvr additive="base">
                                        <p:cTn id="14" dur="500" fill="hold"/>
                                        <p:tgtEl>
                                          <p:spTgt spid="133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319"/>
                                        </p:tgtEl>
                                        <p:attrNameLst>
                                          <p:attrName>style.visibility</p:attrName>
                                        </p:attrNameLst>
                                      </p:cBhvr>
                                      <p:to>
                                        <p:strVal val="visible"/>
                                      </p:to>
                                    </p:set>
                                    <p:anim calcmode="lin" valueType="num">
                                      <p:cBhvr additive="base">
                                        <p:cTn id="19" dur="500" fill="hold"/>
                                        <p:tgtEl>
                                          <p:spTgt spid="13319"/>
                                        </p:tgtEl>
                                        <p:attrNameLst>
                                          <p:attrName>ppt_x</p:attrName>
                                        </p:attrNameLst>
                                      </p:cBhvr>
                                      <p:tavLst>
                                        <p:tav tm="0">
                                          <p:val>
                                            <p:strVal val="0-#ppt_w/2"/>
                                          </p:val>
                                        </p:tav>
                                        <p:tav tm="100000">
                                          <p:val>
                                            <p:strVal val="#ppt_x"/>
                                          </p:val>
                                        </p:tav>
                                      </p:tavLst>
                                    </p:anim>
                                    <p:anim calcmode="lin" valueType="num">
                                      <p:cBhvr additive="base">
                                        <p:cTn id="20" dur="500" fill="hold"/>
                                        <p:tgtEl>
                                          <p:spTgt spid="1331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3320"/>
                                        </p:tgtEl>
                                        <p:attrNameLst>
                                          <p:attrName>style.visibility</p:attrName>
                                        </p:attrNameLst>
                                      </p:cBhvr>
                                      <p:to>
                                        <p:strVal val="visible"/>
                                      </p:to>
                                    </p:set>
                                    <p:anim calcmode="lin" valueType="num">
                                      <p:cBhvr additive="base">
                                        <p:cTn id="25" dur="500" fill="hold"/>
                                        <p:tgtEl>
                                          <p:spTgt spid="13320"/>
                                        </p:tgtEl>
                                        <p:attrNameLst>
                                          <p:attrName>ppt_x</p:attrName>
                                        </p:attrNameLst>
                                      </p:cBhvr>
                                      <p:tavLst>
                                        <p:tav tm="0">
                                          <p:val>
                                            <p:strVal val="0-#ppt_w/2"/>
                                          </p:val>
                                        </p:tav>
                                        <p:tav tm="100000">
                                          <p:val>
                                            <p:strVal val="#ppt_x"/>
                                          </p:val>
                                        </p:tav>
                                      </p:tavLst>
                                    </p:anim>
                                    <p:anim calcmode="lin" valueType="num">
                                      <p:cBhvr additive="base">
                                        <p:cTn id="26" dur="500" fill="hold"/>
                                        <p:tgtEl>
                                          <p:spTgt spid="1332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3321"/>
                                        </p:tgtEl>
                                        <p:attrNameLst>
                                          <p:attrName>style.visibility</p:attrName>
                                        </p:attrNameLst>
                                      </p:cBhvr>
                                      <p:to>
                                        <p:strVal val="visible"/>
                                      </p:to>
                                    </p:set>
                                    <p:anim calcmode="lin" valueType="num">
                                      <p:cBhvr additive="base">
                                        <p:cTn id="31" dur="500" fill="hold"/>
                                        <p:tgtEl>
                                          <p:spTgt spid="13321"/>
                                        </p:tgtEl>
                                        <p:attrNameLst>
                                          <p:attrName>ppt_x</p:attrName>
                                        </p:attrNameLst>
                                      </p:cBhvr>
                                      <p:tavLst>
                                        <p:tav tm="0">
                                          <p:val>
                                            <p:strVal val="0-#ppt_w/2"/>
                                          </p:val>
                                        </p:tav>
                                        <p:tav tm="100000">
                                          <p:val>
                                            <p:strVal val="#ppt_x"/>
                                          </p:val>
                                        </p:tav>
                                      </p:tavLst>
                                    </p:anim>
                                    <p:anim calcmode="lin" valueType="num">
                                      <p:cBhvr additive="base">
                                        <p:cTn id="32" dur="500" fill="hold"/>
                                        <p:tgtEl>
                                          <p:spTgt spid="1332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3322"/>
                                        </p:tgtEl>
                                        <p:attrNameLst>
                                          <p:attrName>style.visibility</p:attrName>
                                        </p:attrNameLst>
                                      </p:cBhvr>
                                      <p:to>
                                        <p:strVal val="visible"/>
                                      </p:to>
                                    </p:set>
                                    <p:anim calcmode="lin" valueType="num">
                                      <p:cBhvr additive="base">
                                        <p:cTn id="37" dur="500" fill="hold"/>
                                        <p:tgtEl>
                                          <p:spTgt spid="13322"/>
                                        </p:tgtEl>
                                        <p:attrNameLst>
                                          <p:attrName>ppt_x</p:attrName>
                                        </p:attrNameLst>
                                      </p:cBhvr>
                                      <p:tavLst>
                                        <p:tav tm="0">
                                          <p:val>
                                            <p:strVal val="0-#ppt_w/2"/>
                                          </p:val>
                                        </p:tav>
                                        <p:tav tm="100000">
                                          <p:val>
                                            <p:strVal val="#ppt_x"/>
                                          </p:val>
                                        </p:tav>
                                      </p:tavLst>
                                    </p:anim>
                                    <p:anim calcmode="lin" valueType="num">
                                      <p:cBhvr additive="base">
                                        <p:cTn id="38" dur="500" fill="hold"/>
                                        <p:tgtEl>
                                          <p:spTgt spid="1332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3323"/>
                                        </p:tgtEl>
                                        <p:attrNameLst>
                                          <p:attrName>style.visibility</p:attrName>
                                        </p:attrNameLst>
                                      </p:cBhvr>
                                      <p:to>
                                        <p:strVal val="visible"/>
                                      </p:to>
                                    </p:set>
                                    <p:anim calcmode="lin" valueType="num">
                                      <p:cBhvr additive="base">
                                        <p:cTn id="43" dur="500" fill="hold"/>
                                        <p:tgtEl>
                                          <p:spTgt spid="13323"/>
                                        </p:tgtEl>
                                        <p:attrNameLst>
                                          <p:attrName>ppt_x</p:attrName>
                                        </p:attrNameLst>
                                      </p:cBhvr>
                                      <p:tavLst>
                                        <p:tav tm="0">
                                          <p:val>
                                            <p:strVal val="0-#ppt_w/2"/>
                                          </p:val>
                                        </p:tav>
                                        <p:tav tm="100000">
                                          <p:val>
                                            <p:strVal val="#ppt_x"/>
                                          </p:val>
                                        </p:tav>
                                      </p:tavLst>
                                    </p:anim>
                                    <p:anim calcmode="lin" valueType="num">
                                      <p:cBhvr additive="base">
                                        <p:cTn id="44" dur="500" fill="hold"/>
                                        <p:tgtEl>
                                          <p:spTgt spid="133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animBg="1"/>
      <p:bldP spid="13316" grpId="0" autoUpdateAnimBg="0"/>
      <p:bldP spid="13319" grpId="0" animBg="1"/>
      <p:bldP spid="13320" grpId="0" autoUpdateAnimBg="0"/>
      <p:bldP spid="13321" grpId="0" animBg="1"/>
      <p:bldP spid="13322" grpId="0" autoUpdateAnimBg="0"/>
      <p:bldP spid="13323"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Deconstructing the Circles</a:t>
            </a:r>
          </a:p>
        </p:txBody>
      </p:sp>
      <p:sp>
        <p:nvSpPr>
          <p:cNvPr id="3" name="Content Placeholder 2"/>
          <p:cNvSpPr>
            <a:spLocks noGrp="1"/>
          </p:cNvSpPr>
          <p:nvPr>
            <p:ph idx="1"/>
          </p:nvPr>
        </p:nvSpPr>
        <p:spPr/>
        <p:txBody>
          <a:bodyPr/>
          <a:lstStyle/>
          <a:p>
            <a:r>
              <a:rPr lang="en-US" dirty="0"/>
              <a:t>Philosophy</a:t>
            </a:r>
          </a:p>
          <a:p>
            <a:pPr lvl="1"/>
            <a:r>
              <a:rPr lang="en-US" dirty="0"/>
              <a:t>Positivism</a:t>
            </a:r>
          </a:p>
          <a:p>
            <a:pPr lvl="2"/>
            <a:r>
              <a:rPr lang="en-US" dirty="0"/>
              <a:t>Only those statements that are empirically verified  can be counted as true</a:t>
            </a:r>
          </a:p>
          <a:p>
            <a:pPr lvl="2"/>
            <a:r>
              <a:rPr lang="en-US" dirty="0"/>
              <a:t>The world is rational and can be understood by this empirical method</a:t>
            </a:r>
          </a:p>
          <a:p>
            <a:pPr lvl="2"/>
            <a:r>
              <a:rPr lang="en-US" dirty="0"/>
              <a:t>By such understanding people can maximize utility, obtaining ends (mastery) in the most efficient way possible </a:t>
            </a:r>
          </a:p>
          <a:p>
            <a:endParaRPr lang="en-US" dirty="0"/>
          </a:p>
          <a:p>
            <a:pPr lvl="2"/>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Science</a:t>
            </a:r>
          </a:p>
          <a:p>
            <a:pPr lvl="1"/>
            <a:r>
              <a:rPr lang="en-US" dirty="0"/>
              <a:t>Utility maximization, i.e. efficiency, can be obtained through the systematic gathering and interpretation of data</a:t>
            </a:r>
          </a:p>
          <a:p>
            <a:pPr lvl="2"/>
            <a:r>
              <a:rPr lang="en-US" dirty="0" err="1"/>
              <a:t>Taylorism</a:t>
            </a:r>
            <a:endParaRPr lang="en-US" dirty="0"/>
          </a:p>
          <a:p>
            <a:pPr lvl="2"/>
            <a:r>
              <a:rPr lang="en-US" dirty="0"/>
              <a:t>Performance budgeting</a:t>
            </a:r>
          </a:p>
          <a:p>
            <a:pPr lvl="2"/>
            <a:r>
              <a:rPr lang="en-US" dirty="0"/>
              <a:t>Results-oriented management</a:t>
            </a:r>
          </a:p>
          <a:p>
            <a:pPr lvl="2"/>
            <a:r>
              <a:rPr lang="en-US" dirty="0"/>
              <a:t>Outcomes measurement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Protestant Ethic and the Spirit of Capitalism</a:t>
            </a:r>
          </a:p>
        </p:txBody>
      </p:sp>
      <p:pic>
        <p:nvPicPr>
          <p:cNvPr id="1026" name="Picture 2"/>
          <p:cNvPicPr>
            <a:picLocks noGrp="1" noChangeAspect="1" noChangeArrowheads="1"/>
          </p:cNvPicPr>
          <p:nvPr>
            <p:ph idx="1"/>
          </p:nvPr>
        </p:nvPicPr>
        <p:blipFill>
          <a:blip r:embed="rId2" cstate="print"/>
          <a:srcRect/>
          <a:stretch>
            <a:fillRect/>
          </a:stretch>
        </p:blipFill>
        <p:spPr bwMode="auto">
          <a:xfrm>
            <a:off x="2250411" y="1600201"/>
            <a:ext cx="7691179" cy="4525963"/>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Religion</a:t>
            </a:r>
          </a:p>
          <a:p>
            <a:pPr lvl="1"/>
            <a:r>
              <a:rPr lang="en-US" dirty="0"/>
              <a:t>Direct influence/ Max Weber, The Protestant Ethic and the Spirit of Capitalism</a:t>
            </a:r>
          </a:p>
          <a:p>
            <a:pPr lvl="1"/>
            <a:r>
              <a:rPr lang="en-US" dirty="0"/>
              <a:t>Indirect influence/ the creation of a meta-narrative, the narrative that explains everything and is universal </a:t>
            </a:r>
          </a:p>
          <a:p>
            <a:pPr lvl="1"/>
            <a:r>
              <a:rPr lang="en-US" dirty="0"/>
              <a:t>Body/mind distinction like body/soul distinction sets in motion a dichotomy that results in hierarchy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1162</TotalTime>
  <Words>2282</Words>
  <Application>Microsoft Office PowerPoint</Application>
  <PresentationFormat>Widescreen</PresentationFormat>
  <Paragraphs>322</Paragraphs>
  <Slides>49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Calibri</vt:lpstr>
      <vt:lpstr>Calibri Light</vt:lpstr>
      <vt:lpstr>Office Theme</vt:lpstr>
      <vt:lpstr>Organizations, Mental Health, and Ethics</vt:lpstr>
      <vt:lpstr>What comes to mind when you hear the name:</vt:lpstr>
      <vt:lpstr>PowerPoint Presentation</vt:lpstr>
      <vt:lpstr>What do these organizational failures have in common?</vt:lpstr>
      <vt:lpstr>First Reflective Pause: </vt:lpstr>
      <vt:lpstr>Major Organizational Screw Ups Are Predictable   </vt:lpstr>
      <vt:lpstr>PowerPoint Presentation</vt:lpstr>
      <vt:lpstr>Three elements need to be examined to understand organizational snafus/fubars/and tarfus </vt:lpstr>
      <vt:lpstr>Second Reflective Pause: </vt:lpstr>
      <vt:lpstr>The rational organization and the division of labor</vt:lpstr>
      <vt:lpstr>The Holocaust Is An Example of Administrative Evil </vt:lpstr>
      <vt:lpstr>Third Reflective Pause </vt:lpstr>
      <vt:lpstr>Individual purpose, culture, and structure are also involved in change or lack thereof </vt:lpstr>
      <vt:lpstr>While we separate the three elements for analytical purposes, in fact they all occur and  interact together</vt:lpstr>
      <vt:lpstr>Organizational Folk Heroes Are Those Who Challenge the Status Quo </vt:lpstr>
      <vt:lpstr>Whistle Blowers have been in the news previously and now big time</vt:lpstr>
      <vt:lpstr>An add campaign in Washington, D.C.</vt:lpstr>
      <vt:lpstr>PowerPoint Presentation</vt:lpstr>
      <vt:lpstr>PowerPoint Presentation</vt:lpstr>
      <vt:lpstr>What are the conditions that make organizations ripe for whistle blowing?</vt:lpstr>
      <vt:lpstr>To understand why organizations fail to recognize changing circumstances, risking turmoil and failure, we turn to Research Methods!!</vt:lpstr>
      <vt:lpstr>So why do organizations seem to miss patterns?</vt:lpstr>
      <vt:lpstr>What happened on 9/11 at Logan International Airport?</vt:lpstr>
      <vt:lpstr>What kind of Error was common in the cases we’ve looked at (Equifax, NASA, General Motors, etc.) ?     </vt:lpstr>
      <vt:lpstr>Ways to think about eliminating errors</vt:lpstr>
      <vt:lpstr>Which one is Disneyland?    </vt:lpstr>
      <vt:lpstr>PowerPoint Presentation</vt:lpstr>
      <vt:lpstr>The efficiency/reliability vicious circle </vt:lpstr>
      <vt:lpstr>Stages in Failure of Foresight</vt:lpstr>
      <vt:lpstr>The efficiency/reliability vicious circle has both social and psychological consequences</vt:lpstr>
      <vt:lpstr>Trust in American Institutions</vt:lpstr>
      <vt:lpstr>HAVE YOU EVER HEARD THE PHRASE - </vt:lpstr>
      <vt:lpstr>Sixth Reflective Pause: </vt:lpstr>
      <vt:lpstr>Alienation from the Bosses</vt:lpstr>
      <vt:lpstr>Alienation from Processes</vt:lpstr>
      <vt:lpstr>Alienation from Colleagues</vt:lpstr>
      <vt:lpstr>Alienation from Change Efforts</vt:lpstr>
      <vt:lpstr>Alienation from Self</vt:lpstr>
      <vt:lpstr>Seventh Reflective Pause</vt:lpstr>
      <vt:lpstr>Where we’re at and where we’re going</vt:lpstr>
      <vt:lpstr>Routines, Standard Operating Procedures, The Habit Loop</vt:lpstr>
      <vt:lpstr>Standard operating procedures Can’t live with ‘em, can’t live without ‘em </vt:lpstr>
      <vt:lpstr>An organizational map</vt:lpstr>
      <vt:lpstr>A brief intellectual history</vt:lpstr>
      <vt:lpstr>The Intellectual Currents Affecting Org. Theory</vt:lpstr>
      <vt:lpstr>Deconstructing the Circles</vt:lpstr>
      <vt:lpstr>PowerPoint Presentation</vt:lpstr>
      <vt:lpstr>The Protestant Ethic and the Spirit of Capitalism</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Organizations, Mental Health, and Ethics</dc:title>
  <dc:creator>James Gislsinan</dc:creator>
  <cp:lastModifiedBy>Malcolm Townes</cp:lastModifiedBy>
  <cp:revision>62</cp:revision>
  <cp:lastPrinted>2013-08-13T15:23:00Z</cp:lastPrinted>
  <dcterms:created xsi:type="dcterms:W3CDTF">2013-08-12T16:08:32Z</dcterms:created>
  <dcterms:modified xsi:type="dcterms:W3CDTF">2020-01-16T19:45:29Z</dcterms:modified>
</cp:coreProperties>
</file>