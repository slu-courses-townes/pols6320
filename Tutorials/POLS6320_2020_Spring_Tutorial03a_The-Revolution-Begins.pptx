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256" r:id="rId2"/>
    <p:sldId id="257" r:id="rId3"/>
    <p:sldId id="258" r:id="rId4"/>
    <p:sldId id="259" r:id="rId5"/>
    <p:sldId id="312" r:id="rId6"/>
    <p:sldId id="260" r:id="rId7"/>
    <p:sldId id="261" r:id="rId8"/>
    <p:sldId id="313" r:id="rId9"/>
    <p:sldId id="262" r:id="rId10"/>
    <p:sldId id="263" r:id="rId11"/>
    <p:sldId id="264" r:id="rId12"/>
    <p:sldId id="314" r:id="rId13"/>
    <p:sldId id="283" r:id="rId14"/>
    <p:sldId id="284" r:id="rId15"/>
    <p:sldId id="302" r:id="rId16"/>
    <p:sldId id="315" r:id="rId17"/>
    <p:sldId id="265" r:id="rId18"/>
    <p:sldId id="266" r:id="rId19"/>
    <p:sldId id="267" r:id="rId20"/>
    <p:sldId id="280" r:id="rId21"/>
    <p:sldId id="281" r:id="rId22"/>
    <p:sldId id="316" r:id="rId23"/>
    <p:sldId id="282" r:id="rId24"/>
    <p:sldId id="268" r:id="rId25"/>
    <p:sldId id="269" r:id="rId26"/>
    <p:sldId id="270" r:id="rId27"/>
    <p:sldId id="271" r:id="rId28"/>
    <p:sldId id="272" r:id="rId29"/>
    <p:sldId id="273" r:id="rId30"/>
    <p:sldId id="290" r:id="rId31"/>
    <p:sldId id="274" r:id="rId32"/>
    <p:sldId id="275" r:id="rId33"/>
    <p:sldId id="276" r:id="rId34"/>
    <p:sldId id="277" r:id="rId35"/>
    <p:sldId id="278" r:id="rId36"/>
    <p:sldId id="279" r:id="rId37"/>
    <p:sldId id="285" r:id="rId38"/>
    <p:sldId id="286" r:id="rId39"/>
    <p:sldId id="287" r:id="rId40"/>
    <p:sldId id="317" r:id="rId41"/>
    <p:sldId id="289" r:id="rId42"/>
    <p:sldId id="291" r:id="rId43"/>
    <p:sldId id="292" r:id="rId44"/>
    <p:sldId id="293" r:id="rId45"/>
    <p:sldId id="294" r:id="rId46"/>
    <p:sldId id="311" r:id="rId47"/>
    <p:sldId id="318" r:id="rId48"/>
    <p:sldId id="295" r:id="rId49"/>
    <p:sldId id="297" r:id="rId50"/>
    <p:sldId id="298" r:id="rId51"/>
    <p:sldId id="299" r:id="rId52"/>
    <p:sldId id="319" r:id="rId5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4" autoAdjust="0"/>
    <p:restoredTop sz="94689" autoAdjust="0"/>
  </p:normalViewPr>
  <p:slideViewPr>
    <p:cSldViewPr>
      <p:cViewPr varScale="1">
        <p:scale>
          <a:sx n="99" d="100"/>
          <a:sy n="99" d="100"/>
        </p:scale>
        <p:origin x="555" y="57"/>
      </p:cViewPr>
      <p:guideLst>
        <p:guide orient="horz" pos="2160"/>
        <p:guide pos="2880"/>
      </p:guideLst>
    </p:cSldViewPr>
  </p:slideViewPr>
  <p:outlineViewPr>
    <p:cViewPr>
      <p:scale>
        <a:sx n="33" d="100"/>
        <a:sy n="33" d="100"/>
      </p:scale>
      <p:origin x="0" y="-786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3A1386E-49DA-4049-B6AA-B26DD74C61F3}" type="datetimeFigureOut">
              <a:rPr lang="en-US" smtClean="0"/>
              <a:pPr/>
              <a:t>2/23/2020</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10373854-51E3-40D2-9A2D-5B7EE8A1D14C}" type="slidenum">
              <a:rPr lang="en-US" smtClean="0"/>
              <a:pPr/>
              <a:t>‹#›</a:t>
            </a:fld>
            <a:endParaRPr lang="en-US"/>
          </a:p>
        </p:txBody>
      </p:sp>
    </p:spTree>
    <p:extLst>
      <p:ext uri="{BB962C8B-B14F-4D97-AF65-F5344CB8AC3E}">
        <p14:creationId xmlns:p14="http://schemas.microsoft.com/office/powerpoint/2010/main" val="302846279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1:48:58.67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 0 16,'0'0'13,"0"0"0,0 0-1,0 0-1,0 0-2,0 0-1,0 0-1,0 0-3,0 0-2,0 0 1,-16 53-1,16-53 0,0 0 0,0 0 1,0 0 0,0 0 1,0 0-1,0 0 1,0 0-1,0 0 0,0 0-1,0 0 0,0 0 0,0 0-1,0 0 0,0 0 0,0 0 0,0 0 0,0 0-1,0 0 0,0 0-1,0 0-2,0 0-3,0 0-12,0 0-14,0 0-1,70-34 0</inkml:trace>
</inkml:ink>
</file>

<file path=ppt/ink/ink2.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1:50:34.59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211 82 10,'0'0'6,"0"0"1,0 0 2,0 0 1,0 0 0,0 0 0,0 0 0,0 0 0,0 0 1,0 0-3,0 0-2,0 0 0,-39 60-3,39-60 0,-12 47 0,12-47-1,0 0 0,0 0 1,0 0 0,2-57 0,-2 57 0,11-76-1,-11 76 1,11-56 0,-11 56-1,0 0 0,0 0-2,-4 77 0,0-30-1,4-47 2,-5 89-3,5-89 2,-2 63-1,2-63 1,0 0 0,0 0 1,0 0 1,0 0-2,0 0 1,0 0-1,0 0 1,0 0 0,-11-67-1,11 67-2,0 0-1,0-51-3,0 51-10,0 0-17,0 0-1,49 63-1</inkml:trace>
  <inkml:trace contextRef="#ctx0" brushRef="#br0" timeOffset="2032">108 144 15,'0'0'18,"0"0"-2,0 0 0,0 0-2,0 0-1,-48 19-2,48-19-3,0 0-2,0 0-2,0 0-1,0 0 0,0 0-1,0 0 0,0 0-1,0 0 1,0 0 0,0 0 0,0 0 1,0 0 0,0 0 0,0 0-1,0 0 1,-38-46 0,38 46-1,0 0-1,0 0 2,0 0-2,0 0 0,0 0 0,-22 49-1,22-49-1,0 0 1,11 54-1,-11-54-1,0 0-3,0 0-6,76-8-23,-76 8-2,0 0 0,54-64-1</inkml:trace>
</inkml:ink>
</file>

<file path=ppt/ink/ink3.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1:59:14.45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 0 6,'0'0'16,"0"0"-2,0 0-1,0 0 0,0 0-2,0 0 1,0 0-3,0 0 0,0 0-1,-24 70 0,24-70-3,0 0-1,0 0 0,28 56-2,-28-56 1,0 0-1,0 0-1,0 0 1,0 0 0,0 0 0,0 0-2,0 0 1,45 59 0,-45-59-1,0 0 1,0 0-2,0 0 1,0 0-4,0 0-4,0 0-14,0 0-13,0 0 1,57-16-1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DD200E50-2C36-491F-92D2-77FFF3BFE0F0}" type="datetimeFigureOut">
              <a:rPr lang="en-US" smtClean="0"/>
              <a:t>2/23/2020</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E4144258-20E8-4244-B2F4-968B4D3E86F6}" type="slidenum">
              <a:rPr lang="en-US" smtClean="0"/>
              <a:t>‹#›</a:t>
            </a:fld>
            <a:endParaRPr lang="en-US"/>
          </a:p>
        </p:txBody>
      </p:sp>
    </p:spTree>
    <p:extLst>
      <p:ext uri="{BB962C8B-B14F-4D97-AF65-F5344CB8AC3E}">
        <p14:creationId xmlns:p14="http://schemas.microsoft.com/office/powerpoint/2010/main" val="93785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
            </a:r>
          </a:p>
        </p:txBody>
      </p:sp>
      <p:sp>
        <p:nvSpPr>
          <p:cNvPr id="4" name="Slide Number Placeholder 3"/>
          <p:cNvSpPr>
            <a:spLocks noGrp="1"/>
          </p:cNvSpPr>
          <p:nvPr>
            <p:ph type="sldNum" sz="quarter" idx="10"/>
          </p:nvPr>
        </p:nvSpPr>
        <p:spPr/>
        <p:txBody>
          <a:bodyPr/>
          <a:lstStyle/>
          <a:p>
            <a:fld id="{E4144258-20E8-4244-B2F4-968B4D3E86F6}" type="slidenum">
              <a:rPr lang="en-US" smtClean="0"/>
              <a:t>14</a:t>
            </a:fld>
            <a:endParaRPr lang="en-US"/>
          </a:p>
        </p:txBody>
      </p:sp>
    </p:spTree>
    <p:extLst>
      <p:ext uri="{BB962C8B-B14F-4D97-AF65-F5344CB8AC3E}">
        <p14:creationId xmlns:p14="http://schemas.microsoft.com/office/powerpoint/2010/main" val="346461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6B591F-BE8D-48C9-A5A8-CCBB9B0343EF}" type="datetimeFigureOut">
              <a:rPr lang="en-US" smtClean="0"/>
              <a:pPr/>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6B591F-BE8D-48C9-A5A8-CCBB9B0343EF}" type="datetimeFigureOut">
              <a:rPr lang="en-US" smtClean="0"/>
              <a:pPr/>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6B591F-BE8D-48C9-A5A8-CCBB9B0343EF}" type="datetimeFigureOut">
              <a:rPr lang="en-US" smtClean="0"/>
              <a:pPr/>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B6B591F-BE8D-48C9-A5A8-CCBB9B0343EF}" type="datetimeFigureOut">
              <a:rPr lang="en-US" smtClean="0"/>
              <a:pPr/>
              <a:t>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B6B591F-BE8D-48C9-A5A8-CCBB9B0343EF}" type="datetimeFigureOut">
              <a:rPr lang="en-US" smtClean="0"/>
              <a:pPr/>
              <a:t>2/23/2020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B6B591F-BE8D-48C9-A5A8-CCBB9B0343EF}" type="datetimeFigureOut">
              <a:rPr lang="en-US" smtClean="0"/>
              <a:pPr/>
              <a:t>2/23/2020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6B591F-BE8D-48C9-A5A8-CCBB9B0343EF}" type="datetimeFigureOut">
              <a:rPr lang="en-US" smtClean="0"/>
              <a:pPr/>
              <a:t>2/23/2020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6B591F-BE8D-48C9-A5A8-CCBB9B0343EF}" type="datetimeFigureOut">
              <a:rPr lang="en-US" smtClean="0"/>
              <a:pPr/>
              <a:t>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6B591F-BE8D-48C9-A5A8-CCBB9B0343EF}" type="datetimeFigureOut">
              <a:rPr lang="en-US" smtClean="0"/>
              <a:pPr/>
              <a:t>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6B591F-BE8D-48C9-A5A8-CCBB9B0343EF}" type="datetimeFigureOut">
              <a:rPr lang="en-US" smtClean="0"/>
              <a:pPr/>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6B591F-BE8D-48C9-A5A8-CCBB9B0343EF}" type="datetimeFigureOut">
              <a:rPr lang="en-US" smtClean="0"/>
              <a:pPr/>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B3062-6ED9-4CC6-917E-D1E5279FFA4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6B591F-BE8D-48C9-A5A8-CCBB9B0343EF}" type="datetimeFigureOut">
              <a:rPr lang="en-US" smtClean="0"/>
              <a:pPr/>
              <a:t>2/23/2020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5B3062-6ED9-4CC6-917E-D1E5279FFA4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audio" Target="../media/audio4.wav"/><Relationship Id="rId4" Type="http://schemas.openxmlformats.org/officeDocument/2006/relationships/audio" Target="../media/audio3.wav"/></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5.wav"/><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behance.net/gallery/5316591/JWT-NY"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9.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0.emf"/></Relationships>
</file>

<file path=ppt/slides/_rels/slide50.xml.rels><?xml version="1.0" encoding="UTF-8" standalone="yes"?>
<Relationships xmlns="http://schemas.openxmlformats.org/package/2006/relationships"><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21.emf"/></Relationships>
</file>

<file path=ppt/slides/_rels/slide51.xml.rels><?xml version="1.0" encoding="UTF-8" standalone="yes"?>
<Relationships xmlns="http://schemas.openxmlformats.org/package/2006/relationships"><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22.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Revolution Begins</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3"/>
          <p:cNvSpPr>
            <a:spLocks noChangeShapeType="1"/>
          </p:cNvSpPr>
          <p:nvPr/>
        </p:nvSpPr>
        <p:spPr bwMode="auto">
          <a:xfrm>
            <a:off x="4267200" y="990600"/>
            <a:ext cx="0" cy="4953000"/>
          </a:xfrm>
          <a:prstGeom prst="line">
            <a:avLst/>
          </a:prstGeom>
          <a:noFill/>
          <a:ln w="9525">
            <a:solidFill>
              <a:schemeClr val="tx1"/>
            </a:solidFill>
            <a:round/>
            <a:headEnd/>
            <a:tailEnd/>
          </a:ln>
        </p:spPr>
        <p:txBody>
          <a:bodyPr/>
          <a:lstStyle/>
          <a:p>
            <a:endParaRPr lang="en-US"/>
          </a:p>
        </p:txBody>
      </p:sp>
      <p:sp>
        <p:nvSpPr>
          <p:cNvPr id="11267" name="Line 4"/>
          <p:cNvSpPr>
            <a:spLocks noChangeShapeType="1"/>
          </p:cNvSpPr>
          <p:nvPr/>
        </p:nvSpPr>
        <p:spPr bwMode="auto">
          <a:xfrm>
            <a:off x="1752600" y="3352800"/>
            <a:ext cx="5105400" cy="0"/>
          </a:xfrm>
          <a:prstGeom prst="line">
            <a:avLst/>
          </a:prstGeom>
          <a:noFill/>
          <a:ln w="9525">
            <a:solidFill>
              <a:schemeClr val="tx1"/>
            </a:solidFill>
            <a:round/>
            <a:headEnd/>
            <a:tailEnd/>
          </a:ln>
        </p:spPr>
        <p:txBody>
          <a:bodyPr/>
          <a:lstStyle/>
          <a:p>
            <a:endParaRPr lang="en-US"/>
          </a:p>
        </p:txBody>
      </p:sp>
      <p:sp>
        <p:nvSpPr>
          <p:cNvPr id="11268" name="Text Box 5"/>
          <p:cNvSpPr txBox="1">
            <a:spLocks noChangeArrowheads="1"/>
          </p:cNvSpPr>
          <p:nvPr/>
        </p:nvSpPr>
        <p:spPr bwMode="auto">
          <a:xfrm>
            <a:off x="4403725" y="574675"/>
            <a:ext cx="1382713" cy="457200"/>
          </a:xfrm>
          <a:prstGeom prst="rect">
            <a:avLst/>
          </a:prstGeom>
          <a:noFill/>
          <a:ln w="9525">
            <a:noFill/>
            <a:miter lim="800000"/>
            <a:headEnd/>
            <a:tailEnd/>
          </a:ln>
        </p:spPr>
        <p:txBody>
          <a:bodyPr wrap="none">
            <a:spAutoFit/>
          </a:bodyPr>
          <a:lstStyle/>
          <a:p>
            <a:r>
              <a:rPr lang="en-US"/>
              <a:t>flexibility</a:t>
            </a:r>
          </a:p>
        </p:txBody>
      </p:sp>
      <p:sp>
        <p:nvSpPr>
          <p:cNvPr id="11269" name="Text Box 6"/>
          <p:cNvSpPr txBox="1">
            <a:spLocks noChangeArrowheads="1"/>
          </p:cNvSpPr>
          <p:nvPr/>
        </p:nvSpPr>
        <p:spPr bwMode="auto">
          <a:xfrm>
            <a:off x="4556125" y="5984875"/>
            <a:ext cx="1046163" cy="457200"/>
          </a:xfrm>
          <a:prstGeom prst="rect">
            <a:avLst/>
          </a:prstGeom>
          <a:noFill/>
          <a:ln w="9525">
            <a:noFill/>
            <a:miter lim="800000"/>
            <a:headEnd/>
            <a:tailEnd/>
          </a:ln>
        </p:spPr>
        <p:txBody>
          <a:bodyPr wrap="none">
            <a:spAutoFit/>
          </a:bodyPr>
          <a:lstStyle/>
          <a:p>
            <a:r>
              <a:rPr lang="en-US"/>
              <a:t>control</a:t>
            </a:r>
          </a:p>
        </p:txBody>
      </p:sp>
      <p:sp>
        <p:nvSpPr>
          <p:cNvPr id="11270" name="Text Box 8"/>
          <p:cNvSpPr txBox="1">
            <a:spLocks noChangeArrowheads="1"/>
          </p:cNvSpPr>
          <p:nvPr/>
        </p:nvSpPr>
        <p:spPr bwMode="auto">
          <a:xfrm>
            <a:off x="288925" y="2784475"/>
            <a:ext cx="1130300" cy="457200"/>
          </a:xfrm>
          <a:prstGeom prst="rect">
            <a:avLst/>
          </a:prstGeom>
          <a:noFill/>
          <a:ln w="9525">
            <a:noFill/>
            <a:miter lim="800000"/>
            <a:headEnd/>
            <a:tailEnd/>
          </a:ln>
        </p:spPr>
        <p:txBody>
          <a:bodyPr wrap="none">
            <a:spAutoFit/>
          </a:bodyPr>
          <a:lstStyle/>
          <a:p>
            <a:r>
              <a:rPr lang="en-US"/>
              <a:t>Internal</a:t>
            </a:r>
          </a:p>
        </p:txBody>
      </p:sp>
      <p:sp>
        <p:nvSpPr>
          <p:cNvPr id="11271" name="Text Box 9"/>
          <p:cNvSpPr txBox="1">
            <a:spLocks noChangeArrowheads="1"/>
          </p:cNvSpPr>
          <p:nvPr/>
        </p:nvSpPr>
        <p:spPr bwMode="auto">
          <a:xfrm>
            <a:off x="6858000" y="2555875"/>
            <a:ext cx="1452563" cy="457200"/>
          </a:xfrm>
          <a:prstGeom prst="rect">
            <a:avLst/>
          </a:prstGeom>
          <a:noFill/>
          <a:ln w="9525">
            <a:noFill/>
            <a:miter lim="800000"/>
            <a:headEnd/>
            <a:tailEnd/>
          </a:ln>
        </p:spPr>
        <p:txBody>
          <a:bodyPr>
            <a:spAutoFit/>
          </a:bodyPr>
          <a:lstStyle/>
          <a:p>
            <a:r>
              <a:rPr lang="en-US"/>
              <a:t>external</a:t>
            </a:r>
          </a:p>
        </p:txBody>
      </p:sp>
      <p:sp>
        <p:nvSpPr>
          <p:cNvPr id="11272" name="Text Box 10"/>
          <p:cNvSpPr txBox="1">
            <a:spLocks noChangeArrowheads="1"/>
          </p:cNvSpPr>
          <p:nvPr/>
        </p:nvSpPr>
        <p:spPr bwMode="auto">
          <a:xfrm>
            <a:off x="1508125" y="4156075"/>
            <a:ext cx="2627313" cy="457200"/>
          </a:xfrm>
          <a:prstGeom prst="rect">
            <a:avLst/>
          </a:prstGeom>
          <a:noFill/>
          <a:ln w="9525">
            <a:noFill/>
            <a:miter lim="800000"/>
            <a:headEnd/>
            <a:tailEnd/>
          </a:ln>
        </p:spPr>
        <p:txBody>
          <a:bodyPr wrap="none">
            <a:spAutoFit/>
          </a:bodyPr>
          <a:lstStyle/>
          <a:p>
            <a:r>
              <a:rPr lang="en-US"/>
              <a:t>Classic bureaucracy</a:t>
            </a:r>
          </a:p>
        </p:txBody>
      </p:sp>
      <p:sp>
        <p:nvSpPr>
          <p:cNvPr id="11273" name="Text Box 11"/>
          <p:cNvSpPr txBox="1">
            <a:spLocks noChangeArrowheads="1"/>
          </p:cNvSpPr>
          <p:nvPr/>
        </p:nvSpPr>
        <p:spPr bwMode="auto">
          <a:xfrm>
            <a:off x="746125" y="5070475"/>
            <a:ext cx="1865313" cy="457200"/>
          </a:xfrm>
          <a:prstGeom prst="rect">
            <a:avLst/>
          </a:prstGeom>
          <a:noFill/>
          <a:ln w="9525">
            <a:noFill/>
            <a:miter lim="800000"/>
            <a:headEnd/>
            <a:tailEnd/>
          </a:ln>
        </p:spPr>
        <p:txBody>
          <a:bodyPr wrap="none">
            <a:spAutoFit/>
          </a:bodyPr>
          <a:lstStyle/>
          <a:p>
            <a:r>
              <a:rPr lang="en-US"/>
              <a:t>(the machine)</a:t>
            </a:r>
          </a:p>
        </p:txBody>
      </p:sp>
      <p:sp>
        <p:nvSpPr>
          <p:cNvPr id="6156" name="Text Box 12"/>
          <p:cNvSpPr txBox="1">
            <a:spLocks noChangeArrowheads="1"/>
          </p:cNvSpPr>
          <p:nvPr/>
        </p:nvSpPr>
        <p:spPr bwMode="auto">
          <a:xfrm>
            <a:off x="746125" y="-34925"/>
            <a:ext cx="3008313" cy="457200"/>
          </a:xfrm>
          <a:prstGeom prst="rect">
            <a:avLst/>
          </a:prstGeom>
          <a:noFill/>
          <a:ln w="9525">
            <a:noFill/>
            <a:miter lim="800000"/>
            <a:headEnd/>
            <a:tailEnd/>
          </a:ln>
        </p:spPr>
        <p:txBody>
          <a:bodyPr wrap="none">
            <a:spAutoFit/>
          </a:bodyPr>
          <a:lstStyle/>
          <a:p>
            <a:r>
              <a:rPr lang="en-US"/>
              <a:t>The Revolution Begins</a:t>
            </a:r>
          </a:p>
        </p:txBody>
      </p:sp>
      <p:sp>
        <p:nvSpPr>
          <p:cNvPr id="6157" name="Text Box 13"/>
          <p:cNvSpPr txBox="1">
            <a:spLocks noChangeArrowheads="1"/>
          </p:cNvSpPr>
          <p:nvPr/>
        </p:nvSpPr>
        <p:spPr bwMode="auto">
          <a:xfrm>
            <a:off x="212725" y="955675"/>
            <a:ext cx="4152900" cy="457200"/>
          </a:xfrm>
          <a:prstGeom prst="rect">
            <a:avLst/>
          </a:prstGeom>
          <a:noFill/>
          <a:ln w="9525">
            <a:noFill/>
            <a:miter lim="800000"/>
            <a:headEnd/>
            <a:tailEnd/>
          </a:ln>
        </p:spPr>
        <p:txBody>
          <a:bodyPr wrap="none">
            <a:spAutoFit/>
          </a:bodyPr>
          <a:lstStyle/>
          <a:p>
            <a:r>
              <a:rPr lang="en-US"/>
              <a:t>1924 –Hawthorne Studies Begin</a:t>
            </a:r>
          </a:p>
        </p:txBody>
      </p:sp>
      <p:sp>
        <p:nvSpPr>
          <p:cNvPr id="6158" name="Text Box 14"/>
          <p:cNvSpPr txBox="1">
            <a:spLocks noChangeArrowheads="1"/>
          </p:cNvSpPr>
          <p:nvPr/>
        </p:nvSpPr>
        <p:spPr bwMode="auto">
          <a:xfrm>
            <a:off x="288925" y="1565275"/>
            <a:ext cx="3913188" cy="1552575"/>
          </a:xfrm>
          <a:prstGeom prst="rect">
            <a:avLst/>
          </a:prstGeom>
          <a:noFill/>
          <a:ln w="9525">
            <a:noFill/>
            <a:miter lim="800000"/>
            <a:headEnd/>
            <a:tailEnd/>
          </a:ln>
        </p:spPr>
        <p:txBody>
          <a:bodyPr>
            <a:spAutoFit/>
          </a:bodyPr>
          <a:lstStyle/>
          <a:p>
            <a:r>
              <a:rPr lang="en-US"/>
              <a:t>1918</a:t>
            </a:r>
          </a:p>
          <a:p>
            <a:r>
              <a:rPr lang="en-US"/>
              <a:t>          Follett on organizations </a:t>
            </a:r>
          </a:p>
          <a:p>
            <a:r>
              <a:rPr lang="en-US"/>
              <a:t>1924</a:t>
            </a:r>
          </a:p>
          <a:p>
            <a:endParaRPr lang="en-US"/>
          </a:p>
        </p:txBody>
      </p:sp>
      <p:sp>
        <p:nvSpPr>
          <p:cNvPr id="6159" name="Text Box 15"/>
          <p:cNvSpPr txBox="1">
            <a:spLocks noChangeArrowheads="1"/>
          </p:cNvSpPr>
          <p:nvPr/>
        </p:nvSpPr>
        <p:spPr bwMode="auto">
          <a:xfrm>
            <a:off x="1524000" y="2590800"/>
            <a:ext cx="3155950" cy="646331"/>
          </a:xfrm>
          <a:prstGeom prst="rect">
            <a:avLst/>
          </a:prstGeom>
          <a:noFill/>
          <a:ln w="9525">
            <a:noFill/>
            <a:miter lim="800000"/>
            <a:headEnd/>
            <a:tailEnd/>
          </a:ln>
        </p:spPr>
        <p:txBody>
          <a:bodyPr>
            <a:spAutoFit/>
          </a:bodyPr>
          <a:lstStyle/>
          <a:p>
            <a:r>
              <a:rPr lang="en-US" dirty="0"/>
              <a:t>1933-Elton Mayo</a:t>
            </a:r>
          </a:p>
          <a:p>
            <a:r>
              <a:rPr lang="en-US" dirty="0"/>
              <a:t>Reports on Hawthorne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156"/>
                                        </p:tgtEl>
                                        <p:attrNameLst>
                                          <p:attrName>style.visibility</p:attrName>
                                        </p:attrNameLst>
                                      </p:cBhvr>
                                      <p:to>
                                        <p:strVal val="visible"/>
                                      </p:to>
                                    </p:set>
                                    <p:anim calcmode="lin" valueType="num">
                                      <p:cBhvr additive="base">
                                        <p:cTn id="7" dur="500" fill="hold"/>
                                        <p:tgtEl>
                                          <p:spTgt spid="6156"/>
                                        </p:tgtEl>
                                        <p:attrNameLst>
                                          <p:attrName>ppt_x</p:attrName>
                                        </p:attrNameLst>
                                      </p:cBhvr>
                                      <p:tavLst>
                                        <p:tav tm="0">
                                          <p:val>
                                            <p:strVal val="#ppt_x"/>
                                          </p:val>
                                        </p:tav>
                                        <p:tav tm="100000">
                                          <p:val>
                                            <p:strVal val="#ppt_x"/>
                                          </p:val>
                                        </p:tav>
                                      </p:tavLst>
                                    </p:anim>
                                    <p:anim calcmode="lin" valueType="num">
                                      <p:cBhvr additive="base">
                                        <p:cTn id="8" dur="500" fill="hold"/>
                                        <p:tgtEl>
                                          <p:spTgt spid="6156"/>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57"/>
                                        </p:tgtEl>
                                        <p:attrNameLst>
                                          <p:attrName>style.visibility</p:attrName>
                                        </p:attrNameLst>
                                      </p:cBhvr>
                                      <p:to>
                                        <p:strVal val="visible"/>
                                      </p:to>
                                    </p:set>
                                    <p:anim calcmode="lin" valueType="num">
                                      <p:cBhvr additive="base">
                                        <p:cTn id="13" dur="500" fill="hold"/>
                                        <p:tgtEl>
                                          <p:spTgt spid="6157"/>
                                        </p:tgtEl>
                                        <p:attrNameLst>
                                          <p:attrName>ppt_x</p:attrName>
                                        </p:attrNameLst>
                                      </p:cBhvr>
                                      <p:tavLst>
                                        <p:tav tm="0">
                                          <p:val>
                                            <p:strVal val="0-#ppt_w/2"/>
                                          </p:val>
                                        </p:tav>
                                        <p:tav tm="100000">
                                          <p:val>
                                            <p:strVal val="#ppt_x"/>
                                          </p:val>
                                        </p:tav>
                                      </p:tavLst>
                                    </p:anim>
                                    <p:anim calcmode="lin" valueType="num">
                                      <p:cBhvr additive="base">
                                        <p:cTn id="14" dur="500" fill="hold"/>
                                        <p:tgtEl>
                                          <p:spTgt spid="615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applaus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58"/>
                                        </p:tgtEl>
                                        <p:attrNameLst>
                                          <p:attrName>style.visibility</p:attrName>
                                        </p:attrNameLst>
                                      </p:cBhvr>
                                      <p:to>
                                        <p:strVal val="visible"/>
                                      </p:to>
                                    </p:set>
                                    <p:anim calcmode="lin" valueType="num">
                                      <p:cBhvr additive="base">
                                        <p:cTn id="19" dur="500" fill="hold"/>
                                        <p:tgtEl>
                                          <p:spTgt spid="6158"/>
                                        </p:tgtEl>
                                        <p:attrNameLst>
                                          <p:attrName>ppt_x</p:attrName>
                                        </p:attrNameLst>
                                      </p:cBhvr>
                                      <p:tavLst>
                                        <p:tav tm="0">
                                          <p:val>
                                            <p:strVal val="0-#ppt_w/2"/>
                                          </p:val>
                                        </p:tav>
                                        <p:tav tm="100000">
                                          <p:val>
                                            <p:strVal val="#ppt_x"/>
                                          </p:val>
                                        </p:tav>
                                      </p:tavLst>
                                    </p:anim>
                                    <p:anim calcmode="lin" valueType="num">
                                      <p:cBhvr additive="base">
                                        <p:cTn id="20" dur="500" fill="hold"/>
                                        <p:tgtEl>
                                          <p:spTgt spid="61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glass.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59"/>
                                        </p:tgtEl>
                                        <p:attrNameLst>
                                          <p:attrName>style.visibility</p:attrName>
                                        </p:attrNameLst>
                                      </p:cBhvr>
                                      <p:to>
                                        <p:strVal val="visible"/>
                                      </p:to>
                                    </p:set>
                                    <p:anim calcmode="lin" valueType="num">
                                      <p:cBhvr additive="base">
                                        <p:cTn id="25" dur="500" fill="hold"/>
                                        <p:tgtEl>
                                          <p:spTgt spid="6159"/>
                                        </p:tgtEl>
                                        <p:attrNameLst>
                                          <p:attrName>ppt_x</p:attrName>
                                        </p:attrNameLst>
                                      </p:cBhvr>
                                      <p:tavLst>
                                        <p:tav tm="0">
                                          <p:val>
                                            <p:strVal val="0-#ppt_w/2"/>
                                          </p:val>
                                        </p:tav>
                                        <p:tav tm="100000">
                                          <p:val>
                                            <p:strVal val="#ppt_x"/>
                                          </p:val>
                                        </p:tav>
                                      </p:tavLst>
                                    </p:anim>
                                    <p:anim calcmode="lin" valueType="num">
                                      <p:cBhvr additive="base">
                                        <p:cTn id="26" dur="500" fill="hold"/>
                                        <p:tgtEl>
                                          <p:spTgt spid="61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5"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6" grpId="0" autoUpdateAnimBg="0"/>
      <p:bldP spid="6157" grpId="0" autoUpdateAnimBg="0"/>
      <p:bldP spid="6158" grpId="0" autoUpdateAnimBg="0"/>
      <p:bldP spid="615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t>The Hawthorne Studies</a:t>
            </a:r>
          </a:p>
        </p:txBody>
      </p:sp>
      <p:sp>
        <p:nvSpPr>
          <p:cNvPr id="12291" name="Content Placeholder 2"/>
          <p:cNvSpPr>
            <a:spLocks noGrp="1"/>
          </p:cNvSpPr>
          <p:nvPr>
            <p:ph idx="1"/>
          </p:nvPr>
        </p:nvSpPr>
        <p:spPr/>
        <p:txBody>
          <a:bodyPr/>
          <a:lstStyle/>
          <a:p>
            <a:r>
              <a:rPr lang="en-US"/>
              <a:t>Start in 1924 with a team supported by the National Academy of Science</a:t>
            </a:r>
          </a:p>
          <a:p>
            <a:r>
              <a:rPr lang="en-US"/>
              <a:t>Takes the perspective of scientific management</a:t>
            </a:r>
          </a:p>
          <a:p>
            <a:r>
              <a:rPr lang="en-US"/>
              <a:t>Sought to identify environmental changes that would increase productivity</a:t>
            </a:r>
          </a:p>
          <a:p>
            <a:r>
              <a:rPr lang="en-US"/>
              <a:t>Three years later they could make no sense of their findings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fontScale="90000"/>
          </a:bodyPr>
          <a:lstStyle/>
          <a:p>
            <a:r>
              <a:rPr lang="en-US"/>
              <a:t>Fritz Roethlisberger takes over the story</a:t>
            </a:r>
          </a:p>
        </p:txBody>
      </p:sp>
      <p:sp>
        <p:nvSpPr>
          <p:cNvPr id="3" name="Content Placeholder 2"/>
          <p:cNvSpPr>
            <a:spLocks noGrp="1"/>
          </p:cNvSpPr>
          <p:nvPr>
            <p:ph idx="1"/>
          </p:nvPr>
        </p:nvSpPr>
        <p:spPr/>
        <p:txBody>
          <a:bodyPr/>
          <a:lstStyle/>
          <a:p>
            <a:r>
              <a:rPr lang="en-US"/>
              <a:t>Something was “screwy” </a:t>
            </a:r>
          </a:p>
          <a:p>
            <a:pPr lvl="1"/>
            <a:r>
              <a:rPr lang="en-US"/>
              <a:t>The assumptions of the researchers!</a:t>
            </a:r>
          </a:p>
          <a:p>
            <a:pPr lvl="1"/>
            <a:r>
              <a:rPr lang="en-US"/>
              <a:t>Change </a:t>
            </a:r>
            <a:r>
              <a:rPr lang="en-US">
                <a:sym typeface="Wingdings" pitchFamily="2" charset="2"/>
              </a:rPr>
              <a:t> Response</a:t>
            </a:r>
          </a:p>
          <a:p>
            <a:r>
              <a:rPr lang="en-US">
                <a:sym typeface="Wingdings" pitchFamily="2" charset="2"/>
              </a:rPr>
              <a:t>The researchers finally realized that the response of workers to what was happening about them depended upon the meaning they attached to the event.</a:t>
            </a:r>
          </a:p>
          <a:p>
            <a:pPr lvl="1"/>
            <a:r>
              <a:rPr lang="en-US">
                <a:sym typeface="Wingdings" pitchFamily="2" charset="2"/>
              </a:rPr>
              <a:t>Change  Attitudes Response</a:t>
            </a:r>
          </a:p>
          <a:p>
            <a:pPr lvl="2">
              <a:buFontTx/>
              <a:buNone/>
            </a:pPr>
            <a:endParaRPr lang="en-US">
              <a:sym typeface="Wingding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611C7-10F1-4CAA-860F-EA0BED018EBE}"/>
              </a:ext>
            </a:extLst>
          </p:cNvPr>
          <p:cNvSpPr>
            <a:spLocks noGrp="1"/>
          </p:cNvSpPr>
          <p:nvPr>
            <p:ph type="title"/>
          </p:nvPr>
        </p:nvSpPr>
        <p:spPr/>
        <p:txBody>
          <a:bodyPr/>
          <a:lstStyle/>
          <a:p>
            <a:r>
              <a:rPr lang="en-US" dirty="0"/>
              <a:t>First Reflective Pause</a:t>
            </a:r>
          </a:p>
        </p:txBody>
      </p:sp>
      <p:sp>
        <p:nvSpPr>
          <p:cNvPr id="3" name="Content Placeholder 2">
            <a:extLst>
              <a:ext uri="{FF2B5EF4-FFF2-40B4-BE49-F238E27FC236}">
                <a16:creationId xmlns:a16="http://schemas.microsoft.com/office/drawing/2014/main" id="{ED6B2C23-DB7D-44BB-8210-8329E0AB5E9A}"/>
              </a:ext>
            </a:extLst>
          </p:cNvPr>
          <p:cNvSpPr>
            <a:spLocks noGrp="1"/>
          </p:cNvSpPr>
          <p:nvPr>
            <p:ph idx="1"/>
          </p:nvPr>
        </p:nvSpPr>
        <p:spPr/>
        <p:txBody>
          <a:bodyPr>
            <a:normAutofit fontScale="77500" lnSpcReduction="20000"/>
          </a:bodyPr>
          <a:lstStyle/>
          <a:p>
            <a:r>
              <a:rPr lang="en-US" dirty="0"/>
              <a:t>The researchers begin with a model that sees the worker as just a passive recipient of environmental stimuli: a change in the environment causes a change in the worker </a:t>
            </a:r>
          </a:p>
          <a:p>
            <a:r>
              <a:rPr lang="en-US" dirty="0"/>
              <a:t>The second model, inserting the worker’s attitude toward the change as governing his/her reaction gives the worker agency</a:t>
            </a:r>
          </a:p>
          <a:p>
            <a:r>
              <a:rPr lang="en-US" dirty="0"/>
              <a:t>A move away from a key assumption of scientific management toward recognition of the worker as an active participant in the definition of workplace</a:t>
            </a:r>
          </a:p>
          <a:p>
            <a:r>
              <a:rPr lang="en-US" dirty="0"/>
              <a:t>What examples can you think of where the first model predominated/what examples portraying the second model?   </a:t>
            </a:r>
          </a:p>
        </p:txBody>
      </p:sp>
    </p:spTree>
    <p:extLst>
      <p:ext uri="{BB962C8B-B14F-4D97-AF65-F5344CB8AC3E}">
        <p14:creationId xmlns:p14="http://schemas.microsoft.com/office/powerpoint/2010/main" val="3896344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A new research approach</a:t>
            </a:r>
          </a:p>
        </p:txBody>
      </p:sp>
      <p:sp>
        <p:nvSpPr>
          <p:cNvPr id="14339" name="Content Placeholder 2"/>
          <p:cNvSpPr>
            <a:spLocks noGrp="1"/>
          </p:cNvSpPr>
          <p:nvPr>
            <p:ph idx="1"/>
          </p:nvPr>
        </p:nvSpPr>
        <p:spPr/>
        <p:txBody>
          <a:bodyPr/>
          <a:lstStyle/>
          <a:p>
            <a:r>
              <a:rPr lang="en-US"/>
              <a:t>The workers become subjects, not just objects</a:t>
            </a:r>
          </a:p>
          <a:p>
            <a:pPr lvl="1"/>
            <a:r>
              <a:rPr lang="en-US"/>
              <a:t>“…experimenters decided to go into the shops and – completely disarmed and denuded of their elaborate logical equipment and in all humility - … learn how to get workers to talk about things that were important to them…”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r>
              <a:rPr lang="en-US"/>
              <a:t>Not an easy transition from expert to learner</a:t>
            </a:r>
          </a:p>
        </p:txBody>
      </p:sp>
      <p:sp>
        <p:nvSpPr>
          <p:cNvPr id="3" name="Content Placeholder 2"/>
          <p:cNvSpPr>
            <a:spLocks noGrp="1"/>
          </p:cNvSpPr>
          <p:nvPr>
            <p:ph idx="1"/>
          </p:nvPr>
        </p:nvSpPr>
        <p:spPr/>
        <p:txBody>
          <a:bodyPr>
            <a:normAutofit/>
          </a:bodyPr>
          <a:lstStyle/>
          <a:p>
            <a:pPr>
              <a:defRPr/>
            </a:pPr>
            <a:r>
              <a:rPr lang="en-US" dirty="0"/>
              <a:t>“At first, they found it difficult to learn to give full and complete attention to what a person had to say without interrupting him…”</a:t>
            </a:r>
          </a:p>
          <a:p>
            <a:pPr>
              <a:defRPr/>
            </a:pPr>
            <a:r>
              <a:rPr lang="en-US" dirty="0"/>
              <a:t>Wanted to give advice, make moral judgments, argue, be cleaver</a:t>
            </a:r>
          </a:p>
          <a:p>
            <a:pPr>
              <a:defRPr/>
            </a:pPr>
            <a:r>
              <a:rPr lang="en-US" dirty="0"/>
              <a:t>“There followed from {this new approach} a gradually changing conception of the worker and his behavior”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06B4A-D632-4E74-99E1-EE5008096C5D}"/>
              </a:ext>
            </a:extLst>
          </p:cNvPr>
          <p:cNvSpPr>
            <a:spLocks noGrp="1"/>
          </p:cNvSpPr>
          <p:nvPr>
            <p:ph type="title"/>
          </p:nvPr>
        </p:nvSpPr>
        <p:spPr/>
        <p:txBody>
          <a:bodyPr/>
          <a:lstStyle/>
          <a:p>
            <a:r>
              <a:rPr lang="en-US" dirty="0"/>
              <a:t>Second Reflective Pause</a:t>
            </a:r>
          </a:p>
        </p:txBody>
      </p:sp>
      <p:sp>
        <p:nvSpPr>
          <p:cNvPr id="3" name="Content Placeholder 2">
            <a:extLst>
              <a:ext uri="{FF2B5EF4-FFF2-40B4-BE49-F238E27FC236}">
                <a16:creationId xmlns:a16="http://schemas.microsoft.com/office/drawing/2014/main" id="{2A7726EC-853B-48CD-80B1-67EA04DB1CB0}"/>
              </a:ext>
            </a:extLst>
          </p:cNvPr>
          <p:cNvSpPr>
            <a:spLocks noGrp="1"/>
          </p:cNvSpPr>
          <p:nvPr>
            <p:ph idx="1"/>
          </p:nvPr>
        </p:nvSpPr>
        <p:spPr/>
        <p:txBody>
          <a:bodyPr>
            <a:normAutofit fontScale="70000" lnSpcReduction="20000"/>
          </a:bodyPr>
          <a:lstStyle/>
          <a:p>
            <a:r>
              <a:rPr lang="en-US" dirty="0"/>
              <a:t>This new research approach substitutes the Normative Research Paradigm (the scientist discovering laws of causality using deductive logic) with the Interpretive Paradigm (the scientist discovering how people construct reality through inductive logic)</a:t>
            </a:r>
          </a:p>
          <a:p>
            <a:r>
              <a:rPr lang="en-US" dirty="0"/>
              <a:t>In the first approach, reality is an objective, external phenomenon; in the second, reality is a socially constructed phenomenon, meaning there are multiple realities</a:t>
            </a:r>
          </a:p>
          <a:p>
            <a:r>
              <a:rPr lang="en-US" dirty="0"/>
              <a:t>From a management perspective, which approach is more appropriate? Or does it depend on the type of problem being addressed?</a:t>
            </a:r>
          </a:p>
          <a:p>
            <a:r>
              <a:rPr lang="en-US" dirty="0"/>
              <a:t>Final thought,  who has the most expertise on being homeless?  The social scientist who studies the problem or the person who lives the problem? </a:t>
            </a:r>
          </a:p>
        </p:txBody>
      </p:sp>
    </p:spTree>
    <p:extLst>
      <p:ext uri="{BB962C8B-B14F-4D97-AF65-F5344CB8AC3E}">
        <p14:creationId xmlns:p14="http://schemas.microsoft.com/office/powerpoint/2010/main" val="3062315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endParaRPr lang="en-US"/>
          </a:p>
        </p:txBody>
      </p:sp>
      <p:sp>
        <p:nvSpPr>
          <p:cNvPr id="16387" name="Content Placeholder 2"/>
          <p:cNvSpPr>
            <a:spLocks noGrp="1"/>
          </p:cNvSpPr>
          <p:nvPr>
            <p:ph idx="1"/>
          </p:nvPr>
        </p:nvSpPr>
        <p:spPr/>
        <p:txBody>
          <a:bodyPr/>
          <a:lstStyle/>
          <a:p>
            <a:r>
              <a:rPr lang="en-US"/>
              <a:t>Change </a:t>
            </a:r>
            <a:r>
              <a:rPr lang="en-US">
                <a:sym typeface="Wingdings" pitchFamily="2" charset="2"/>
              </a:rPr>
              <a:t>Attitude  [Personal history, social situation at work]  Response</a:t>
            </a:r>
          </a:p>
          <a:p>
            <a:r>
              <a:rPr lang="en-US">
                <a:sym typeface="Wingdings" pitchFamily="2" charset="2"/>
              </a:rPr>
              <a:t>Output as a form of social behavior</a:t>
            </a:r>
          </a:p>
          <a:p>
            <a:pPr lvl="1"/>
            <a:r>
              <a:rPr lang="en-US">
                <a:sym typeface="Wingdings" pitchFamily="2" charset="2"/>
              </a:rPr>
              <a:t>Rate busters, chiselers, etc</a:t>
            </a:r>
          </a:p>
          <a:p>
            <a:r>
              <a:rPr lang="en-US">
                <a:sym typeface="Wingdings" pitchFamily="2" charset="2"/>
              </a:rPr>
              <a:t>The importance of the work group</a:t>
            </a:r>
          </a:p>
          <a:p>
            <a:pPr lvl="1"/>
            <a:r>
              <a:rPr lang="en-US">
                <a:sym typeface="Wingdings" pitchFamily="2" charset="2"/>
              </a:rPr>
              <a:t>The satisfaction that comes from being accepted and recognized as people of worth by our friends and work associates   </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2"/>
          <p:cNvSpPr>
            <a:spLocks noChangeShapeType="1"/>
          </p:cNvSpPr>
          <p:nvPr/>
        </p:nvSpPr>
        <p:spPr bwMode="auto">
          <a:xfrm>
            <a:off x="4038600" y="1371600"/>
            <a:ext cx="0" cy="4114800"/>
          </a:xfrm>
          <a:prstGeom prst="line">
            <a:avLst/>
          </a:prstGeom>
          <a:noFill/>
          <a:ln w="9525">
            <a:solidFill>
              <a:schemeClr val="tx1"/>
            </a:solidFill>
            <a:round/>
            <a:headEnd/>
            <a:tailEnd/>
          </a:ln>
        </p:spPr>
        <p:txBody>
          <a:bodyPr/>
          <a:lstStyle/>
          <a:p>
            <a:endParaRPr lang="en-US"/>
          </a:p>
        </p:txBody>
      </p:sp>
      <p:sp>
        <p:nvSpPr>
          <p:cNvPr id="17411" name="Line 3"/>
          <p:cNvSpPr>
            <a:spLocks noChangeShapeType="1"/>
          </p:cNvSpPr>
          <p:nvPr/>
        </p:nvSpPr>
        <p:spPr bwMode="auto">
          <a:xfrm>
            <a:off x="1905000" y="3276600"/>
            <a:ext cx="4343400" cy="0"/>
          </a:xfrm>
          <a:prstGeom prst="line">
            <a:avLst/>
          </a:prstGeom>
          <a:noFill/>
          <a:ln w="9525">
            <a:solidFill>
              <a:schemeClr val="tx1"/>
            </a:solidFill>
            <a:round/>
            <a:headEnd/>
            <a:tailEnd/>
          </a:ln>
        </p:spPr>
        <p:txBody>
          <a:bodyPr/>
          <a:lstStyle/>
          <a:p>
            <a:endParaRPr lang="en-US"/>
          </a:p>
        </p:txBody>
      </p:sp>
      <p:sp>
        <p:nvSpPr>
          <p:cNvPr id="17412" name="Text Box 4"/>
          <p:cNvSpPr txBox="1">
            <a:spLocks noChangeArrowheads="1"/>
          </p:cNvSpPr>
          <p:nvPr/>
        </p:nvSpPr>
        <p:spPr bwMode="auto">
          <a:xfrm>
            <a:off x="4251325" y="1184275"/>
            <a:ext cx="1382713" cy="457200"/>
          </a:xfrm>
          <a:prstGeom prst="rect">
            <a:avLst/>
          </a:prstGeom>
          <a:noFill/>
          <a:ln w="9525">
            <a:noFill/>
            <a:miter lim="800000"/>
            <a:headEnd/>
            <a:tailEnd/>
          </a:ln>
        </p:spPr>
        <p:txBody>
          <a:bodyPr wrap="none">
            <a:spAutoFit/>
          </a:bodyPr>
          <a:lstStyle/>
          <a:p>
            <a:r>
              <a:rPr lang="en-US"/>
              <a:t>flexibility</a:t>
            </a:r>
          </a:p>
        </p:txBody>
      </p:sp>
      <p:sp>
        <p:nvSpPr>
          <p:cNvPr id="17413" name="Text Box 5"/>
          <p:cNvSpPr txBox="1">
            <a:spLocks noChangeArrowheads="1"/>
          </p:cNvSpPr>
          <p:nvPr/>
        </p:nvSpPr>
        <p:spPr bwMode="auto">
          <a:xfrm>
            <a:off x="4403725" y="5146675"/>
            <a:ext cx="1046163" cy="457200"/>
          </a:xfrm>
          <a:prstGeom prst="rect">
            <a:avLst/>
          </a:prstGeom>
          <a:noFill/>
          <a:ln w="9525">
            <a:noFill/>
            <a:miter lim="800000"/>
            <a:headEnd/>
            <a:tailEnd/>
          </a:ln>
        </p:spPr>
        <p:txBody>
          <a:bodyPr wrap="none">
            <a:spAutoFit/>
          </a:bodyPr>
          <a:lstStyle/>
          <a:p>
            <a:r>
              <a:rPr lang="en-US"/>
              <a:t>control</a:t>
            </a:r>
          </a:p>
        </p:txBody>
      </p:sp>
      <p:sp>
        <p:nvSpPr>
          <p:cNvPr id="17414" name="Text Box 6"/>
          <p:cNvSpPr txBox="1">
            <a:spLocks noChangeArrowheads="1"/>
          </p:cNvSpPr>
          <p:nvPr/>
        </p:nvSpPr>
        <p:spPr bwMode="auto">
          <a:xfrm>
            <a:off x="288925" y="2555875"/>
            <a:ext cx="1130300" cy="457200"/>
          </a:xfrm>
          <a:prstGeom prst="rect">
            <a:avLst/>
          </a:prstGeom>
          <a:noFill/>
          <a:ln w="9525">
            <a:noFill/>
            <a:miter lim="800000"/>
            <a:headEnd/>
            <a:tailEnd/>
          </a:ln>
        </p:spPr>
        <p:txBody>
          <a:bodyPr wrap="none">
            <a:spAutoFit/>
          </a:bodyPr>
          <a:lstStyle/>
          <a:p>
            <a:r>
              <a:rPr lang="en-US"/>
              <a:t>Internal</a:t>
            </a:r>
          </a:p>
        </p:txBody>
      </p:sp>
      <p:sp>
        <p:nvSpPr>
          <p:cNvPr id="17415" name="Text Box 7"/>
          <p:cNvSpPr txBox="1">
            <a:spLocks noChangeArrowheads="1"/>
          </p:cNvSpPr>
          <p:nvPr/>
        </p:nvSpPr>
        <p:spPr bwMode="auto">
          <a:xfrm>
            <a:off x="6842125" y="2479675"/>
            <a:ext cx="1214438" cy="457200"/>
          </a:xfrm>
          <a:prstGeom prst="rect">
            <a:avLst/>
          </a:prstGeom>
          <a:noFill/>
          <a:ln w="9525">
            <a:noFill/>
            <a:miter lim="800000"/>
            <a:headEnd/>
            <a:tailEnd/>
          </a:ln>
        </p:spPr>
        <p:txBody>
          <a:bodyPr wrap="none">
            <a:spAutoFit/>
          </a:bodyPr>
          <a:lstStyle/>
          <a:p>
            <a:r>
              <a:rPr lang="en-US"/>
              <a:t>External</a:t>
            </a:r>
          </a:p>
        </p:txBody>
      </p:sp>
      <p:sp>
        <p:nvSpPr>
          <p:cNvPr id="17416" name="Text Box 8"/>
          <p:cNvSpPr txBox="1">
            <a:spLocks noChangeArrowheads="1"/>
          </p:cNvSpPr>
          <p:nvPr/>
        </p:nvSpPr>
        <p:spPr bwMode="auto">
          <a:xfrm>
            <a:off x="1219200" y="4232275"/>
            <a:ext cx="3059113" cy="457200"/>
          </a:xfrm>
          <a:prstGeom prst="rect">
            <a:avLst/>
          </a:prstGeom>
          <a:noFill/>
          <a:ln w="9525">
            <a:noFill/>
            <a:miter lim="800000"/>
            <a:headEnd/>
            <a:tailEnd/>
          </a:ln>
        </p:spPr>
        <p:txBody>
          <a:bodyPr>
            <a:spAutoFit/>
          </a:bodyPr>
          <a:lstStyle/>
          <a:p>
            <a:r>
              <a:rPr lang="en-US"/>
              <a:t>Classical bureaucracy</a:t>
            </a:r>
          </a:p>
        </p:txBody>
      </p:sp>
      <p:sp>
        <p:nvSpPr>
          <p:cNvPr id="17417" name="Text Box 9"/>
          <p:cNvSpPr txBox="1">
            <a:spLocks noChangeArrowheads="1"/>
          </p:cNvSpPr>
          <p:nvPr/>
        </p:nvSpPr>
        <p:spPr bwMode="auto">
          <a:xfrm>
            <a:off x="974725" y="4918075"/>
            <a:ext cx="1865313" cy="457200"/>
          </a:xfrm>
          <a:prstGeom prst="rect">
            <a:avLst/>
          </a:prstGeom>
          <a:noFill/>
          <a:ln w="9525">
            <a:noFill/>
            <a:miter lim="800000"/>
            <a:headEnd/>
            <a:tailEnd/>
          </a:ln>
        </p:spPr>
        <p:txBody>
          <a:bodyPr wrap="none">
            <a:spAutoFit/>
          </a:bodyPr>
          <a:lstStyle/>
          <a:p>
            <a:r>
              <a:rPr lang="en-US"/>
              <a:t>(the machine)</a:t>
            </a:r>
          </a:p>
        </p:txBody>
      </p:sp>
      <p:sp>
        <p:nvSpPr>
          <p:cNvPr id="8203" name="Line 11"/>
          <p:cNvSpPr>
            <a:spLocks noChangeShapeType="1"/>
          </p:cNvSpPr>
          <p:nvPr/>
        </p:nvSpPr>
        <p:spPr bwMode="auto">
          <a:xfrm flipV="1">
            <a:off x="2667000" y="2743200"/>
            <a:ext cx="0" cy="1447800"/>
          </a:xfrm>
          <a:prstGeom prst="line">
            <a:avLst/>
          </a:prstGeom>
          <a:noFill/>
          <a:ln w="9525">
            <a:solidFill>
              <a:schemeClr val="tx1"/>
            </a:solidFill>
            <a:round/>
            <a:headEnd/>
            <a:tailEnd type="triangle" w="med" len="med"/>
          </a:ln>
        </p:spPr>
        <p:txBody>
          <a:bodyPr/>
          <a:lstStyle/>
          <a:p>
            <a:endParaRPr lang="en-US"/>
          </a:p>
        </p:txBody>
      </p:sp>
      <p:sp>
        <p:nvSpPr>
          <p:cNvPr id="8204" name="Text Box 12"/>
          <p:cNvSpPr txBox="1">
            <a:spLocks noChangeArrowheads="1"/>
          </p:cNvSpPr>
          <p:nvPr/>
        </p:nvSpPr>
        <p:spPr bwMode="auto">
          <a:xfrm>
            <a:off x="1431925" y="1793875"/>
            <a:ext cx="2382838" cy="457200"/>
          </a:xfrm>
          <a:prstGeom prst="rect">
            <a:avLst/>
          </a:prstGeom>
          <a:noFill/>
          <a:ln w="9525">
            <a:noFill/>
            <a:miter lim="800000"/>
            <a:headEnd/>
            <a:tailEnd/>
          </a:ln>
        </p:spPr>
        <p:txBody>
          <a:bodyPr wrap="none">
            <a:spAutoFit/>
          </a:bodyPr>
          <a:lstStyle/>
          <a:p>
            <a:r>
              <a:rPr lang="en-US"/>
              <a:t>Human Relations </a:t>
            </a:r>
          </a:p>
        </p:txBody>
      </p:sp>
      <p:sp>
        <p:nvSpPr>
          <p:cNvPr id="8205" name="Text Box 13"/>
          <p:cNvSpPr txBox="1">
            <a:spLocks noChangeArrowheads="1"/>
          </p:cNvSpPr>
          <p:nvPr/>
        </p:nvSpPr>
        <p:spPr bwMode="auto">
          <a:xfrm>
            <a:off x="1279525" y="2251075"/>
            <a:ext cx="1628775" cy="457200"/>
          </a:xfrm>
          <a:prstGeom prst="rect">
            <a:avLst/>
          </a:prstGeom>
          <a:noFill/>
          <a:ln w="9525">
            <a:noFill/>
            <a:miter lim="800000"/>
            <a:headEnd/>
            <a:tailEnd/>
          </a:ln>
        </p:spPr>
        <p:txBody>
          <a:bodyPr wrap="none">
            <a:spAutoFit/>
          </a:bodyPr>
          <a:lstStyle/>
          <a:p>
            <a:r>
              <a:rPr lang="en-US"/>
              <a:t>(the family)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03"/>
                                        </p:tgtEl>
                                        <p:attrNameLst>
                                          <p:attrName>style.visibility</p:attrName>
                                        </p:attrNameLst>
                                      </p:cBhvr>
                                      <p:to>
                                        <p:strVal val="visible"/>
                                      </p:to>
                                    </p:set>
                                    <p:animEffect transition="in" filter="dissolve">
                                      <p:cBhvr>
                                        <p:cTn id="7" dur="500"/>
                                        <p:tgtEl>
                                          <p:spTgt spid="8203"/>
                                        </p:tgtEl>
                                      </p:cBhvr>
                                    </p:animEffect>
                                  </p:childTnLst>
                                  <p:subTnLst>
                                    <p:audio>
                                      <p:cMediaNode>
                                        <p:cTn display="0" masterRel="sameClick">
                                          <p:stCondLst>
                                            <p:cond evt="begin" delay="0">
                                              <p:tn val="5"/>
                                            </p:cond>
                                          </p:stCondLst>
                                          <p:endCondLst>
                                            <p:cond evt="onStopAudio" delay="0">
                                              <p:tgtEl>
                                                <p:sldTgt/>
                                              </p:tgtEl>
                                            </p:cond>
                                          </p:endCondLst>
                                        </p:cTn>
                                        <p:tgtEl>
                                          <p:sndTgt r:embed="rId2" name="gunshot.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04"/>
                                        </p:tgtEl>
                                        <p:attrNameLst>
                                          <p:attrName>style.visibility</p:attrName>
                                        </p:attrNameLst>
                                      </p:cBhvr>
                                      <p:to>
                                        <p:strVal val="visible"/>
                                      </p:to>
                                    </p:set>
                                    <p:animEffect transition="in" filter="dissolve">
                                      <p:cBhvr>
                                        <p:cTn id="12" dur="500"/>
                                        <p:tgtEl>
                                          <p:spTgt spid="820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205"/>
                                        </p:tgtEl>
                                        <p:attrNameLst>
                                          <p:attrName>style.visibility</p:attrName>
                                        </p:attrNameLst>
                                      </p:cBhvr>
                                      <p:to>
                                        <p:strVal val="visible"/>
                                      </p:to>
                                    </p:set>
                                    <p:anim calcmode="lin" valueType="num">
                                      <p:cBhvr additive="base">
                                        <p:cTn id="17" dur="500" fill="hold"/>
                                        <p:tgtEl>
                                          <p:spTgt spid="8205"/>
                                        </p:tgtEl>
                                        <p:attrNameLst>
                                          <p:attrName>ppt_x</p:attrName>
                                        </p:attrNameLst>
                                      </p:cBhvr>
                                      <p:tavLst>
                                        <p:tav tm="0">
                                          <p:val>
                                            <p:strVal val="0-#ppt_w/2"/>
                                          </p:val>
                                        </p:tav>
                                        <p:tav tm="100000">
                                          <p:val>
                                            <p:strVal val="#ppt_x"/>
                                          </p:val>
                                        </p:tav>
                                      </p:tavLst>
                                    </p:anim>
                                    <p:anim calcmode="lin" valueType="num">
                                      <p:cBhvr additive="base">
                                        <p:cTn id="18" dur="500" fill="hold"/>
                                        <p:tgtEl>
                                          <p:spTgt spid="82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3" grpId="0" animBg="1"/>
      <p:bldP spid="8204" grpId="0" autoUpdateAnimBg="0"/>
      <p:bldP spid="820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Human Relations School</a:t>
            </a:r>
          </a:p>
        </p:txBody>
      </p:sp>
      <p:sp>
        <p:nvSpPr>
          <p:cNvPr id="18435" name="Content Placeholder 2"/>
          <p:cNvSpPr>
            <a:spLocks noGrp="1"/>
          </p:cNvSpPr>
          <p:nvPr>
            <p:ph idx="1"/>
          </p:nvPr>
        </p:nvSpPr>
        <p:spPr/>
        <p:txBody>
          <a:bodyPr/>
          <a:lstStyle/>
          <a:p>
            <a:r>
              <a:rPr lang="en-US"/>
              <a:t>Leadership</a:t>
            </a:r>
          </a:p>
          <a:p>
            <a:r>
              <a:rPr lang="en-US"/>
              <a:t>Motivation</a:t>
            </a:r>
          </a:p>
          <a:p>
            <a:r>
              <a:rPr lang="en-US"/>
              <a:t>Individuals in teams and in groups</a:t>
            </a:r>
          </a:p>
          <a:p>
            <a:r>
              <a:rPr lang="en-US"/>
              <a:t>Effects of the work Environment</a:t>
            </a:r>
          </a:p>
          <a:p>
            <a:r>
              <a:rPr lang="en-US"/>
              <a:t>Power and influence </a:t>
            </a:r>
          </a:p>
          <a:p>
            <a:r>
              <a:rPr lang="en-US"/>
              <a:t>Organizational Change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FB0B-B3AD-4174-95A0-5D3B9BB4342E}"/>
              </a:ext>
            </a:extLst>
          </p:cNvPr>
          <p:cNvSpPr>
            <a:spLocks noGrp="1"/>
          </p:cNvSpPr>
          <p:nvPr>
            <p:ph type="title"/>
          </p:nvPr>
        </p:nvSpPr>
        <p:spPr/>
        <p:txBody>
          <a:bodyPr/>
          <a:lstStyle/>
          <a:p>
            <a:r>
              <a:rPr lang="en-US" dirty="0"/>
              <a:t>Third Reflective Pause </a:t>
            </a:r>
          </a:p>
        </p:txBody>
      </p:sp>
      <p:sp>
        <p:nvSpPr>
          <p:cNvPr id="3" name="Content Placeholder 2">
            <a:extLst>
              <a:ext uri="{FF2B5EF4-FFF2-40B4-BE49-F238E27FC236}">
                <a16:creationId xmlns:a16="http://schemas.microsoft.com/office/drawing/2014/main" id="{714CCA23-A38F-4A41-82BE-E5FA52C84FD6}"/>
              </a:ext>
            </a:extLst>
          </p:cNvPr>
          <p:cNvSpPr>
            <a:spLocks noGrp="1"/>
          </p:cNvSpPr>
          <p:nvPr>
            <p:ph idx="1"/>
          </p:nvPr>
        </p:nvSpPr>
        <p:spPr/>
        <p:txBody>
          <a:bodyPr>
            <a:normAutofit fontScale="85000" lnSpcReduction="10000"/>
          </a:bodyPr>
          <a:lstStyle/>
          <a:p>
            <a:r>
              <a:rPr lang="en-US" dirty="0"/>
              <a:t>Give examples of the following alternatives as suggested by the Human Relations School</a:t>
            </a:r>
          </a:p>
          <a:p>
            <a:pPr lvl="1"/>
            <a:r>
              <a:rPr lang="en-US" dirty="0"/>
              <a:t>Leadership instead of management</a:t>
            </a:r>
          </a:p>
          <a:p>
            <a:pPr lvl="1"/>
            <a:r>
              <a:rPr lang="en-US" dirty="0"/>
              <a:t>Motivation as opposed to detailed rules and supervision</a:t>
            </a:r>
          </a:p>
          <a:p>
            <a:pPr lvl="1"/>
            <a:r>
              <a:rPr lang="en-US" dirty="0"/>
              <a:t>Emphasis on teamwork rather than individual progress</a:t>
            </a:r>
          </a:p>
          <a:p>
            <a:pPr lvl="1"/>
            <a:r>
              <a:rPr lang="en-US" dirty="0"/>
              <a:t>Less demarcation between work environment and social outlets (ping pong tables, communal snack rooms)</a:t>
            </a:r>
          </a:p>
          <a:p>
            <a:pPr lvl="1"/>
            <a:r>
              <a:rPr lang="en-US" dirty="0"/>
              <a:t>Power and influence not the sole possession of the positional leader</a:t>
            </a:r>
          </a:p>
          <a:p>
            <a:pPr lvl="1"/>
            <a:r>
              <a:rPr lang="en-US" dirty="0"/>
              <a:t>Significant Change requires change in work culture     </a:t>
            </a:r>
          </a:p>
        </p:txBody>
      </p:sp>
    </p:spTree>
    <p:extLst>
      <p:ext uri="{BB962C8B-B14F-4D97-AF65-F5344CB8AC3E}">
        <p14:creationId xmlns:p14="http://schemas.microsoft.com/office/powerpoint/2010/main" val="527117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r>
              <a:rPr lang="en-US" dirty="0"/>
              <a:t>But giving up old ways is hard!</a:t>
            </a:r>
          </a:p>
        </p:txBody>
      </p:sp>
      <p:pic>
        <p:nvPicPr>
          <p:cNvPr id="7171" name="Picture 3" descr="C:\Documents and Settings\gilsinan\Desktop\Dad ppt\slide 4.jpg"/>
          <p:cNvPicPr>
            <a:picLocks noChangeAspect="1" noChangeArrowheads="1"/>
          </p:cNvPicPr>
          <p:nvPr/>
        </p:nvPicPr>
        <p:blipFill>
          <a:blip r:embed="rId2" cstate="print"/>
          <a:srcRect/>
          <a:stretch>
            <a:fillRect/>
          </a:stretch>
        </p:blipFill>
        <p:spPr bwMode="auto">
          <a:xfrm>
            <a:off x="228600" y="2286000"/>
            <a:ext cx="8763000" cy="247173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dominant form of organization you are familiar with?</a:t>
            </a:r>
          </a:p>
        </p:txBody>
      </p:sp>
      <p:sp>
        <p:nvSpPr>
          <p:cNvPr id="5" name="TextBox 4"/>
          <p:cNvSpPr txBox="1"/>
          <p:nvPr/>
        </p:nvSpPr>
        <p:spPr>
          <a:xfrm>
            <a:off x="990600" y="3276600"/>
            <a:ext cx="6483506" cy="369332"/>
          </a:xfrm>
          <a:prstGeom prst="rect">
            <a:avLst/>
          </a:prstGeom>
          <a:noFill/>
        </p:spPr>
        <p:txBody>
          <a:bodyPr wrap="none" rtlCol="0">
            <a:spAutoFit/>
          </a:bodyPr>
          <a:lstStyle/>
          <a:p>
            <a:r>
              <a:rPr lang="en-US" dirty="0"/>
              <a:t>MACHINE---------------------------------------------------------------------TEAM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Four major organizational snafus in the News this semester </a:t>
            </a:r>
          </a:p>
        </p:txBody>
      </p:sp>
      <p:sp>
        <p:nvSpPr>
          <p:cNvPr id="3" name="Content Placeholder 2"/>
          <p:cNvSpPr>
            <a:spLocks noGrp="1"/>
          </p:cNvSpPr>
          <p:nvPr>
            <p:ph idx="1"/>
          </p:nvPr>
        </p:nvSpPr>
        <p:spPr/>
        <p:txBody>
          <a:bodyPr/>
          <a:lstStyle/>
          <a:p>
            <a:r>
              <a:rPr lang="en-US" dirty="0"/>
              <a:t>Boeing</a:t>
            </a:r>
          </a:p>
          <a:p>
            <a:r>
              <a:rPr lang="en-US" dirty="0"/>
              <a:t>Iowa caucuses </a:t>
            </a:r>
          </a:p>
          <a:p>
            <a:r>
              <a:rPr lang="en-US" dirty="0"/>
              <a:t>Turmoil in the Intelligence Community</a:t>
            </a:r>
          </a:p>
          <a:p>
            <a:r>
              <a:rPr lang="en-US" dirty="0"/>
              <a:t>St. Louis County Police Department Discrimination Suit payout   </a:t>
            </a:r>
          </a:p>
          <a:p>
            <a:pPr marL="0" indent="0">
              <a:buNone/>
            </a:pPr>
            <a:r>
              <a:rPr lang="en-US" dirty="0"/>
              <a:t>  </a:t>
            </a:r>
          </a:p>
          <a:p>
            <a:r>
              <a:rPr lang="en-US" dirty="0"/>
              <a:t>Machine------------------------------Team</a:t>
            </a:r>
          </a:p>
        </p:txBody>
      </p:sp>
    </p:spTree>
    <p:extLst>
      <p:ext uri="{BB962C8B-B14F-4D97-AF65-F5344CB8AC3E}">
        <p14:creationId xmlns:p14="http://schemas.microsoft.com/office/powerpoint/2010/main" val="347179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CC92E-2F96-4BFC-8DA5-BB39D9077971}"/>
              </a:ext>
            </a:extLst>
          </p:cNvPr>
          <p:cNvSpPr>
            <a:spLocks noGrp="1"/>
          </p:cNvSpPr>
          <p:nvPr>
            <p:ph type="title"/>
          </p:nvPr>
        </p:nvSpPr>
        <p:spPr/>
        <p:txBody>
          <a:bodyPr/>
          <a:lstStyle/>
          <a:p>
            <a:r>
              <a:rPr lang="en-US" dirty="0"/>
              <a:t>Fourth Reflective Pause</a:t>
            </a:r>
          </a:p>
        </p:txBody>
      </p:sp>
      <p:sp>
        <p:nvSpPr>
          <p:cNvPr id="3" name="Content Placeholder 2">
            <a:extLst>
              <a:ext uri="{FF2B5EF4-FFF2-40B4-BE49-F238E27FC236}">
                <a16:creationId xmlns:a16="http://schemas.microsoft.com/office/drawing/2014/main" id="{4F418A30-35AE-443B-8FA6-3A755E838DBD}"/>
              </a:ext>
            </a:extLst>
          </p:cNvPr>
          <p:cNvSpPr>
            <a:spLocks noGrp="1"/>
          </p:cNvSpPr>
          <p:nvPr>
            <p:ph idx="1"/>
          </p:nvPr>
        </p:nvSpPr>
        <p:spPr/>
        <p:txBody>
          <a:bodyPr/>
          <a:lstStyle/>
          <a:p>
            <a:r>
              <a:rPr lang="en-US" dirty="0"/>
              <a:t>Along the Machine – Team continuum, where would you place the cause for each of the previous snafus – too much machine or not enough: too much team or not enough?  </a:t>
            </a:r>
          </a:p>
        </p:txBody>
      </p:sp>
    </p:spTree>
    <p:extLst>
      <p:ext uri="{BB962C8B-B14F-4D97-AF65-F5344CB8AC3E}">
        <p14:creationId xmlns:p14="http://schemas.microsoft.com/office/powerpoint/2010/main" val="3990404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pPr eaLnBrk="1" hangingPunct="1"/>
            <a:r>
              <a:rPr lang="en-US"/>
              <a:t>The Human Relations School in a Nutshell</a:t>
            </a:r>
          </a:p>
        </p:txBody>
      </p:sp>
      <p:sp>
        <p:nvSpPr>
          <p:cNvPr id="19459" name="Rectangle 3"/>
          <p:cNvSpPr>
            <a:spLocks noGrp="1" noChangeArrowheads="1"/>
          </p:cNvSpPr>
          <p:nvPr>
            <p:ph type="body" idx="1"/>
          </p:nvPr>
        </p:nvSpPr>
        <p:spPr/>
        <p:txBody>
          <a:bodyPr>
            <a:normAutofit lnSpcReduction="10000"/>
          </a:bodyPr>
          <a:lstStyle/>
          <a:p>
            <a:pPr eaLnBrk="1" hangingPunct="1">
              <a:lnSpc>
                <a:spcPct val="90000"/>
              </a:lnSpc>
            </a:pPr>
            <a:r>
              <a:rPr lang="en-US" sz="2800"/>
              <a:t>A happy worker produces more</a:t>
            </a:r>
          </a:p>
          <a:p>
            <a:pPr eaLnBrk="1" hangingPunct="1">
              <a:lnSpc>
                <a:spcPct val="90000"/>
              </a:lnSpc>
            </a:pPr>
            <a:r>
              <a:rPr lang="en-US" sz="2800"/>
              <a:t>Needs of workers are similar</a:t>
            </a:r>
          </a:p>
          <a:p>
            <a:pPr eaLnBrk="1" hangingPunct="1">
              <a:lnSpc>
                <a:spcPct val="90000"/>
              </a:lnSpc>
            </a:pPr>
            <a:r>
              <a:rPr lang="en-US" sz="2800"/>
              <a:t>Self actualization is possible through work that is:</a:t>
            </a:r>
          </a:p>
          <a:p>
            <a:pPr lvl="1" eaLnBrk="1" hangingPunct="1">
              <a:lnSpc>
                <a:spcPct val="90000"/>
              </a:lnSpc>
            </a:pPr>
            <a:r>
              <a:rPr lang="en-US" sz="2400"/>
              <a:t>Interesting</a:t>
            </a:r>
          </a:p>
          <a:p>
            <a:pPr lvl="1" eaLnBrk="1" hangingPunct="1">
              <a:lnSpc>
                <a:spcPct val="90000"/>
              </a:lnSpc>
            </a:pPr>
            <a:r>
              <a:rPr lang="en-US" sz="2400"/>
              <a:t>Well structured</a:t>
            </a:r>
          </a:p>
          <a:p>
            <a:pPr lvl="1" eaLnBrk="1" hangingPunct="1">
              <a:lnSpc>
                <a:spcPct val="90000"/>
              </a:lnSpc>
            </a:pPr>
            <a:r>
              <a:rPr lang="en-US" sz="2400"/>
              <a:t>Sufficient information</a:t>
            </a:r>
          </a:p>
          <a:p>
            <a:pPr lvl="1" eaLnBrk="1" hangingPunct="1">
              <a:lnSpc>
                <a:spcPct val="90000"/>
              </a:lnSpc>
            </a:pPr>
            <a:r>
              <a:rPr lang="en-US" sz="2400"/>
              <a:t>Sufficient authority</a:t>
            </a:r>
          </a:p>
          <a:p>
            <a:pPr lvl="1" eaLnBrk="1" hangingPunct="1">
              <a:lnSpc>
                <a:spcPct val="90000"/>
              </a:lnSpc>
            </a:pPr>
            <a:r>
              <a:rPr lang="en-US" sz="2400"/>
              <a:t>Opportunity to develop</a:t>
            </a:r>
          </a:p>
          <a:p>
            <a:pPr lvl="1" eaLnBrk="1" hangingPunct="1">
              <a:lnSpc>
                <a:spcPct val="90000"/>
              </a:lnSpc>
            </a:pPr>
            <a:r>
              <a:rPr lang="en-US" sz="2400"/>
              <a:t>See results</a:t>
            </a:r>
          </a:p>
          <a:p>
            <a:pPr lvl="1" eaLnBrk="1" hangingPunct="1">
              <a:lnSpc>
                <a:spcPct val="90000"/>
              </a:lnSpc>
            </a:pPr>
            <a:r>
              <a:rPr lang="en-US" sz="2400"/>
              <a:t>Adequate pay</a:t>
            </a:r>
          </a:p>
          <a:p>
            <a:pPr lvl="1" eaLnBrk="1" hangingPunct="1">
              <a:lnSpc>
                <a:spcPct val="90000"/>
              </a:lnSpc>
            </a:pPr>
            <a:r>
              <a:rPr lang="en-US" sz="2400"/>
              <a:t>Security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endParaRPr lang="en-US"/>
          </a:p>
        </p:txBody>
      </p:sp>
      <p:pic>
        <p:nvPicPr>
          <p:cNvPr id="20483" name="Picture 2"/>
          <p:cNvPicPr>
            <a:picLocks noGrp="1" noChangeAspect="1" noChangeArrowheads="1"/>
          </p:cNvPicPr>
          <p:nvPr>
            <p:ph idx="1"/>
          </p:nvPr>
        </p:nvPicPr>
        <p:blipFill>
          <a:blip r:embed="rId2" cstate="print"/>
          <a:srcRect/>
          <a:stretch>
            <a:fillRect/>
          </a:stretch>
        </p:blipFill>
        <p:spPr>
          <a:xfrm>
            <a:off x="1741488" y="1981200"/>
            <a:ext cx="5661025" cy="4114800"/>
          </a:xfr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Douglas McGregor</a:t>
            </a:r>
          </a:p>
        </p:txBody>
      </p:sp>
      <p:sp>
        <p:nvSpPr>
          <p:cNvPr id="10243" name="Rectangle 3"/>
          <p:cNvSpPr>
            <a:spLocks noGrp="1" noChangeArrowheads="1"/>
          </p:cNvSpPr>
          <p:nvPr>
            <p:ph type="body" sz="half" idx="1"/>
          </p:nvPr>
        </p:nvSpPr>
        <p:spPr/>
        <p:txBody>
          <a:bodyPr/>
          <a:lstStyle/>
          <a:p>
            <a:pPr eaLnBrk="1" hangingPunct="1"/>
            <a:r>
              <a:rPr lang="en-US"/>
              <a:t>Theory X</a:t>
            </a:r>
          </a:p>
          <a:p>
            <a:pPr lvl="1" eaLnBrk="1" hangingPunct="1"/>
            <a:r>
              <a:rPr lang="en-US"/>
              <a:t>Management organizes</a:t>
            </a:r>
          </a:p>
          <a:p>
            <a:pPr lvl="1" eaLnBrk="1" hangingPunct="1"/>
            <a:r>
              <a:rPr lang="en-US"/>
              <a:t>Controls and motivates</a:t>
            </a:r>
          </a:p>
          <a:p>
            <a:pPr lvl="1" eaLnBrk="1" hangingPunct="1"/>
            <a:r>
              <a:rPr lang="en-US"/>
              <a:t>Or people will be passive and resistant</a:t>
            </a:r>
          </a:p>
          <a:p>
            <a:pPr lvl="1" eaLnBrk="1" hangingPunct="1"/>
            <a:r>
              <a:rPr lang="en-US"/>
              <a:t>Average person is lazy</a:t>
            </a:r>
          </a:p>
          <a:p>
            <a:pPr lvl="1" eaLnBrk="1" hangingPunct="1"/>
            <a:r>
              <a:rPr lang="en-US"/>
              <a:t>Lacks ambition</a:t>
            </a:r>
          </a:p>
          <a:p>
            <a:pPr lvl="1" eaLnBrk="1" hangingPunct="1"/>
            <a:r>
              <a:rPr lang="en-US"/>
              <a:t>Is resistant to change</a:t>
            </a:r>
          </a:p>
          <a:p>
            <a:pPr lvl="1" eaLnBrk="1" hangingPunct="1"/>
            <a:r>
              <a:rPr lang="en-US"/>
              <a:t>Not very bright </a:t>
            </a:r>
          </a:p>
        </p:txBody>
      </p:sp>
      <p:sp>
        <p:nvSpPr>
          <p:cNvPr id="10244" name="Rectangle 4"/>
          <p:cNvSpPr>
            <a:spLocks noGrp="1" noChangeArrowheads="1"/>
          </p:cNvSpPr>
          <p:nvPr>
            <p:ph type="body" sz="half" idx="2"/>
          </p:nvPr>
        </p:nvSpPr>
        <p:spPr/>
        <p:txBody>
          <a:bodyPr/>
          <a:lstStyle/>
          <a:p>
            <a:pPr eaLnBrk="1" hangingPunct="1"/>
            <a:r>
              <a:rPr lang="en-US"/>
              <a:t>Theory Y</a:t>
            </a:r>
          </a:p>
          <a:p>
            <a:pPr lvl="1" eaLnBrk="1" hangingPunct="1"/>
            <a:r>
              <a:rPr lang="en-US"/>
              <a:t>Management organizes</a:t>
            </a:r>
          </a:p>
          <a:p>
            <a:pPr lvl="1" eaLnBrk="1" hangingPunct="1"/>
            <a:r>
              <a:rPr lang="en-US"/>
              <a:t>People are not naturally lazy, resistant, unmotivated</a:t>
            </a:r>
          </a:p>
          <a:p>
            <a:pPr lvl="1" eaLnBrk="1" hangingPunct="1"/>
            <a:r>
              <a:rPr lang="en-US"/>
              <a:t>Management should arrange so that individual goals and organizational goals can be met together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anim calcmode="lin" valueType="num">
                                      <p:cBhvr additive="base">
                                        <p:cTn id="11"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0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anim calcmode="lin" valueType="num">
                                      <p:cBhvr additive="base">
                                        <p:cTn id="1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0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anim calcmode="lin" valueType="num">
                                      <p:cBhvr additive="base">
                                        <p:cTn id="23"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24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243">
                                            <p:txEl>
                                              <p:pRg st="5" end="5"/>
                                            </p:txEl>
                                          </p:spTgt>
                                        </p:tgtEl>
                                        <p:attrNameLst>
                                          <p:attrName>style.visibility</p:attrName>
                                        </p:attrNameLst>
                                      </p:cBhvr>
                                      <p:to>
                                        <p:strVal val="visible"/>
                                      </p:to>
                                    </p:set>
                                    <p:anim calcmode="lin" valueType="num">
                                      <p:cBhvr additive="base">
                                        <p:cTn id="2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243">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0243">
                                            <p:txEl>
                                              <p:pRg st="6" end="6"/>
                                            </p:txEl>
                                          </p:spTgt>
                                        </p:tgtEl>
                                        <p:attrNameLst>
                                          <p:attrName>style.visibility</p:attrName>
                                        </p:attrNameLst>
                                      </p:cBhvr>
                                      <p:to>
                                        <p:strVal val="visible"/>
                                      </p:to>
                                    </p:set>
                                    <p:anim calcmode="lin" valueType="num">
                                      <p:cBhvr additive="base">
                                        <p:cTn id="31"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0243">
                                            <p:txEl>
                                              <p:pRg st="7" end="7"/>
                                            </p:txEl>
                                          </p:spTgt>
                                        </p:tgtEl>
                                        <p:attrNameLst>
                                          <p:attrName>style.visibility</p:attrName>
                                        </p:attrNameLst>
                                      </p:cBhvr>
                                      <p:to>
                                        <p:strVal val="visible"/>
                                      </p:to>
                                    </p:set>
                                    <p:anim calcmode="lin" valueType="num">
                                      <p:cBhvr additive="base">
                                        <p:cTn id="35"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0244">
                                            <p:txEl>
                                              <p:pRg st="0" end="0"/>
                                            </p:txEl>
                                          </p:spTgt>
                                        </p:tgtEl>
                                        <p:attrNameLst>
                                          <p:attrName>style.visibility</p:attrName>
                                        </p:attrNameLst>
                                      </p:cBhvr>
                                      <p:to>
                                        <p:strVal val="visible"/>
                                      </p:to>
                                    </p:set>
                                    <p:anim calcmode="lin" valueType="num">
                                      <p:cBhvr additive="base">
                                        <p:cTn id="41" dur="500" fill="hold"/>
                                        <p:tgtEl>
                                          <p:spTgt spid="10244">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0244">
                                            <p:txEl>
                                              <p:pRg st="0" end="0"/>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0244">
                                            <p:txEl>
                                              <p:pRg st="1" end="1"/>
                                            </p:txEl>
                                          </p:spTgt>
                                        </p:tgtEl>
                                        <p:attrNameLst>
                                          <p:attrName>style.visibility</p:attrName>
                                        </p:attrNameLst>
                                      </p:cBhvr>
                                      <p:to>
                                        <p:strVal val="visible"/>
                                      </p:to>
                                    </p:set>
                                    <p:anim calcmode="lin" valueType="num">
                                      <p:cBhvr additive="base">
                                        <p:cTn id="45" dur="500" fill="hold"/>
                                        <p:tgtEl>
                                          <p:spTgt spid="10244">
                                            <p:txEl>
                                              <p:pRg st="1" end="1"/>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0244">
                                            <p:txEl>
                                              <p:pRg st="1" end="1"/>
                                            </p:txEl>
                                          </p:spTgt>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0244">
                                            <p:txEl>
                                              <p:pRg st="2" end="2"/>
                                            </p:txEl>
                                          </p:spTgt>
                                        </p:tgtEl>
                                        <p:attrNameLst>
                                          <p:attrName>style.visibility</p:attrName>
                                        </p:attrNameLst>
                                      </p:cBhvr>
                                      <p:to>
                                        <p:strVal val="visible"/>
                                      </p:to>
                                    </p:set>
                                    <p:anim calcmode="lin" valueType="num">
                                      <p:cBhvr additive="base">
                                        <p:cTn id="49" dur="500" fill="hold"/>
                                        <p:tgtEl>
                                          <p:spTgt spid="10244">
                                            <p:txEl>
                                              <p:pRg st="2" end="2"/>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0244">
                                            <p:txEl>
                                              <p:pRg st="2" end="2"/>
                                            </p:txEl>
                                          </p:spTgt>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0244">
                                            <p:txEl>
                                              <p:pRg st="3" end="3"/>
                                            </p:txEl>
                                          </p:spTgt>
                                        </p:tgtEl>
                                        <p:attrNameLst>
                                          <p:attrName>style.visibility</p:attrName>
                                        </p:attrNameLst>
                                      </p:cBhvr>
                                      <p:to>
                                        <p:strVal val="visible"/>
                                      </p:to>
                                    </p:set>
                                    <p:anim calcmode="lin" valueType="num">
                                      <p:cBhvr additive="base">
                                        <p:cTn id="53" dur="500" fill="hold"/>
                                        <p:tgtEl>
                                          <p:spTgt spid="10244">
                                            <p:txEl>
                                              <p:pRg st="3" end="3"/>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1024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P spid="10244"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Theory Z</a:t>
            </a:r>
          </a:p>
        </p:txBody>
      </p:sp>
      <p:sp>
        <p:nvSpPr>
          <p:cNvPr id="3" name="Content Placeholder 2"/>
          <p:cNvSpPr>
            <a:spLocks noGrp="1"/>
          </p:cNvSpPr>
          <p:nvPr>
            <p:ph idx="1"/>
          </p:nvPr>
        </p:nvSpPr>
        <p:spPr/>
        <p:txBody>
          <a:bodyPr>
            <a:normAutofit fontScale="92500" lnSpcReduction="10000"/>
          </a:bodyPr>
          <a:lstStyle/>
          <a:p>
            <a:r>
              <a:rPr lang="en-US" dirty="0"/>
              <a:t>A number of variations</a:t>
            </a:r>
          </a:p>
          <a:p>
            <a:pPr lvl="1"/>
            <a:r>
              <a:rPr lang="en-US" dirty="0"/>
              <a:t>Maslow wrote a paper called theory Z</a:t>
            </a:r>
          </a:p>
          <a:p>
            <a:pPr lvl="1"/>
            <a:r>
              <a:rPr lang="en-US" dirty="0"/>
              <a:t>But the most popular is Dr. William </a:t>
            </a:r>
            <a:r>
              <a:rPr lang="en-US" dirty="0" err="1"/>
              <a:t>Ouchi’s</a:t>
            </a:r>
            <a:r>
              <a:rPr lang="en-US" dirty="0"/>
              <a:t> Japanese management style – which itself was based on the work of W. Edwards Deming</a:t>
            </a:r>
          </a:p>
          <a:p>
            <a:r>
              <a:rPr lang="en-US" dirty="0"/>
              <a:t>Theory Z is a hybrid management approach combining Japanese management philosophies with U.S. culture. </a:t>
            </a:r>
          </a:p>
          <a:p>
            <a:r>
              <a:rPr lang="en-US" dirty="0"/>
              <a:t>Whereas Theory Y is individual, Psychologically oriented, Theory Z is group oriented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Elements of Theory Z </a:t>
            </a:r>
            <a:r>
              <a:rPr lang="en-US" sz="1400" dirty="0"/>
              <a:t>(</a:t>
            </a:r>
            <a:r>
              <a:rPr lang="en-US" sz="1400" dirty="0" err="1"/>
              <a:t>Roborto</a:t>
            </a:r>
            <a:r>
              <a:rPr lang="en-US" sz="1400" dirty="0"/>
              <a:t> Colon,  http://www.stfrancis.edu)</a:t>
            </a:r>
            <a:br>
              <a:rPr lang="en-US" dirty="0"/>
            </a:br>
            <a:r>
              <a:rPr lang="en-US" dirty="0"/>
              <a:t>“A” organizations and “J” organizations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15054974"/>
              </p:ext>
            </p:extLst>
          </p:nvPr>
        </p:nvGraphicFramePr>
        <p:xfrm>
          <a:off x="457200" y="1600200"/>
          <a:ext cx="8229600" cy="4958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dirty="0"/>
                        <a:t>Org. Type A (American)</a:t>
                      </a:r>
                    </a:p>
                  </a:txBody>
                  <a:tcPr/>
                </a:tc>
                <a:tc>
                  <a:txBody>
                    <a:bodyPr/>
                    <a:lstStyle/>
                    <a:p>
                      <a:r>
                        <a:rPr lang="en-US" dirty="0"/>
                        <a:t>Org. Type J (Japanese)</a:t>
                      </a:r>
                    </a:p>
                  </a:txBody>
                  <a:tcPr/>
                </a:tc>
                <a:tc>
                  <a:txBody>
                    <a:bodyPr/>
                    <a:lstStyle/>
                    <a:p>
                      <a:r>
                        <a:rPr lang="en-US" dirty="0"/>
                        <a:t>Org. Type Z (Modified American)</a:t>
                      </a:r>
                    </a:p>
                  </a:txBody>
                  <a:tcPr/>
                </a:tc>
                <a:extLst>
                  <a:ext uri="{0D108BD9-81ED-4DB2-BD59-A6C34878D82A}">
                    <a16:rowId xmlns:a16="http://schemas.microsoft.com/office/drawing/2014/main" val="10000"/>
                  </a:ext>
                </a:extLst>
              </a:tr>
              <a:tr h="370840">
                <a:tc>
                  <a:txBody>
                    <a:bodyPr/>
                    <a:lstStyle/>
                    <a:p>
                      <a:r>
                        <a:rPr lang="en-US" dirty="0"/>
                        <a:t>Short term employment</a:t>
                      </a:r>
                    </a:p>
                  </a:txBody>
                  <a:tcPr/>
                </a:tc>
                <a:tc>
                  <a:txBody>
                    <a:bodyPr/>
                    <a:lstStyle/>
                    <a:p>
                      <a:r>
                        <a:rPr lang="en-US" dirty="0"/>
                        <a:t>Lifetime employment</a:t>
                      </a:r>
                    </a:p>
                  </a:txBody>
                  <a:tcPr/>
                </a:tc>
                <a:tc>
                  <a:txBody>
                    <a:bodyPr/>
                    <a:lstStyle/>
                    <a:p>
                      <a:r>
                        <a:rPr lang="en-US" dirty="0"/>
                        <a:t>Long-term employment</a:t>
                      </a:r>
                    </a:p>
                  </a:txBody>
                  <a:tcPr/>
                </a:tc>
                <a:extLst>
                  <a:ext uri="{0D108BD9-81ED-4DB2-BD59-A6C34878D82A}">
                    <a16:rowId xmlns:a16="http://schemas.microsoft.com/office/drawing/2014/main" val="10001"/>
                  </a:ext>
                </a:extLst>
              </a:tr>
              <a:tr h="370840">
                <a:tc>
                  <a:txBody>
                    <a:bodyPr/>
                    <a:lstStyle/>
                    <a:p>
                      <a:r>
                        <a:rPr lang="en-US" dirty="0"/>
                        <a:t>Individual decision making</a:t>
                      </a:r>
                    </a:p>
                  </a:txBody>
                  <a:tcPr/>
                </a:tc>
                <a:tc>
                  <a:txBody>
                    <a:bodyPr/>
                    <a:lstStyle/>
                    <a:p>
                      <a:r>
                        <a:rPr lang="en-US" dirty="0"/>
                        <a:t>Collective decision making</a:t>
                      </a:r>
                    </a:p>
                  </a:txBody>
                  <a:tcPr/>
                </a:tc>
                <a:tc>
                  <a:txBody>
                    <a:bodyPr/>
                    <a:lstStyle/>
                    <a:p>
                      <a:r>
                        <a:rPr lang="en-US" dirty="0"/>
                        <a:t>Collective decision making</a:t>
                      </a:r>
                    </a:p>
                  </a:txBody>
                  <a:tcPr/>
                </a:tc>
                <a:extLst>
                  <a:ext uri="{0D108BD9-81ED-4DB2-BD59-A6C34878D82A}">
                    <a16:rowId xmlns:a16="http://schemas.microsoft.com/office/drawing/2014/main" val="10002"/>
                  </a:ext>
                </a:extLst>
              </a:tr>
              <a:tr h="370840">
                <a:tc>
                  <a:txBody>
                    <a:bodyPr/>
                    <a:lstStyle/>
                    <a:p>
                      <a:r>
                        <a:rPr lang="en-US" dirty="0"/>
                        <a:t>Individual responsibility</a:t>
                      </a:r>
                    </a:p>
                  </a:txBody>
                  <a:tcPr/>
                </a:tc>
                <a:tc>
                  <a:txBody>
                    <a:bodyPr/>
                    <a:lstStyle/>
                    <a:p>
                      <a:r>
                        <a:rPr lang="en-US" dirty="0"/>
                        <a:t>Collective responsibility</a:t>
                      </a:r>
                    </a:p>
                  </a:txBody>
                  <a:tcPr/>
                </a:tc>
                <a:tc>
                  <a:txBody>
                    <a:bodyPr/>
                    <a:lstStyle/>
                    <a:p>
                      <a:r>
                        <a:rPr lang="en-US" dirty="0"/>
                        <a:t>Individual responsibility</a:t>
                      </a:r>
                    </a:p>
                  </a:txBody>
                  <a:tcPr/>
                </a:tc>
                <a:extLst>
                  <a:ext uri="{0D108BD9-81ED-4DB2-BD59-A6C34878D82A}">
                    <a16:rowId xmlns:a16="http://schemas.microsoft.com/office/drawing/2014/main" val="10003"/>
                  </a:ext>
                </a:extLst>
              </a:tr>
              <a:tr h="370840">
                <a:tc>
                  <a:txBody>
                    <a:bodyPr/>
                    <a:lstStyle/>
                    <a:p>
                      <a:r>
                        <a:rPr lang="en-US" dirty="0"/>
                        <a:t>Rapid  evaluation and promotion</a:t>
                      </a:r>
                    </a:p>
                  </a:txBody>
                  <a:tcPr/>
                </a:tc>
                <a:tc>
                  <a:txBody>
                    <a:bodyPr/>
                    <a:lstStyle/>
                    <a:p>
                      <a:r>
                        <a:rPr lang="en-US" dirty="0"/>
                        <a:t>Slow evaluation and promotion</a:t>
                      </a:r>
                    </a:p>
                  </a:txBody>
                  <a:tcPr/>
                </a:tc>
                <a:tc>
                  <a:txBody>
                    <a:bodyPr/>
                    <a:lstStyle/>
                    <a:p>
                      <a:r>
                        <a:rPr lang="en-US" dirty="0"/>
                        <a:t>Slow evaluation &amp; promotion</a:t>
                      </a:r>
                    </a:p>
                  </a:txBody>
                  <a:tcPr/>
                </a:tc>
                <a:extLst>
                  <a:ext uri="{0D108BD9-81ED-4DB2-BD59-A6C34878D82A}">
                    <a16:rowId xmlns:a16="http://schemas.microsoft.com/office/drawing/2014/main" val="10004"/>
                  </a:ext>
                </a:extLst>
              </a:tr>
              <a:tr h="370840">
                <a:tc>
                  <a:txBody>
                    <a:bodyPr/>
                    <a:lstStyle/>
                    <a:p>
                      <a:r>
                        <a:rPr lang="en-US" dirty="0"/>
                        <a:t>Explicit control mechanisms</a:t>
                      </a:r>
                    </a:p>
                  </a:txBody>
                  <a:tcPr/>
                </a:tc>
                <a:tc>
                  <a:txBody>
                    <a:bodyPr/>
                    <a:lstStyle/>
                    <a:p>
                      <a:r>
                        <a:rPr lang="en-US" dirty="0"/>
                        <a:t>Implicit control mechanism</a:t>
                      </a:r>
                    </a:p>
                  </a:txBody>
                  <a:tcPr/>
                </a:tc>
                <a:tc>
                  <a:txBody>
                    <a:bodyPr/>
                    <a:lstStyle/>
                    <a:p>
                      <a:r>
                        <a:rPr lang="en-US" dirty="0"/>
                        <a:t>Implicit, informal control with explicit, formalize measures</a:t>
                      </a:r>
                    </a:p>
                  </a:txBody>
                  <a:tcPr/>
                </a:tc>
                <a:extLst>
                  <a:ext uri="{0D108BD9-81ED-4DB2-BD59-A6C34878D82A}">
                    <a16:rowId xmlns:a16="http://schemas.microsoft.com/office/drawing/2014/main" val="10005"/>
                  </a:ext>
                </a:extLst>
              </a:tr>
              <a:tr h="370840">
                <a:tc>
                  <a:txBody>
                    <a:bodyPr/>
                    <a:lstStyle/>
                    <a:p>
                      <a:r>
                        <a:rPr lang="en-US" dirty="0"/>
                        <a:t>Specialized career path</a:t>
                      </a:r>
                    </a:p>
                  </a:txBody>
                  <a:tcPr/>
                </a:tc>
                <a:tc>
                  <a:txBody>
                    <a:bodyPr/>
                    <a:lstStyle/>
                    <a:p>
                      <a:r>
                        <a:rPr lang="en-US" dirty="0" err="1"/>
                        <a:t>Nonspecilaized</a:t>
                      </a:r>
                      <a:r>
                        <a:rPr lang="en-US" dirty="0"/>
                        <a:t> career path</a:t>
                      </a:r>
                    </a:p>
                  </a:txBody>
                  <a:tcPr/>
                </a:tc>
                <a:tc>
                  <a:txBody>
                    <a:bodyPr/>
                    <a:lstStyle/>
                    <a:p>
                      <a:r>
                        <a:rPr lang="en-US" dirty="0"/>
                        <a:t>Moderately specialized career paths</a:t>
                      </a:r>
                    </a:p>
                  </a:txBody>
                  <a:tcPr/>
                </a:tc>
                <a:extLst>
                  <a:ext uri="{0D108BD9-81ED-4DB2-BD59-A6C34878D82A}">
                    <a16:rowId xmlns:a16="http://schemas.microsoft.com/office/drawing/2014/main" val="10006"/>
                  </a:ext>
                </a:extLst>
              </a:tr>
              <a:tr h="370840">
                <a:tc>
                  <a:txBody>
                    <a:bodyPr/>
                    <a:lstStyle/>
                    <a:p>
                      <a:r>
                        <a:rPr lang="en-US" dirty="0"/>
                        <a:t>Segmented concern for employee</a:t>
                      </a:r>
                    </a:p>
                  </a:txBody>
                  <a:tcPr/>
                </a:tc>
                <a:tc>
                  <a:txBody>
                    <a:bodyPr/>
                    <a:lstStyle/>
                    <a:p>
                      <a:r>
                        <a:rPr lang="en-US" dirty="0"/>
                        <a:t>Holistic concern for employee as a person</a:t>
                      </a:r>
                    </a:p>
                  </a:txBody>
                  <a:tcPr/>
                </a:tc>
                <a:tc>
                  <a:txBody>
                    <a:bodyPr/>
                    <a:lstStyle/>
                    <a:p>
                      <a:r>
                        <a:rPr lang="en-US" dirty="0"/>
                        <a:t>Holistic concern, </a:t>
                      </a:r>
                      <a:r>
                        <a:rPr lang="en-US" sz="1800" dirty="0"/>
                        <a:t>including family</a:t>
                      </a:r>
                    </a:p>
                  </a:txBody>
                  <a:tcPr/>
                </a:tc>
                <a:extLst>
                  <a:ext uri="{0D108BD9-81ED-4DB2-BD59-A6C34878D82A}">
                    <a16:rowId xmlns:a16="http://schemas.microsoft.com/office/drawing/2014/main" val="10007"/>
                  </a:ext>
                </a:extLst>
              </a:tr>
              <a:tr h="370840">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7F0D-5EE3-4656-B725-2EA30DFAD05A}"/>
              </a:ext>
            </a:extLst>
          </p:cNvPr>
          <p:cNvSpPr>
            <a:spLocks noGrp="1"/>
          </p:cNvSpPr>
          <p:nvPr>
            <p:ph type="title"/>
          </p:nvPr>
        </p:nvSpPr>
        <p:spPr/>
        <p:txBody>
          <a:bodyPr/>
          <a:lstStyle/>
          <a:p>
            <a:r>
              <a:rPr lang="en-US" dirty="0"/>
              <a:t>Fifth Reflective Pause</a:t>
            </a:r>
          </a:p>
        </p:txBody>
      </p:sp>
      <p:sp>
        <p:nvSpPr>
          <p:cNvPr id="3" name="Content Placeholder 2">
            <a:extLst>
              <a:ext uri="{FF2B5EF4-FFF2-40B4-BE49-F238E27FC236}">
                <a16:creationId xmlns:a16="http://schemas.microsoft.com/office/drawing/2014/main" id="{20899D97-71F7-4A03-924A-2E58A679AAAC}"/>
              </a:ext>
            </a:extLst>
          </p:cNvPr>
          <p:cNvSpPr>
            <a:spLocks noGrp="1"/>
          </p:cNvSpPr>
          <p:nvPr>
            <p:ph idx="1"/>
          </p:nvPr>
        </p:nvSpPr>
        <p:spPr/>
        <p:txBody>
          <a:bodyPr>
            <a:normAutofit fontScale="92500" lnSpcReduction="10000"/>
          </a:bodyPr>
          <a:lstStyle/>
          <a:p>
            <a:r>
              <a:rPr lang="en-US" dirty="0"/>
              <a:t>The “nutshell” version of the Human Relations School emphasizes job enrichment </a:t>
            </a:r>
          </a:p>
          <a:p>
            <a:pPr lvl="1"/>
            <a:r>
              <a:rPr lang="en-US" dirty="0"/>
              <a:t>Can all jobs be enriched?</a:t>
            </a:r>
          </a:p>
          <a:p>
            <a:pPr lvl="1"/>
            <a:r>
              <a:rPr lang="en-US" dirty="0"/>
              <a:t>Does everybody want an enriched job?</a:t>
            </a:r>
          </a:p>
          <a:p>
            <a:r>
              <a:rPr lang="en-US" dirty="0"/>
              <a:t>Unpackage each of the Models X Y and Z</a:t>
            </a:r>
          </a:p>
          <a:p>
            <a:pPr lvl="1"/>
            <a:r>
              <a:rPr lang="en-US" dirty="0"/>
              <a:t>Where have you seen or experienced one or more</a:t>
            </a:r>
          </a:p>
          <a:p>
            <a:pPr lvl="1"/>
            <a:r>
              <a:rPr lang="en-US" dirty="0"/>
              <a:t>Which model seems most congruent with your experience</a:t>
            </a:r>
          </a:p>
          <a:p>
            <a:pPr lvl="1"/>
            <a:r>
              <a:rPr lang="en-US" dirty="0"/>
              <a:t>Consider the next slide; what are the tensions faced by organizations where there are mixed models?  </a:t>
            </a:r>
          </a:p>
        </p:txBody>
      </p:sp>
    </p:spTree>
    <p:extLst>
      <p:ext uri="{BB962C8B-B14F-4D97-AF65-F5344CB8AC3E}">
        <p14:creationId xmlns:p14="http://schemas.microsoft.com/office/powerpoint/2010/main" val="1977703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of X,Y,Z</a:t>
            </a:r>
          </a:p>
        </p:txBody>
      </p:sp>
      <p:sp>
        <p:nvSpPr>
          <p:cNvPr id="3" name="Content Placeholder 2"/>
          <p:cNvSpPr>
            <a:spLocks noGrp="1"/>
          </p:cNvSpPr>
          <p:nvPr>
            <p:ph idx="1"/>
          </p:nvPr>
        </p:nvSpPr>
        <p:spPr/>
        <p:txBody>
          <a:bodyPr>
            <a:normAutofit fontScale="92500"/>
          </a:bodyPr>
          <a:lstStyle/>
          <a:p>
            <a:r>
              <a:rPr lang="en-US" dirty="0"/>
              <a:t>University tenured faculty operate in a theory Z</a:t>
            </a:r>
          </a:p>
          <a:p>
            <a:pPr lvl="1"/>
            <a:r>
              <a:rPr lang="en-US" dirty="0"/>
              <a:t>Can the rest of the university?</a:t>
            </a:r>
          </a:p>
          <a:p>
            <a:pPr lvl="1"/>
            <a:r>
              <a:rPr lang="en-US" dirty="0"/>
              <a:t>Are there other organizations where only a class of people can enjoy the benefits of theory Z?</a:t>
            </a:r>
          </a:p>
          <a:p>
            <a:r>
              <a:rPr lang="en-US" dirty="0"/>
              <a:t>Given the economic melt down in Japan in the 90’s did theory Z even work there</a:t>
            </a:r>
          </a:p>
          <a:p>
            <a:r>
              <a:rPr lang="en-US" dirty="0"/>
              <a:t>The universal consultant – job permanence is not assumed and all employers become “clients” (theory 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pPr eaLnBrk="1" hangingPunct="1"/>
            <a:r>
              <a:rPr lang="en-US"/>
              <a:t>Herzberg</a:t>
            </a:r>
            <a:br>
              <a:rPr lang="en-US"/>
            </a:br>
            <a:r>
              <a:rPr lang="en-US"/>
              <a:t>Two Factor Theory</a:t>
            </a:r>
          </a:p>
        </p:txBody>
      </p:sp>
      <p:sp>
        <p:nvSpPr>
          <p:cNvPr id="11267" name="Rectangle 3"/>
          <p:cNvSpPr>
            <a:spLocks noGrp="1" noChangeArrowheads="1"/>
          </p:cNvSpPr>
          <p:nvPr>
            <p:ph type="body" sz="half" idx="1"/>
          </p:nvPr>
        </p:nvSpPr>
        <p:spPr/>
        <p:txBody>
          <a:bodyPr/>
          <a:lstStyle/>
          <a:p>
            <a:pPr eaLnBrk="1" hangingPunct="1"/>
            <a:r>
              <a:rPr lang="en-US"/>
              <a:t>Satisfiers (Motivators)</a:t>
            </a:r>
          </a:p>
          <a:p>
            <a:pPr lvl="1" eaLnBrk="1" hangingPunct="1"/>
            <a:r>
              <a:rPr lang="en-US"/>
              <a:t>Achievement</a:t>
            </a:r>
          </a:p>
          <a:p>
            <a:pPr lvl="1" eaLnBrk="1" hangingPunct="1"/>
            <a:r>
              <a:rPr lang="en-US"/>
              <a:t>Recognition</a:t>
            </a:r>
          </a:p>
          <a:p>
            <a:pPr lvl="1" eaLnBrk="1" hangingPunct="1"/>
            <a:r>
              <a:rPr lang="en-US"/>
              <a:t>Work itself</a:t>
            </a:r>
          </a:p>
          <a:p>
            <a:pPr lvl="1" eaLnBrk="1" hangingPunct="1"/>
            <a:r>
              <a:rPr lang="en-US"/>
              <a:t>Responsibility</a:t>
            </a:r>
          </a:p>
          <a:p>
            <a:pPr lvl="1" eaLnBrk="1" hangingPunct="1"/>
            <a:r>
              <a:rPr lang="en-US"/>
              <a:t>Advancement</a:t>
            </a:r>
          </a:p>
          <a:p>
            <a:pPr lvl="1" eaLnBrk="1" hangingPunct="1"/>
            <a:r>
              <a:rPr lang="en-US"/>
              <a:t>Growth</a:t>
            </a:r>
          </a:p>
        </p:txBody>
      </p:sp>
      <p:sp>
        <p:nvSpPr>
          <p:cNvPr id="11268" name="Rectangle 4"/>
          <p:cNvSpPr>
            <a:spLocks noGrp="1" noChangeArrowheads="1"/>
          </p:cNvSpPr>
          <p:nvPr>
            <p:ph type="body" sz="half" idx="2"/>
          </p:nvPr>
        </p:nvSpPr>
        <p:spPr/>
        <p:txBody>
          <a:bodyPr/>
          <a:lstStyle/>
          <a:p>
            <a:pPr eaLnBrk="1" hangingPunct="1"/>
            <a:r>
              <a:rPr lang="en-US"/>
              <a:t>Dissatisfiers (Hygiene factors)</a:t>
            </a:r>
          </a:p>
          <a:p>
            <a:pPr lvl="1" eaLnBrk="1" hangingPunct="1"/>
            <a:r>
              <a:rPr lang="en-US"/>
              <a:t>Company policy</a:t>
            </a:r>
          </a:p>
          <a:p>
            <a:pPr lvl="1" eaLnBrk="1" hangingPunct="1"/>
            <a:r>
              <a:rPr lang="en-US"/>
              <a:t>Supervision</a:t>
            </a:r>
          </a:p>
          <a:p>
            <a:pPr lvl="1" eaLnBrk="1" hangingPunct="1"/>
            <a:r>
              <a:rPr lang="en-US"/>
              <a:t>Relationship with boss</a:t>
            </a:r>
          </a:p>
          <a:p>
            <a:pPr lvl="1" eaLnBrk="1" hangingPunct="1"/>
            <a:r>
              <a:rPr lang="en-US"/>
              <a:t>Working conditions</a:t>
            </a:r>
          </a:p>
          <a:p>
            <a:pPr lvl="1" eaLnBrk="1" hangingPunct="1"/>
            <a:r>
              <a:rPr lang="en-US"/>
              <a:t>Salary</a:t>
            </a:r>
          </a:p>
          <a:p>
            <a:pPr lvl="1" eaLnBrk="1" hangingPunct="1"/>
            <a:r>
              <a:rPr lang="en-US"/>
              <a:t>Relationship with peers</a:t>
            </a:r>
          </a:p>
          <a:p>
            <a:pPr lvl="1" eaLnBrk="1" hangingPunct="1"/>
            <a:r>
              <a:rPr lang="en-US"/>
              <a:t>Security</a:t>
            </a:r>
          </a:p>
          <a:p>
            <a:pPr eaLnBrk="1" hangingPunct="1"/>
            <a:endParaRPr lang="en-US"/>
          </a:p>
        </p:txBody>
      </p:sp>
      <p:sp>
        <p:nvSpPr>
          <p:cNvPr id="11273" name="Text Box 9"/>
          <p:cNvSpPr txBox="1">
            <a:spLocks noChangeArrowheads="1"/>
          </p:cNvSpPr>
          <p:nvPr/>
        </p:nvSpPr>
        <p:spPr bwMode="auto">
          <a:xfrm>
            <a:off x="533400" y="5334000"/>
            <a:ext cx="3048000" cy="830263"/>
          </a:xfrm>
          <a:prstGeom prst="rect">
            <a:avLst/>
          </a:prstGeom>
          <a:noFill/>
          <a:ln w="9525">
            <a:noFill/>
            <a:miter lim="800000"/>
            <a:headEnd/>
            <a:tailEnd/>
          </a:ln>
        </p:spPr>
        <p:txBody>
          <a:bodyPr>
            <a:spAutoFit/>
          </a:bodyPr>
          <a:lstStyle/>
          <a:p>
            <a:r>
              <a:rPr lang="en-US"/>
              <a:t>Can only motivate</a:t>
            </a:r>
          </a:p>
          <a:p>
            <a:r>
              <a:rPr lang="en-US"/>
              <a:t> through these</a:t>
            </a:r>
          </a:p>
        </p:txBody>
      </p:sp>
      <p:cxnSp>
        <p:nvCxnSpPr>
          <p:cNvPr id="12" name="Straight Arrow Connector 11"/>
          <p:cNvCxnSpPr/>
          <p:nvPr/>
        </p:nvCxnSpPr>
        <p:spPr>
          <a:xfrm rot="5400000" flipH="1" flipV="1">
            <a:off x="1829594" y="5257006"/>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anim calcmode="lin" valueType="num">
                                      <p:cBhvr additive="base">
                                        <p:cTn id="11"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126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anim calcmode="lin" valueType="num">
                                      <p:cBhvr additive="base">
                                        <p:cTn id="15"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126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anim calcmode="lin" valueType="num">
                                      <p:cBhvr additive="base">
                                        <p:cTn id="19"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anim calcmode="lin" valueType="num">
                                      <p:cBhvr additive="base">
                                        <p:cTn id="23"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1267">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anim calcmode="lin" valueType="num">
                                      <p:cBhvr additive="base">
                                        <p:cTn id="27" dur="500" fill="hold"/>
                                        <p:tgtEl>
                                          <p:spTgt spid="11267">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1267">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267">
                                            <p:txEl>
                                              <p:pRg st="6" end="6"/>
                                            </p:txEl>
                                          </p:spTgt>
                                        </p:tgtEl>
                                        <p:attrNameLst>
                                          <p:attrName>style.visibility</p:attrName>
                                        </p:attrNameLst>
                                      </p:cBhvr>
                                      <p:to>
                                        <p:strVal val="visible"/>
                                      </p:to>
                                    </p:set>
                                    <p:anim calcmode="lin" valueType="num">
                                      <p:cBhvr additive="base">
                                        <p:cTn id="31" dur="500" fill="hold"/>
                                        <p:tgtEl>
                                          <p:spTgt spid="11267">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1268">
                                            <p:txEl>
                                              <p:pRg st="0" end="0"/>
                                            </p:txEl>
                                          </p:spTgt>
                                        </p:tgtEl>
                                        <p:attrNameLst>
                                          <p:attrName>style.visibility</p:attrName>
                                        </p:attrNameLst>
                                      </p:cBhvr>
                                      <p:to>
                                        <p:strVal val="visible"/>
                                      </p:to>
                                    </p:set>
                                    <p:anim calcmode="lin" valueType="num">
                                      <p:cBhvr additive="base">
                                        <p:cTn id="37" dur="500" fill="hold"/>
                                        <p:tgtEl>
                                          <p:spTgt spid="11268">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1268">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1268">
                                            <p:txEl>
                                              <p:pRg st="1" end="1"/>
                                            </p:txEl>
                                          </p:spTgt>
                                        </p:tgtEl>
                                        <p:attrNameLst>
                                          <p:attrName>style.visibility</p:attrName>
                                        </p:attrNameLst>
                                      </p:cBhvr>
                                      <p:to>
                                        <p:strVal val="visible"/>
                                      </p:to>
                                    </p:set>
                                    <p:anim calcmode="lin" valueType="num">
                                      <p:cBhvr additive="base">
                                        <p:cTn id="41" dur="500" fill="hold"/>
                                        <p:tgtEl>
                                          <p:spTgt spid="11268">
                                            <p:txEl>
                                              <p:pRg st="1" end="1"/>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1268">
                                            <p:txEl>
                                              <p:pRg st="1" end="1"/>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1268">
                                            <p:txEl>
                                              <p:pRg st="2" end="2"/>
                                            </p:txEl>
                                          </p:spTgt>
                                        </p:tgtEl>
                                        <p:attrNameLst>
                                          <p:attrName>style.visibility</p:attrName>
                                        </p:attrNameLst>
                                      </p:cBhvr>
                                      <p:to>
                                        <p:strVal val="visible"/>
                                      </p:to>
                                    </p:set>
                                    <p:anim calcmode="lin" valueType="num">
                                      <p:cBhvr additive="base">
                                        <p:cTn id="45" dur="500" fill="hold"/>
                                        <p:tgtEl>
                                          <p:spTgt spid="11268">
                                            <p:txEl>
                                              <p:pRg st="2" end="2"/>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1268">
                                            <p:txEl>
                                              <p:pRg st="2" end="2"/>
                                            </p:txEl>
                                          </p:spTgt>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1268">
                                            <p:txEl>
                                              <p:pRg st="3" end="3"/>
                                            </p:txEl>
                                          </p:spTgt>
                                        </p:tgtEl>
                                        <p:attrNameLst>
                                          <p:attrName>style.visibility</p:attrName>
                                        </p:attrNameLst>
                                      </p:cBhvr>
                                      <p:to>
                                        <p:strVal val="visible"/>
                                      </p:to>
                                    </p:set>
                                    <p:anim calcmode="lin" valueType="num">
                                      <p:cBhvr additive="base">
                                        <p:cTn id="49" dur="500" fill="hold"/>
                                        <p:tgtEl>
                                          <p:spTgt spid="11268">
                                            <p:txEl>
                                              <p:pRg st="3" end="3"/>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1268">
                                            <p:txEl>
                                              <p:pRg st="3" end="3"/>
                                            </p:txEl>
                                          </p:spTgt>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1268">
                                            <p:txEl>
                                              <p:pRg st="4" end="4"/>
                                            </p:txEl>
                                          </p:spTgt>
                                        </p:tgtEl>
                                        <p:attrNameLst>
                                          <p:attrName>style.visibility</p:attrName>
                                        </p:attrNameLst>
                                      </p:cBhvr>
                                      <p:to>
                                        <p:strVal val="visible"/>
                                      </p:to>
                                    </p:set>
                                    <p:anim calcmode="lin" valueType="num">
                                      <p:cBhvr additive="base">
                                        <p:cTn id="53" dur="500" fill="hold"/>
                                        <p:tgtEl>
                                          <p:spTgt spid="11268">
                                            <p:txEl>
                                              <p:pRg st="4" end="4"/>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11268">
                                            <p:txEl>
                                              <p:pRg st="4" end="4"/>
                                            </p:txEl>
                                          </p:spTgt>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11268">
                                            <p:txEl>
                                              <p:pRg st="5" end="5"/>
                                            </p:txEl>
                                          </p:spTgt>
                                        </p:tgtEl>
                                        <p:attrNameLst>
                                          <p:attrName>style.visibility</p:attrName>
                                        </p:attrNameLst>
                                      </p:cBhvr>
                                      <p:to>
                                        <p:strVal val="visible"/>
                                      </p:to>
                                    </p:set>
                                    <p:anim calcmode="lin" valueType="num">
                                      <p:cBhvr additive="base">
                                        <p:cTn id="57" dur="500" fill="hold"/>
                                        <p:tgtEl>
                                          <p:spTgt spid="11268">
                                            <p:txEl>
                                              <p:pRg st="5" end="5"/>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11268">
                                            <p:txEl>
                                              <p:pRg st="5" end="5"/>
                                            </p:txEl>
                                          </p:spTgt>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11268">
                                            <p:txEl>
                                              <p:pRg st="6" end="6"/>
                                            </p:txEl>
                                          </p:spTgt>
                                        </p:tgtEl>
                                        <p:attrNameLst>
                                          <p:attrName>style.visibility</p:attrName>
                                        </p:attrNameLst>
                                      </p:cBhvr>
                                      <p:to>
                                        <p:strVal val="visible"/>
                                      </p:to>
                                    </p:set>
                                    <p:anim calcmode="lin" valueType="num">
                                      <p:cBhvr additive="base">
                                        <p:cTn id="61" dur="500" fill="hold"/>
                                        <p:tgtEl>
                                          <p:spTgt spid="11268">
                                            <p:txEl>
                                              <p:pRg st="6" end="6"/>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1268">
                                            <p:txEl>
                                              <p:pRg st="6" end="6"/>
                                            </p:txEl>
                                          </p:spTgt>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0"/>
                                  </p:stCondLst>
                                  <p:childTnLst>
                                    <p:set>
                                      <p:cBhvr>
                                        <p:cTn id="64" dur="1" fill="hold">
                                          <p:stCondLst>
                                            <p:cond delay="0"/>
                                          </p:stCondLst>
                                        </p:cTn>
                                        <p:tgtEl>
                                          <p:spTgt spid="11268">
                                            <p:txEl>
                                              <p:pRg st="7" end="7"/>
                                            </p:txEl>
                                          </p:spTgt>
                                        </p:tgtEl>
                                        <p:attrNameLst>
                                          <p:attrName>style.visibility</p:attrName>
                                        </p:attrNameLst>
                                      </p:cBhvr>
                                      <p:to>
                                        <p:strVal val="visible"/>
                                      </p:to>
                                    </p:set>
                                    <p:anim calcmode="lin" valueType="num">
                                      <p:cBhvr additive="base">
                                        <p:cTn id="65" dur="500" fill="hold"/>
                                        <p:tgtEl>
                                          <p:spTgt spid="11268">
                                            <p:txEl>
                                              <p:pRg st="7" end="7"/>
                                            </p:txEl>
                                          </p:spTgt>
                                        </p:tgtEl>
                                        <p:attrNameLst>
                                          <p:attrName>ppt_x</p:attrName>
                                        </p:attrNameLst>
                                      </p:cBhvr>
                                      <p:tavLst>
                                        <p:tav tm="0">
                                          <p:val>
                                            <p:strVal val="1+#ppt_w/2"/>
                                          </p:val>
                                        </p:tav>
                                        <p:tav tm="100000">
                                          <p:val>
                                            <p:strVal val="#ppt_x"/>
                                          </p:val>
                                        </p:tav>
                                      </p:tavLst>
                                    </p:anim>
                                    <p:anim calcmode="lin" valueType="num">
                                      <p:cBhvr additive="base">
                                        <p:cTn id="66" dur="500" fill="hold"/>
                                        <p:tgtEl>
                                          <p:spTgt spid="1126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1273">
                                            <p:txEl>
                                              <p:pRg st="0" end="0"/>
                                            </p:txEl>
                                          </p:spTgt>
                                        </p:tgtEl>
                                        <p:attrNameLst>
                                          <p:attrName>style.visibility</p:attrName>
                                        </p:attrNameLst>
                                      </p:cBhvr>
                                      <p:to>
                                        <p:strVal val="visible"/>
                                      </p:to>
                                    </p:set>
                                    <p:animEffect transition="in" filter="wipe(left)">
                                      <p:cBhvr>
                                        <p:cTn id="71" dur="500"/>
                                        <p:tgtEl>
                                          <p:spTgt spid="11273">
                                            <p:txEl>
                                              <p:pRg st="0" end="0"/>
                                            </p:txEl>
                                          </p:spTgt>
                                        </p:tgtEl>
                                      </p:cBhvr>
                                    </p:animEffect>
                                  </p:childTnLst>
                                </p:cTn>
                              </p:par>
                              <p:par>
                                <p:cTn id="72" presetID="9" presetClass="entr" presetSubtype="0" fill="hold" grpId="1" nodeType="withEffect">
                                  <p:stCondLst>
                                    <p:cond delay="0"/>
                                  </p:stCondLst>
                                  <p:childTnLst>
                                    <p:set>
                                      <p:cBhvr>
                                        <p:cTn id="73" dur="1" fill="hold">
                                          <p:stCondLst>
                                            <p:cond delay="0"/>
                                          </p:stCondLst>
                                        </p:cTn>
                                        <p:tgtEl>
                                          <p:spTgt spid="11273">
                                            <p:txEl>
                                              <p:pRg st="1" end="1"/>
                                            </p:txEl>
                                          </p:spTgt>
                                        </p:tgtEl>
                                        <p:attrNameLst>
                                          <p:attrName>style.visibility</p:attrName>
                                        </p:attrNameLst>
                                      </p:cBhvr>
                                      <p:to>
                                        <p:strVal val="visible"/>
                                      </p:to>
                                    </p:set>
                                    <p:animEffect transition="in" filter="dissolve">
                                      <p:cBhvr>
                                        <p:cTn id="74" dur="500"/>
                                        <p:tgtEl>
                                          <p:spTgt spid="11273">
                                            <p:txEl>
                                              <p:pRg st="1" end="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dissolve">
                                      <p:cBhvr>
                                        <p:cTn id="7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P spid="11268" grpId="0" build="p" autoUpdateAnimBg="0"/>
      <p:bldP spid="11273" grpId="0" build="p" autoUpdateAnimBg="0"/>
      <p:bldP spid="11273" grpId="1"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t>Key Points</a:t>
            </a:r>
          </a:p>
        </p:txBody>
      </p:sp>
      <p:sp>
        <p:nvSpPr>
          <p:cNvPr id="3" name="Content Placeholder 2"/>
          <p:cNvSpPr>
            <a:spLocks noGrp="1"/>
          </p:cNvSpPr>
          <p:nvPr>
            <p:ph idx="1"/>
          </p:nvPr>
        </p:nvSpPr>
        <p:spPr/>
        <p:txBody>
          <a:bodyPr>
            <a:normAutofit fontScale="92500" lnSpcReduction="10000"/>
          </a:bodyPr>
          <a:lstStyle/>
          <a:p>
            <a:pPr>
              <a:defRPr/>
            </a:pPr>
            <a:r>
              <a:rPr lang="en-US" dirty="0"/>
              <a:t>Used Critical Incident Technique</a:t>
            </a:r>
          </a:p>
          <a:p>
            <a:pPr lvl="1">
              <a:defRPr/>
            </a:pPr>
            <a:r>
              <a:rPr lang="en-US" dirty="0"/>
              <a:t>…we asked our respondents to describe periods in their lives when they were exceedingly happy and unhappy with their jobs</a:t>
            </a:r>
          </a:p>
          <a:p>
            <a:pPr>
              <a:defRPr/>
            </a:pPr>
            <a:r>
              <a:rPr lang="en-US" dirty="0"/>
              <a:t>Because the factors causing satisfaction are different from those causing dissatisfaction, the two feelings cannot simply be treated as opposites of one another.</a:t>
            </a:r>
          </a:p>
          <a:p>
            <a:pPr lvl="1">
              <a:defRPr/>
            </a:pPr>
            <a:r>
              <a:rPr lang="en-US" dirty="0"/>
              <a:t>The opposite of satisfaction is no satisfaction</a:t>
            </a:r>
          </a:p>
          <a:p>
            <a:pPr lvl="1">
              <a:defRPr/>
            </a:pPr>
            <a:r>
              <a:rPr lang="en-US" dirty="0"/>
              <a:t>The opposite of dissatisfaction is no dissatisfaction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KITA* factors (dissatisfaction) are extrinsic to the work</a:t>
            </a:r>
          </a:p>
          <a:p>
            <a:r>
              <a:rPr lang="en-US" dirty="0"/>
              <a:t>Satisfaction factors are intrinsic to the work</a:t>
            </a:r>
          </a:p>
          <a:p>
            <a:r>
              <a:rPr lang="en-US" dirty="0"/>
              <a:t>Huge Assumption:  </a:t>
            </a:r>
          </a:p>
          <a:p>
            <a:pPr lvl="1"/>
            <a:r>
              <a:rPr lang="en-US" dirty="0"/>
              <a:t>A Happy Worker will be more productive</a:t>
            </a:r>
          </a:p>
          <a:p>
            <a:pPr lvl="1"/>
            <a:endParaRPr lang="en-US" dirty="0"/>
          </a:p>
          <a:p>
            <a:pPr lvl="1"/>
            <a:endParaRPr lang="en-US" dirty="0"/>
          </a:p>
          <a:p>
            <a:r>
              <a:rPr lang="en-US" dirty="0"/>
              <a:t>*</a:t>
            </a:r>
            <a:r>
              <a:rPr lang="en-US" sz="1400" dirty="0"/>
              <a:t>Kick in the ___ (3 letters!)</a:t>
            </a:r>
            <a:r>
              <a:rPr lang="en-US" dirty="0"/>
              <a:t> </a:t>
            </a:r>
          </a:p>
          <a:p>
            <a:pPr lvl="1"/>
            <a:endParaRPr lang="en-US" dirty="0"/>
          </a:p>
          <a:p>
            <a:pPr lvl="1"/>
            <a:endParaRPr lang="en-US" dirty="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dissolv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1000" y="685800"/>
            <a:ext cx="8229600" cy="1143000"/>
          </a:xfrm>
        </p:spPr>
        <p:txBody>
          <a:bodyPr>
            <a:normAutofit fontScale="90000"/>
          </a:bodyPr>
          <a:lstStyle/>
          <a:p>
            <a:pPr eaLnBrk="1" hangingPunct="1"/>
            <a:r>
              <a:rPr lang="en-US" dirty="0"/>
              <a:t>Content Theories of the Human Relations School</a:t>
            </a:r>
            <a:br>
              <a:rPr lang="en-US" dirty="0"/>
            </a:br>
            <a:r>
              <a:rPr lang="en-US" dirty="0"/>
              <a:t>(Because they relate to the contents of the job)</a:t>
            </a:r>
          </a:p>
        </p:txBody>
      </p:sp>
      <p:sp>
        <p:nvSpPr>
          <p:cNvPr id="12291" name="Rectangle 3"/>
          <p:cNvSpPr>
            <a:spLocks noGrp="1" noChangeArrowheads="1"/>
          </p:cNvSpPr>
          <p:nvPr>
            <p:ph type="body" idx="1"/>
          </p:nvPr>
        </p:nvSpPr>
        <p:spPr>
          <a:xfrm>
            <a:off x="762000" y="2590800"/>
            <a:ext cx="7772400" cy="4114800"/>
          </a:xfrm>
        </p:spPr>
        <p:txBody>
          <a:bodyPr/>
          <a:lstStyle/>
          <a:p>
            <a:pPr eaLnBrk="1" hangingPunct="1"/>
            <a:r>
              <a:rPr lang="en-US" dirty="0"/>
              <a:t>All based on Maslow</a:t>
            </a:r>
          </a:p>
          <a:p>
            <a:pPr eaLnBrk="1" hangingPunct="1"/>
            <a:r>
              <a:rPr lang="en-US" dirty="0"/>
              <a:t>Intrinsic rewards</a:t>
            </a:r>
          </a:p>
          <a:p>
            <a:pPr eaLnBrk="1" hangingPunct="1"/>
            <a:r>
              <a:rPr lang="en-US" dirty="0"/>
              <a:t>Change structure and job design to meet Maslow’s higher level needs</a:t>
            </a:r>
          </a:p>
          <a:p>
            <a:pPr eaLnBrk="1" hangingPunct="1"/>
            <a:endParaRPr lang="en-US" dirty="0"/>
          </a:p>
          <a:p>
            <a:pPr eaLnBrk="1" hangingPunct="1"/>
            <a:r>
              <a:rPr lang="en-US" dirty="0"/>
              <a:t>Salvation replaced by self actualization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 calcmode="lin" valueType="num">
                                      <p:cBhvr additive="base">
                                        <p:cTn id="19" dur="500" fill="hold"/>
                                        <p:tgtEl>
                                          <p:spTgt spid="1229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2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291">
                                            <p:txEl>
                                              <p:pRg st="4" end="4"/>
                                            </p:txEl>
                                          </p:spTgt>
                                        </p:tgtEl>
                                        <p:attrNameLst>
                                          <p:attrName>style.visibility</p:attrName>
                                        </p:attrNameLst>
                                      </p:cBhvr>
                                      <p:to>
                                        <p:strVal val="visible"/>
                                      </p:to>
                                    </p:set>
                                    <p:anim calcmode="lin" valueType="num">
                                      <p:cBhvr additive="base">
                                        <p:cTn id="25" dur="500" fill="hold"/>
                                        <p:tgtEl>
                                          <p:spTgt spid="1229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29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Changing Views of Leadership</a:t>
            </a:r>
          </a:p>
        </p:txBody>
      </p:sp>
      <p:sp>
        <p:nvSpPr>
          <p:cNvPr id="3" name="Content Placeholder 2"/>
          <p:cNvSpPr>
            <a:spLocks noGrp="1"/>
          </p:cNvSpPr>
          <p:nvPr>
            <p:ph idx="1"/>
          </p:nvPr>
        </p:nvSpPr>
        <p:spPr/>
        <p:txBody>
          <a:bodyPr>
            <a:normAutofit lnSpcReduction="10000"/>
          </a:bodyPr>
          <a:lstStyle/>
          <a:p>
            <a:pPr>
              <a:defRPr/>
            </a:pPr>
            <a:r>
              <a:rPr lang="en-US" dirty="0"/>
              <a:t>From vertical to horizontal </a:t>
            </a:r>
          </a:p>
          <a:p>
            <a:pPr>
              <a:defRPr/>
            </a:pPr>
            <a:r>
              <a:rPr lang="en-US" dirty="0"/>
              <a:t>Both Follett and Mayo point out the importance of group process and the cumulative nature of authority</a:t>
            </a:r>
          </a:p>
          <a:p>
            <a:pPr>
              <a:defRPr/>
            </a:pPr>
            <a:r>
              <a:rPr lang="en-US" dirty="0"/>
              <a:t>Power over is transformed to power with</a:t>
            </a:r>
          </a:p>
          <a:p>
            <a:pPr lvl="1">
              <a:defRPr/>
            </a:pPr>
            <a:r>
              <a:rPr lang="en-US" dirty="0"/>
              <a:t>Basic needs of workers have to be met if they are to become productive members of the organization</a:t>
            </a:r>
          </a:p>
          <a:p>
            <a:pPr lvl="1">
              <a:defRPr/>
            </a:pPr>
            <a:r>
              <a:rPr lang="en-US" dirty="0"/>
              <a:t>Responsibility/Authority rests with everybody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Hegel and George Herbert Mead  </a:t>
            </a:r>
          </a:p>
        </p:txBody>
      </p:sp>
      <p:sp>
        <p:nvSpPr>
          <p:cNvPr id="3" name="Content Placeholder 2"/>
          <p:cNvSpPr>
            <a:spLocks noGrp="1"/>
          </p:cNvSpPr>
          <p:nvPr>
            <p:ph idx="1"/>
          </p:nvPr>
        </p:nvSpPr>
        <p:spPr/>
        <p:txBody>
          <a:bodyPr/>
          <a:lstStyle/>
          <a:p>
            <a:r>
              <a:rPr lang="en-US" dirty="0"/>
              <a:t>They are key to understanding these “new” leadership ideas as they emerge in Follett and Mayo</a:t>
            </a:r>
          </a:p>
          <a:p>
            <a:r>
              <a:rPr lang="en-US" dirty="0"/>
              <a:t>  Hegel’s dialectic</a:t>
            </a:r>
          </a:p>
          <a:p>
            <a:pPr lvl="1"/>
            <a:r>
              <a:rPr lang="en-US" dirty="0"/>
              <a:t>Thesis </a:t>
            </a:r>
            <a:r>
              <a:rPr lang="en-US" dirty="0">
                <a:sym typeface="Wingdings" pitchFamily="2" charset="2"/>
              </a:rPr>
              <a:t></a:t>
            </a:r>
            <a:r>
              <a:rPr lang="en-US" dirty="0"/>
              <a:t> </a:t>
            </a:r>
            <a:r>
              <a:rPr lang="en-US" dirty="0">
                <a:sym typeface="Wingdings" pitchFamily="2" charset="2"/>
              </a:rPr>
              <a:t></a:t>
            </a:r>
            <a:r>
              <a:rPr lang="en-US" dirty="0"/>
              <a:t> Anti Thesis =  Synthesis </a:t>
            </a:r>
          </a:p>
          <a:p>
            <a:pPr lvl="2"/>
            <a:r>
              <a:rPr lang="en-US" dirty="0"/>
              <a:t>Follett’s Laws of Interpenetration, the Doctrine of the whole, integration and circular response.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2000"/>
                                        <p:tgtEl>
                                          <p:spTgt spid="3">
                                            <p:txEl>
                                              <p:pRg st="2" end="2"/>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Sixth Reflective Pause</a:t>
            </a:r>
          </a:p>
        </p:txBody>
      </p:sp>
      <p:sp>
        <p:nvSpPr>
          <p:cNvPr id="3" name="Content Placeholder 2"/>
          <p:cNvSpPr>
            <a:spLocks noGrp="1"/>
          </p:cNvSpPr>
          <p:nvPr>
            <p:ph idx="1"/>
          </p:nvPr>
        </p:nvSpPr>
        <p:spPr/>
        <p:txBody>
          <a:bodyPr>
            <a:normAutofit fontScale="92500" lnSpcReduction="20000"/>
          </a:bodyPr>
          <a:lstStyle/>
          <a:p>
            <a:r>
              <a:rPr lang="en-US" dirty="0"/>
              <a:t>Which of these statements is true?</a:t>
            </a:r>
          </a:p>
          <a:p>
            <a:endParaRPr lang="en-US" dirty="0"/>
          </a:p>
          <a:p>
            <a:pPr lvl="1"/>
            <a:r>
              <a:rPr lang="en-US" dirty="0"/>
              <a:t>This class is like other classes</a:t>
            </a:r>
          </a:p>
          <a:p>
            <a:endParaRPr lang="en-US" dirty="0"/>
          </a:p>
          <a:p>
            <a:pPr lvl="1"/>
            <a:r>
              <a:rPr lang="en-US" dirty="0"/>
              <a:t>This class is different than other classes</a:t>
            </a:r>
          </a:p>
          <a:p>
            <a:pPr lvl="1"/>
            <a:endParaRPr lang="en-US" dirty="0"/>
          </a:p>
          <a:p>
            <a:r>
              <a:rPr lang="en-US" dirty="0"/>
              <a:t>How does the answer to these questions illustrate Hegel’s dialectic and Follet’s notions of Laws of Interpenetration, the Doctrine of the whole, integration and circular response. </a:t>
            </a:r>
          </a:p>
        </p:txBody>
      </p:sp>
    </p:spTree>
    <p:extLst>
      <p:ext uri="{BB962C8B-B14F-4D97-AF65-F5344CB8AC3E}">
        <p14:creationId xmlns:p14="http://schemas.microsoft.com/office/powerpoint/2010/main" val="3866412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t>The emerging mind</a:t>
            </a:r>
          </a:p>
        </p:txBody>
      </p:sp>
      <p:sp>
        <p:nvSpPr>
          <p:cNvPr id="28675" name="Content Placeholder 2"/>
          <p:cNvSpPr>
            <a:spLocks noGrp="1"/>
          </p:cNvSpPr>
          <p:nvPr>
            <p:ph idx="1"/>
          </p:nvPr>
        </p:nvSpPr>
        <p:spPr/>
        <p:txBody>
          <a:bodyPr/>
          <a:lstStyle/>
          <a:p>
            <a:r>
              <a:rPr lang="en-US"/>
              <a:t>George H. Mead 1863 – 1931 is considered to be one of the founders of social psychology and the American sociological tradition.</a:t>
            </a:r>
          </a:p>
          <a:p>
            <a:r>
              <a:rPr lang="en-US"/>
              <a:t>Spent most of his career at the University of Chicago</a:t>
            </a:r>
          </a:p>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defRPr/>
            </a:pPr>
            <a:r>
              <a:rPr lang="en-US" dirty="0"/>
              <a:t>Mead is a symbolic </a:t>
            </a:r>
            <a:r>
              <a:rPr lang="en-US" dirty="0" err="1"/>
              <a:t>interactionist</a:t>
            </a:r>
            <a:r>
              <a:rPr lang="en-US" dirty="0"/>
              <a:t>, a major theoretical approach in sociology</a:t>
            </a:r>
          </a:p>
          <a:p>
            <a:pPr lvl="1">
              <a:defRPr/>
            </a:pPr>
            <a:r>
              <a:rPr lang="en-US" dirty="0"/>
              <a:t>People interact with the world based on the meaning they assign to phenomenon</a:t>
            </a:r>
          </a:p>
          <a:p>
            <a:pPr lvl="1">
              <a:defRPr/>
            </a:pPr>
            <a:r>
              <a:rPr lang="en-US" dirty="0"/>
              <a:t>They represent to themselves the meaning of an action of another</a:t>
            </a:r>
          </a:p>
          <a:p>
            <a:pPr lvl="1">
              <a:defRPr/>
            </a:pPr>
            <a:r>
              <a:rPr lang="en-US" dirty="0"/>
              <a:t>Do not interact directly with facts/objects/reality but with interpretations (symbols)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defRPr/>
            </a:pPr>
            <a:r>
              <a:rPr lang="en-US" dirty="0"/>
              <a:t>Thought is symbolic behavior</a:t>
            </a:r>
          </a:p>
          <a:p>
            <a:pPr lvl="1">
              <a:defRPr/>
            </a:pPr>
            <a:r>
              <a:rPr lang="en-US" dirty="0"/>
              <a:t>There can be no mind or thought without language</a:t>
            </a:r>
          </a:p>
          <a:p>
            <a:pPr lvl="1">
              <a:defRPr/>
            </a:pPr>
            <a:r>
              <a:rPr lang="en-US" dirty="0"/>
              <a:t>And language is the development and product of social interaction</a:t>
            </a:r>
          </a:p>
          <a:p>
            <a:pPr>
              <a:defRPr/>
            </a:pPr>
            <a:r>
              <a:rPr lang="en-US" dirty="0"/>
              <a:t>I and the ME</a:t>
            </a:r>
          </a:p>
          <a:p>
            <a:pPr>
              <a:defRPr/>
            </a:pPr>
            <a:r>
              <a:rPr lang="en-US" dirty="0"/>
              <a:t>The Me is the social self – takes on the roles of others and represents those roles to the I </a:t>
            </a:r>
          </a:p>
          <a:p>
            <a:pPr>
              <a:defRPr/>
            </a:pPr>
            <a:r>
              <a:rPr lang="en-US" dirty="0"/>
              <a:t>The I is the response to the 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endParaRPr lang="en-US"/>
          </a:p>
        </p:txBody>
      </p:sp>
      <p:sp>
        <p:nvSpPr>
          <p:cNvPr id="31747" name="Content Placeholder 2"/>
          <p:cNvSpPr>
            <a:spLocks noGrp="1"/>
          </p:cNvSpPr>
          <p:nvPr>
            <p:ph idx="1"/>
          </p:nvPr>
        </p:nvSpPr>
        <p:spPr/>
        <p:txBody>
          <a:bodyPr/>
          <a:lstStyle/>
          <a:p>
            <a:r>
              <a:rPr lang="en-US"/>
              <a:t>The self arises when the individual becomes an object to themselves</a:t>
            </a:r>
          </a:p>
          <a:p>
            <a:pPr lvl="1"/>
            <a:r>
              <a:rPr lang="en-US"/>
              <a:t>We are objects first to other people</a:t>
            </a:r>
          </a:p>
          <a:p>
            <a:pPr lvl="1"/>
            <a:r>
              <a:rPr lang="en-US"/>
              <a:t>Then we become objects to ourselves by taking the perspective of other people toward us</a:t>
            </a:r>
          </a:p>
          <a:p>
            <a:pPr lvl="1"/>
            <a:r>
              <a:rPr lang="en-US"/>
              <a:t>Language enables us to talk about ourselves in the same way as we talk about other people</a:t>
            </a:r>
          </a:p>
          <a:p>
            <a:pPr lvl="1"/>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t>The Play Stage and the Game Stage</a:t>
            </a:r>
          </a:p>
        </p:txBody>
      </p:sp>
      <p:sp>
        <p:nvSpPr>
          <p:cNvPr id="3" name="Content Placeholder 2"/>
          <p:cNvSpPr>
            <a:spLocks noGrp="1"/>
          </p:cNvSpPr>
          <p:nvPr>
            <p:ph idx="1"/>
          </p:nvPr>
        </p:nvSpPr>
        <p:spPr/>
        <p:txBody>
          <a:bodyPr>
            <a:normAutofit lnSpcReduction="10000"/>
          </a:bodyPr>
          <a:lstStyle/>
          <a:p>
            <a:pPr>
              <a:defRPr/>
            </a:pPr>
            <a:r>
              <a:rPr lang="en-US" dirty="0"/>
              <a:t>Children learn how to take on different roles through play (doctor, police officer, etc,)</a:t>
            </a:r>
          </a:p>
          <a:p>
            <a:pPr>
              <a:defRPr/>
            </a:pPr>
            <a:r>
              <a:rPr lang="en-US" dirty="0"/>
              <a:t>As they advance, they move to the game stage where they have to take on the roles of everyone in the game in order to play their role appropriately. </a:t>
            </a:r>
          </a:p>
          <a:p>
            <a:pPr>
              <a:defRPr/>
            </a:pPr>
            <a:r>
              <a:rPr lang="en-US" dirty="0"/>
              <a:t>This is the emergence of personality; the individual understands him/herself in relation to the generalize other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endParaRPr lang="en-US"/>
          </a:p>
        </p:txBody>
      </p:sp>
      <p:sp>
        <p:nvSpPr>
          <p:cNvPr id="33795" name="Content Placeholder 2"/>
          <p:cNvSpPr>
            <a:spLocks noGrp="1"/>
          </p:cNvSpPr>
          <p:nvPr>
            <p:ph idx="1"/>
          </p:nvPr>
        </p:nvSpPr>
        <p:spPr/>
        <p:txBody>
          <a:bodyPr/>
          <a:lstStyle/>
          <a:p>
            <a:r>
              <a:rPr lang="en-US"/>
              <a:t>Mary Parker Follett’s circular Response and Evocation</a:t>
            </a:r>
          </a:p>
          <a:p>
            <a:r>
              <a:rPr lang="en-US"/>
              <a:t>Mayo and Follett and the importance of group process</a:t>
            </a:r>
          </a:p>
          <a:p>
            <a:r>
              <a:rPr lang="en-US"/>
              <a:t>Chester Barnard’s notion that organizational purpose is an aggregate of acts</a:t>
            </a:r>
          </a:p>
          <a:p>
            <a:r>
              <a:rPr lang="en-US"/>
              <a:t>Moves away from structure to activity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Tying the Past and the Present</a:t>
            </a:r>
          </a:p>
        </p:txBody>
      </p:sp>
      <p:sp>
        <p:nvSpPr>
          <p:cNvPr id="3" name="Content Placeholder 2"/>
          <p:cNvSpPr>
            <a:spLocks noGrp="1"/>
          </p:cNvSpPr>
          <p:nvPr>
            <p:ph idx="1"/>
          </p:nvPr>
        </p:nvSpPr>
        <p:spPr/>
        <p:txBody>
          <a:bodyPr>
            <a:normAutofit fontScale="92500" lnSpcReduction="10000"/>
          </a:bodyPr>
          <a:lstStyle/>
          <a:p>
            <a:r>
              <a:rPr lang="en-US" dirty="0"/>
              <a:t>From Weber’s notion of the influence of religion on the work ethic to more psycho/social influences</a:t>
            </a:r>
          </a:p>
          <a:p>
            <a:pPr lvl="1"/>
            <a:r>
              <a:rPr lang="en-US" dirty="0"/>
              <a:t>Salvation replaced by self-actualization </a:t>
            </a:r>
          </a:p>
          <a:p>
            <a:r>
              <a:rPr lang="en-US" dirty="0"/>
              <a:t>But the ghost of Durkheim lurks in the writings of Elton Mayo</a:t>
            </a:r>
          </a:p>
          <a:p>
            <a:pPr lvl="1"/>
            <a:r>
              <a:rPr lang="en-US" dirty="0"/>
              <a:t>Both concerned with social disorganization</a:t>
            </a:r>
          </a:p>
          <a:p>
            <a:pPr lvl="1"/>
            <a:r>
              <a:rPr lang="en-US" dirty="0"/>
              <a:t>Both concerned with the effects of modernity on societal relationship</a:t>
            </a:r>
          </a:p>
          <a:p>
            <a:pPr lvl="1"/>
            <a:r>
              <a:rPr lang="en-US" dirty="0"/>
              <a:t>Both use the notion of anomie </a:t>
            </a:r>
          </a:p>
        </p:txBody>
      </p:sp>
    </p:spTree>
    <p:extLst>
      <p:ext uri="{BB962C8B-B14F-4D97-AF65-F5344CB8AC3E}">
        <p14:creationId xmlns:p14="http://schemas.microsoft.com/office/powerpoint/2010/main" val="2579395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Mayo in a “nut-” shell</a:t>
            </a:r>
          </a:p>
        </p:txBody>
      </p:sp>
      <p:sp>
        <p:nvSpPr>
          <p:cNvPr id="3" name="Content Placeholder 2"/>
          <p:cNvSpPr>
            <a:spLocks noGrp="1"/>
          </p:cNvSpPr>
          <p:nvPr>
            <p:ph idx="1"/>
          </p:nvPr>
        </p:nvSpPr>
        <p:spPr/>
        <p:txBody>
          <a:bodyPr>
            <a:normAutofit fontScale="92500"/>
          </a:bodyPr>
          <a:lstStyle/>
          <a:p>
            <a:r>
              <a:rPr lang="en-US" dirty="0"/>
              <a:t>Social ills may exacerbate psychological maladjustment, but must deal with the latter to have any meaningful effect on the former</a:t>
            </a:r>
          </a:p>
          <a:p>
            <a:r>
              <a:rPr lang="en-US" dirty="0"/>
              <a:t>Modern industry </a:t>
            </a:r>
            <a:r>
              <a:rPr lang="en-US" dirty="0">
                <a:sym typeface="Wingdings" pitchFamily="2" charset="2"/>
              </a:rPr>
              <a:t></a:t>
            </a:r>
            <a:r>
              <a:rPr lang="en-US" dirty="0"/>
              <a:t> Social disorganization </a:t>
            </a:r>
            <a:r>
              <a:rPr lang="en-US" dirty="0">
                <a:sym typeface="Wingdings" pitchFamily="2" charset="2"/>
              </a:rPr>
              <a:t></a:t>
            </a:r>
            <a:r>
              <a:rPr lang="en-US" dirty="0"/>
              <a:t>  Personal Disorganization </a:t>
            </a:r>
            <a:r>
              <a:rPr lang="en-US" dirty="0">
                <a:sym typeface="Wingdings" pitchFamily="2" charset="2"/>
              </a:rPr>
              <a:t>uncontrolled reveries/irrational obsessions /manic–depressive  </a:t>
            </a:r>
            <a:endParaRPr lang="en-US" dirty="0"/>
          </a:p>
          <a:p>
            <a:pPr lvl="1"/>
            <a:r>
              <a:rPr lang="en-US" dirty="0"/>
              <a:t>Strained interpersonal relationships</a:t>
            </a:r>
          </a:p>
          <a:p>
            <a:pPr lvl="1"/>
            <a:r>
              <a:rPr lang="en-US" dirty="0"/>
              <a:t>Labor unrest</a:t>
            </a:r>
          </a:p>
          <a:p>
            <a:pPr lvl="1"/>
            <a:r>
              <a:rPr lang="en-US" dirty="0"/>
              <a:t>Diminished work effectiveness </a:t>
            </a:r>
          </a:p>
        </p:txBody>
      </p:sp>
    </p:spTree>
    <p:extLst>
      <p:ext uri="{BB962C8B-B14F-4D97-AF65-F5344CB8AC3E}">
        <p14:creationId xmlns:p14="http://schemas.microsoft.com/office/powerpoint/2010/main" val="4033967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State must get out of the way in order to promote appropriate social growth</a:t>
            </a:r>
          </a:p>
          <a:p>
            <a:r>
              <a:rPr lang="en-US" dirty="0"/>
              <a:t>Education must produce an informed administrative elite – the industrial psychologist!</a:t>
            </a:r>
          </a:p>
          <a:p>
            <a:r>
              <a:rPr lang="en-US" dirty="0"/>
              <a:t>Knowledge of Acquaintance</a:t>
            </a:r>
          </a:p>
          <a:p>
            <a:pPr lvl="1"/>
            <a:r>
              <a:rPr lang="en-US" dirty="0"/>
              <a:t>Overcoming worker isolation</a:t>
            </a:r>
          </a:p>
          <a:p>
            <a:endParaRPr lang="en-US" dirty="0"/>
          </a:p>
        </p:txBody>
      </p:sp>
    </p:spTree>
    <p:extLst>
      <p:ext uri="{BB962C8B-B14F-4D97-AF65-F5344CB8AC3E}">
        <p14:creationId xmlns:p14="http://schemas.microsoft.com/office/powerpoint/2010/main" val="452450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A067F-50C8-4AF4-A5E5-A0DE8CB70BC2}"/>
              </a:ext>
            </a:extLst>
          </p:cNvPr>
          <p:cNvSpPr>
            <a:spLocks noGrp="1"/>
          </p:cNvSpPr>
          <p:nvPr>
            <p:ph type="title"/>
          </p:nvPr>
        </p:nvSpPr>
        <p:spPr/>
        <p:txBody>
          <a:bodyPr/>
          <a:lstStyle/>
          <a:p>
            <a:r>
              <a:rPr lang="en-US" dirty="0"/>
              <a:t>Seventh Reflective Pause</a:t>
            </a:r>
          </a:p>
        </p:txBody>
      </p:sp>
      <p:sp>
        <p:nvSpPr>
          <p:cNvPr id="3" name="Content Placeholder 2">
            <a:extLst>
              <a:ext uri="{FF2B5EF4-FFF2-40B4-BE49-F238E27FC236}">
                <a16:creationId xmlns:a16="http://schemas.microsoft.com/office/drawing/2014/main" id="{10C9AE12-A128-4585-BBA6-9CFBD6C27E4F}"/>
              </a:ext>
            </a:extLst>
          </p:cNvPr>
          <p:cNvSpPr>
            <a:spLocks noGrp="1"/>
          </p:cNvSpPr>
          <p:nvPr>
            <p:ph idx="1"/>
          </p:nvPr>
        </p:nvSpPr>
        <p:spPr/>
        <p:txBody>
          <a:bodyPr/>
          <a:lstStyle/>
          <a:p>
            <a:r>
              <a:rPr lang="en-US" dirty="0"/>
              <a:t>Many of Mayo’s concerns resonate in today’s environment</a:t>
            </a:r>
          </a:p>
          <a:p>
            <a:pPr lvl="1"/>
            <a:r>
              <a:rPr lang="en-US" dirty="0"/>
              <a:t>The opioid crisis</a:t>
            </a:r>
          </a:p>
          <a:p>
            <a:pPr lvl="1"/>
            <a:r>
              <a:rPr lang="en-US" dirty="0"/>
              <a:t>The rise of populism </a:t>
            </a:r>
          </a:p>
          <a:p>
            <a:pPr lvl="2"/>
            <a:r>
              <a:rPr lang="en-US" dirty="0"/>
              <a:t>The Donald</a:t>
            </a:r>
          </a:p>
          <a:p>
            <a:pPr lvl="2"/>
            <a:r>
              <a:rPr lang="en-US" dirty="0"/>
              <a:t>Bernie</a:t>
            </a:r>
          </a:p>
          <a:p>
            <a:r>
              <a:rPr lang="en-US" dirty="0"/>
              <a:t>How would you apply Mayo’s insights to some of these issues? </a:t>
            </a:r>
          </a:p>
          <a:p>
            <a:pPr lvl="1"/>
            <a:endParaRPr lang="en-US" dirty="0"/>
          </a:p>
        </p:txBody>
      </p:sp>
    </p:spTree>
    <p:extLst>
      <p:ext uri="{BB962C8B-B14F-4D97-AF65-F5344CB8AC3E}">
        <p14:creationId xmlns:p14="http://schemas.microsoft.com/office/powerpoint/2010/main" val="1441658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organization as a system of Exchange</a:t>
            </a:r>
          </a:p>
        </p:txBody>
      </p:sp>
      <p:sp>
        <p:nvSpPr>
          <p:cNvPr id="3" name="Content Placeholder 2"/>
          <p:cNvSpPr>
            <a:spLocks noGrp="1"/>
          </p:cNvSpPr>
          <p:nvPr>
            <p:ph idx="1"/>
          </p:nvPr>
        </p:nvSpPr>
        <p:spPr/>
        <p:txBody>
          <a:bodyPr>
            <a:normAutofit fontScale="92500" lnSpcReduction="20000"/>
          </a:bodyPr>
          <a:lstStyle/>
          <a:p>
            <a:r>
              <a:rPr lang="en-US" dirty="0"/>
              <a:t>Chester Barnard’s five characteristics of complex formal organizations</a:t>
            </a:r>
          </a:p>
          <a:p>
            <a:pPr lvl="1"/>
            <a:r>
              <a:rPr lang="en-US" dirty="0"/>
              <a:t>Systems</a:t>
            </a:r>
          </a:p>
          <a:p>
            <a:pPr lvl="1"/>
            <a:r>
              <a:rPr lang="en-US" dirty="0"/>
              <a:t>Depersonalized</a:t>
            </a:r>
          </a:p>
          <a:p>
            <a:pPr lvl="1"/>
            <a:r>
              <a:rPr lang="en-US" dirty="0"/>
              <a:t>Specialized (purpose, process, clientele, place, time, person) </a:t>
            </a:r>
          </a:p>
          <a:p>
            <a:pPr lvl="1"/>
            <a:r>
              <a:rPr lang="en-US" dirty="0"/>
              <a:t>Contain informal organizations</a:t>
            </a:r>
          </a:p>
          <a:p>
            <a:pPr lvl="1"/>
            <a:r>
              <a:rPr lang="en-US" dirty="0"/>
              <a:t>Use an environment-oriented decision process</a:t>
            </a:r>
          </a:p>
          <a:p>
            <a:r>
              <a:rPr lang="en-US" dirty="0"/>
              <a:t>Authority is relational – the acceptance of an order defines authority not its issuance  </a:t>
            </a:r>
          </a:p>
          <a:p>
            <a:pPr lvl="1"/>
            <a:r>
              <a:rPr lang="en-US" dirty="0"/>
              <a:t>Zone of indifference </a:t>
            </a:r>
          </a:p>
        </p:txBody>
      </p:sp>
    </p:spTree>
    <p:extLst>
      <p:ext uri="{BB962C8B-B14F-4D97-AF65-F5344CB8AC3E}">
        <p14:creationId xmlns:p14="http://schemas.microsoft.com/office/powerpoint/2010/main" val="31301176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the Commons</a:t>
            </a:r>
          </a:p>
        </p:txBody>
      </p:sp>
      <p:sp>
        <p:nvSpPr>
          <p:cNvPr id="3" name="Content Placeholder 2"/>
          <p:cNvSpPr>
            <a:spLocks noGrp="1"/>
          </p:cNvSpPr>
          <p:nvPr>
            <p:ph idx="1"/>
          </p:nvPr>
        </p:nvSpPr>
        <p:spPr/>
        <p:txBody>
          <a:bodyPr>
            <a:normAutofit lnSpcReduction="10000"/>
          </a:bodyPr>
          <a:lstStyle/>
          <a:p>
            <a:r>
              <a:rPr lang="en-US" dirty="0"/>
              <a:t>Power Over              Power With</a:t>
            </a:r>
          </a:p>
          <a:p>
            <a:r>
              <a:rPr lang="en-US" dirty="0"/>
              <a:t>Suppression of Conflict           Synthesis through conflict</a:t>
            </a:r>
          </a:p>
          <a:p>
            <a:r>
              <a:rPr lang="en-US" dirty="0"/>
              <a:t>Rational Individualism            Non rational Group Belonging</a:t>
            </a:r>
          </a:p>
          <a:p>
            <a:r>
              <a:rPr lang="en-US" dirty="0"/>
              <a:t>From Isolation   To Neighborhood, City, State, Nation</a:t>
            </a:r>
          </a:p>
          <a:p>
            <a:r>
              <a:rPr lang="en-US" dirty="0"/>
              <a:t>Internal concerns            Recognition of the Environment</a:t>
            </a:r>
          </a:p>
          <a:p>
            <a:endParaRPr lang="en-US" dirty="0"/>
          </a:p>
        </p:txBody>
      </p:sp>
      <p:sp>
        <p:nvSpPr>
          <p:cNvPr id="4" name="Right Arrow 3"/>
          <p:cNvSpPr/>
          <p:nvPr/>
        </p:nvSpPr>
        <p:spPr>
          <a:xfrm>
            <a:off x="2971800" y="1828800"/>
            <a:ext cx="9144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p:cNvSpPr/>
          <p:nvPr/>
        </p:nvSpPr>
        <p:spPr>
          <a:xfrm>
            <a:off x="4800600" y="2362200"/>
            <a:ext cx="7620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4648200" y="3352800"/>
            <a:ext cx="8382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3886200" y="5334000"/>
            <a:ext cx="7620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3276600" y="4343400"/>
            <a:ext cx="3048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ransition advTm="83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1"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ssolve">
                                      <p:cBhvr>
                                        <p:cTn id="15" dur="500"/>
                                        <p:tgtEl>
                                          <p:spTgt spid="3">
                                            <p:txEl>
                                              <p:pRg st="1" end="1"/>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1"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dissolve">
                                      <p:cBhvr>
                                        <p:cTn id="23" dur="500"/>
                                        <p:tgtEl>
                                          <p:spTgt spid="3">
                                            <p:txEl>
                                              <p:pRg st="2" end="2"/>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dissolv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1"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dissolve">
                                      <p:cBhvr>
                                        <p:cTn id="31" dur="500"/>
                                        <p:tgtEl>
                                          <p:spTgt spid="3">
                                            <p:txEl>
                                              <p:pRg st="3" end="3"/>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1"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dissolve">
                                      <p:cBhvr>
                                        <p:cTn id="39" dur="500"/>
                                        <p:tgtEl>
                                          <p:spTgt spid="3">
                                            <p:txEl>
                                              <p:pRg st="4" end="4"/>
                                            </p:txEl>
                                          </p:spTgt>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4" grpId="0" animBg="1"/>
      <p:bldP spid="5" grpId="0" animBg="1"/>
      <p:bldP spid="6" grpId="0" animBg="1"/>
      <p:bldP spid="9" grpId="0" animBg="1"/>
      <p:bldP spid="1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Spatial Challenges to the Commons</a:t>
            </a:r>
          </a:p>
        </p:txBody>
      </p:sp>
      <p:sp>
        <p:nvSpPr>
          <p:cNvPr id="3" name="Content Placeholder 2"/>
          <p:cNvSpPr>
            <a:spLocks noGrp="1"/>
          </p:cNvSpPr>
          <p:nvPr>
            <p:ph idx="1"/>
          </p:nvPr>
        </p:nvSpPr>
        <p:spPr/>
        <p:txBody>
          <a:bodyPr/>
          <a:lstStyle/>
          <a:p>
            <a:r>
              <a:rPr lang="en-US" dirty="0"/>
              <a:t>What are these:</a:t>
            </a:r>
          </a:p>
          <a:p>
            <a:pPr lvl="1"/>
            <a:r>
              <a:rPr lang="en-US" dirty="0"/>
              <a:t># Me Too</a:t>
            </a:r>
          </a:p>
          <a:p>
            <a:pPr lvl="1"/>
            <a:r>
              <a:rPr lang="en-US" dirty="0" err="1"/>
              <a:t>Tahrir</a:t>
            </a:r>
            <a:r>
              <a:rPr lang="en-US" dirty="0"/>
              <a:t> Square</a:t>
            </a:r>
          </a:p>
          <a:p>
            <a:pPr lvl="1"/>
            <a:r>
              <a:rPr lang="en-US" dirty="0"/>
              <a:t>Tiananmen Square</a:t>
            </a:r>
          </a:p>
          <a:p>
            <a:pPr lvl="1"/>
            <a:r>
              <a:rPr lang="en-US" dirty="0"/>
              <a:t>Berlin Wall</a:t>
            </a:r>
          </a:p>
          <a:p>
            <a:pPr lvl="1"/>
            <a:r>
              <a:rPr lang="en-US" dirty="0"/>
              <a:t>Washington Mall </a:t>
            </a:r>
          </a:p>
          <a:p>
            <a:r>
              <a:rPr lang="en-US" dirty="0"/>
              <a:t>What do they have in common?</a:t>
            </a:r>
          </a:p>
        </p:txBody>
      </p:sp>
    </p:spTree>
    <p:custDataLst>
      <p:tags r:id="rId1"/>
    </p:custDataLst>
  </p:cSld>
  <p:clrMapOvr>
    <a:masterClrMapping/>
  </p:clrMapOvr>
  <p:transition advTm="26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Development of Mass Private Property</a:t>
            </a:r>
          </a:p>
        </p:txBody>
      </p:sp>
      <p:pic>
        <p:nvPicPr>
          <p:cNvPr id="88066" name="Picture 2"/>
          <p:cNvPicPr>
            <a:picLocks noGrp="1" noChangeAspect="1" noChangeArrowheads="1"/>
          </p:cNvPicPr>
          <p:nvPr>
            <p:ph idx="1"/>
          </p:nvPr>
        </p:nvPicPr>
        <p:blipFill>
          <a:blip r:embed="rId2" cstate="print"/>
          <a:srcRect/>
          <a:stretch>
            <a:fillRect/>
          </a:stretch>
        </p:blipFill>
        <p:spPr bwMode="auto">
          <a:xfrm>
            <a:off x="1554691" y="1600200"/>
            <a:ext cx="6034617" cy="4525963"/>
          </a:xfrm>
          <a:prstGeom prst="rect">
            <a:avLst/>
          </a:prstGeom>
          <a:noFill/>
          <a:ln w="9525">
            <a:noFill/>
            <a:miter lim="800000"/>
            <a:headEnd/>
            <a:tailEnd/>
          </a:ln>
        </p:spPr>
      </p:pic>
    </p:spTree>
  </p:cSld>
  <p:clrMapOvr>
    <a:masterClrMapping/>
  </p:clrMapOvr>
  <p:transition advTm="4700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Commons has a spatial dimension</a:t>
            </a:r>
          </a:p>
        </p:txBody>
      </p:sp>
      <p:sp>
        <p:nvSpPr>
          <p:cNvPr id="3" name="Content Placeholder 2"/>
          <p:cNvSpPr>
            <a:spLocks noGrp="1"/>
          </p:cNvSpPr>
          <p:nvPr>
            <p:ph idx="1"/>
          </p:nvPr>
        </p:nvSpPr>
        <p:spPr/>
        <p:txBody>
          <a:bodyPr>
            <a:normAutofit lnSpcReduction="10000"/>
          </a:bodyPr>
          <a:lstStyle/>
          <a:p>
            <a:r>
              <a:rPr lang="en-US" dirty="0"/>
              <a:t>It’s place based (either an actual physical space or cyber space)</a:t>
            </a:r>
          </a:p>
          <a:p>
            <a:r>
              <a:rPr lang="en-US" dirty="0"/>
              <a:t>Need to network to develop common understandings</a:t>
            </a:r>
          </a:p>
          <a:p>
            <a:r>
              <a:rPr lang="en-US" dirty="0"/>
              <a:t>The more controlled space is, the less gatherings can occur that can form a commons</a:t>
            </a:r>
          </a:p>
          <a:p>
            <a:r>
              <a:rPr lang="en-US" dirty="0"/>
              <a:t>Third places are social – but are too small to be a commons exercising agency </a:t>
            </a:r>
          </a:p>
        </p:txBody>
      </p:sp>
    </p:spTree>
  </p:cSld>
  <p:clrMapOvr>
    <a:masterClrMapping/>
  </p:clrMapOvr>
  <p:transition advTm="7300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New Office Geography Based on the idea of a commons </a:t>
            </a:r>
          </a:p>
        </p:txBody>
      </p:sp>
      <p:sp>
        <p:nvSpPr>
          <p:cNvPr id="3" name="Content Placeholder 2"/>
          <p:cNvSpPr>
            <a:spLocks noGrp="1"/>
          </p:cNvSpPr>
          <p:nvPr>
            <p:ph idx="1"/>
          </p:nvPr>
        </p:nvSpPr>
        <p:spPr/>
        <p:txBody>
          <a:bodyPr/>
          <a:lstStyle/>
          <a:p>
            <a:r>
              <a:rPr lang="en-US">
                <a:hlinkClick r:id="rId2"/>
              </a:rPr>
              <a:t>https://www.behance.net/gallery/5316591/JWT-NY</a:t>
            </a:r>
            <a:endParaRPr lang="en-US"/>
          </a:p>
        </p:txBody>
      </p:sp>
    </p:spTree>
    <p:extLst>
      <p:ext uri="{BB962C8B-B14F-4D97-AF65-F5344CB8AC3E}">
        <p14:creationId xmlns:p14="http://schemas.microsoft.com/office/powerpoint/2010/main" val="42732051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DAAAB-4A43-4F7E-983B-DC2150B204C6}"/>
              </a:ext>
            </a:extLst>
          </p:cNvPr>
          <p:cNvSpPr>
            <a:spLocks noGrp="1"/>
          </p:cNvSpPr>
          <p:nvPr>
            <p:ph type="title"/>
          </p:nvPr>
        </p:nvSpPr>
        <p:spPr/>
        <p:txBody>
          <a:bodyPr/>
          <a:lstStyle/>
          <a:p>
            <a:r>
              <a:rPr lang="en-US" dirty="0"/>
              <a:t>Eighth Reflective Pause</a:t>
            </a:r>
          </a:p>
        </p:txBody>
      </p:sp>
      <p:sp>
        <p:nvSpPr>
          <p:cNvPr id="3" name="Content Placeholder 2">
            <a:extLst>
              <a:ext uri="{FF2B5EF4-FFF2-40B4-BE49-F238E27FC236}">
                <a16:creationId xmlns:a16="http://schemas.microsoft.com/office/drawing/2014/main" id="{1B15D00F-AD15-452C-8F70-780BBD0810C5}"/>
              </a:ext>
            </a:extLst>
          </p:cNvPr>
          <p:cNvSpPr>
            <a:spLocks noGrp="1"/>
          </p:cNvSpPr>
          <p:nvPr>
            <p:ph idx="1"/>
          </p:nvPr>
        </p:nvSpPr>
        <p:spPr/>
        <p:txBody>
          <a:bodyPr>
            <a:normAutofit fontScale="92500" lnSpcReduction="20000"/>
          </a:bodyPr>
          <a:lstStyle/>
          <a:p>
            <a:r>
              <a:rPr lang="en-US" dirty="0"/>
              <a:t>The notion of a commons – a place where people can gather to develop solutions to complex problems, and exercise political efficacy, flows from the writings of Follet, Mayo and others in the human relations school</a:t>
            </a:r>
          </a:p>
          <a:p>
            <a:r>
              <a:rPr lang="en-US" dirty="0"/>
              <a:t>Third places (Ray Oldenburg) are local gathering spots like coffee houses or taverns, but our not large enough to  foster agency</a:t>
            </a:r>
          </a:p>
          <a:p>
            <a:r>
              <a:rPr lang="en-US" dirty="0"/>
              <a:t>  Do you have experience with a commons, spaces where people gather to form collectives that tackle a significant issue? </a:t>
            </a:r>
          </a:p>
        </p:txBody>
      </p:sp>
    </p:spTree>
    <p:extLst>
      <p:ext uri="{BB962C8B-B14F-4D97-AF65-F5344CB8AC3E}">
        <p14:creationId xmlns:p14="http://schemas.microsoft.com/office/powerpoint/2010/main" val="19603572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Other Challenges to the Commons</a:t>
            </a:r>
          </a:p>
        </p:txBody>
      </p:sp>
      <p:sp>
        <p:nvSpPr>
          <p:cNvPr id="3" name="Content Placeholder 2"/>
          <p:cNvSpPr>
            <a:spLocks noGrp="1"/>
          </p:cNvSpPr>
          <p:nvPr>
            <p:ph idx="1"/>
          </p:nvPr>
        </p:nvSpPr>
        <p:spPr/>
        <p:txBody>
          <a:bodyPr/>
          <a:lstStyle/>
          <a:p>
            <a:r>
              <a:rPr lang="en-US" dirty="0"/>
              <a:t>The curious case of the disappearing fish</a:t>
            </a:r>
          </a:p>
          <a:p>
            <a:pPr lvl="1"/>
            <a:r>
              <a:rPr lang="en-US" dirty="0"/>
              <a:t> the stock of large fish (tuna, cod, marlin and swordfish) has fallen 90% over the last fifty years.</a:t>
            </a:r>
          </a:p>
          <a:p>
            <a:pPr lvl="1"/>
            <a:r>
              <a:rPr lang="en-US" dirty="0"/>
              <a:t>Catches are increasing</a:t>
            </a:r>
          </a:p>
          <a:p>
            <a:pPr lvl="2"/>
            <a:r>
              <a:rPr lang="en-US" dirty="0"/>
              <a:t>Better technology for both locating and harvesting the remaining supply </a:t>
            </a:r>
          </a:p>
          <a:p>
            <a:pPr lvl="2">
              <a:buNone/>
            </a:pPr>
            <a:r>
              <a:rPr lang="en-US" sz="1600" dirty="0"/>
              <a:t>( Ransom A. Myers and Boris Worm, “Rapid Worldwide Depletion of Predatory Fish Communities,” </a:t>
            </a:r>
            <a:r>
              <a:rPr lang="en-US" sz="1600" i="1" dirty="0"/>
              <a:t>Nature </a:t>
            </a:r>
            <a:r>
              <a:rPr lang="en-US" sz="1600" dirty="0"/>
              <a:t>423 (May 15, 2003): 280-283</a:t>
            </a:r>
            <a:r>
              <a:rPr lang="en-US" dirty="0"/>
              <a:t>	</a:t>
            </a:r>
          </a:p>
          <a:p>
            <a:r>
              <a:rPr lang="en-US" dirty="0"/>
              <a:t>But Fish are a renewable resource  </a:t>
            </a:r>
          </a:p>
        </p:txBody>
      </p:sp>
    </p:spTree>
    <p:custDataLst>
      <p:tags r:id="rId1"/>
    </p:custDataLst>
  </p:cSld>
  <p:clrMapOvr>
    <a:masterClrMapping/>
  </p:clrMapOvr>
  <p:transition advTm="47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dissolv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Individuals Acting Rationally Can Produce a Collectively Irrational Outcome</a:t>
            </a:r>
          </a:p>
        </p:txBody>
      </p:sp>
      <p:sp>
        <p:nvSpPr>
          <p:cNvPr id="3" name="Content Placeholder 2"/>
          <p:cNvSpPr>
            <a:spLocks noGrp="1"/>
          </p:cNvSpPr>
          <p:nvPr>
            <p:ph idx="1"/>
          </p:nvPr>
        </p:nvSpPr>
        <p:spPr/>
        <p:txBody>
          <a:bodyPr/>
          <a:lstStyle/>
          <a:p>
            <a:r>
              <a:rPr lang="en-US" dirty="0"/>
              <a:t>Catching the 27-pound female red-snapper pregnant with over 9 million eggs</a:t>
            </a:r>
          </a:p>
          <a:p>
            <a:pPr lvl="1"/>
            <a:r>
              <a:rPr lang="en-US" dirty="0"/>
              <a:t>If you owned or controlled the whole fishery:</a:t>
            </a:r>
          </a:p>
          <a:p>
            <a:pPr lvl="2"/>
            <a:r>
              <a:rPr lang="en-US" dirty="0"/>
              <a:t>For the long-term viability of the resource, throw it back</a:t>
            </a:r>
          </a:p>
          <a:p>
            <a:pPr lvl="1"/>
            <a:r>
              <a:rPr lang="en-US" dirty="0"/>
              <a:t>If the resource is shared in common</a:t>
            </a:r>
          </a:p>
          <a:p>
            <a:pPr lvl="2"/>
            <a:r>
              <a:rPr lang="en-US" dirty="0"/>
              <a:t>It is rational to keep the fish</a:t>
            </a:r>
          </a:p>
          <a:p>
            <a:r>
              <a:rPr lang="en-US" dirty="0"/>
              <a:t>Why these outcomes?</a:t>
            </a:r>
          </a:p>
          <a:p>
            <a:pPr lvl="1">
              <a:buNone/>
            </a:pPr>
            <a:r>
              <a:rPr lang="en-US" sz="1600" dirty="0"/>
              <a:t>(Charles </a:t>
            </a:r>
            <a:r>
              <a:rPr lang="en-US" sz="1600" dirty="0" err="1"/>
              <a:t>Wheelan</a:t>
            </a:r>
            <a:r>
              <a:rPr lang="en-US" sz="1600" dirty="0"/>
              <a:t>, </a:t>
            </a:r>
            <a:r>
              <a:rPr lang="en-US" sz="1600" b="1" dirty="0"/>
              <a:t>Introduction to Public Policy</a:t>
            </a:r>
            <a:r>
              <a:rPr lang="en-US" sz="1600" dirty="0"/>
              <a:t>, Chapter 4)</a:t>
            </a:r>
            <a:r>
              <a:rPr lang="en-US" dirty="0"/>
              <a:t> </a:t>
            </a:r>
          </a:p>
        </p:txBody>
      </p:sp>
      <mc:AlternateContent xmlns:mc="http://schemas.openxmlformats.org/markup-compatibility/2006" xmlns:p14="http://schemas.microsoft.com/office/powerpoint/2010/main">
        <mc:Choice Requires="p14">
          <p:contentPart p14:bwMode="auto" r:id="rId2">
            <p14:nvContentPartPr>
              <p14:cNvPr id="9217" name="Ink 1"/>
              <p14:cNvContentPartPr>
                <a14:cpLocks xmlns:a14="http://schemas.microsoft.com/office/drawing/2010/main" noRot="1" noChangeAspect="1" noEditPoints="1" noChangeArrowheads="1" noChangeShapeType="1"/>
              </p14:cNvContentPartPr>
              <p14:nvPr/>
            </p14:nvContentPartPr>
            <p14:xfrm>
              <a:off x="1179513" y="6750050"/>
              <a:ext cx="20637" cy="15875"/>
            </p14:xfrm>
          </p:contentPart>
        </mc:Choice>
        <mc:Fallback xmlns="">
          <p:pic>
            <p:nvPicPr>
              <p:cNvPr id="9217" name="Ink 1"/>
              <p:cNvPicPr>
                <a:picLocks noRot="1" noChangeAspect="1" noEditPoints="1" noChangeArrowheads="1" noChangeShapeType="1"/>
              </p:cNvPicPr>
              <p:nvPr/>
            </p:nvPicPr>
            <p:blipFill>
              <a:blip r:embed="rId5"/>
              <a:stretch>
                <a:fillRect/>
              </a:stretch>
            </p:blipFill>
            <p:spPr>
              <a:xfrm>
                <a:off x="1169550" y="6742289"/>
                <a:ext cx="33446" cy="33514"/>
              </a:xfrm>
              <a:prstGeom prst="rect">
                <a:avLst/>
              </a:prstGeom>
            </p:spPr>
          </p:pic>
        </mc:Fallback>
      </mc:AlternateContent>
    </p:spTree>
  </p:cSld>
  <p:clrMapOvr>
    <a:masterClrMapping/>
  </p:clrMapOvr>
  <p:transition advTm="5200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Negative Externalities: A cost on society that does not have to be paid by the party generating the externality</a:t>
            </a:r>
          </a:p>
          <a:p>
            <a:pPr lvl="1"/>
            <a:r>
              <a:rPr lang="en-US" dirty="0"/>
              <a:t>The private costs and benefits of some activity are different than the social costs</a:t>
            </a:r>
          </a:p>
          <a:p>
            <a:pPr lvl="1"/>
            <a:r>
              <a:rPr lang="en-US" dirty="0"/>
              <a:t>Making it rational to engage in activity that benefits the few at the expense of the many</a:t>
            </a:r>
          </a:p>
          <a:p>
            <a:pPr lvl="1"/>
            <a:endParaRPr lang="en-US" dirty="0"/>
          </a:p>
        </p:txBody>
      </p:sp>
      <mc:AlternateContent xmlns:mc="http://schemas.openxmlformats.org/markup-compatibility/2006" xmlns:p14="http://schemas.microsoft.com/office/powerpoint/2010/main">
        <mc:Choice Requires="p14">
          <p:contentPart p14:bwMode="auto" r:id="rId2">
            <p14:nvContentPartPr>
              <p14:cNvPr id="48129" name="Ink 1"/>
              <p14:cNvContentPartPr>
                <a14:cpLocks xmlns:a14="http://schemas.microsoft.com/office/drawing/2010/main" noRot="1" noChangeAspect="1" noEditPoints="1" noChangeArrowheads="1" noChangeShapeType="1"/>
              </p14:cNvContentPartPr>
              <p14:nvPr/>
            </p14:nvContentPartPr>
            <p14:xfrm>
              <a:off x="1135063" y="6707188"/>
              <a:ext cx="76200" cy="100012"/>
            </p14:xfrm>
          </p:contentPart>
        </mc:Choice>
        <mc:Fallback xmlns="">
          <p:pic>
            <p:nvPicPr>
              <p:cNvPr id="48129" name="Ink 1"/>
              <p:cNvPicPr>
                <a:picLocks noRot="1" noChangeAspect="1" noEditPoints="1" noChangeArrowheads="1" noChangeShapeType="1"/>
              </p:cNvPicPr>
              <p:nvPr/>
            </p:nvPicPr>
            <p:blipFill>
              <a:blip r:embed="rId5"/>
              <a:stretch>
                <a:fillRect/>
              </a:stretch>
            </p:blipFill>
            <p:spPr>
              <a:xfrm>
                <a:off x="1123561" y="6696356"/>
                <a:ext cx="96328" cy="121675"/>
              </a:xfrm>
              <a:prstGeom prst="rect">
                <a:avLst/>
              </a:prstGeom>
            </p:spPr>
          </p:pic>
        </mc:Fallback>
      </mc:AlternateContent>
    </p:spTree>
  </p:cSld>
  <p:clrMapOvr>
    <a:masterClrMapping/>
  </p:clrMapOvr>
  <p:transition advTm="4500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Problem of Property Rights and the Commons </a:t>
            </a:r>
          </a:p>
        </p:txBody>
      </p:sp>
      <p:sp>
        <p:nvSpPr>
          <p:cNvPr id="3" name="Content Placeholder 2"/>
          <p:cNvSpPr>
            <a:spLocks noGrp="1"/>
          </p:cNvSpPr>
          <p:nvPr>
            <p:ph idx="1"/>
          </p:nvPr>
        </p:nvSpPr>
        <p:spPr/>
        <p:txBody>
          <a:bodyPr>
            <a:normAutofit lnSpcReduction="10000"/>
          </a:bodyPr>
          <a:lstStyle/>
          <a:p>
            <a:r>
              <a:rPr lang="en-US" dirty="0"/>
              <a:t>A property right is a legal right to exercise control over some resource</a:t>
            </a:r>
          </a:p>
          <a:p>
            <a:r>
              <a:rPr lang="en-US" dirty="0"/>
              <a:t>But with a shared resource, property rights are ambiguous, undefined and difficult to enforce</a:t>
            </a:r>
          </a:p>
          <a:p>
            <a:r>
              <a:rPr lang="en-US" dirty="0"/>
              <a:t>Transaction costs will affect the ability to manage the commons </a:t>
            </a:r>
          </a:p>
          <a:p>
            <a:r>
              <a:rPr lang="en-US" dirty="0"/>
              <a:t>As the commons gets more complex, transaction costs increase – the free rider!  </a:t>
            </a:r>
          </a:p>
        </p:txBody>
      </p:sp>
      <mc:AlternateContent xmlns:mc="http://schemas.openxmlformats.org/markup-compatibility/2006" xmlns:p14="http://schemas.microsoft.com/office/powerpoint/2010/main">
        <mc:Choice Requires="p14">
          <p:contentPart p14:bwMode="auto" r:id="rId2">
            <p14:nvContentPartPr>
              <p14:cNvPr id="7169" name="Ink 1"/>
              <p14:cNvContentPartPr>
                <a14:cpLocks xmlns:a14="http://schemas.microsoft.com/office/drawing/2010/main" noRot="1" noChangeAspect="1" noEditPoints="1" noChangeArrowheads="1" noChangeShapeType="1"/>
              </p14:cNvContentPartPr>
              <p14:nvPr/>
            </p14:nvContentPartPr>
            <p14:xfrm>
              <a:off x="1169988" y="6738938"/>
              <a:ext cx="41275" cy="55562"/>
            </p14:xfrm>
          </p:contentPart>
        </mc:Choice>
        <mc:Fallback xmlns="">
          <p:pic>
            <p:nvPicPr>
              <p:cNvPr id="7169" name="Ink 1"/>
              <p:cNvPicPr>
                <a:picLocks noRot="1" noChangeAspect="1" noEditPoints="1" noChangeArrowheads="1" noChangeShapeType="1"/>
              </p:cNvPicPr>
              <p:nvPr/>
            </p:nvPicPr>
            <p:blipFill>
              <a:blip r:embed="rId5"/>
              <a:stretch>
                <a:fillRect/>
              </a:stretch>
            </p:blipFill>
            <p:spPr>
              <a:xfrm>
                <a:off x="1160297" y="6730279"/>
                <a:ext cx="53837" cy="75045"/>
              </a:xfrm>
              <a:prstGeom prst="rect">
                <a:avLst/>
              </a:prstGeom>
            </p:spPr>
          </p:pic>
        </mc:Fallback>
      </mc:AlternateContent>
    </p:spTree>
  </p:cSld>
  <p:clrMapOvr>
    <a:masterClrMapping/>
  </p:clrMapOvr>
  <p:transition advTm="9500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E1D8D-2FD7-4F3D-BFF2-1AA75EFA9A09}"/>
              </a:ext>
            </a:extLst>
          </p:cNvPr>
          <p:cNvSpPr>
            <a:spLocks noGrp="1"/>
          </p:cNvSpPr>
          <p:nvPr>
            <p:ph type="title"/>
          </p:nvPr>
        </p:nvSpPr>
        <p:spPr/>
        <p:txBody>
          <a:bodyPr/>
          <a:lstStyle/>
          <a:p>
            <a:r>
              <a:rPr lang="en-US" dirty="0"/>
              <a:t>Final Reflective Pause</a:t>
            </a:r>
          </a:p>
        </p:txBody>
      </p:sp>
      <p:sp>
        <p:nvSpPr>
          <p:cNvPr id="3" name="Content Placeholder 2">
            <a:extLst>
              <a:ext uri="{FF2B5EF4-FFF2-40B4-BE49-F238E27FC236}">
                <a16:creationId xmlns:a16="http://schemas.microsoft.com/office/drawing/2014/main" id="{B71FDEC9-D2D2-428E-858A-626C85362F34}"/>
              </a:ext>
            </a:extLst>
          </p:cNvPr>
          <p:cNvSpPr>
            <a:spLocks noGrp="1"/>
          </p:cNvSpPr>
          <p:nvPr>
            <p:ph idx="1"/>
          </p:nvPr>
        </p:nvSpPr>
        <p:spPr/>
        <p:txBody>
          <a:bodyPr>
            <a:normAutofit fontScale="92500"/>
          </a:bodyPr>
          <a:lstStyle/>
          <a:p>
            <a:r>
              <a:rPr lang="en-US" dirty="0"/>
              <a:t>Many of our current organizational/political problems can be framed as managing a commons</a:t>
            </a:r>
          </a:p>
          <a:p>
            <a:pPr lvl="1"/>
            <a:r>
              <a:rPr lang="en-US" dirty="0"/>
              <a:t>Climate change</a:t>
            </a:r>
          </a:p>
          <a:p>
            <a:pPr lvl="1"/>
            <a:r>
              <a:rPr lang="en-US" dirty="0"/>
              <a:t>Cyber space</a:t>
            </a:r>
          </a:p>
          <a:p>
            <a:pPr lvl="1"/>
            <a:r>
              <a:rPr lang="en-US" dirty="0"/>
              <a:t>Spatial inequalities in education, health care, community safety</a:t>
            </a:r>
          </a:p>
          <a:p>
            <a:pPr lvl="1"/>
            <a:r>
              <a:rPr lang="en-US" dirty="0"/>
              <a:t>Urban Sprawl</a:t>
            </a:r>
          </a:p>
          <a:p>
            <a:r>
              <a:rPr lang="en-US" dirty="0"/>
              <a:t>What does the human relations school suggest as ways to deal with the challenges of a commons? </a:t>
            </a:r>
          </a:p>
        </p:txBody>
      </p:sp>
    </p:spTree>
    <p:extLst>
      <p:ext uri="{BB962C8B-B14F-4D97-AF65-F5344CB8AC3E}">
        <p14:creationId xmlns:p14="http://schemas.microsoft.com/office/powerpoint/2010/main" val="2170305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6|10.1|21.4|14.8|6.3"/>
</p:tagLst>
</file>

<file path=ppt/tags/tag2.xml><?xml version="1.0" encoding="utf-8"?>
<p:tagLst xmlns:a="http://schemas.openxmlformats.org/drawingml/2006/main" xmlns:r="http://schemas.openxmlformats.org/officeDocument/2006/relationships" xmlns:p="http://schemas.openxmlformats.org/presentationml/2006/main">
  <p:tag name="TIMING" val="|6.4|1.8|2.1|1.8|1.7|5.3"/>
</p:tagLst>
</file>

<file path=ppt/tags/tag3.xml><?xml version="1.0" encoding="utf-8"?>
<p:tagLst xmlns:a="http://schemas.openxmlformats.org/drawingml/2006/main" xmlns:r="http://schemas.openxmlformats.org/officeDocument/2006/relationships" xmlns:p="http://schemas.openxmlformats.org/presentationml/2006/main">
  <p:tag name="TIMING" val="|8.1|9.2|6.2|7.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715</TotalTime>
  <Words>2587</Words>
  <Application>Microsoft Office PowerPoint</Application>
  <PresentationFormat>On-screen Show (4:3)</PresentationFormat>
  <Paragraphs>325</Paragraphs>
  <Slides>52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The Revolution Begins</vt:lpstr>
      <vt:lpstr>PowerPoint Presentation</vt:lpstr>
      <vt:lpstr>The Hawthorne Studies</vt:lpstr>
      <vt:lpstr>Fritz Roethlisberger takes over the story</vt:lpstr>
      <vt:lpstr>First Reflective Pause</vt:lpstr>
      <vt:lpstr>A new research approach</vt:lpstr>
      <vt:lpstr>Not an easy transition from expert to learner</vt:lpstr>
      <vt:lpstr>Second Reflective Pause</vt:lpstr>
      <vt:lpstr>PowerPoint Presentation</vt:lpstr>
      <vt:lpstr>PowerPoint Presentation</vt:lpstr>
      <vt:lpstr>Human Relations School</vt:lpstr>
      <vt:lpstr>Third Reflective Pause </vt:lpstr>
      <vt:lpstr>But giving up old ways is hard!</vt:lpstr>
      <vt:lpstr>What is the dominant form of organization you are familiar with?</vt:lpstr>
      <vt:lpstr>Four major organizational snafus in the News this semester </vt:lpstr>
      <vt:lpstr>Fourth Reflective Pause</vt:lpstr>
      <vt:lpstr>The Human Relations School in a Nutshell</vt:lpstr>
      <vt:lpstr>PowerPoint Presentation</vt:lpstr>
      <vt:lpstr>Douglas McGregor</vt:lpstr>
      <vt:lpstr>Theory Z</vt:lpstr>
      <vt:lpstr>Elements of Theory Z (Roborto Colon,  http://www.stfrancis.edu) “A” organizations and “J” organizations</vt:lpstr>
      <vt:lpstr>Fifth Reflective Pause</vt:lpstr>
      <vt:lpstr>Discussion of X,Y,Z</vt:lpstr>
      <vt:lpstr>Herzberg Two Factor Theory</vt:lpstr>
      <vt:lpstr>Key Points</vt:lpstr>
      <vt:lpstr>PowerPoint Presentation</vt:lpstr>
      <vt:lpstr>Content Theories of the Human Relations School (Because they relate to the contents of the job)</vt:lpstr>
      <vt:lpstr>Changing Views of Leadership</vt:lpstr>
      <vt:lpstr>Hegel and George Herbert Mead  </vt:lpstr>
      <vt:lpstr>Sixth Reflective Pause</vt:lpstr>
      <vt:lpstr>The emerging mind</vt:lpstr>
      <vt:lpstr>PowerPoint Presentation</vt:lpstr>
      <vt:lpstr>PowerPoint Presentation</vt:lpstr>
      <vt:lpstr>PowerPoint Presentation</vt:lpstr>
      <vt:lpstr>The Play Stage and the Game Stage</vt:lpstr>
      <vt:lpstr>PowerPoint Presentation</vt:lpstr>
      <vt:lpstr>Tying the Past and the Present</vt:lpstr>
      <vt:lpstr>Mayo in a “nut-” shell</vt:lpstr>
      <vt:lpstr>PowerPoint Presentation</vt:lpstr>
      <vt:lpstr>Seventh Reflective Pause</vt:lpstr>
      <vt:lpstr>The organization as a system of Exchange</vt:lpstr>
      <vt:lpstr>Creating the Commons</vt:lpstr>
      <vt:lpstr>Spatial Challenges to the Commons</vt:lpstr>
      <vt:lpstr>The Development of Mass Private Property</vt:lpstr>
      <vt:lpstr>The Commons has a spatial dimension</vt:lpstr>
      <vt:lpstr>The New Office Geography Based on the idea of a commons </vt:lpstr>
      <vt:lpstr>Eighth Reflective Pause</vt:lpstr>
      <vt:lpstr> Other Challenges to the Commons</vt:lpstr>
      <vt:lpstr>Individuals Acting Rationally Can Produce a Collectively Irrational Outcome</vt:lpstr>
      <vt:lpstr>PowerPoint Presentation</vt:lpstr>
      <vt:lpstr>The Problem of Property Rights and the Commons </vt:lpstr>
      <vt:lpstr>Final Reflective Pause</vt:lpstr>
    </vt:vector>
  </TitlesOfParts>
  <Company>Saint Louis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Revolution Begins</dc:title>
  <dc:creator>gilsinanjf</dc:creator>
  <cp:lastModifiedBy>James Gislsinan</cp:lastModifiedBy>
  <cp:revision>57</cp:revision>
  <cp:lastPrinted>2014-10-06T18:50:35Z</cp:lastPrinted>
  <dcterms:created xsi:type="dcterms:W3CDTF">2011-10-03T14:11:11Z</dcterms:created>
  <dcterms:modified xsi:type="dcterms:W3CDTF">2020-02-23T14:35:59Z</dcterms:modified>
</cp:coreProperties>
</file>