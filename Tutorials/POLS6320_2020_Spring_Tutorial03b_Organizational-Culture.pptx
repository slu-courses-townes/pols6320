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ink/ink1.xml" ContentType="application/inkml+xml"/>
  <Override PartName="/ppt/tags/tag2.xml" ContentType="application/vnd.openxmlformats-officedocument.presentationml.tags+xml"/>
  <Override PartName="/ppt/ink/ink2.xml" ContentType="application/inkml+xml"/>
  <Override PartName="/ppt/ink/ink3.xml" ContentType="application/inkml+xml"/>
  <Override PartName="/ppt/tags/tag3.xml" ContentType="application/vnd.openxmlformats-officedocument.presentationml.tags+xml"/>
  <Override PartName="/ppt/notesSlides/notesSlide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tags/tag4.xml" ContentType="application/vnd.openxmlformats-officedocument.presentationml.tags+xml"/>
  <Override PartName="/ppt/ink/ink7.xml" ContentType="application/inkml+xml"/>
  <Override PartName="/ppt/tags/tag5.xml" ContentType="application/vnd.openxmlformats-officedocument.presentationml.tags+xml"/>
  <Override PartName="/ppt/notesSlides/notesSlide2.xml" ContentType="application/vnd.openxmlformats-officedocument.presentationml.notesSlide+xml"/>
  <Override PartName="/ppt/ink/ink8.xml" ContentType="application/inkml+xml"/>
  <Override PartName="/ppt/ink/ink9.xml" ContentType="application/inkml+xml"/>
  <Override PartName="/ppt/tags/tag6.xml" ContentType="application/vnd.openxmlformats-officedocument.presentationml.tags+xml"/>
  <Override PartName="/ppt/ink/ink10.xml" ContentType="application/inkml+xml"/>
  <Override PartName="/ppt/ink/ink11.xml" ContentType="application/inkml+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tags/tag10.xml" ContentType="application/vnd.openxmlformats-officedocument.presentationml.tags+xml"/>
  <Override PartName="/ppt/ink/ink18.xml" ContentType="application/inkml+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6" r:id="rId2"/>
    <p:sldId id="257" r:id="rId3"/>
    <p:sldId id="305" r:id="rId4"/>
    <p:sldId id="258" r:id="rId5"/>
    <p:sldId id="259" r:id="rId6"/>
    <p:sldId id="260" r:id="rId7"/>
    <p:sldId id="306" r:id="rId8"/>
    <p:sldId id="292" r:id="rId9"/>
    <p:sldId id="261" r:id="rId10"/>
    <p:sldId id="262" r:id="rId11"/>
    <p:sldId id="263" r:id="rId12"/>
    <p:sldId id="307" r:id="rId13"/>
    <p:sldId id="264" r:id="rId14"/>
    <p:sldId id="308" r:id="rId15"/>
    <p:sldId id="265" r:id="rId16"/>
    <p:sldId id="266" r:id="rId17"/>
    <p:sldId id="309" r:id="rId18"/>
    <p:sldId id="301" r:id="rId19"/>
    <p:sldId id="310"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94" r:id="rId38"/>
    <p:sldId id="295" r:id="rId39"/>
    <p:sldId id="296" r:id="rId40"/>
    <p:sldId id="311" r:id="rId41"/>
    <p:sldId id="297" r:id="rId42"/>
    <p:sldId id="298" r:id="rId43"/>
    <p:sldId id="299" r:id="rId44"/>
    <p:sldId id="300" r:id="rId45"/>
    <p:sldId id="302" r:id="rId46"/>
    <p:sldId id="303" r:id="rId47"/>
    <p:sldId id="304" r:id="rId48"/>
    <p:sldId id="285" r:id="rId49"/>
    <p:sldId id="286" r:id="rId50"/>
    <p:sldId id="287" r:id="rId51"/>
    <p:sldId id="288" r:id="rId52"/>
    <p:sldId id="289" r:id="rId53"/>
    <p:sldId id="290" r:id="rId54"/>
    <p:sldId id="291" r:id="rId55"/>
    <p:sldId id="312" r:id="rId56"/>
    <p:sldId id="293" r:id="rId5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38473A-CB95-4AF9-87B5-9F9F35C7CC2C}" v="2" dt="2020-02-22T20:22:08.8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555" y="4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4032091474676776"/>
          <c:y val="0.13279671088782719"/>
          <c:w val="0.43167310683386884"/>
          <c:h val="0.78491516612044776"/>
        </c:manualLayout>
      </c:layout>
      <c:radarChart>
        <c:radarStyle val="marker"/>
        <c:varyColors val="0"/>
        <c:dLbls>
          <c:showLegendKey val="0"/>
          <c:showVal val="0"/>
          <c:showCatName val="0"/>
          <c:showSerName val="0"/>
          <c:showPercent val="0"/>
          <c:showBubbleSize val="0"/>
        </c:dLbls>
        <c:axId val="114943104"/>
        <c:axId val="114944640"/>
      </c:radarChart>
      <c:catAx>
        <c:axId val="114943104"/>
        <c:scaling>
          <c:orientation val="minMax"/>
        </c:scaling>
        <c:delete val="0"/>
        <c:axPos val="b"/>
        <c:majorGridlines/>
        <c:numFmt formatCode="m/d/yyyy" sourceLinked="1"/>
        <c:majorTickMark val="out"/>
        <c:minorTickMark val="none"/>
        <c:tickLblPos val="nextTo"/>
        <c:crossAx val="114944640"/>
        <c:crosses val="autoZero"/>
        <c:auto val="1"/>
        <c:lblAlgn val="ctr"/>
        <c:lblOffset val="100"/>
        <c:noMultiLvlLbl val="0"/>
      </c:catAx>
      <c:valAx>
        <c:axId val="114944640"/>
        <c:scaling>
          <c:orientation val="minMax"/>
        </c:scaling>
        <c:delete val="0"/>
        <c:axPos val="l"/>
        <c:majorGridlines/>
        <c:numFmt formatCode="General" sourceLinked="1"/>
        <c:majorTickMark val="cross"/>
        <c:minorTickMark val="none"/>
        <c:tickLblPos val="nextTo"/>
        <c:crossAx val="114943104"/>
        <c:crosses val="autoZero"/>
        <c:crossBetween val="between"/>
      </c:valAx>
    </c:plotArea>
    <c:legend>
      <c:legendPos val="r"/>
      <c:overlay val="0"/>
    </c:legend>
    <c:plotVisOnly val="1"/>
    <c:dispBlanksAs val="gap"/>
    <c:showDLblsOverMax val="0"/>
  </c:chart>
  <c:spPr>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c:spPr>
  <c:txPr>
    <a:bodyPr/>
    <a:lstStyle/>
    <a:p>
      <a:pPr>
        <a:defRPr>
          <a:solidFill>
            <a:schemeClr val="dk1"/>
          </a:solidFill>
          <a:latin typeface="+mn-lt"/>
          <a:ea typeface="+mn-ea"/>
          <a:cs typeface="+mn-cs"/>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0.30556</cdr:x>
      <cdr:y>0.38723</cdr:y>
    </cdr:from>
    <cdr:to>
      <cdr:x>0.63889</cdr:x>
      <cdr:y>0.40407</cdr:y>
    </cdr:to>
    <cdr:sp macro="" textlink="">
      <cdr:nvSpPr>
        <cdr:cNvPr id="2" name="TextBox 1"/>
        <cdr:cNvSpPr txBox="1"/>
      </cdr:nvSpPr>
      <cdr:spPr>
        <a:xfrm xmlns:a="http://schemas.openxmlformats.org/drawingml/2006/main">
          <a:off x="2514600" y="1752600"/>
          <a:ext cx="2743200" cy="76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0.27778</cdr:x>
      <cdr:y>0.40407</cdr:y>
    </cdr:from>
    <cdr:to>
      <cdr:x>0.66667</cdr:x>
      <cdr:y>0.40407</cdr:y>
    </cdr:to>
    <cdr:sp macro="" textlink="">
      <cdr:nvSpPr>
        <cdr:cNvPr id="4" name="Straight Connector 3"/>
        <cdr:cNvSpPr/>
      </cdr:nvSpPr>
      <cdr:spPr>
        <a:xfrm xmlns:a="http://schemas.openxmlformats.org/drawingml/2006/main">
          <a:off x="2286000" y="1828800"/>
          <a:ext cx="3200400"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0.30556</cdr:x>
      <cdr:y>0.10102</cdr:y>
    </cdr:from>
    <cdr:to>
      <cdr:x>0.66667</cdr:x>
      <cdr:y>0.74079</cdr:y>
    </cdr:to>
    <cdr:sp macro="" textlink="">
      <cdr:nvSpPr>
        <cdr:cNvPr id="7" name="Straight Connector 6"/>
        <cdr:cNvSpPr/>
      </cdr:nvSpPr>
      <cdr:spPr>
        <a:xfrm xmlns:a="http://schemas.openxmlformats.org/drawingml/2006/main">
          <a:off x="2514600" y="457200"/>
          <a:ext cx="2971800" cy="28956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0.26852</cdr:x>
      <cdr:y>0</cdr:y>
    </cdr:from>
    <cdr:to>
      <cdr:x>0.68519</cdr:x>
      <cdr:y>0.77447</cdr:y>
    </cdr:to>
    <cdr:sp macro="" textlink="">
      <cdr:nvSpPr>
        <cdr:cNvPr id="9" name="Straight Connector 8"/>
        <cdr:cNvSpPr/>
      </cdr:nvSpPr>
      <cdr:spPr>
        <a:xfrm xmlns:a="http://schemas.openxmlformats.org/drawingml/2006/main" rot="5400000" flipH="1" flipV="1">
          <a:off x="2171700" y="38100"/>
          <a:ext cx="3505200" cy="34290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0.23148</cdr:x>
      <cdr:y>0.08418</cdr:y>
    </cdr:from>
    <cdr:to>
      <cdr:x>0.34259</cdr:x>
      <cdr:y>0.28622</cdr:y>
    </cdr:to>
    <cdr:sp macro="" textlink="">
      <cdr:nvSpPr>
        <cdr:cNvPr id="10" name="TextBox 9"/>
        <cdr:cNvSpPr txBox="1"/>
      </cdr:nvSpPr>
      <cdr:spPr>
        <a:xfrm xmlns:a="http://schemas.openxmlformats.org/drawingml/2006/main">
          <a:off x="1905000" y="3810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Mentor</a:t>
          </a:r>
        </a:p>
      </cdr:txBody>
    </cdr:sp>
  </cdr:relSizeAnchor>
  <cdr:relSizeAnchor xmlns:cdr="http://schemas.openxmlformats.org/drawingml/2006/chartDrawing">
    <cdr:from>
      <cdr:x>0.66667</cdr:x>
      <cdr:y>0.75763</cdr:y>
    </cdr:from>
    <cdr:to>
      <cdr:x>0.77778</cdr:x>
      <cdr:y>0.95966</cdr:y>
    </cdr:to>
    <cdr:sp macro="" textlink="">
      <cdr:nvSpPr>
        <cdr:cNvPr id="11" name="TextBox 10"/>
        <cdr:cNvSpPr txBox="1"/>
      </cdr:nvSpPr>
      <cdr:spPr>
        <a:xfrm xmlns:a="http://schemas.openxmlformats.org/drawingml/2006/main">
          <a:off x="5486400" y="34290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Director</a:t>
          </a:r>
        </a:p>
      </cdr:txBody>
    </cdr:sp>
  </cdr:relSizeAnchor>
  <cdr:relSizeAnchor xmlns:cdr="http://schemas.openxmlformats.org/drawingml/2006/chartDrawing">
    <cdr:from>
      <cdr:x>0.22222</cdr:x>
      <cdr:y>0.79797</cdr:y>
    </cdr:from>
    <cdr:to>
      <cdr:x>0.33333</cdr:x>
      <cdr:y>1</cdr:y>
    </cdr:to>
    <cdr:sp macro="" textlink="">
      <cdr:nvSpPr>
        <cdr:cNvPr id="12" name="TextBox 11"/>
        <cdr:cNvSpPr txBox="1"/>
      </cdr:nvSpPr>
      <cdr:spPr>
        <a:xfrm xmlns:a="http://schemas.openxmlformats.org/drawingml/2006/main">
          <a:off x="1828800" y="37338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0.24074</cdr:x>
      <cdr:y>0.72396</cdr:y>
    </cdr:from>
    <cdr:to>
      <cdr:x>0.35185</cdr:x>
      <cdr:y>0.92599</cdr:y>
    </cdr:to>
    <cdr:sp macro="" textlink="">
      <cdr:nvSpPr>
        <cdr:cNvPr id="13" name="TextBox 12"/>
        <cdr:cNvSpPr txBox="1"/>
      </cdr:nvSpPr>
      <cdr:spPr>
        <a:xfrm xmlns:a="http://schemas.openxmlformats.org/drawingml/2006/main">
          <a:off x="1981200" y="32766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0.62963</cdr:x>
      <cdr:y>0</cdr:y>
    </cdr:from>
    <cdr:to>
      <cdr:x>0.74074</cdr:x>
      <cdr:y>0.20203</cdr:y>
    </cdr:to>
    <cdr:sp macro="" textlink="">
      <cdr:nvSpPr>
        <cdr:cNvPr id="14" name="TextBox 13"/>
        <cdr:cNvSpPr txBox="1"/>
      </cdr:nvSpPr>
      <cdr:spPr>
        <a:xfrm xmlns:a="http://schemas.openxmlformats.org/drawingml/2006/main">
          <a:off x="5181600" y="-1524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Innovator</a:t>
          </a:r>
        </a:p>
      </cdr:txBody>
    </cdr:sp>
  </cdr:relSizeAnchor>
  <cdr:relSizeAnchor xmlns:cdr="http://schemas.openxmlformats.org/drawingml/2006/chartDrawing">
    <cdr:from>
      <cdr:x>0.24074</cdr:x>
      <cdr:y>0.74079</cdr:y>
    </cdr:from>
    <cdr:to>
      <cdr:x>0.38889</cdr:x>
      <cdr:y>1</cdr:y>
    </cdr:to>
    <cdr:sp macro="" textlink="">
      <cdr:nvSpPr>
        <cdr:cNvPr id="15" name="TextBox 14"/>
        <cdr:cNvSpPr txBox="1"/>
      </cdr:nvSpPr>
      <cdr:spPr>
        <a:xfrm xmlns:a="http://schemas.openxmlformats.org/drawingml/2006/main">
          <a:off x="1981200" y="3352800"/>
          <a:ext cx="1219200" cy="1173163"/>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Coordinator</a:t>
          </a:r>
        </a:p>
      </cdr:txBody>
    </cdr:sp>
  </cdr:relSizeAnchor>
  <cdr:relSizeAnchor xmlns:cdr="http://schemas.openxmlformats.org/drawingml/2006/chartDrawing">
    <cdr:from>
      <cdr:x>0.25926</cdr:x>
      <cdr:y>0.21887</cdr:y>
    </cdr:from>
    <cdr:to>
      <cdr:x>0.74074</cdr:x>
      <cdr:y>0.62294</cdr:y>
    </cdr:to>
    <cdr:sp macro="" textlink="">
      <cdr:nvSpPr>
        <cdr:cNvPr id="17" name="Straight Connector 16"/>
        <cdr:cNvSpPr/>
      </cdr:nvSpPr>
      <cdr:spPr>
        <a:xfrm xmlns:a="http://schemas.openxmlformats.org/drawingml/2006/main">
          <a:off x="2133600" y="990600"/>
          <a:ext cx="3962400" cy="182880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dr:relSizeAnchor xmlns:cdr="http://schemas.openxmlformats.org/drawingml/2006/chartDrawing">
    <cdr:from>
      <cdr:x>0.17593</cdr:x>
      <cdr:y>0.20203</cdr:y>
    </cdr:from>
    <cdr:to>
      <cdr:x>0.28704</cdr:x>
      <cdr:y>0.40407</cdr:y>
    </cdr:to>
    <cdr:sp macro="" textlink="">
      <cdr:nvSpPr>
        <cdr:cNvPr id="18" name="TextBox 17"/>
        <cdr:cNvSpPr txBox="1"/>
      </cdr:nvSpPr>
      <cdr:spPr>
        <a:xfrm xmlns:a="http://schemas.openxmlformats.org/drawingml/2006/main">
          <a:off x="1447800" y="9144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Facilitator</a:t>
          </a:r>
        </a:p>
      </cdr:txBody>
    </cdr:sp>
  </cdr:relSizeAnchor>
  <cdr:relSizeAnchor xmlns:cdr="http://schemas.openxmlformats.org/drawingml/2006/chartDrawing">
    <cdr:from>
      <cdr:x>0.74074</cdr:x>
      <cdr:y>0.63978</cdr:y>
    </cdr:from>
    <cdr:to>
      <cdr:x>0.85185</cdr:x>
      <cdr:y>0.84181</cdr:y>
    </cdr:to>
    <cdr:sp macro="" textlink="">
      <cdr:nvSpPr>
        <cdr:cNvPr id="20" name="TextBox 19"/>
        <cdr:cNvSpPr txBox="1"/>
      </cdr:nvSpPr>
      <cdr:spPr>
        <a:xfrm xmlns:a="http://schemas.openxmlformats.org/drawingml/2006/main">
          <a:off x="6096000" y="28956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Producer</a:t>
          </a:r>
        </a:p>
      </cdr:txBody>
    </cdr:sp>
  </cdr:relSizeAnchor>
  <cdr:relSizeAnchor xmlns:cdr="http://schemas.openxmlformats.org/drawingml/2006/chartDrawing">
    <cdr:from>
      <cdr:x>0.16667</cdr:x>
      <cdr:y>0.63978</cdr:y>
    </cdr:from>
    <cdr:to>
      <cdr:x>0.30556</cdr:x>
      <cdr:y>0.84181</cdr:y>
    </cdr:to>
    <cdr:sp macro="" textlink="">
      <cdr:nvSpPr>
        <cdr:cNvPr id="21" name="TextBox 20"/>
        <cdr:cNvSpPr txBox="1"/>
      </cdr:nvSpPr>
      <cdr:spPr>
        <a:xfrm xmlns:a="http://schemas.openxmlformats.org/drawingml/2006/main">
          <a:off x="1371600" y="2895600"/>
          <a:ext cx="11430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0.16667</cdr:x>
      <cdr:y>0.6061</cdr:y>
    </cdr:from>
    <cdr:to>
      <cdr:x>0.27778</cdr:x>
      <cdr:y>0.80814</cdr:y>
    </cdr:to>
    <cdr:sp macro="" textlink="">
      <cdr:nvSpPr>
        <cdr:cNvPr id="22" name="TextBox 21"/>
        <cdr:cNvSpPr txBox="1"/>
      </cdr:nvSpPr>
      <cdr:spPr>
        <a:xfrm xmlns:a="http://schemas.openxmlformats.org/drawingml/2006/main">
          <a:off x="1371600" y="27432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Monitor</a:t>
          </a:r>
        </a:p>
      </cdr:txBody>
    </cdr:sp>
  </cdr:relSizeAnchor>
  <cdr:relSizeAnchor xmlns:cdr="http://schemas.openxmlformats.org/drawingml/2006/chartDrawing">
    <cdr:from>
      <cdr:x>0.76852</cdr:x>
      <cdr:y>0.15153</cdr:y>
    </cdr:from>
    <cdr:to>
      <cdr:x>0.87963</cdr:x>
      <cdr:y>0.35356</cdr:y>
    </cdr:to>
    <cdr:sp macro="" textlink="">
      <cdr:nvSpPr>
        <cdr:cNvPr id="23" name="TextBox 22"/>
        <cdr:cNvSpPr txBox="1"/>
      </cdr:nvSpPr>
      <cdr:spPr>
        <a:xfrm xmlns:a="http://schemas.openxmlformats.org/drawingml/2006/main">
          <a:off x="6324600" y="6858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Broker</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88830A07-04A8-4E2A-BFED-6F8EA0CB2FDA}" type="datetimeFigureOut">
              <a:rPr lang="en-US" smtClean="0"/>
              <a:t>2/23/2020</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AEFD564E-DD4C-4923-A61C-7558EE82A738}" type="slidenum">
              <a:rPr lang="en-US" smtClean="0"/>
              <a:t>‹#›</a:t>
            </a:fld>
            <a:endParaRPr lang="en-US"/>
          </a:p>
        </p:txBody>
      </p:sp>
    </p:spTree>
    <p:extLst>
      <p:ext uri="{BB962C8B-B14F-4D97-AF65-F5344CB8AC3E}">
        <p14:creationId xmlns:p14="http://schemas.microsoft.com/office/powerpoint/2010/main" val="409932520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2:12:32.51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1809 3916 46,'0'0'34,"-21"-25"2,12 9-3,-3-2-31,9 6-2,3 12 0,13-15 0,-13 15-3,22-9-3,-22 9-4,23-2-15,-11 4-9,-12-2 1,17-3 0</inkml:trace>
  <inkml:trace contextRef="#ctx0" brushRef="#br0" timeOffset="750">5784 64 16,'13'8'20,"-13"-8"-1,-7 19-22,8 0-6,-5-6-12,12 14 0</inkml:trace>
</inkml:ink>
</file>

<file path=ppt/ink/ink2.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1T22:26:12.2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ink/ink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2:18:09.01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118 83 4,'0'0'22,"0"0"-2,-49-13-2,49 13-2,0 0-1,0 0-3,-47-22-3,47 22-1,0 0-2,0 0 0,0 0-1,0 0-1,0 0-1,0 0 0,0 0 0,0 0-1,0 0 1,0 0-2,0 0-1,0 0 0,0 0 1,0 0 0,0 0-1,0 0-2,-25-51-1,25 51-3,0 0-6,0 0-17,47 15-5,-47-15-1,47 33-1</inkml:trace>
</inkml:ink>
</file>

<file path=ppt/ink/ink4.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1T22:52:48.2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trace contextRef="#ctx0" brushRef="#br0" timeOffset="1719">0 0</inkml:trace>
</inkml:ink>
</file>

<file path=ppt/ink/ink5.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1T22:38:50.92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21 6,'14'-5'3,"-3"1"-3,1 0-2,1 2 0,2-4-1</inkml:trace>
</inkml:ink>
</file>

<file path=ppt/ink/ink6.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2:26:26.54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297 3036 11,'-36'0'27,"13"5"0,-16-10 0,-1 11-19,5 5-4,11 9-12,14 12-17,4-11 0,15 12-2</inkml:trace>
  <inkml:trace contextRef="#ctx0" brushRef="#br0" timeOffset="250">0 495 2,'8'-29'17,"3"36"-4,-5 19-16,-1 9-12</inkml:trace>
</inkml:ink>
</file>

<file path=ppt/ink/ink7.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2:27:04.4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 0 4,'13'53'21,"-13"-53"-1,0 0-2,-13 49-5,13-49 0,0 0-3,0 0-3,-32 52 0,32-52-2,0 0 0,0 0-1,0 0 0,0 0-1,0 0-1,0 0 0,0 0 0,0 0 0,0 0-1,63 47 0,-63-47 1,0 0-2,0 9 2,0-9-1,0 0 1,0 0 0,0 0 0,0 0 0,0 0-1,0 0 1,0 0-1,0 0 1,0 0-1,0 0 0,37-49 0,-37 49 1,0 0 0,0 0-1,0 0 1,0 0 0,0 0 0,0 0-1,0 0 0,-34-54 0,34 54-1,0 0 0,0 0-1,0 0 1,0 0-1,0 0 1,0 0 0,0 0 0,0 0 0,0 0 0,0 0 0,0 0 0,0 0 0,0 0 0,0 0-2,0 0-1,0 0-3,56 50-8,-56-50-22,0 0 0,0 0-1,0 0-2</inkml:trace>
</inkml:ink>
</file>

<file path=ppt/ink/ink8.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1T22:55:19.3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trace contextRef="#ctx0" brushRef="#br0" timeOffset="2093">0 0</inkml:trace>
  <inkml:trace contextRef="#ctx0" brushRef="#br0" timeOffset="3953">0 0</inkml:trace>
</inkml:ink>
</file>

<file path=ppt/ink/ink9.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1-10-17T22:35:16.1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204 502 14,'0'-47'18,"0"47"-2,0 0-3,-11-61 0,11 61 0,0 0-4,0 0-2,0 0-1,0 0-3,0 0-1,0 0 0,0 0-1,0 0 0,0 0 0,0 0 0,66 31 2,-66-31 0,0 0 0,0 0 1,0 0-1,0 0 1,0 0-1,0 0-1,0 0-1,0 0 0,0 0 0,-52 29 0,52-29-1,0 0 0,0 0 1,0 0-1,0 0 2,0 0-2,0 0 0,0 0 0,0 0 1,0 0-1,0 0 1,0 0-2,0 0 2,0 0 0,0 0-1,0 0 0,0 0 1,0 0-1,0 0 1,0 0 0,0 0 0,0 0 0,0 0 0,-39-48 0,39 48 0,0 0-1,0 0 1,0 0-1,0 0 0,-49-18 0,49 18 0,0 0 1,0 0-1,0 0 1,0 0-2,0 0 2,0 0-1,0 0 0,0 0 0,0 0 0,0 0-1,0 0 2,0 0-1,0 0 0,0 0 0,0 0 1,0 0-2,-22 49 1,22-49 2,0 0-3,0 0 1,0 0 0,0 0 0,0 0 0,0 0 0,0 0 0,0 0-1,0 0 1,0 0 0,0 0 1,0 0-1,0 0 0,0 0 0,0 0 0,0 0 1,0 0 1,0 0-1,0 0-1,0 0 0,0 0 1,0 0-1,0 0 0,0 0-1,0 0 1,0 0 0,0 0 0,0 0 1,0 0-2,0 0 2,0 0-1,0 0 0,0 0 1,0 0-1,0 0 1,0 0-1,0 0-1,0 0 2,0 0 0,0 0-1,0 0 0,0 0 1,0 0-2,0 0 2,0 0-1,0 0 0,0 0-1,0 0-1,0 0-1,0 0-2,0 0 0,0 0 0,48-52 0,-48 52 1,0 0 0,0 0 1,0 0 1,14-54 0,-14 54 2,0 0-1,0 0-5,0 0-16,0 0-12,0 0 2,-30-47-1</inkml:trace>
  <inkml:trace contextRef="#ctx0" brushRef="#br0" timeOffset="6469">266 0 16,'0'0'14,"0"0"1,0 0 0,0 0-1,0 0-3,0 0-3,0 0-1,0 0-2,0 0-1,0 0-1,-38 51-1,38-51-1,0 0 2,0 0-3,0 0 1,0 0-1,-11 49 0,11-49 0,0 0 0,0 0 1,0 0-2,0 0 2,0 0-1,-52 28 1,52-28 0,0 0 1,0 0 0,0 0 0,0 0 0,0 0 0,0 0 0,0 0 0,-52-13 0,52 13-1,0 0 1,0 0 0,0 0 0,0 0 1,0 0-1,-51-20-1,51 20 0,0 0 0,0 0 0,0 0 0,0 0-1,0 0 1,0 0-1,0 0 1,0 0-1,0 0 2,0 0-2,0 0 0,0 0 1,0 0-1,0 0 0,0 0-1,0 0 1,0 0 0,0 0 0,0 0 0,0 0 1,0 0 0,0 0-1,0 0 1,0 0 0,0 0 0,0 0 0,-49-3-1,49 3 0,0 0 0,0 0 1,0 0-1,0 0 0,0 0 1,0 0-1,0 0 1,0 0 1,0 0-2,0 0 1,0 0 0,0 0-1,0 0 0,0 0 1,0 0-1,0 0 0,0 0 0,0 0 0,0 0 0,0 0 0,0 0 0,0 0 0,-31-47 1,31 47 0,0 0-1,0 0 0,0 0 0,0 0 0,0 0 0,0 0-1,0 0 1,0 0 0,0 0 0,0 0-2,0 0 0,0 0-4,0 0-3,0 0-8,62-6-19,-62 6-1,0 0 0</inkml:trace>
  <inkml:trace contextRef="#ctx0" brushRef="#br0" timeOffset="8609">276 288 5,'0'0'15,"0"0"-4,0 0-1,-29-46-1,29 46 1,0 0-2,0 0 1,0 0 0,0 0-3,0 0 1,0 0-1,0 0-1,0 0 0,0 0 1,0 0-3,0 0 1,0 0 0,0 0 0,-5-45-1,5 45-1,0 0 0,0 0-1,0 0 1,0 0-2,0 0 1,0 0-1,0 0 1,-53-21-1,53 21 1,0 0-1,0 0 1,0 0-1,0 0 1,0 0 1,0 0 0,0 0 0,0 0 0,-50 45 0,50-45 0,0 0 0,0 0 0,0 0 1,0 0-1,0 0-1,0 0 0,0 0-1,0 0 1,-50 46-2,50-46 2,0 0-2,0 0 0,0 0 1,-6 46 0,6-46 0,0 0 0,0 0 2,0 0-3,0 0 1,0 0 1,0 0 0,0 0-1,0 0 0,0 0 0,0 0-1,0 0-1,0 0-1,0 0-4,0 0-9,0 0-20,0 0-3,0 0 1</inkml:trace>
</inkml:ink>
</file>

<file path=ppt/ink/ink10.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1T22:56:33.4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-1 0</inkml:trace>
  <inkml:trace contextRef="#ctx0" brushRef="#br0" timeOffset="1609">-1 0</inkml:trace>
</inkml:ink>
</file>

<file path=ppt/ink/ink1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1T22:57:11.2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ink/ink12.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1T23:45:20.3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15 5,'0'0'16,"0"0"-4,0 0-4,0 0-2,0 0-1,0 0-2,0 0 0,11 7-3,-11-7-3,10 1-3,-10-1-3,11-9-3,-9-5-1</inkml:trace>
</inkml:ink>
</file>

<file path=ppt/ink/ink1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1T23:45:02.83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 0 12,'0'0'20,"0"0"-13,-2 12-4,2-12-3,0 22 0,0-22-1,-1 21-2,1-21-1,-5 15-2,5-15-4,0 0-6</inkml:trace>
</inkml:ink>
</file>

<file path=ppt/ink/ink14.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1T23:45:01.8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56 0 11,'-16'2'11,"-1"0"-5,3 0-7,5 4-10</inkml:trace>
</inkml:ink>
</file>

<file path=ppt/ink/ink15.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29:13.7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39 8,'13'-5'15,"10"-3"-20,6 0-4,2-10 3</inkml:trace>
</inkml:ink>
</file>

<file path=ppt/ink/ink16.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29:41.67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92 0 48,'-47'81'2,"17"-22"-1,15-28-1,15-31-35</inkml:trace>
</inkml:ink>
</file>

<file path=ppt/ink/ink17.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31:26.06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 3 2,'0'0'5,"0"0"-1,0 0-3,0 0 0,0 0-1,-8-3-1,8 3 1,0 0 0,0 0 0,0 0-2,0 0-3</inkml:trace>
</inkml:ink>
</file>

<file path=ppt/ink/ink18.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10-10-18T21:34:02.1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220 0</inkml:trace>
  <inkml:trace contextRef="#ctx0" brushRef="#br0" timeOffset="2406">220 0</inkml:trace>
  <inkml:trace contextRef="#ctx0" brushRef="#br0" timeOffset="55547">0 30</inkml:trace>
</inkml:ink>
</file>

<file path=ppt/ink/ink19.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46:41.9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136 0 59,'-45'41'18,"8"-5"-17,8-21-1,4-31-40</inkml:trace>
</inkml:ink>
</file>

<file path=ppt/ink/ink20.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46:38.37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28 0 53,'-32'64'26,"17"-7"-26,15-29 0,9-31-38,8-20-2</inkml:trace>
</inkml:ink>
</file>

<file path=ppt/ink/ink21.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49:40.98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11 11,'0'0'7,"0"0"0,8-15-2,-8 15-2,0 0-6,0 0-9,13 7-6</inkml:trace>
</inkml:ink>
</file>

<file path=ppt/ink/ink22.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49:38.21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 2,'0'0'1,"20"21"-1,-7 2-1,4 8 1,1 7-1,1 11 0</inkml:trace>
</inkml:ink>
</file>

<file path=ppt/ink/ink2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50:14.76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78-3 32,'-14'3'22,"2"2"-1,-6-7 0,8 10-3,-6-12-5,16 4-1,-16 1-4,16-1 0,0 0-3,0 0-2,0 0 0,0 0-1,0 0 0,0 0-1,0 0-1,0 0 0,0 0 0,0 0-4,0 0 0,0 0-5,3 21-12,-3-21-14,0 0-1,0 0 0</inkml:trace>
</inkml:ink>
</file>

<file path=ppt/ink/ink24.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3189.33325" units="1/in"/>
          <inkml:channelProperty channel="Y" name="resolution" value="2669.68335" units="1/in"/>
          <inkml:channelProperty channel="F" name="resolution" value="INF" units="1/dev"/>
        </inkml:channelProperties>
      </inkml:inkSource>
      <inkml:timestamp xml:id="ts0" timeString="2010-10-18T21:51:32.84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0 155 38,'13'20'33,"-13"-20"0,11 13-1,-11-13-28,10-4-4,-10 4-3,12-8-1,-12 8-2,14-13-4,-10-1-5,4 0-15,-8 14-1,5-30 0</inkml:trace>
  <inkml:trace contextRef="#ctx0" brushRef="#br0" timeOffset="146063">154 0 8,'24'13'25,"-24"-13"-1,15-3-9,-15 3-13,0 0-7,0 0-5,0 0-8,0 0-6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03EE6C2-78FB-41CC-ADFA-AAFDD4BDF4F3}" type="datetimeFigureOut">
              <a:rPr lang="en-US" smtClean="0"/>
              <a:t>2/23/2020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196C89AE-0E03-465B-B344-69130A216ACB}" type="slidenum">
              <a:rPr lang="en-US" smtClean="0"/>
              <a:t>‹#›</a:t>
            </a:fld>
            <a:endParaRPr lang="en-US"/>
          </a:p>
        </p:txBody>
      </p:sp>
    </p:spTree>
    <p:extLst>
      <p:ext uri="{BB962C8B-B14F-4D97-AF65-F5344CB8AC3E}">
        <p14:creationId xmlns:p14="http://schemas.microsoft.com/office/powerpoint/2010/main" val="335716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2A19575B-209F-4E2B-8699-8F4967D6A827}" type="slidenum">
              <a:rPr lang="en-US"/>
              <a:pPr/>
              <a:t>6</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6C89AE-0E03-465B-B344-69130A216ACB}" type="slidenum">
              <a:rPr lang="en-US" smtClean="0"/>
              <a:t>10</a:t>
            </a:fld>
            <a:endParaRPr lang="en-US"/>
          </a:p>
        </p:txBody>
      </p:sp>
    </p:spTree>
    <p:extLst>
      <p:ext uri="{BB962C8B-B14F-4D97-AF65-F5344CB8AC3E}">
        <p14:creationId xmlns:p14="http://schemas.microsoft.com/office/powerpoint/2010/main" val="4073904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6C89AE-0E03-465B-B344-69130A216ACB}" type="slidenum">
              <a:rPr lang="en-US" smtClean="0"/>
              <a:t>18</a:t>
            </a:fld>
            <a:endParaRPr lang="en-US"/>
          </a:p>
        </p:txBody>
      </p:sp>
    </p:spTree>
    <p:extLst>
      <p:ext uri="{BB962C8B-B14F-4D97-AF65-F5344CB8AC3E}">
        <p14:creationId xmlns:p14="http://schemas.microsoft.com/office/powerpoint/2010/main" val="874069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6C89AE-0E03-465B-B344-69130A216ACB}" type="slidenum">
              <a:rPr lang="en-US" smtClean="0"/>
              <a:t>31</a:t>
            </a:fld>
            <a:endParaRPr lang="en-US"/>
          </a:p>
        </p:txBody>
      </p:sp>
    </p:spTree>
    <p:extLst>
      <p:ext uri="{BB962C8B-B14F-4D97-AF65-F5344CB8AC3E}">
        <p14:creationId xmlns:p14="http://schemas.microsoft.com/office/powerpoint/2010/main" val="1753927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6C89AE-0E03-465B-B344-69130A216ACB}" type="slidenum">
              <a:rPr lang="en-US" smtClean="0"/>
              <a:t>56</a:t>
            </a:fld>
            <a:endParaRPr lang="en-US"/>
          </a:p>
        </p:txBody>
      </p:sp>
    </p:spTree>
    <p:extLst>
      <p:ext uri="{BB962C8B-B14F-4D97-AF65-F5344CB8AC3E}">
        <p14:creationId xmlns:p14="http://schemas.microsoft.com/office/powerpoint/2010/main" val="754650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5B8CE1-5C31-44C3-83CC-A5DC77C5623A}" type="datetimeFigureOut">
              <a:rPr lang="en-US" smtClean="0"/>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2124804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5B8CE1-5C31-44C3-83CC-A5DC77C5623A}" type="datetimeFigureOut">
              <a:rPr lang="en-US" smtClean="0"/>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3825724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5B8CE1-5C31-44C3-83CC-A5DC77C5623A}" type="datetimeFigureOut">
              <a:rPr lang="en-US" smtClean="0"/>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350710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5B8CE1-5C31-44C3-83CC-A5DC77C5623A}" type="datetimeFigureOut">
              <a:rPr lang="en-US" smtClean="0"/>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2664944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5B8CE1-5C31-44C3-83CC-A5DC77C5623A}" type="datetimeFigureOut">
              <a:rPr lang="en-US" smtClean="0"/>
              <a:t>2/23/2020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447612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05B8CE1-5C31-44C3-83CC-A5DC77C5623A}" type="datetimeFigureOut">
              <a:rPr lang="en-US" smtClean="0"/>
              <a:t>2/23/2020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3433986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5B8CE1-5C31-44C3-83CC-A5DC77C5623A}" type="datetimeFigureOut">
              <a:rPr lang="en-US" smtClean="0"/>
              <a:t>2/23/2020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1716087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5B8CE1-5C31-44C3-83CC-A5DC77C5623A}" type="datetimeFigureOut">
              <a:rPr lang="en-US" smtClean="0"/>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1539835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5B8CE1-5C31-44C3-83CC-A5DC77C5623A}" type="datetimeFigureOut">
              <a:rPr lang="en-US" smtClean="0"/>
              <a:t>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214740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5B8CE1-5C31-44C3-83CC-A5DC77C5623A}" type="datetimeFigureOut">
              <a:rPr lang="en-US" smtClean="0"/>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3140410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5B8CE1-5C31-44C3-83CC-A5DC77C5623A}" type="datetimeFigureOut">
              <a:rPr lang="en-US" smtClean="0"/>
              <a:t>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A87311-2520-47B2-A9EC-5A768352CC81}" type="slidenum">
              <a:rPr lang="en-US" smtClean="0"/>
              <a:t>‹#›</a:t>
            </a:fld>
            <a:endParaRPr lang="en-US"/>
          </a:p>
        </p:txBody>
      </p:sp>
    </p:spTree>
    <p:extLst>
      <p:ext uri="{BB962C8B-B14F-4D97-AF65-F5344CB8AC3E}">
        <p14:creationId xmlns:p14="http://schemas.microsoft.com/office/powerpoint/2010/main" val="2051423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B8CE1-5C31-44C3-83CC-A5DC77C5623A}" type="datetimeFigureOut">
              <a:rPr lang="en-US" smtClean="0"/>
              <a:t>2/23/2020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87311-2520-47B2-A9EC-5A768352CC81}" type="slidenum">
              <a:rPr lang="en-US" smtClean="0"/>
              <a:t>‹#›</a:t>
            </a:fld>
            <a:endParaRPr lang="en-US"/>
          </a:p>
        </p:txBody>
      </p:sp>
    </p:spTree>
    <p:extLst>
      <p:ext uri="{BB962C8B-B14F-4D97-AF65-F5344CB8AC3E}">
        <p14:creationId xmlns:p14="http://schemas.microsoft.com/office/powerpoint/2010/main" val="2192261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customXml" Target="../ink/ink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customXml" Target="../ink/ink2.xml"/><Relationship Id="rId7" Type="http://schemas.openxmlformats.org/officeDocument/2006/relationships/customXml" Target="../ink/ink3.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34.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png"/><Relationship Id="rId7" Type="http://schemas.openxmlformats.org/officeDocument/2006/relationships/image" Target="../media/image37.emf"/><Relationship Id="rId2" Type="http://schemas.openxmlformats.org/officeDocument/2006/relationships/notesSlide" Target="../notesSlides/notesSlide1.xml"/><Relationship Id="rId1" Type="http://schemas.openxmlformats.org/officeDocument/2006/relationships/slideLayout" Target="../slideLayouts/slideLayout7.xml"/><Relationship Id="rId11" Type="http://schemas.openxmlformats.org/officeDocument/2006/relationships/image" Target="../media/image39.emf"/><Relationship Id="rId10" Type="http://schemas.openxmlformats.org/officeDocument/2006/relationships/customXml" Target="../ink/ink6.xml"/><Relationship Id="rId4" Type="http://schemas.openxmlformats.org/officeDocument/2006/relationships/customXml" Target="../ink/ink4.xml"/><Relationship Id="rId9" Type="http://schemas.openxmlformats.org/officeDocument/2006/relationships/image" Target="../media/image38.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40.emf"/></Relationships>
</file>

<file path=ppt/slides/_rels/slide10.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notesSlide" Target="../notesSlides/notesSlide2.xml"/><Relationship Id="rId7" Type="http://schemas.openxmlformats.org/officeDocument/2006/relationships/customXml" Target="../ink/ink9.xml"/><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41.emf"/><Relationship Id="rId4" Type="http://schemas.openxmlformats.org/officeDocument/2006/relationships/customXml" Target="../ink/ink8.xml"/></Relationships>
</file>

<file path=ppt/slides/_rels/slide11.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customXml" Target="../ink/ink10.xml"/><Relationship Id="rId7" Type="http://schemas.openxmlformats.org/officeDocument/2006/relationships/customXml" Target="../ink/ink11.xm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47.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56.emf"/><Relationship Id="rId7" Type="http://schemas.openxmlformats.org/officeDocument/2006/relationships/image" Target="../media/image53.emf"/><Relationship Id="rId12" Type="http://schemas.openxmlformats.org/officeDocument/2006/relationships/customXml" Target="../ink/ink16.xml"/><Relationship Id="rId2"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customXml" Target="../ink/ink13.xml"/><Relationship Id="rId11" Type="http://schemas.openxmlformats.org/officeDocument/2006/relationships/image" Target="../media/image55.emf"/><Relationship Id="rId5" Type="http://schemas.openxmlformats.org/officeDocument/2006/relationships/image" Target="../media/image52.emf"/><Relationship Id="rId15" Type="http://schemas.openxmlformats.org/officeDocument/2006/relationships/image" Target="../media/image57.emf"/><Relationship Id="rId10" Type="http://schemas.openxmlformats.org/officeDocument/2006/relationships/customXml" Target="../ink/ink15.xml"/><Relationship Id="rId9" Type="http://schemas.openxmlformats.org/officeDocument/2006/relationships/image" Target="../media/image54.emf"/><Relationship Id="rId14" Type="http://schemas.openxmlformats.org/officeDocument/2006/relationships/customXml" Target="../ink/ink17.xml"/></Relationships>
</file>

<file path=ppt/slides/_rels/slide28.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58.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31.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customXml" Target="../ink/ink23.xml"/><Relationship Id="rId3" Type="http://schemas.openxmlformats.org/officeDocument/2006/relationships/chart" Target="../charts/chart1.xml"/><Relationship Id="rId7" Type="http://schemas.openxmlformats.org/officeDocument/2006/relationships/customXml" Target="../ink/ink20.xml"/><Relationship Id="rId12" Type="http://schemas.openxmlformats.org/officeDocument/2006/relationships/image" Target="../media/image62.emf"/><Relationship Id="rId2" Type="http://schemas.openxmlformats.org/officeDocument/2006/relationships/notesSlide" Target="../notesSlides/notesSlide4.xml"/><Relationship Id="rId16" Type="http://schemas.openxmlformats.org/officeDocument/2006/relationships/image" Target="../media/image64.emf"/><Relationship Id="rId1" Type="http://schemas.openxmlformats.org/officeDocument/2006/relationships/slideLayout" Target="../slideLayouts/slideLayout2.xml"/><Relationship Id="rId6" Type="http://schemas.openxmlformats.org/officeDocument/2006/relationships/image" Target="../media/image59.emf"/><Relationship Id="rId11" Type="http://schemas.openxmlformats.org/officeDocument/2006/relationships/customXml" Target="../ink/ink22.xml"/><Relationship Id="rId15" Type="http://schemas.openxmlformats.org/officeDocument/2006/relationships/customXml" Target="../ink/ink24.xml"/><Relationship Id="rId10" Type="http://schemas.openxmlformats.org/officeDocument/2006/relationships/image" Target="../media/image61.emf"/><Relationship Id="rId4" Type="http://schemas.openxmlformats.org/officeDocument/2006/relationships/customXml" Target="../ink/ink19.xml"/><Relationship Id="rId9" Type="http://schemas.openxmlformats.org/officeDocument/2006/relationships/customXml" Target="../ink/ink21.xml"/><Relationship Id="rId14" Type="http://schemas.openxmlformats.org/officeDocument/2006/relationships/image" Target="../media/image6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en.wikipedia.org/wiki/Tandem_Computer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washingtonpost.com/news/morning-mix"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From Machine to Team</a:t>
            </a:r>
          </a:p>
        </p:txBody>
      </p:sp>
      <p:sp>
        <p:nvSpPr>
          <p:cNvPr id="3" name="Subtitle 2"/>
          <p:cNvSpPr>
            <a:spLocks noGrp="1"/>
          </p:cNvSpPr>
          <p:nvPr>
            <p:ph type="subTitle" idx="1"/>
          </p:nvPr>
        </p:nvSpPr>
        <p:spPr/>
        <p:txBody>
          <a:bodyPr/>
          <a:lstStyle/>
          <a:p>
            <a:r>
              <a:rPr lang="en-US" dirty="0"/>
              <a:t>Organizational Culture</a:t>
            </a:r>
          </a:p>
        </p:txBody>
      </p:sp>
    </p:spTree>
    <p:extLst>
      <p:ext uri="{BB962C8B-B14F-4D97-AF65-F5344CB8AC3E}">
        <p14:creationId xmlns:p14="http://schemas.microsoft.com/office/powerpoint/2010/main" val="57616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 does the Commons have to do with organizations?</a:t>
            </a:r>
          </a:p>
        </p:txBody>
      </p:sp>
      <p:cxnSp>
        <p:nvCxnSpPr>
          <p:cNvPr id="7" name="Straight Connector 6"/>
          <p:cNvCxnSpPr/>
          <p:nvPr/>
        </p:nvCxnSpPr>
        <p:spPr>
          <a:xfrm rot="16200000" flipH="1">
            <a:off x="3048000" y="3733800"/>
            <a:ext cx="3124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048000" y="3733800"/>
            <a:ext cx="33528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200400" y="4495800"/>
            <a:ext cx="1449779" cy="369332"/>
          </a:xfrm>
          <a:prstGeom prst="rect">
            <a:avLst/>
          </a:prstGeom>
          <a:noFill/>
        </p:spPr>
        <p:txBody>
          <a:bodyPr wrap="square" rtlCol="0">
            <a:spAutoFit/>
          </a:bodyPr>
          <a:lstStyle/>
          <a:p>
            <a:r>
              <a:rPr lang="en-US" dirty="0"/>
              <a:t>The Machine</a:t>
            </a:r>
          </a:p>
        </p:txBody>
      </p:sp>
      <p:cxnSp>
        <p:nvCxnSpPr>
          <p:cNvPr id="13" name="Straight Arrow Connector 12"/>
          <p:cNvCxnSpPr/>
          <p:nvPr/>
        </p:nvCxnSpPr>
        <p:spPr>
          <a:xfrm rot="5400000" flipH="1" flipV="1">
            <a:off x="3163094" y="3847306"/>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352800" y="2971800"/>
            <a:ext cx="1089081" cy="369332"/>
          </a:xfrm>
          <a:prstGeom prst="rect">
            <a:avLst/>
          </a:prstGeom>
          <a:noFill/>
        </p:spPr>
        <p:txBody>
          <a:bodyPr wrap="none" rtlCol="0">
            <a:spAutoFit/>
          </a:bodyPr>
          <a:lstStyle/>
          <a:p>
            <a:r>
              <a:rPr lang="en-US" dirty="0"/>
              <a:t>The Team</a:t>
            </a:r>
          </a:p>
        </p:txBody>
      </p:sp>
      <p:cxnSp>
        <p:nvCxnSpPr>
          <p:cNvPr id="28" name="Straight Arrow Connector 27"/>
          <p:cNvCxnSpPr/>
          <p:nvPr/>
        </p:nvCxnSpPr>
        <p:spPr>
          <a:xfrm>
            <a:off x="4495800" y="32004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334000" y="2971800"/>
            <a:ext cx="1487780" cy="646331"/>
          </a:xfrm>
          <a:prstGeom prst="rect">
            <a:avLst/>
          </a:prstGeom>
          <a:noFill/>
        </p:spPr>
        <p:txBody>
          <a:bodyPr wrap="square" rtlCol="0">
            <a:spAutoFit/>
          </a:bodyPr>
          <a:lstStyle/>
          <a:p>
            <a:r>
              <a:rPr lang="en-US" dirty="0"/>
              <a:t>Open systems</a:t>
            </a:r>
          </a:p>
          <a:p>
            <a:r>
              <a:rPr lang="en-US" dirty="0"/>
              <a:t>The organism</a:t>
            </a:r>
          </a:p>
        </p:txBody>
      </p:sp>
      <p:cxnSp>
        <p:nvCxnSpPr>
          <p:cNvPr id="32" name="Straight Arrow Connector 31"/>
          <p:cNvCxnSpPr/>
          <p:nvPr/>
        </p:nvCxnSpPr>
        <p:spPr>
          <a:xfrm rot="5400000">
            <a:off x="5677694" y="3848100"/>
            <a:ext cx="5326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105400" y="4648200"/>
            <a:ext cx="2329484" cy="369332"/>
          </a:xfrm>
          <a:prstGeom prst="rect">
            <a:avLst/>
          </a:prstGeom>
          <a:noFill/>
        </p:spPr>
        <p:txBody>
          <a:bodyPr wrap="none" rtlCol="0">
            <a:spAutoFit/>
          </a:bodyPr>
          <a:lstStyle/>
          <a:p>
            <a:r>
              <a:rPr lang="en-US" dirty="0"/>
              <a:t> The Planner/The Firm </a:t>
            </a:r>
          </a:p>
        </p:txBody>
      </p:sp>
      <p:sp>
        <p:nvSpPr>
          <p:cNvPr id="37" name="TextBox 36"/>
          <p:cNvSpPr txBox="1"/>
          <p:nvPr/>
        </p:nvSpPr>
        <p:spPr>
          <a:xfrm>
            <a:off x="1447800" y="3657600"/>
            <a:ext cx="917431" cy="369332"/>
          </a:xfrm>
          <a:prstGeom prst="rect">
            <a:avLst/>
          </a:prstGeom>
          <a:noFill/>
        </p:spPr>
        <p:txBody>
          <a:bodyPr wrap="square" rtlCol="0">
            <a:spAutoFit/>
          </a:bodyPr>
          <a:lstStyle/>
          <a:p>
            <a:r>
              <a:rPr lang="en-US" dirty="0"/>
              <a:t>Internal</a:t>
            </a:r>
          </a:p>
        </p:txBody>
      </p:sp>
      <p:sp>
        <p:nvSpPr>
          <p:cNvPr id="38" name="TextBox 37"/>
          <p:cNvSpPr txBox="1"/>
          <p:nvPr/>
        </p:nvSpPr>
        <p:spPr>
          <a:xfrm>
            <a:off x="6934200" y="3581400"/>
            <a:ext cx="1066800" cy="369332"/>
          </a:xfrm>
          <a:prstGeom prst="rect">
            <a:avLst/>
          </a:prstGeom>
          <a:noFill/>
        </p:spPr>
        <p:txBody>
          <a:bodyPr wrap="square" rtlCol="0">
            <a:spAutoFit/>
          </a:bodyPr>
          <a:lstStyle/>
          <a:p>
            <a:r>
              <a:rPr lang="en-US" dirty="0"/>
              <a:t>External</a:t>
            </a:r>
          </a:p>
        </p:txBody>
      </p:sp>
      <p:sp>
        <p:nvSpPr>
          <p:cNvPr id="39" name="TextBox 38"/>
          <p:cNvSpPr txBox="1"/>
          <p:nvPr/>
        </p:nvSpPr>
        <p:spPr>
          <a:xfrm>
            <a:off x="4800600" y="1981200"/>
            <a:ext cx="1069267" cy="369332"/>
          </a:xfrm>
          <a:prstGeom prst="rect">
            <a:avLst/>
          </a:prstGeom>
          <a:noFill/>
        </p:spPr>
        <p:txBody>
          <a:bodyPr wrap="none" rtlCol="0">
            <a:spAutoFit/>
          </a:bodyPr>
          <a:lstStyle/>
          <a:p>
            <a:r>
              <a:rPr lang="en-US" dirty="0"/>
              <a:t>Flexibility</a:t>
            </a:r>
          </a:p>
        </p:txBody>
      </p:sp>
      <p:sp>
        <p:nvSpPr>
          <p:cNvPr id="40" name="TextBox 39"/>
          <p:cNvSpPr txBox="1"/>
          <p:nvPr/>
        </p:nvSpPr>
        <p:spPr>
          <a:xfrm>
            <a:off x="4267200" y="5715000"/>
            <a:ext cx="877741" cy="369332"/>
          </a:xfrm>
          <a:prstGeom prst="rect">
            <a:avLst/>
          </a:prstGeom>
          <a:noFill/>
        </p:spPr>
        <p:txBody>
          <a:bodyPr wrap="none" rtlCol="0">
            <a:spAutoFit/>
          </a:bodyPr>
          <a:lstStyle/>
          <a:p>
            <a:r>
              <a:rPr lang="en-US" dirty="0"/>
              <a:t>Control</a:t>
            </a:r>
          </a:p>
        </p:txBody>
      </p:sp>
      <mc:AlternateContent xmlns:mc="http://schemas.openxmlformats.org/markup-compatibility/2006" xmlns:p14="http://schemas.microsoft.com/office/powerpoint/2010/main">
        <mc:Choice Requires="p14">
          <p:contentPart p14:bwMode="auto" r:id="rId3">
            <p14:nvContentPartPr>
              <p14:cNvPr id="31746" name="Ink 2"/>
              <p14:cNvContentPartPr>
                <a14:cpLocks xmlns:a14="http://schemas.microsoft.com/office/drawing/2010/main" noRot="1" noChangeAspect="1" noEditPoints="1" noChangeArrowheads="1" noChangeShapeType="1"/>
              </p14:cNvContentPartPr>
              <p14:nvPr/>
            </p14:nvContentPartPr>
            <p14:xfrm>
              <a:off x="3852903" y="3296825"/>
              <a:ext cx="1452007" cy="1387048"/>
            </p14:xfrm>
          </p:contentPart>
        </mc:Choice>
        <mc:Fallback xmlns="">
          <p:pic>
            <p:nvPicPr>
              <p:cNvPr id="31746" name="Ink 2"/>
              <p:cNvPicPr>
                <a:picLocks noRot="1" noChangeAspect="1" noEditPoints="1" noChangeArrowheads="1" noChangeShapeType="1"/>
              </p:cNvPicPr>
              <p:nvPr/>
            </p:nvPicPr>
            <p:blipFill>
              <a:blip r:embed="rId8"/>
              <a:stretch>
                <a:fillRect/>
              </a:stretch>
            </p:blipFill>
            <p:spPr>
              <a:xfrm>
                <a:off x="3209223" y="3263345"/>
                <a:ext cx="3303487" cy="1734808"/>
              </a:xfrm>
              <a:prstGeom prst="rect">
                <a:avLst/>
              </a:prstGeom>
            </p:spPr>
          </p:pic>
        </mc:Fallback>
      </mc:AlternateContent>
      <p:sp>
        <p:nvSpPr>
          <p:cNvPr id="3" name="TextBox 2"/>
          <p:cNvSpPr txBox="1"/>
          <p:nvPr/>
        </p:nvSpPr>
        <p:spPr>
          <a:xfrm>
            <a:off x="685800" y="6477000"/>
            <a:ext cx="3930884" cy="253916"/>
          </a:xfrm>
          <a:prstGeom prst="rect">
            <a:avLst/>
          </a:prstGeom>
          <a:noFill/>
        </p:spPr>
        <p:txBody>
          <a:bodyPr wrap="none" rtlCol="0">
            <a:spAutoFit/>
          </a:bodyPr>
          <a:lstStyle/>
          <a:p>
            <a:r>
              <a:rPr lang="en-US" sz="1050" dirty="0"/>
              <a:t>Robert E. Quinn, </a:t>
            </a:r>
            <a:r>
              <a:rPr lang="en-US" sz="1050" i="1" dirty="0"/>
              <a:t>Beyond Rational Management, </a:t>
            </a:r>
            <a:r>
              <a:rPr lang="en-US" sz="1050" dirty="0" err="1"/>
              <a:t>Jossey</a:t>
            </a:r>
            <a:r>
              <a:rPr lang="en-US" sz="1050" dirty="0"/>
              <a:t> – Bass, 1988 </a:t>
            </a:r>
          </a:p>
        </p:txBody>
      </p:sp>
    </p:spTree>
    <p:custDataLst>
      <p:tags r:id="rId1"/>
    </p:custDataLst>
  </p:cSld>
  <p:clrMapOvr>
    <a:masterClrMapping/>
  </p:clrMapOvr>
  <p:transition advTm="5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dissolv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dissolve">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dissolv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dissolv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dissolve">
                                      <p:cBhvr>
                                        <p:cTn id="6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30" grpId="0"/>
      <p:bldP spid="36" grpId="0"/>
      <p:bldP spid="37" grpId="0"/>
      <p:bldP spid="38" grpId="0"/>
      <p:bldP spid="39" grpId="0"/>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7C48-AB64-4B18-AE24-91AC96FABF92}"/>
              </a:ext>
            </a:extLst>
          </p:cNvPr>
          <p:cNvSpPr>
            <a:spLocks noGrp="1"/>
          </p:cNvSpPr>
          <p:nvPr>
            <p:ph type="title"/>
          </p:nvPr>
        </p:nvSpPr>
        <p:spPr/>
        <p:txBody>
          <a:bodyPr/>
          <a:lstStyle/>
          <a:p>
            <a:r>
              <a:rPr lang="en-US" dirty="0"/>
              <a:t>First Reflective Pause</a:t>
            </a:r>
          </a:p>
        </p:txBody>
      </p:sp>
      <p:sp>
        <p:nvSpPr>
          <p:cNvPr id="3" name="Content Placeholder 2">
            <a:extLst>
              <a:ext uri="{FF2B5EF4-FFF2-40B4-BE49-F238E27FC236}">
                <a16:creationId xmlns:a16="http://schemas.microsoft.com/office/drawing/2014/main" id="{FE38B0B8-5E0C-45C1-894A-41050AF10030}"/>
              </a:ext>
            </a:extLst>
          </p:cNvPr>
          <p:cNvSpPr>
            <a:spLocks noGrp="1"/>
          </p:cNvSpPr>
          <p:nvPr>
            <p:ph idx="1"/>
          </p:nvPr>
        </p:nvSpPr>
        <p:spPr/>
        <p:txBody>
          <a:bodyPr>
            <a:normAutofit fontScale="92500" lnSpcReduction="10000"/>
          </a:bodyPr>
          <a:lstStyle/>
          <a:p>
            <a:r>
              <a:rPr lang="en-US" dirty="0"/>
              <a:t>Organizations are complex and consist of multiple cultures related to our organizational map</a:t>
            </a:r>
          </a:p>
          <a:p>
            <a:r>
              <a:rPr lang="en-US" dirty="0"/>
              <a:t>There may be one dominant culture and some sub cultures that are either in sync or not in sync with the dominant culture – i.e. they can be oppositional sub cultures</a:t>
            </a:r>
          </a:p>
          <a:p>
            <a:r>
              <a:rPr lang="en-US" dirty="0"/>
              <a:t>A commons allows people to come together to relate across organizational boundaries</a:t>
            </a:r>
          </a:p>
          <a:p>
            <a:r>
              <a:rPr lang="en-US" dirty="0"/>
              <a:t>Examples from your own organizational experience?  </a:t>
            </a:r>
          </a:p>
        </p:txBody>
      </p:sp>
    </p:spTree>
    <p:extLst>
      <p:ext uri="{BB962C8B-B14F-4D97-AF65-F5344CB8AC3E}">
        <p14:creationId xmlns:p14="http://schemas.microsoft.com/office/powerpoint/2010/main" val="2359152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t>Key questions regarding culture</a:t>
            </a:r>
          </a:p>
        </p:txBody>
      </p:sp>
      <p:sp>
        <p:nvSpPr>
          <p:cNvPr id="19459" name="Rectangle 3"/>
          <p:cNvSpPr>
            <a:spLocks noGrp="1" noChangeArrowheads="1"/>
          </p:cNvSpPr>
          <p:nvPr>
            <p:ph sz="half" idx="1"/>
          </p:nvPr>
        </p:nvSpPr>
        <p:spPr/>
        <p:txBody>
          <a:bodyPr/>
          <a:lstStyle/>
          <a:p>
            <a:pPr eaLnBrk="1" hangingPunct="1"/>
            <a:r>
              <a:rPr lang="en-US"/>
              <a:t>What is the concept of culture?</a:t>
            </a:r>
          </a:p>
          <a:p>
            <a:pPr eaLnBrk="1" hangingPunct="1"/>
            <a:r>
              <a:rPr lang="en-US"/>
              <a:t>What elements construct it?</a:t>
            </a:r>
          </a:p>
          <a:p>
            <a:pPr eaLnBrk="1" hangingPunct="1"/>
            <a:r>
              <a:rPr lang="en-US"/>
              <a:t>How do you study it?</a:t>
            </a:r>
          </a:p>
          <a:p>
            <a:pPr eaLnBrk="1" hangingPunct="1"/>
            <a:r>
              <a:rPr lang="en-US"/>
              <a:t>What are the practical consequences? </a:t>
            </a:r>
          </a:p>
          <a:p>
            <a:pPr eaLnBrk="1" hangingPunct="1"/>
            <a:endParaRPr lang="en-US"/>
          </a:p>
          <a:p>
            <a:pPr eaLnBrk="1" hangingPunct="1"/>
            <a:endParaRPr lang="en-US"/>
          </a:p>
        </p:txBody>
      </p:sp>
      <p:sp>
        <p:nvSpPr>
          <p:cNvPr id="19460" name="Rectangle 4"/>
          <p:cNvSpPr>
            <a:spLocks noGrp="1" noChangeArrowheads="1"/>
          </p:cNvSpPr>
          <p:nvPr>
            <p:ph sz="half" idx="2"/>
          </p:nvPr>
        </p:nvSpPr>
        <p:spPr/>
        <p:txBody>
          <a:bodyPr/>
          <a:lstStyle/>
          <a:p>
            <a:pPr eaLnBrk="1" hangingPunct="1"/>
            <a:r>
              <a:rPr lang="en-US"/>
              <a:t>What are the relationships with our readings?</a:t>
            </a:r>
          </a:p>
          <a:p>
            <a:pPr eaLnBrk="1" hangingPunct="1"/>
            <a:r>
              <a:rPr lang="en-US"/>
              <a:t>How do organizations change their culture?</a:t>
            </a:r>
          </a:p>
          <a:p>
            <a:pPr eaLnBrk="1" hangingPunct="1"/>
            <a:r>
              <a:rPr lang="en-US"/>
              <a:t>What is the link between culture and ethics in an organization?</a:t>
            </a:r>
          </a:p>
        </p:txBody>
      </p:sp>
      <mc:AlternateContent xmlns:mc="http://schemas.openxmlformats.org/markup-compatibility/2006" xmlns:p14="http://schemas.microsoft.com/office/powerpoint/2010/main">
        <mc:Choice Requires="p14">
          <p:contentPart p14:bwMode="auto" r:id="rId3">
            <p14:nvContentPartPr>
              <p14:cNvPr id="2" name="Ink 2"/>
              <p14:cNvContentPartPr>
                <a14:cpLocks xmlns:a14="http://schemas.microsoft.com/office/drawing/2010/main" noRot="1" noChangeAspect="1" noEditPoints="1" noChangeArrowheads="1" noChangeShapeType="1"/>
              </p14:cNvContentPartPr>
              <p14:nvPr/>
            </p14:nvContentPartPr>
            <p14:xfrm>
              <a:off x="45889863" y="203614338"/>
              <a:ext cx="0" cy="0"/>
            </p14:xfrm>
          </p:contentPart>
        </mc:Choice>
        <mc:Fallback xmlns="">
          <p:pic>
            <p:nvPicPr>
              <p:cNvPr id="2" name="Ink 2"/>
              <p:cNvPicPr>
                <a:picLocks noRot="1" noChangeAspect="1" noEditPoints="1" noChangeArrowheads="1" noChangeShapeType="1"/>
              </p:cNvPicPr>
              <p:nvPr/>
            </p:nvPicPr>
            <p:blipFill>
              <a:blip r:embed="rId6"/>
              <a:stretch>
                <a:fillRect/>
              </a:stretch>
            </p:blipFill>
            <p:spPr>
              <a:xfrm>
                <a:off x="45889863" y="203614338"/>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75" name="Ink 3"/>
              <p14:cNvContentPartPr>
                <a14:cpLocks xmlns:a14="http://schemas.microsoft.com/office/drawing/2010/main" noRot="1" noChangeAspect="1" noEditPoints="1" noChangeArrowheads="1" noChangeShapeType="1"/>
              </p14:cNvContentPartPr>
              <p14:nvPr/>
            </p14:nvContentPartPr>
            <p14:xfrm>
              <a:off x="1141413" y="6757988"/>
              <a:ext cx="42862" cy="30162"/>
            </p14:xfrm>
          </p:contentPart>
        </mc:Choice>
        <mc:Fallback xmlns="">
          <p:pic>
            <p:nvPicPr>
              <p:cNvPr id="3075" name="Ink 3"/>
              <p:cNvPicPr>
                <a:picLocks noRot="1" noChangeAspect="1" noEditPoints="1" noChangeArrowheads="1" noChangeShapeType="1"/>
              </p:cNvPicPr>
              <p:nvPr/>
            </p:nvPicPr>
            <p:blipFill>
              <a:blip r:embed="rId8"/>
              <a:stretch>
                <a:fillRect/>
              </a:stretch>
            </p:blipFill>
            <p:spPr>
              <a:xfrm>
                <a:off x="1130247" y="6746857"/>
                <a:ext cx="59070" cy="46320"/>
              </a:xfrm>
              <a:prstGeom prst="rect">
                <a:avLst/>
              </a:prstGeom>
            </p:spPr>
          </p:pic>
        </mc:Fallback>
      </mc:AlternateContent>
    </p:spTree>
    <p:custDataLst>
      <p:tags r:id="rId1"/>
    </p:custDataLst>
  </p:cSld>
  <p:clrMapOvr>
    <a:masterClrMapping/>
  </p:clrMapOvr>
  <p:transition advTm="111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46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46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P spid="1946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Uncovering Culture</a:t>
            </a:r>
          </a:p>
        </p:txBody>
      </p:sp>
      <p:sp>
        <p:nvSpPr>
          <p:cNvPr id="9219" name="Text Box 3"/>
          <p:cNvSpPr txBox="1">
            <a:spLocks noChangeArrowheads="1"/>
          </p:cNvSpPr>
          <p:nvPr/>
        </p:nvSpPr>
        <p:spPr bwMode="auto">
          <a:xfrm>
            <a:off x="304800" y="3810000"/>
            <a:ext cx="2449513" cy="457200"/>
          </a:xfrm>
          <a:prstGeom prst="rect">
            <a:avLst/>
          </a:prstGeom>
          <a:noFill/>
          <a:ln w="9525">
            <a:noFill/>
            <a:miter lim="800000"/>
            <a:headEnd/>
            <a:tailEnd/>
          </a:ln>
        </p:spPr>
        <p:txBody>
          <a:bodyPr wrap="none">
            <a:spAutoFit/>
          </a:bodyPr>
          <a:lstStyle/>
          <a:p>
            <a:r>
              <a:rPr lang="en-US"/>
              <a:t>2.  Linda Smircich</a:t>
            </a:r>
          </a:p>
        </p:txBody>
      </p:sp>
      <p:sp>
        <p:nvSpPr>
          <p:cNvPr id="9220" name="Text Box 4"/>
          <p:cNvSpPr txBox="1">
            <a:spLocks noChangeArrowheads="1"/>
          </p:cNvSpPr>
          <p:nvPr/>
        </p:nvSpPr>
        <p:spPr bwMode="auto">
          <a:xfrm>
            <a:off x="2133600" y="1676400"/>
            <a:ext cx="4410075" cy="457200"/>
          </a:xfrm>
          <a:prstGeom prst="rect">
            <a:avLst/>
          </a:prstGeom>
          <a:noFill/>
          <a:ln w="9525">
            <a:noFill/>
            <a:miter lim="800000"/>
            <a:headEnd/>
            <a:tailEnd/>
          </a:ln>
        </p:spPr>
        <p:txBody>
          <a:bodyPr wrap="none">
            <a:spAutoFit/>
          </a:bodyPr>
          <a:lstStyle/>
          <a:p>
            <a:r>
              <a:rPr lang="en-US"/>
              <a:t>The different definitions of culture</a:t>
            </a:r>
          </a:p>
        </p:txBody>
      </p:sp>
      <p:sp>
        <p:nvSpPr>
          <p:cNvPr id="4101" name="Text Box 7"/>
          <p:cNvSpPr txBox="1">
            <a:spLocks noChangeArrowheads="1"/>
          </p:cNvSpPr>
          <p:nvPr/>
        </p:nvSpPr>
        <p:spPr bwMode="auto">
          <a:xfrm>
            <a:off x="0" y="4868863"/>
            <a:ext cx="8915400" cy="457200"/>
          </a:xfrm>
          <a:prstGeom prst="rect">
            <a:avLst/>
          </a:prstGeom>
          <a:noFill/>
          <a:ln w="9525">
            <a:noFill/>
            <a:miter lim="800000"/>
            <a:headEnd/>
            <a:tailEnd/>
          </a:ln>
        </p:spPr>
        <p:txBody>
          <a:bodyPr>
            <a:spAutoFit/>
          </a:bodyPr>
          <a:lstStyle/>
          <a:p>
            <a:pPr>
              <a:spcBef>
                <a:spcPct val="50000"/>
              </a:spcBef>
            </a:pPr>
            <a:endParaRPr lang="en-US"/>
          </a:p>
        </p:txBody>
      </p:sp>
      <p:sp>
        <p:nvSpPr>
          <p:cNvPr id="9224" name="Text Box 8"/>
          <p:cNvSpPr txBox="1">
            <a:spLocks noChangeArrowheads="1"/>
          </p:cNvSpPr>
          <p:nvPr/>
        </p:nvSpPr>
        <p:spPr bwMode="auto">
          <a:xfrm>
            <a:off x="228600" y="2209800"/>
            <a:ext cx="8915400" cy="822325"/>
          </a:xfrm>
          <a:prstGeom prst="rect">
            <a:avLst/>
          </a:prstGeom>
          <a:noFill/>
          <a:ln w="9525">
            <a:noFill/>
            <a:miter lim="800000"/>
            <a:headEnd/>
            <a:tailEnd/>
          </a:ln>
        </p:spPr>
        <p:txBody>
          <a:bodyPr>
            <a:spAutoFit/>
          </a:bodyPr>
          <a:lstStyle/>
          <a:p>
            <a:r>
              <a:rPr lang="en-US"/>
              <a:t>1. Van Maanen and Barley:  Culture is a living, historical, product  of </a:t>
            </a:r>
          </a:p>
          <a:p>
            <a:r>
              <a:rPr lang="en-US"/>
              <a:t>group problem solving. </a:t>
            </a:r>
          </a:p>
        </p:txBody>
      </p:sp>
      <p:sp>
        <p:nvSpPr>
          <p:cNvPr id="9225" name="Text Box 9"/>
          <p:cNvSpPr txBox="1">
            <a:spLocks noChangeArrowheads="1"/>
          </p:cNvSpPr>
          <p:nvPr/>
        </p:nvSpPr>
        <p:spPr bwMode="auto">
          <a:xfrm>
            <a:off x="381000" y="3048000"/>
            <a:ext cx="9429750" cy="457200"/>
          </a:xfrm>
          <a:prstGeom prst="rect">
            <a:avLst/>
          </a:prstGeom>
          <a:noFill/>
          <a:ln w="9525">
            <a:noFill/>
            <a:miter lim="800000"/>
            <a:headEnd/>
            <a:tailEnd/>
          </a:ln>
        </p:spPr>
        <p:txBody>
          <a:bodyPr>
            <a:spAutoFit/>
          </a:bodyPr>
          <a:lstStyle/>
          <a:p>
            <a:r>
              <a:rPr lang="en-US"/>
              <a:t>(form follows function but then function at times gives way to form)</a:t>
            </a:r>
          </a:p>
        </p:txBody>
      </p:sp>
    </p:spTree>
    <p:custDataLst>
      <p:tags r:id="rId1"/>
    </p:custDataLst>
  </p:cSld>
  <p:clrMapOvr>
    <a:masterClrMapping/>
  </p:clrMapOvr>
  <p:transition advTm="89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2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2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22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9219"/>
                                        </p:tgtEl>
                                        <p:attrNameLst>
                                          <p:attrName>style.visibility</p:attrName>
                                        </p:attrNameLst>
                                      </p:cBhvr>
                                      <p:to>
                                        <p:strVal val="visible"/>
                                      </p:to>
                                    </p:set>
                                    <p:animEffect transition="in" filter="dissolve">
                                      <p:cBhvr>
                                        <p:cTn id="23" dur="5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build="p" autoUpdateAnimBg="0"/>
      <p:bldP spid="9224" grpId="0" build="p" autoUpdateAnimBg="0"/>
      <p:bldP spid="922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srcRect/>
          <a:stretch>
            <a:fillRect/>
          </a:stretch>
        </p:blipFill>
        <p:spPr bwMode="auto">
          <a:xfrm>
            <a:off x="609600" y="228600"/>
            <a:ext cx="7677150" cy="6419850"/>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p14:bwMode="auto" r:id="rId4">
            <p14:nvContentPartPr>
              <p14:cNvPr id="4101" name="Ink 5"/>
              <p14:cNvContentPartPr>
                <a14:cpLocks xmlns:a14="http://schemas.microsoft.com/office/drawing/2010/main" noRot="1" noChangeAspect="1" noEditPoints="1" noChangeArrowheads="1" noChangeShapeType="1"/>
              </p14:cNvContentPartPr>
              <p14:nvPr/>
            </p14:nvContentPartPr>
            <p14:xfrm>
              <a:off x="3943350" y="1611313"/>
              <a:ext cx="1588" cy="1587"/>
            </p14:xfrm>
          </p:contentPart>
        </mc:Choice>
        <mc:Fallback xmlns="">
          <p:pic>
            <p:nvPicPr>
              <p:cNvPr id="4101" name="Ink 5"/>
              <p:cNvPicPr>
                <a:picLocks noRot="1" noChangeAspect="1" noEditPoints="1" noChangeArrowheads="1" noChangeShapeType="1"/>
              </p:cNvPicPr>
              <p:nvPr/>
            </p:nvPicPr>
            <p:blipFill>
              <a:blip r:embed="rId7"/>
              <a:stretch>
                <a:fillRect/>
              </a:stretch>
            </p:blipFill>
            <p:spPr>
              <a:xfrm>
                <a:off x="3902062" y="1570051"/>
                <a:ext cx="84164" cy="8411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102" name="Ink 6"/>
              <p14:cNvContentPartPr>
                <a14:cpLocks xmlns:a14="http://schemas.microsoft.com/office/drawing/2010/main" noRot="1" noChangeAspect="1" noEditPoints="1" noChangeArrowheads="1" noChangeShapeType="1"/>
              </p14:cNvContentPartPr>
              <p14:nvPr/>
            </p14:nvContentPartPr>
            <p14:xfrm>
              <a:off x="6197600" y="5824538"/>
              <a:ext cx="23813" cy="7937"/>
            </p14:xfrm>
          </p:contentPart>
        </mc:Choice>
        <mc:Fallback xmlns="">
          <p:pic>
            <p:nvPicPr>
              <p:cNvPr id="4102" name="Ink 6"/>
              <p:cNvPicPr>
                <a:picLocks noRot="1" noChangeAspect="1" noEditPoints="1" noChangeArrowheads="1" noChangeShapeType="1"/>
              </p:cNvPicPr>
              <p:nvPr/>
            </p:nvPicPr>
            <p:blipFill>
              <a:blip r:embed="rId9"/>
              <a:stretch>
                <a:fillRect/>
              </a:stretch>
            </p:blipFill>
            <p:spPr>
              <a:xfrm>
                <a:off x="6194714" y="5822013"/>
                <a:ext cx="29225" cy="1334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103" name="Ink 7"/>
              <p14:cNvContentPartPr>
                <a14:cpLocks xmlns:a14="http://schemas.microsoft.com/office/drawing/2010/main" noRot="1" noChangeAspect="1" noEditPoints="1" noChangeArrowheads="1" noChangeShapeType="1"/>
              </p14:cNvContentPartPr>
              <p14:nvPr/>
            </p14:nvContentPartPr>
            <p14:xfrm>
              <a:off x="4530725" y="1527380"/>
              <a:ext cx="107155" cy="968850"/>
            </p14:xfrm>
          </p:contentPart>
        </mc:Choice>
        <mc:Fallback xmlns="">
          <p:pic>
            <p:nvPicPr>
              <p:cNvPr id="4103" name="Ink 7"/>
              <p:cNvPicPr>
                <a:picLocks noRot="1" noChangeAspect="1" noEditPoints="1" noChangeArrowheads="1" noChangeShapeType="1"/>
              </p:cNvPicPr>
              <p:nvPr/>
            </p:nvPicPr>
            <p:blipFill>
              <a:blip r:embed="rId11"/>
              <a:stretch>
                <a:fillRect/>
              </a:stretch>
            </p:blipFill>
            <p:spPr>
              <a:xfrm>
                <a:off x="4528205" y="1348100"/>
                <a:ext cx="969353" cy="4991850"/>
              </a:xfrm>
              <a:prstGeom prst="rect">
                <a:avLst/>
              </a:prstGeom>
            </p:spPr>
          </p:pic>
        </mc:Fallback>
      </mc:AlternateContent>
      <p:sp>
        <p:nvSpPr>
          <p:cNvPr id="2" name="TextBox 1"/>
          <p:cNvSpPr txBox="1"/>
          <p:nvPr/>
        </p:nvSpPr>
        <p:spPr>
          <a:xfrm>
            <a:off x="-7398" y="5911421"/>
            <a:ext cx="2767104" cy="1015663"/>
          </a:xfrm>
          <a:prstGeom prst="rect">
            <a:avLst/>
          </a:prstGeom>
          <a:noFill/>
        </p:spPr>
        <p:txBody>
          <a:bodyPr wrap="none" rtlCol="0">
            <a:spAutoFit/>
          </a:bodyPr>
          <a:lstStyle/>
          <a:p>
            <a:r>
              <a:rPr lang="en-US" sz="1000" dirty="0"/>
              <a:t>Concepts of Culture and Organizational Analysis</a:t>
            </a:r>
          </a:p>
          <a:p>
            <a:r>
              <a:rPr lang="en-US" sz="1000" dirty="0"/>
              <a:t>Author(s): Linda </a:t>
            </a:r>
            <a:r>
              <a:rPr lang="en-US" sz="1000" dirty="0" err="1"/>
              <a:t>Smircich</a:t>
            </a:r>
            <a:endParaRPr lang="en-US" sz="1000" dirty="0"/>
          </a:p>
          <a:p>
            <a:r>
              <a:rPr lang="en-US" sz="1000" dirty="0"/>
              <a:t>Source: </a:t>
            </a:r>
          </a:p>
          <a:p>
            <a:r>
              <a:rPr lang="en-US" sz="1000" dirty="0"/>
              <a:t>Administrative Science Quarterly, </a:t>
            </a:r>
          </a:p>
          <a:p>
            <a:r>
              <a:rPr lang="en-US" sz="1000" dirty="0"/>
              <a:t>Vol. 28, No. 3, Organizational Culture (Sep., 1983)</a:t>
            </a:r>
          </a:p>
          <a:p>
            <a:r>
              <a:rPr lang="en-US" sz="1000" dirty="0"/>
              <a:t>339-358</a:t>
            </a:r>
          </a:p>
        </p:txBody>
      </p:sp>
    </p:spTree>
  </p:cSld>
  <p:clrMapOvr>
    <a:masterClrMapping/>
  </p:clrMapOvr>
  <p:transition advTm="43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0A5F-BF16-42F4-AD5F-A196F51A1BC4}"/>
              </a:ext>
            </a:extLst>
          </p:cNvPr>
          <p:cNvSpPr>
            <a:spLocks noGrp="1"/>
          </p:cNvSpPr>
          <p:nvPr>
            <p:ph type="title"/>
          </p:nvPr>
        </p:nvSpPr>
        <p:spPr/>
        <p:txBody>
          <a:bodyPr/>
          <a:lstStyle/>
          <a:p>
            <a:r>
              <a:rPr lang="en-US" dirty="0"/>
              <a:t>Second Reflective Pause</a:t>
            </a:r>
          </a:p>
        </p:txBody>
      </p:sp>
      <p:sp>
        <p:nvSpPr>
          <p:cNvPr id="3" name="Content Placeholder 2">
            <a:extLst>
              <a:ext uri="{FF2B5EF4-FFF2-40B4-BE49-F238E27FC236}">
                <a16:creationId xmlns:a16="http://schemas.microsoft.com/office/drawing/2014/main" id="{04B8F32D-95D7-404F-B834-16A08146E264}"/>
              </a:ext>
            </a:extLst>
          </p:cNvPr>
          <p:cNvSpPr>
            <a:spLocks noGrp="1"/>
          </p:cNvSpPr>
          <p:nvPr>
            <p:ph idx="1"/>
          </p:nvPr>
        </p:nvSpPr>
        <p:spPr/>
        <p:txBody>
          <a:bodyPr>
            <a:normAutofit lnSpcReduction="10000"/>
          </a:bodyPr>
          <a:lstStyle/>
          <a:p>
            <a:r>
              <a:rPr lang="en-US" dirty="0"/>
              <a:t>A fun exercise (ok, maybe fun is too strong a term!)</a:t>
            </a:r>
          </a:p>
          <a:p>
            <a:pPr lvl="1"/>
            <a:r>
              <a:rPr lang="en-US" dirty="0"/>
              <a:t>Given the five different cultural concepts, where would you place</a:t>
            </a:r>
          </a:p>
          <a:p>
            <a:pPr lvl="2"/>
            <a:r>
              <a:rPr lang="en-US" dirty="0"/>
              <a:t>Theory X Y Z</a:t>
            </a:r>
          </a:p>
          <a:p>
            <a:pPr lvl="2"/>
            <a:r>
              <a:rPr lang="en-US" dirty="0"/>
              <a:t> Follet</a:t>
            </a:r>
          </a:p>
          <a:p>
            <a:pPr lvl="2"/>
            <a:r>
              <a:rPr lang="en-US" dirty="0"/>
              <a:t>Mayo</a:t>
            </a:r>
          </a:p>
          <a:p>
            <a:pPr lvl="2"/>
            <a:r>
              <a:rPr lang="en-US" dirty="0"/>
              <a:t>The fact that we didn’t have to learn to “do class”</a:t>
            </a:r>
          </a:p>
          <a:p>
            <a:pPr lvl="2"/>
            <a:r>
              <a:rPr lang="en-US" dirty="0"/>
              <a:t>The proliferation of University Library Technology Commons</a:t>
            </a:r>
          </a:p>
          <a:p>
            <a:pPr lvl="1"/>
            <a:endParaRPr lang="en-US" dirty="0"/>
          </a:p>
        </p:txBody>
      </p:sp>
    </p:spTree>
    <p:extLst>
      <p:ext uri="{BB962C8B-B14F-4D97-AF65-F5344CB8AC3E}">
        <p14:creationId xmlns:p14="http://schemas.microsoft.com/office/powerpoint/2010/main" val="95896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Culture as a mind set</a:t>
            </a:r>
          </a:p>
        </p:txBody>
      </p:sp>
      <p:sp>
        <p:nvSpPr>
          <p:cNvPr id="3" name="Content Placeholder 2"/>
          <p:cNvSpPr>
            <a:spLocks noGrp="1"/>
          </p:cNvSpPr>
          <p:nvPr>
            <p:ph idx="1"/>
          </p:nvPr>
        </p:nvSpPr>
        <p:spPr/>
        <p:txBody>
          <a:bodyPr>
            <a:normAutofit fontScale="92500" lnSpcReduction="20000"/>
          </a:bodyPr>
          <a:lstStyle/>
          <a:p>
            <a:r>
              <a:rPr lang="en-US" dirty="0"/>
              <a:t>Recent concern about government monitoring of citizens is not really recent!</a:t>
            </a:r>
          </a:p>
          <a:p>
            <a:pPr lvl="1"/>
            <a:r>
              <a:rPr lang="en-US" dirty="0"/>
              <a:t>(NSA) had been monitoring both the phone calls and the telegrams of American citizens…for decades</a:t>
            </a:r>
          </a:p>
          <a:p>
            <a:r>
              <a:rPr lang="en-US" dirty="0"/>
              <a:t>From a 1975 congressional hearing</a:t>
            </a:r>
          </a:p>
          <a:p>
            <a:pPr lvl="1"/>
            <a:r>
              <a:rPr lang="en-US" dirty="0"/>
              <a:t>“…the intelligence agencies have regularly collected information about personal and political activities irrelevant to any legitimate government interest “ (Church Report, April 27, 1976) </a:t>
            </a:r>
          </a:p>
          <a:p>
            <a:r>
              <a:rPr lang="en-US" dirty="0"/>
              <a:t> Cultures do not change easily!</a:t>
            </a:r>
          </a:p>
          <a:p>
            <a:r>
              <a:rPr lang="en-US" sz="1600" dirty="0"/>
              <a:t>(The Invisible Bridge: The Fall of Nixon and the Rise of Reagan, Rick Perlstein 2014)</a:t>
            </a:r>
            <a:r>
              <a:rPr lang="en-US" dirty="0"/>
              <a:t> </a:t>
            </a:r>
          </a:p>
        </p:txBody>
      </p:sp>
    </p:spTree>
    <p:extLst>
      <p:ext uri="{BB962C8B-B14F-4D97-AF65-F5344CB8AC3E}">
        <p14:creationId xmlns:p14="http://schemas.microsoft.com/office/powerpoint/2010/main" val="71302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Elements of Culture</a:t>
            </a:r>
          </a:p>
        </p:txBody>
      </p:sp>
      <p:sp>
        <p:nvSpPr>
          <p:cNvPr id="10243" name="Text Box 3"/>
          <p:cNvSpPr txBox="1">
            <a:spLocks noChangeArrowheads="1"/>
          </p:cNvSpPr>
          <p:nvPr/>
        </p:nvSpPr>
        <p:spPr bwMode="auto">
          <a:xfrm>
            <a:off x="479425" y="2362200"/>
            <a:ext cx="3863975" cy="4291013"/>
          </a:xfrm>
          <a:prstGeom prst="rect">
            <a:avLst/>
          </a:prstGeom>
          <a:noFill/>
          <a:ln w="9525">
            <a:noFill/>
            <a:miter lim="800000"/>
            <a:headEnd/>
            <a:tailEnd/>
          </a:ln>
        </p:spPr>
        <p:txBody>
          <a:bodyPr>
            <a:spAutoFit/>
          </a:bodyPr>
          <a:lstStyle/>
          <a:p>
            <a:pPr>
              <a:spcBef>
                <a:spcPct val="50000"/>
              </a:spcBef>
            </a:pPr>
            <a:r>
              <a:rPr lang="en-US"/>
              <a:t>Deal and Kennedy:  </a:t>
            </a:r>
          </a:p>
          <a:p>
            <a:pPr>
              <a:spcBef>
                <a:spcPct val="50000"/>
              </a:spcBef>
            </a:pPr>
            <a:r>
              <a:rPr lang="en-US"/>
              <a:t>	1. Environment</a:t>
            </a:r>
          </a:p>
          <a:p>
            <a:pPr>
              <a:spcBef>
                <a:spcPct val="50000"/>
              </a:spcBef>
            </a:pPr>
            <a:r>
              <a:rPr lang="en-US"/>
              <a:t>	2. Values</a:t>
            </a:r>
          </a:p>
          <a:p>
            <a:pPr>
              <a:spcBef>
                <a:spcPct val="50000"/>
              </a:spcBef>
            </a:pPr>
            <a:r>
              <a:rPr lang="en-US"/>
              <a:t>	3. Heroes</a:t>
            </a:r>
          </a:p>
          <a:p>
            <a:pPr>
              <a:spcBef>
                <a:spcPct val="50000"/>
              </a:spcBef>
            </a:pPr>
            <a:r>
              <a:rPr lang="en-US"/>
              <a:t>	4.Ceremonies/play/</a:t>
            </a:r>
          </a:p>
          <a:p>
            <a:pPr>
              <a:spcBef>
                <a:spcPct val="50000"/>
              </a:spcBef>
            </a:pPr>
            <a:r>
              <a:rPr lang="en-US"/>
              <a:t>	ritual</a:t>
            </a:r>
          </a:p>
          <a:p>
            <a:pPr>
              <a:spcBef>
                <a:spcPct val="50000"/>
              </a:spcBef>
            </a:pPr>
            <a:r>
              <a:rPr lang="en-US"/>
              <a:t>	5. Networks</a:t>
            </a:r>
          </a:p>
          <a:p>
            <a:pPr>
              <a:spcBef>
                <a:spcPct val="50000"/>
              </a:spcBef>
            </a:pPr>
            <a:r>
              <a:rPr lang="en-US"/>
              <a:t>  </a:t>
            </a:r>
          </a:p>
        </p:txBody>
      </p:sp>
      <p:sp>
        <p:nvSpPr>
          <p:cNvPr id="10245" name="Text Box 5"/>
          <p:cNvSpPr txBox="1">
            <a:spLocks noChangeArrowheads="1"/>
          </p:cNvSpPr>
          <p:nvPr/>
        </p:nvSpPr>
        <p:spPr bwMode="auto">
          <a:xfrm>
            <a:off x="5165725" y="2251075"/>
            <a:ext cx="2900363" cy="1917700"/>
          </a:xfrm>
          <a:prstGeom prst="rect">
            <a:avLst/>
          </a:prstGeom>
          <a:noFill/>
          <a:ln w="9525">
            <a:noFill/>
            <a:miter lim="800000"/>
            <a:headEnd/>
            <a:tailEnd/>
          </a:ln>
        </p:spPr>
        <p:txBody>
          <a:bodyPr wrap="none">
            <a:spAutoFit/>
          </a:bodyPr>
          <a:lstStyle/>
          <a:p>
            <a:pPr marL="457200" indent="-457200"/>
            <a:r>
              <a:rPr lang="en-US"/>
              <a:t>Schein:</a:t>
            </a:r>
          </a:p>
          <a:p>
            <a:pPr marL="457200" indent="-457200"/>
            <a:endParaRPr lang="en-US"/>
          </a:p>
          <a:p>
            <a:pPr marL="457200" indent="-457200">
              <a:buFontTx/>
              <a:buAutoNum type="arabicPeriod"/>
            </a:pPr>
            <a:r>
              <a:rPr lang="en-US"/>
              <a:t>Artifacts</a:t>
            </a:r>
          </a:p>
          <a:p>
            <a:pPr marL="457200" indent="-457200">
              <a:buFontTx/>
              <a:buAutoNum type="arabicPeriod"/>
            </a:pPr>
            <a:r>
              <a:rPr lang="en-US"/>
              <a:t>Values</a:t>
            </a:r>
          </a:p>
          <a:p>
            <a:pPr marL="457200" indent="-457200">
              <a:buFontTx/>
              <a:buAutoNum type="arabicPeriod"/>
            </a:pPr>
            <a:r>
              <a:rPr lang="en-US"/>
              <a:t>Basic assumptions</a:t>
            </a:r>
          </a:p>
        </p:txBody>
      </p:sp>
      <mc:AlternateContent xmlns:mc="http://schemas.openxmlformats.org/markup-compatibility/2006" xmlns:p14="http://schemas.microsoft.com/office/powerpoint/2010/main">
        <mc:Choice Requires="p14">
          <p:contentPart p14:bwMode="auto" r:id="rId3">
            <p14:nvContentPartPr>
              <p14:cNvPr id="32769" name="Ink 1"/>
              <p14:cNvContentPartPr>
                <a14:cpLocks xmlns:a14="http://schemas.microsoft.com/office/drawing/2010/main" noRot="1" noChangeAspect="1" noEditPoints="1" noChangeArrowheads="1" noChangeShapeType="1"/>
              </p14:cNvContentPartPr>
              <p14:nvPr/>
            </p14:nvContentPartPr>
            <p14:xfrm>
              <a:off x="1155700" y="6784975"/>
              <a:ext cx="33338" cy="73025"/>
            </p14:xfrm>
          </p:contentPart>
        </mc:Choice>
        <mc:Fallback xmlns="">
          <p:pic>
            <p:nvPicPr>
              <p:cNvPr id="32769" name="Ink 1"/>
              <p:cNvPicPr>
                <a:picLocks noRot="1" noChangeAspect="1" noEditPoints="1" noChangeArrowheads="1" noChangeShapeType="1"/>
              </p:cNvPicPr>
              <p:nvPr/>
            </p:nvPicPr>
            <p:blipFill>
              <a:blip r:embed="rId6"/>
              <a:stretch>
                <a:fillRect/>
              </a:stretch>
            </p:blipFill>
            <p:spPr>
              <a:xfrm>
                <a:off x="1145191" y="6782444"/>
                <a:ext cx="54718" cy="87124"/>
              </a:xfrm>
              <a:prstGeom prst="rect">
                <a:avLst/>
              </a:prstGeom>
            </p:spPr>
          </p:pic>
        </mc:Fallback>
      </mc:AlternateContent>
    </p:spTree>
    <p:custDataLst>
      <p:tags r:id="rId1"/>
    </p:custDataLst>
  </p:cSld>
  <p:clrMapOvr>
    <a:masterClrMapping/>
  </p:clrMapOvr>
  <p:transition advTm="51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2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2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2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24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024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024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0245">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024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P spid="1024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1295400" y="2743200"/>
            <a:ext cx="5029200" cy="0"/>
          </a:xfrm>
          <a:prstGeom prst="line">
            <a:avLst/>
          </a:prstGeom>
          <a:noFill/>
          <a:ln w="9525">
            <a:solidFill>
              <a:schemeClr val="tx1"/>
            </a:solidFill>
            <a:round/>
            <a:headEnd/>
            <a:tailEnd/>
          </a:ln>
        </p:spPr>
        <p:txBody>
          <a:bodyPr/>
          <a:lstStyle/>
          <a:p>
            <a:endParaRPr lang="en-US"/>
          </a:p>
        </p:txBody>
      </p:sp>
      <p:sp>
        <p:nvSpPr>
          <p:cNvPr id="7171" name="Oval 3"/>
          <p:cNvSpPr>
            <a:spLocks noChangeArrowheads="1"/>
          </p:cNvSpPr>
          <p:nvPr/>
        </p:nvSpPr>
        <p:spPr bwMode="auto">
          <a:xfrm>
            <a:off x="2438400" y="2133600"/>
            <a:ext cx="2057400" cy="19812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1508" name="Line 4"/>
          <p:cNvSpPr>
            <a:spLocks noChangeShapeType="1"/>
          </p:cNvSpPr>
          <p:nvPr/>
        </p:nvSpPr>
        <p:spPr bwMode="auto">
          <a:xfrm flipH="1">
            <a:off x="4114800" y="1447800"/>
            <a:ext cx="685800" cy="914400"/>
          </a:xfrm>
          <a:prstGeom prst="line">
            <a:avLst/>
          </a:prstGeom>
          <a:noFill/>
          <a:ln w="9525">
            <a:solidFill>
              <a:schemeClr val="tx1"/>
            </a:solidFill>
            <a:round/>
            <a:headEnd/>
            <a:tailEnd type="triangle" w="med" len="med"/>
          </a:ln>
        </p:spPr>
        <p:txBody>
          <a:bodyPr/>
          <a:lstStyle/>
          <a:p>
            <a:endParaRPr lang="en-US"/>
          </a:p>
        </p:txBody>
      </p:sp>
      <p:sp>
        <p:nvSpPr>
          <p:cNvPr id="21509" name="Text Box 5"/>
          <p:cNvSpPr txBox="1">
            <a:spLocks noChangeArrowheads="1"/>
          </p:cNvSpPr>
          <p:nvPr/>
        </p:nvSpPr>
        <p:spPr bwMode="auto">
          <a:xfrm>
            <a:off x="4708525" y="1184275"/>
            <a:ext cx="1163638" cy="457200"/>
          </a:xfrm>
          <a:prstGeom prst="rect">
            <a:avLst/>
          </a:prstGeom>
          <a:noFill/>
          <a:ln w="9525">
            <a:noFill/>
            <a:miter lim="800000"/>
            <a:headEnd/>
            <a:tailEnd/>
          </a:ln>
        </p:spPr>
        <p:txBody>
          <a:bodyPr wrap="none">
            <a:spAutoFit/>
          </a:bodyPr>
          <a:lstStyle/>
          <a:p>
            <a:r>
              <a:rPr lang="en-US"/>
              <a:t>artifacts</a:t>
            </a:r>
          </a:p>
        </p:txBody>
      </p:sp>
      <p:sp>
        <p:nvSpPr>
          <p:cNvPr id="21510" name="Text Box 6"/>
          <p:cNvSpPr txBox="1">
            <a:spLocks noChangeArrowheads="1"/>
          </p:cNvSpPr>
          <p:nvPr/>
        </p:nvSpPr>
        <p:spPr bwMode="auto">
          <a:xfrm>
            <a:off x="1508125" y="803275"/>
            <a:ext cx="2397125" cy="457200"/>
          </a:xfrm>
          <a:prstGeom prst="rect">
            <a:avLst/>
          </a:prstGeom>
          <a:noFill/>
          <a:ln w="9525">
            <a:noFill/>
            <a:miter lim="800000"/>
            <a:headEnd/>
            <a:tailEnd/>
          </a:ln>
        </p:spPr>
        <p:txBody>
          <a:bodyPr wrap="none">
            <a:spAutoFit/>
          </a:bodyPr>
          <a:lstStyle/>
          <a:p>
            <a:r>
              <a:rPr lang="en-US"/>
              <a:t>Ritual/ceremonies</a:t>
            </a:r>
          </a:p>
        </p:txBody>
      </p:sp>
      <p:sp>
        <p:nvSpPr>
          <p:cNvPr id="21511" name="Line 7"/>
          <p:cNvSpPr>
            <a:spLocks noChangeShapeType="1"/>
          </p:cNvSpPr>
          <p:nvPr/>
        </p:nvSpPr>
        <p:spPr bwMode="auto">
          <a:xfrm>
            <a:off x="2057400" y="1143000"/>
            <a:ext cx="685800" cy="1143000"/>
          </a:xfrm>
          <a:prstGeom prst="line">
            <a:avLst/>
          </a:prstGeom>
          <a:noFill/>
          <a:ln w="9525">
            <a:solidFill>
              <a:schemeClr val="tx1"/>
            </a:solidFill>
            <a:round/>
            <a:headEnd/>
            <a:tailEnd type="triangle" w="med" len="med"/>
          </a:ln>
        </p:spPr>
        <p:txBody>
          <a:bodyPr/>
          <a:lstStyle/>
          <a:p>
            <a:endParaRPr lang="en-US"/>
          </a:p>
        </p:txBody>
      </p:sp>
      <p:sp>
        <p:nvSpPr>
          <p:cNvPr id="21513" name="Rectangle 9"/>
          <p:cNvSpPr>
            <a:spLocks noChangeArrowheads="1"/>
          </p:cNvSpPr>
          <p:nvPr/>
        </p:nvSpPr>
        <p:spPr bwMode="auto">
          <a:xfrm>
            <a:off x="1066800" y="533400"/>
            <a:ext cx="4953000" cy="2133600"/>
          </a:xfrm>
          <a:prstGeom prst="rect">
            <a:avLst/>
          </a:prstGeom>
          <a:noFill/>
          <a:ln w="9525">
            <a:solidFill>
              <a:schemeClr val="tx1"/>
            </a:solidFill>
            <a:miter lim="800000"/>
            <a:headEnd/>
            <a:tailEnd/>
          </a:ln>
        </p:spPr>
        <p:txBody>
          <a:bodyPr wrap="none" anchor="ctr"/>
          <a:lstStyle/>
          <a:p>
            <a:endParaRPr lang="en-US"/>
          </a:p>
        </p:txBody>
      </p:sp>
      <p:sp>
        <p:nvSpPr>
          <p:cNvPr id="21515" name="Text Box 11"/>
          <p:cNvSpPr txBox="1">
            <a:spLocks noChangeArrowheads="1"/>
          </p:cNvSpPr>
          <p:nvPr/>
        </p:nvSpPr>
        <p:spPr bwMode="auto">
          <a:xfrm>
            <a:off x="7070725" y="1336675"/>
            <a:ext cx="1773238" cy="457200"/>
          </a:xfrm>
          <a:prstGeom prst="rect">
            <a:avLst/>
          </a:prstGeom>
          <a:noFill/>
          <a:ln w="9525">
            <a:noFill/>
            <a:miter lim="800000"/>
            <a:headEnd/>
            <a:tailEnd/>
          </a:ln>
        </p:spPr>
        <p:txBody>
          <a:bodyPr wrap="none">
            <a:spAutoFit/>
          </a:bodyPr>
          <a:lstStyle/>
          <a:p>
            <a:r>
              <a:rPr lang="en-US"/>
              <a:t>Environment</a:t>
            </a:r>
          </a:p>
        </p:txBody>
      </p:sp>
      <p:sp>
        <p:nvSpPr>
          <p:cNvPr id="21516" name="Line 12"/>
          <p:cNvSpPr>
            <a:spLocks noChangeShapeType="1"/>
          </p:cNvSpPr>
          <p:nvPr/>
        </p:nvSpPr>
        <p:spPr bwMode="auto">
          <a:xfrm flipH="1">
            <a:off x="6019800" y="1524000"/>
            <a:ext cx="914400" cy="0"/>
          </a:xfrm>
          <a:prstGeom prst="line">
            <a:avLst/>
          </a:prstGeom>
          <a:noFill/>
          <a:ln w="9525">
            <a:solidFill>
              <a:schemeClr val="tx1"/>
            </a:solidFill>
            <a:round/>
            <a:headEnd/>
            <a:tailEnd type="triangle" w="med" len="med"/>
          </a:ln>
        </p:spPr>
        <p:txBody>
          <a:bodyPr/>
          <a:lstStyle/>
          <a:p>
            <a:endParaRPr lang="en-US"/>
          </a:p>
        </p:txBody>
      </p:sp>
      <p:sp>
        <p:nvSpPr>
          <p:cNvPr id="21517" name="Text Box 13"/>
          <p:cNvSpPr txBox="1">
            <a:spLocks noChangeArrowheads="1"/>
          </p:cNvSpPr>
          <p:nvPr/>
        </p:nvSpPr>
        <p:spPr bwMode="auto">
          <a:xfrm>
            <a:off x="1965325" y="4232275"/>
            <a:ext cx="962025" cy="457200"/>
          </a:xfrm>
          <a:prstGeom prst="rect">
            <a:avLst/>
          </a:prstGeom>
          <a:noFill/>
          <a:ln w="9525">
            <a:noFill/>
            <a:miter lim="800000"/>
            <a:headEnd/>
            <a:tailEnd/>
          </a:ln>
        </p:spPr>
        <p:txBody>
          <a:bodyPr wrap="none">
            <a:spAutoFit/>
          </a:bodyPr>
          <a:lstStyle/>
          <a:p>
            <a:r>
              <a:rPr lang="en-US"/>
              <a:t>values</a:t>
            </a:r>
          </a:p>
        </p:txBody>
      </p:sp>
      <p:sp>
        <p:nvSpPr>
          <p:cNvPr id="21518" name="Line 14"/>
          <p:cNvSpPr>
            <a:spLocks noChangeShapeType="1"/>
          </p:cNvSpPr>
          <p:nvPr/>
        </p:nvSpPr>
        <p:spPr bwMode="auto">
          <a:xfrm flipV="1">
            <a:off x="2286000" y="3810000"/>
            <a:ext cx="381000" cy="609600"/>
          </a:xfrm>
          <a:prstGeom prst="line">
            <a:avLst/>
          </a:prstGeom>
          <a:noFill/>
          <a:ln w="9525">
            <a:solidFill>
              <a:schemeClr val="tx1"/>
            </a:solidFill>
            <a:round/>
            <a:headEnd/>
            <a:tailEnd type="triangle" w="med" len="med"/>
          </a:ln>
        </p:spPr>
        <p:txBody>
          <a:bodyPr/>
          <a:lstStyle/>
          <a:p>
            <a:endParaRPr lang="en-US"/>
          </a:p>
        </p:txBody>
      </p:sp>
      <p:sp>
        <p:nvSpPr>
          <p:cNvPr id="21519" name="Text Box 15"/>
          <p:cNvSpPr txBox="1">
            <a:spLocks noChangeArrowheads="1"/>
          </p:cNvSpPr>
          <p:nvPr/>
        </p:nvSpPr>
        <p:spPr bwMode="auto">
          <a:xfrm>
            <a:off x="4479925" y="4003675"/>
            <a:ext cx="2528888" cy="457200"/>
          </a:xfrm>
          <a:prstGeom prst="rect">
            <a:avLst/>
          </a:prstGeom>
          <a:noFill/>
          <a:ln w="9525">
            <a:noFill/>
            <a:miter lim="800000"/>
            <a:headEnd/>
            <a:tailEnd/>
          </a:ln>
        </p:spPr>
        <p:txBody>
          <a:bodyPr wrap="none">
            <a:spAutoFit/>
          </a:bodyPr>
          <a:lstStyle/>
          <a:p>
            <a:r>
              <a:rPr lang="en-US"/>
              <a:t>Basic Assumptions</a:t>
            </a:r>
          </a:p>
        </p:txBody>
      </p:sp>
      <p:sp>
        <p:nvSpPr>
          <p:cNvPr id="21520" name="Line 16"/>
          <p:cNvSpPr>
            <a:spLocks noChangeShapeType="1"/>
          </p:cNvSpPr>
          <p:nvPr/>
        </p:nvSpPr>
        <p:spPr bwMode="auto">
          <a:xfrm flipH="1" flipV="1">
            <a:off x="4343400" y="3733800"/>
            <a:ext cx="457200" cy="381000"/>
          </a:xfrm>
          <a:prstGeom prst="line">
            <a:avLst/>
          </a:prstGeom>
          <a:noFill/>
          <a:ln w="9525">
            <a:solidFill>
              <a:schemeClr val="tx1"/>
            </a:solidFill>
            <a:round/>
            <a:headEnd/>
            <a:tailEnd type="triangle" w="med" len="med"/>
          </a:ln>
        </p:spPr>
        <p:txBody>
          <a:bodyPr/>
          <a:lstStyle/>
          <a:p>
            <a:endParaRPr lang="en-US"/>
          </a:p>
        </p:txBody>
      </p:sp>
      <mc:AlternateContent xmlns:mc="http://schemas.openxmlformats.org/markup-compatibility/2006" xmlns:p14="http://schemas.microsoft.com/office/powerpoint/2010/main">
        <mc:Choice Requires="p14">
          <p:contentPart p14:bwMode="auto" r:id="rId4">
            <p14:nvContentPartPr>
              <p14:cNvPr id="5123" name="Ink 3"/>
              <p14:cNvContentPartPr>
                <a14:cpLocks xmlns:a14="http://schemas.microsoft.com/office/drawing/2010/main" noRot="1" noChangeAspect="1" noEditPoints="1" noChangeArrowheads="1" noChangeShapeType="1"/>
              </p14:cNvContentPartPr>
              <p14:nvPr/>
            </p14:nvContentPartPr>
            <p14:xfrm>
              <a:off x="4605338" y="2492375"/>
              <a:ext cx="1587" cy="1588"/>
            </p14:xfrm>
          </p:contentPart>
        </mc:Choice>
        <mc:Fallback xmlns="">
          <p:pic>
            <p:nvPicPr>
              <p:cNvPr id="5123" name="Ink 3"/>
              <p:cNvPicPr>
                <a:picLocks noRot="1" noChangeAspect="1" noEditPoints="1" noChangeArrowheads="1" noChangeShapeType="1"/>
              </p:cNvPicPr>
              <p:nvPr/>
            </p:nvPicPr>
            <p:blipFill>
              <a:blip r:embed="rId6"/>
              <a:stretch>
                <a:fillRect/>
              </a:stretch>
            </p:blipFill>
            <p:spPr>
              <a:xfrm>
                <a:off x="4564076" y="2451087"/>
                <a:ext cx="84111"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124" name="Ink 4"/>
              <p14:cNvContentPartPr>
                <a14:cpLocks xmlns:a14="http://schemas.microsoft.com/office/drawing/2010/main" noRot="1" noChangeAspect="1" noEditPoints="1" noChangeArrowheads="1" noChangeShapeType="1"/>
              </p14:cNvContentPartPr>
              <p14:nvPr/>
            </p14:nvContentPartPr>
            <p14:xfrm>
              <a:off x="1103313" y="6619875"/>
              <a:ext cx="100012" cy="180975"/>
            </p14:xfrm>
          </p:contentPart>
        </mc:Choice>
        <mc:Fallback xmlns="">
          <p:pic>
            <p:nvPicPr>
              <p:cNvPr id="5124" name="Ink 4"/>
              <p:cNvPicPr>
                <a:picLocks noRot="1" noChangeAspect="1" noEditPoints="1" noChangeArrowheads="1" noChangeShapeType="1"/>
              </p:cNvPicPr>
              <p:nvPr/>
            </p:nvPicPr>
            <p:blipFill>
              <a:blip r:embed="rId8"/>
              <a:stretch>
                <a:fillRect/>
              </a:stretch>
            </p:blipFill>
            <p:spPr>
              <a:xfrm>
                <a:off x="1091081" y="6611240"/>
                <a:ext cx="117280" cy="192848"/>
              </a:xfrm>
              <a:prstGeom prst="rect">
                <a:avLst/>
              </a:prstGeom>
            </p:spPr>
          </p:pic>
        </mc:Fallback>
      </mc:AlternateContent>
      <p:sp>
        <p:nvSpPr>
          <p:cNvPr id="2" name="TextBox 1">
            <a:extLst>
              <a:ext uri="{FF2B5EF4-FFF2-40B4-BE49-F238E27FC236}">
                <a16:creationId xmlns:a16="http://schemas.microsoft.com/office/drawing/2014/main" id="{646FDA7E-20D5-424D-ADCE-17431BBE7F28}"/>
              </a:ext>
            </a:extLst>
          </p:cNvPr>
          <p:cNvSpPr txBox="1"/>
          <p:nvPr/>
        </p:nvSpPr>
        <p:spPr>
          <a:xfrm>
            <a:off x="914400" y="5791200"/>
            <a:ext cx="7827271" cy="646331"/>
          </a:xfrm>
          <a:prstGeom prst="rect">
            <a:avLst/>
          </a:prstGeom>
          <a:noFill/>
        </p:spPr>
        <p:txBody>
          <a:bodyPr wrap="none" rtlCol="0">
            <a:spAutoFit/>
          </a:bodyPr>
          <a:lstStyle/>
          <a:p>
            <a:r>
              <a:rPr lang="en-US" dirty="0"/>
              <a:t>The iceberg theory of culture – only some cultural elements are visible above the </a:t>
            </a:r>
          </a:p>
          <a:p>
            <a:r>
              <a:rPr lang="en-US" dirty="0"/>
              <a:t>surface </a:t>
            </a:r>
          </a:p>
        </p:txBody>
      </p:sp>
    </p:spTree>
    <p:custDataLst>
      <p:tags r:id="rId1"/>
    </p:custDataLst>
  </p:cSld>
  <p:clrMapOvr>
    <a:masterClrMapping/>
  </p:clrMapOvr>
  <p:transition advTm="139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15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15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5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5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15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151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15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1519">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1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P spid="21509" grpId="0" build="p" autoUpdateAnimBg="0"/>
      <p:bldP spid="21510" grpId="0" build="p" autoUpdateAnimBg="0"/>
      <p:bldP spid="21511" grpId="0" animBg="1"/>
      <p:bldP spid="21513" grpId="0" animBg="1"/>
      <p:bldP spid="21515" grpId="0" build="p" autoUpdateAnimBg="0"/>
      <p:bldP spid="21516" grpId="0" animBg="1"/>
      <p:bldP spid="21517" grpId="0" build="p" autoUpdateAnimBg="0"/>
      <p:bldP spid="21518" grpId="0" animBg="1"/>
      <p:bldP spid="21519" grpId="0" build="p" autoUpdateAnimBg="0"/>
      <p:bldP spid="215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041525" y="498475"/>
            <a:ext cx="4200525" cy="457200"/>
          </a:xfrm>
          <a:prstGeom prst="rect">
            <a:avLst/>
          </a:prstGeom>
          <a:noFill/>
          <a:ln w="9525">
            <a:noFill/>
            <a:miter lim="800000"/>
            <a:headEnd/>
            <a:tailEnd/>
          </a:ln>
        </p:spPr>
        <p:txBody>
          <a:bodyPr wrap="none">
            <a:spAutoFit/>
          </a:bodyPr>
          <a:lstStyle/>
          <a:p>
            <a:r>
              <a:rPr lang="en-US"/>
              <a:t>Deal and Kennedy/ Environment</a:t>
            </a:r>
          </a:p>
        </p:txBody>
      </p:sp>
      <p:sp>
        <p:nvSpPr>
          <p:cNvPr id="11268" name="Text Box 4"/>
          <p:cNvSpPr txBox="1">
            <a:spLocks noChangeArrowheads="1"/>
          </p:cNvSpPr>
          <p:nvPr/>
        </p:nvSpPr>
        <p:spPr bwMode="auto">
          <a:xfrm>
            <a:off x="365125" y="2936875"/>
            <a:ext cx="2636838" cy="457200"/>
          </a:xfrm>
          <a:prstGeom prst="rect">
            <a:avLst/>
          </a:prstGeom>
          <a:noFill/>
          <a:ln w="9525">
            <a:noFill/>
            <a:miter lim="800000"/>
            <a:headEnd/>
            <a:tailEnd/>
          </a:ln>
        </p:spPr>
        <p:txBody>
          <a:bodyPr wrap="none">
            <a:spAutoFit/>
          </a:bodyPr>
          <a:lstStyle/>
          <a:p>
            <a:r>
              <a:rPr lang="en-US"/>
              <a:t>Degree of Feedback</a:t>
            </a:r>
          </a:p>
        </p:txBody>
      </p:sp>
      <p:sp>
        <p:nvSpPr>
          <p:cNvPr id="11270" name="Text Box 6"/>
          <p:cNvSpPr txBox="1">
            <a:spLocks noChangeArrowheads="1"/>
          </p:cNvSpPr>
          <p:nvPr/>
        </p:nvSpPr>
        <p:spPr bwMode="auto">
          <a:xfrm>
            <a:off x="3260725" y="2327275"/>
            <a:ext cx="793750" cy="1552575"/>
          </a:xfrm>
          <a:prstGeom prst="rect">
            <a:avLst/>
          </a:prstGeom>
          <a:noFill/>
          <a:ln w="9525">
            <a:noFill/>
            <a:miter lim="800000"/>
            <a:headEnd/>
            <a:tailEnd/>
          </a:ln>
        </p:spPr>
        <p:txBody>
          <a:bodyPr wrap="none">
            <a:spAutoFit/>
          </a:bodyPr>
          <a:lstStyle/>
          <a:p>
            <a:r>
              <a:rPr lang="en-US"/>
              <a:t>High</a:t>
            </a:r>
          </a:p>
          <a:p>
            <a:endParaRPr lang="en-US"/>
          </a:p>
          <a:p>
            <a:endParaRPr lang="en-US"/>
          </a:p>
          <a:p>
            <a:r>
              <a:rPr lang="en-US"/>
              <a:t>Low</a:t>
            </a:r>
          </a:p>
        </p:txBody>
      </p:sp>
      <p:sp>
        <p:nvSpPr>
          <p:cNvPr id="11271" name="Text Box 7"/>
          <p:cNvSpPr txBox="1">
            <a:spLocks noChangeArrowheads="1"/>
          </p:cNvSpPr>
          <p:nvPr/>
        </p:nvSpPr>
        <p:spPr bwMode="auto">
          <a:xfrm>
            <a:off x="4632325" y="1184275"/>
            <a:ext cx="1927225" cy="457200"/>
          </a:xfrm>
          <a:prstGeom prst="rect">
            <a:avLst/>
          </a:prstGeom>
          <a:noFill/>
          <a:ln w="9525">
            <a:noFill/>
            <a:miter lim="800000"/>
            <a:headEnd/>
            <a:tailEnd/>
          </a:ln>
        </p:spPr>
        <p:txBody>
          <a:bodyPr wrap="none">
            <a:spAutoFit/>
          </a:bodyPr>
          <a:lstStyle/>
          <a:p>
            <a:r>
              <a:rPr lang="en-US"/>
              <a:t>Degree of risk</a:t>
            </a:r>
          </a:p>
        </p:txBody>
      </p:sp>
      <p:sp>
        <p:nvSpPr>
          <p:cNvPr id="11272" name="Text Box 8"/>
          <p:cNvSpPr txBox="1">
            <a:spLocks noChangeArrowheads="1"/>
          </p:cNvSpPr>
          <p:nvPr/>
        </p:nvSpPr>
        <p:spPr bwMode="auto">
          <a:xfrm>
            <a:off x="4556125" y="1793875"/>
            <a:ext cx="2724150" cy="457200"/>
          </a:xfrm>
          <a:prstGeom prst="rect">
            <a:avLst/>
          </a:prstGeom>
          <a:noFill/>
          <a:ln w="9525">
            <a:noFill/>
            <a:miter lim="800000"/>
            <a:headEnd/>
            <a:tailEnd/>
          </a:ln>
        </p:spPr>
        <p:txBody>
          <a:bodyPr wrap="none">
            <a:spAutoFit/>
          </a:bodyPr>
          <a:lstStyle/>
          <a:p>
            <a:r>
              <a:rPr lang="en-US"/>
              <a:t>High                  Low</a:t>
            </a:r>
          </a:p>
        </p:txBody>
      </p:sp>
      <p:sp>
        <p:nvSpPr>
          <p:cNvPr id="11274" name="Text Box 10"/>
          <p:cNvSpPr txBox="1">
            <a:spLocks noChangeArrowheads="1"/>
          </p:cNvSpPr>
          <p:nvPr/>
        </p:nvSpPr>
        <p:spPr bwMode="auto">
          <a:xfrm>
            <a:off x="4708525" y="2403475"/>
            <a:ext cx="336550" cy="457200"/>
          </a:xfrm>
          <a:prstGeom prst="rect">
            <a:avLst/>
          </a:prstGeom>
          <a:noFill/>
          <a:ln w="9525">
            <a:noFill/>
            <a:miter lim="800000"/>
            <a:headEnd/>
            <a:tailEnd/>
          </a:ln>
        </p:spPr>
        <p:txBody>
          <a:bodyPr wrap="none">
            <a:spAutoFit/>
          </a:bodyPr>
          <a:lstStyle/>
          <a:p>
            <a:r>
              <a:rPr lang="en-US"/>
              <a:t>x</a:t>
            </a:r>
          </a:p>
        </p:txBody>
      </p:sp>
      <p:sp>
        <p:nvSpPr>
          <p:cNvPr id="11275" name="Text Box 11"/>
          <p:cNvSpPr txBox="1">
            <a:spLocks noChangeArrowheads="1"/>
          </p:cNvSpPr>
          <p:nvPr/>
        </p:nvSpPr>
        <p:spPr bwMode="auto">
          <a:xfrm>
            <a:off x="4708525" y="3317875"/>
            <a:ext cx="336550" cy="457200"/>
          </a:xfrm>
          <a:prstGeom prst="rect">
            <a:avLst/>
          </a:prstGeom>
          <a:noFill/>
          <a:ln w="9525">
            <a:noFill/>
            <a:miter lim="800000"/>
            <a:headEnd/>
            <a:tailEnd/>
          </a:ln>
        </p:spPr>
        <p:txBody>
          <a:bodyPr wrap="none">
            <a:spAutoFit/>
          </a:bodyPr>
          <a:lstStyle/>
          <a:p>
            <a:r>
              <a:rPr lang="en-US"/>
              <a:t>x</a:t>
            </a:r>
          </a:p>
        </p:txBody>
      </p:sp>
      <p:sp>
        <p:nvSpPr>
          <p:cNvPr id="11276" name="Text Box 12"/>
          <p:cNvSpPr txBox="1">
            <a:spLocks noChangeArrowheads="1"/>
          </p:cNvSpPr>
          <p:nvPr/>
        </p:nvSpPr>
        <p:spPr bwMode="auto">
          <a:xfrm>
            <a:off x="6765925" y="2327275"/>
            <a:ext cx="336550" cy="457200"/>
          </a:xfrm>
          <a:prstGeom prst="rect">
            <a:avLst/>
          </a:prstGeom>
          <a:noFill/>
          <a:ln w="9525">
            <a:noFill/>
            <a:miter lim="800000"/>
            <a:headEnd/>
            <a:tailEnd/>
          </a:ln>
        </p:spPr>
        <p:txBody>
          <a:bodyPr wrap="none">
            <a:spAutoFit/>
          </a:bodyPr>
          <a:lstStyle/>
          <a:p>
            <a:r>
              <a:rPr lang="en-US"/>
              <a:t>x</a:t>
            </a:r>
          </a:p>
        </p:txBody>
      </p:sp>
      <p:sp>
        <p:nvSpPr>
          <p:cNvPr id="11277" name="Text Box 13"/>
          <p:cNvSpPr txBox="1">
            <a:spLocks noChangeArrowheads="1"/>
          </p:cNvSpPr>
          <p:nvPr/>
        </p:nvSpPr>
        <p:spPr bwMode="auto">
          <a:xfrm>
            <a:off x="6765925" y="3317875"/>
            <a:ext cx="336550" cy="457200"/>
          </a:xfrm>
          <a:prstGeom prst="rect">
            <a:avLst/>
          </a:prstGeom>
          <a:noFill/>
          <a:ln w="9525">
            <a:noFill/>
            <a:miter lim="800000"/>
            <a:headEnd/>
            <a:tailEnd/>
          </a:ln>
        </p:spPr>
        <p:txBody>
          <a:bodyPr wrap="none">
            <a:spAutoFit/>
          </a:bodyPr>
          <a:lstStyle/>
          <a:p>
            <a:r>
              <a:rPr lang="en-US"/>
              <a:t>x</a:t>
            </a:r>
          </a:p>
        </p:txBody>
      </p:sp>
      <p:sp>
        <p:nvSpPr>
          <p:cNvPr id="14" name="TextBox 13"/>
          <p:cNvSpPr txBox="1"/>
          <p:nvPr/>
        </p:nvSpPr>
        <p:spPr>
          <a:xfrm>
            <a:off x="4114800" y="2133600"/>
            <a:ext cx="833883" cy="369332"/>
          </a:xfrm>
          <a:prstGeom prst="rect">
            <a:avLst/>
          </a:prstGeom>
          <a:noFill/>
        </p:spPr>
        <p:txBody>
          <a:bodyPr wrap="none" rtlCol="0">
            <a:spAutoFit/>
          </a:bodyPr>
          <a:lstStyle/>
          <a:p>
            <a:r>
              <a:rPr lang="en-US" dirty="0"/>
              <a:t>Macho</a:t>
            </a:r>
          </a:p>
        </p:txBody>
      </p:sp>
      <p:sp>
        <p:nvSpPr>
          <p:cNvPr id="16" name="TextBox 15"/>
          <p:cNvSpPr txBox="1"/>
          <p:nvPr/>
        </p:nvSpPr>
        <p:spPr>
          <a:xfrm>
            <a:off x="3581400" y="3581400"/>
            <a:ext cx="1888146" cy="369332"/>
          </a:xfrm>
          <a:prstGeom prst="rect">
            <a:avLst/>
          </a:prstGeom>
          <a:noFill/>
        </p:spPr>
        <p:txBody>
          <a:bodyPr wrap="none" rtlCol="0">
            <a:spAutoFit/>
          </a:bodyPr>
          <a:lstStyle/>
          <a:p>
            <a:r>
              <a:rPr lang="en-US" dirty="0"/>
              <a:t>Bet your company</a:t>
            </a:r>
          </a:p>
        </p:txBody>
      </p:sp>
      <p:sp>
        <p:nvSpPr>
          <p:cNvPr id="20" name="TextBox 19"/>
          <p:cNvSpPr txBox="1"/>
          <p:nvPr/>
        </p:nvSpPr>
        <p:spPr>
          <a:xfrm>
            <a:off x="6096000" y="2133600"/>
            <a:ext cx="762000" cy="369332"/>
          </a:xfrm>
          <a:prstGeom prst="rect">
            <a:avLst/>
          </a:prstGeom>
          <a:noFill/>
        </p:spPr>
        <p:txBody>
          <a:bodyPr wrap="square" rtlCol="0">
            <a:spAutoFit/>
          </a:bodyPr>
          <a:lstStyle/>
          <a:p>
            <a:r>
              <a:rPr lang="en-US" dirty="0"/>
              <a:t>Sales</a:t>
            </a:r>
          </a:p>
        </p:txBody>
      </p:sp>
      <p:sp>
        <p:nvSpPr>
          <p:cNvPr id="21" name="TextBox 20"/>
          <p:cNvSpPr txBox="1"/>
          <p:nvPr/>
        </p:nvSpPr>
        <p:spPr>
          <a:xfrm>
            <a:off x="6324600" y="3886200"/>
            <a:ext cx="894284" cy="369332"/>
          </a:xfrm>
          <a:prstGeom prst="rect">
            <a:avLst/>
          </a:prstGeom>
          <a:noFill/>
        </p:spPr>
        <p:txBody>
          <a:bodyPr wrap="none" rtlCol="0">
            <a:spAutoFit/>
          </a:bodyPr>
          <a:lstStyle/>
          <a:p>
            <a:r>
              <a:rPr lang="en-US" dirty="0"/>
              <a:t>Process</a:t>
            </a:r>
          </a:p>
        </p:txBody>
      </p:sp>
      <mc:AlternateContent xmlns:mc="http://schemas.openxmlformats.org/markup-compatibility/2006" xmlns:p14="http://schemas.microsoft.com/office/powerpoint/2010/main">
        <mc:Choice Requires="p14">
          <p:contentPart p14:bwMode="auto" r:id="rId3">
            <p14:nvContentPartPr>
              <p14:cNvPr id="6148" name="Ink 4"/>
              <p14:cNvContentPartPr>
                <a14:cpLocks xmlns:a14="http://schemas.microsoft.com/office/drawing/2010/main" noRot="1" noChangeAspect="1" noEditPoints="1" noChangeArrowheads="1" noChangeShapeType="1"/>
              </p14:cNvContentPartPr>
              <p14:nvPr/>
            </p14:nvContentPartPr>
            <p14:xfrm>
              <a:off x="4079875" y="1463675"/>
              <a:ext cx="1588" cy="1588"/>
            </p14:xfrm>
          </p:contentPart>
        </mc:Choice>
        <mc:Fallback xmlns="">
          <p:pic>
            <p:nvPicPr>
              <p:cNvPr id="6148" name="Ink 4"/>
              <p:cNvPicPr>
                <a:picLocks noRot="1" noChangeAspect="1" noEditPoints="1" noChangeArrowheads="1" noChangeShapeType="1"/>
              </p:cNvPicPr>
              <p:nvPr/>
            </p:nvPicPr>
            <p:blipFill>
              <a:blip r:embed="rId6"/>
              <a:stretch>
                <a:fillRect/>
              </a:stretch>
            </p:blipFill>
            <p:spPr>
              <a:xfrm>
                <a:off x="4038587" y="1422387"/>
                <a:ext cx="84164"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156" name="Ink 12"/>
              <p14:cNvContentPartPr>
                <a14:cpLocks xmlns:a14="http://schemas.microsoft.com/office/drawing/2010/main" noRot="1" noChangeAspect="1" noEditPoints="1" noChangeArrowheads="1" noChangeShapeType="1"/>
              </p14:cNvContentPartPr>
              <p14:nvPr/>
            </p14:nvContentPartPr>
            <p14:xfrm>
              <a:off x="174928213" y="38458775"/>
              <a:ext cx="0" cy="0"/>
            </p14:xfrm>
          </p:contentPart>
        </mc:Choice>
        <mc:Fallback xmlns="">
          <p:pic>
            <p:nvPicPr>
              <p:cNvPr id="6156" name="Ink 12"/>
              <p:cNvPicPr>
                <a:picLocks noRot="1" noChangeAspect="1" noEditPoints="1" noChangeArrowheads="1" noChangeShapeType="1"/>
              </p:cNvPicPr>
              <p:nvPr/>
            </p:nvPicPr>
            <p:blipFill>
              <a:blip r:embed="rId8"/>
              <a:stretch>
                <a:fillRect/>
              </a:stretch>
            </p:blipFill>
            <p:spPr>
              <a:xfrm>
                <a:off x="174928213" y="38458775"/>
                <a:ext cx="0" cy="0"/>
              </a:xfrm>
              <a:prstGeom prst="rect">
                <a:avLst/>
              </a:prstGeom>
            </p:spPr>
          </p:pic>
        </mc:Fallback>
      </mc:AlternateContent>
    </p:spTree>
    <p:custDataLst>
      <p:tags r:id="rId1"/>
    </p:custDataLst>
  </p:cSld>
  <p:clrMapOvr>
    <a:masterClrMapping/>
  </p:clrMapOvr>
  <p:transition advTm="393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7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7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27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7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27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1275">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127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dissolve">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1277">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dissolve">
                                      <p:cBhvr>
                                        <p:cTn id="5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autoUpdateAnimBg="0"/>
      <p:bldP spid="11270" grpId="0" build="p" autoUpdateAnimBg="0"/>
      <p:bldP spid="11271" grpId="0" build="p" autoUpdateAnimBg="0"/>
      <p:bldP spid="11272" grpId="0" build="p" autoUpdateAnimBg="0"/>
      <p:bldP spid="11274" grpId="0" build="p" autoUpdateAnimBg="0"/>
      <p:bldP spid="11275" grpId="0" build="p" autoUpdateAnimBg="0"/>
      <p:bldP spid="11276" grpId="0" build="p" autoUpdateAnimBg="0"/>
      <p:bldP spid="11277" grpId="0" build="p" autoUpdateAnimBg="0"/>
      <p:bldP spid="14" grpId="0"/>
      <p:bldP spid="16" grpId="0"/>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DC3ED-11A5-40EC-998F-50DBFFD68321}"/>
              </a:ext>
            </a:extLst>
          </p:cNvPr>
          <p:cNvSpPr>
            <a:spLocks noGrp="1"/>
          </p:cNvSpPr>
          <p:nvPr>
            <p:ph type="title"/>
          </p:nvPr>
        </p:nvSpPr>
        <p:spPr/>
        <p:txBody>
          <a:bodyPr/>
          <a:lstStyle/>
          <a:p>
            <a:r>
              <a:rPr lang="en-US" dirty="0"/>
              <a:t>Third Reflective Pause</a:t>
            </a:r>
          </a:p>
        </p:txBody>
      </p:sp>
      <p:sp>
        <p:nvSpPr>
          <p:cNvPr id="3" name="Content Placeholder 2">
            <a:extLst>
              <a:ext uri="{FF2B5EF4-FFF2-40B4-BE49-F238E27FC236}">
                <a16:creationId xmlns:a16="http://schemas.microsoft.com/office/drawing/2014/main" id="{05BE8260-9557-40A6-B4F9-FEA628E97ADF}"/>
              </a:ext>
            </a:extLst>
          </p:cNvPr>
          <p:cNvSpPr>
            <a:spLocks noGrp="1"/>
          </p:cNvSpPr>
          <p:nvPr>
            <p:ph idx="1"/>
          </p:nvPr>
        </p:nvSpPr>
        <p:spPr/>
        <p:txBody>
          <a:bodyPr/>
          <a:lstStyle/>
          <a:p>
            <a:r>
              <a:rPr lang="en-US" dirty="0"/>
              <a:t>Deal and Kennedy are trying to classify organizational cultures by degree of feedback (high – low) and degree of risk (high – low), resulting in a four-cell description of culture types.</a:t>
            </a:r>
          </a:p>
          <a:p>
            <a:r>
              <a:rPr lang="en-US" dirty="0"/>
              <a:t>Can you give an example of an organization that would fit in each cell? </a:t>
            </a:r>
          </a:p>
        </p:txBody>
      </p:sp>
    </p:spTree>
    <p:extLst>
      <p:ext uri="{BB962C8B-B14F-4D97-AF65-F5344CB8AC3E}">
        <p14:creationId xmlns:p14="http://schemas.microsoft.com/office/powerpoint/2010/main" val="2289371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Other Deal/Kennedy Elements</a:t>
            </a:r>
          </a:p>
        </p:txBody>
      </p:sp>
      <p:sp>
        <p:nvSpPr>
          <p:cNvPr id="12291" name="Text Box 3"/>
          <p:cNvSpPr txBox="1">
            <a:spLocks noChangeArrowheads="1"/>
          </p:cNvSpPr>
          <p:nvPr/>
        </p:nvSpPr>
        <p:spPr bwMode="auto">
          <a:xfrm>
            <a:off x="669925" y="2174875"/>
            <a:ext cx="6419850" cy="457200"/>
          </a:xfrm>
          <a:prstGeom prst="rect">
            <a:avLst/>
          </a:prstGeom>
          <a:noFill/>
          <a:ln w="9525">
            <a:noFill/>
            <a:miter lim="800000"/>
            <a:headEnd/>
            <a:tailEnd/>
          </a:ln>
        </p:spPr>
        <p:txBody>
          <a:bodyPr wrap="none">
            <a:spAutoFit/>
          </a:bodyPr>
          <a:lstStyle/>
          <a:p>
            <a:r>
              <a:rPr lang="en-US"/>
              <a:t>Values are found in slogans and status assignments</a:t>
            </a:r>
          </a:p>
        </p:txBody>
      </p:sp>
      <p:sp>
        <p:nvSpPr>
          <p:cNvPr id="12292" name="Text Box 4"/>
          <p:cNvSpPr txBox="1">
            <a:spLocks noChangeArrowheads="1"/>
          </p:cNvSpPr>
          <p:nvPr/>
        </p:nvSpPr>
        <p:spPr bwMode="auto">
          <a:xfrm>
            <a:off x="746125" y="2632075"/>
            <a:ext cx="4792663" cy="457200"/>
          </a:xfrm>
          <a:prstGeom prst="rect">
            <a:avLst/>
          </a:prstGeom>
          <a:noFill/>
          <a:ln w="9525">
            <a:noFill/>
            <a:miter lim="800000"/>
            <a:headEnd/>
            <a:tailEnd/>
          </a:ln>
        </p:spPr>
        <p:txBody>
          <a:bodyPr wrap="none">
            <a:spAutoFit/>
          </a:bodyPr>
          <a:lstStyle/>
          <a:p>
            <a:r>
              <a:rPr lang="en-US"/>
              <a:t>Heroes provide an insight into culture</a:t>
            </a:r>
          </a:p>
        </p:txBody>
      </p:sp>
      <p:sp>
        <p:nvSpPr>
          <p:cNvPr id="12293" name="Text Box 5"/>
          <p:cNvSpPr txBox="1">
            <a:spLocks noChangeArrowheads="1"/>
          </p:cNvSpPr>
          <p:nvPr/>
        </p:nvSpPr>
        <p:spPr bwMode="auto">
          <a:xfrm>
            <a:off x="746125" y="3165475"/>
            <a:ext cx="2971800" cy="457200"/>
          </a:xfrm>
          <a:prstGeom prst="rect">
            <a:avLst/>
          </a:prstGeom>
          <a:noFill/>
          <a:ln w="9525">
            <a:noFill/>
            <a:miter lim="800000"/>
            <a:headEnd/>
            <a:tailEnd/>
          </a:ln>
        </p:spPr>
        <p:txBody>
          <a:bodyPr wrap="none">
            <a:spAutoFit/>
          </a:bodyPr>
          <a:lstStyle/>
          <a:p>
            <a:r>
              <a:rPr lang="en-US"/>
              <a:t>Ceremonies/play/ritual</a:t>
            </a:r>
          </a:p>
        </p:txBody>
      </p:sp>
      <p:sp>
        <p:nvSpPr>
          <p:cNvPr id="12294" name="Text Box 6"/>
          <p:cNvSpPr txBox="1">
            <a:spLocks noChangeArrowheads="1"/>
          </p:cNvSpPr>
          <p:nvPr/>
        </p:nvSpPr>
        <p:spPr bwMode="auto">
          <a:xfrm>
            <a:off x="721260" y="3544821"/>
            <a:ext cx="7018716" cy="2308324"/>
          </a:xfrm>
          <a:prstGeom prst="rect">
            <a:avLst/>
          </a:prstGeom>
          <a:noFill/>
          <a:ln w="9525">
            <a:noFill/>
            <a:miter lim="800000"/>
            <a:headEnd/>
            <a:tailEnd/>
          </a:ln>
        </p:spPr>
        <p:txBody>
          <a:bodyPr wrap="none">
            <a:spAutoFit/>
          </a:bodyPr>
          <a:lstStyle/>
          <a:p>
            <a:r>
              <a:rPr lang="en-US" dirty="0"/>
              <a:t>Cultural roles:</a:t>
            </a:r>
          </a:p>
          <a:p>
            <a:r>
              <a:rPr lang="en-US" dirty="0"/>
              <a:t>The Storyteller – passes on the anecdotes and history of the organization</a:t>
            </a:r>
          </a:p>
          <a:p>
            <a:r>
              <a:rPr lang="en-US" dirty="0"/>
              <a:t>Priests – guardians of tradition (“that’s not how it’s done around here”)</a:t>
            </a:r>
          </a:p>
          <a:p>
            <a:r>
              <a:rPr lang="en-US" dirty="0"/>
              <a:t>Whisperers – knows where the bodies are buried</a:t>
            </a:r>
          </a:p>
          <a:p>
            <a:r>
              <a:rPr lang="en-US" dirty="0"/>
              <a:t>Gossips – key nodes in the </a:t>
            </a:r>
            <a:r>
              <a:rPr lang="en-US" dirty="0" err="1"/>
              <a:t>SLUmer</a:t>
            </a:r>
            <a:r>
              <a:rPr lang="en-US" dirty="0"/>
              <a:t> mill</a:t>
            </a:r>
          </a:p>
          <a:p>
            <a:r>
              <a:rPr lang="en-US" dirty="0"/>
              <a:t>Spies – reports organizational doings to people outside your group </a:t>
            </a:r>
          </a:p>
          <a:p>
            <a:r>
              <a:rPr lang="en-US" dirty="0"/>
              <a:t>Cabals – groups of two or more who promote each other or </a:t>
            </a:r>
          </a:p>
          <a:p>
            <a:r>
              <a:rPr lang="en-US" dirty="0"/>
              <a:t>a unified set of ideas to the higher ups to gain favor</a:t>
            </a:r>
          </a:p>
        </p:txBody>
      </p:sp>
    </p:spTree>
    <p:custDataLst>
      <p:tags r:id="rId1"/>
    </p:custDataLst>
  </p:cSld>
  <p:clrMapOvr>
    <a:masterClrMapping/>
  </p:clrMapOvr>
  <p:transition advTm="25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29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29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29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29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29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229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29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229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P spid="12292" grpId="0" build="p" autoUpdateAnimBg="0"/>
      <p:bldP spid="12293" grpId="0" build="p" autoUpdateAnimBg="0"/>
      <p:bldP spid="12294"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DF2D-440F-4925-A935-39053E401DF4}"/>
              </a:ext>
            </a:extLst>
          </p:cNvPr>
          <p:cNvSpPr>
            <a:spLocks noGrp="1"/>
          </p:cNvSpPr>
          <p:nvPr>
            <p:ph type="title"/>
          </p:nvPr>
        </p:nvSpPr>
        <p:spPr/>
        <p:txBody>
          <a:bodyPr/>
          <a:lstStyle/>
          <a:p>
            <a:r>
              <a:rPr lang="en-US" dirty="0"/>
              <a:t>Fourth reflective pause</a:t>
            </a:r>
          </a:p>
        </p:txBody>
      </p:sp>
      <p:pic>
        <p:nvPicPr>
          <p:cNvPr id="4" name="Content Placeholder 3">
            <a:extLst>
              <a:ext uri="{FF2B5EF4-FFF2-40B4-BE49-F238E27FC236}">
                <a16:creationId xmlns:a16="http://schemas.microsoft.com/office/drawing/2014/main" id="{6BDA33F0-E1C8-4247-9BA1-5B1D67CDA369}"/>
              </a:ext>
            </a:extLst>
          </p:cNvPr>
          <p:cNvPicPr>
            <a:picLocks noGrp="1" noChangeAspect="1"/>
          </p:cNvPicPr>
          <p:nvPr>
            <p:ph idx="1"/>
          </p:nvPr>
        </p:nvPicPr>
        <p:blipFill>
          <a:blip r:embed="rId2"/>
          <a:stretch>
            <a:fillRect/>
          </a:stretch>
        </p:blipFill>
        <p:spPr>
          <a:xfrm>
            <a:off x="457200" y="3490988"/>
            <a:ext cx="8229600" cy="744386"/>
          </a:xfrm>
          <a:prstGeom prst="rect">
            <a:avLst/>
          </a:prstGeom>
        </p:spPr>
      </p:pic>
    </p:spTree>
    <p:extLst>
      <p:ext uri="{BB962C8B-B14F-4D97-AF65-F5344CB8AC3E}">
        <p14:creationId xmlns:p14="http://schemas.microsoft.com/office/powerpoint/2010/main" val="877140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pPr eaLnBrk="1" hangingPunct="1"/>
            <a:r>
              <a:rPr lang="en-US"/>
              <a:t>Ways and examples of how to study organizational culture</a:t>
            </a:r>
          </a:p>
        </p:txBody>
      </p:sp>
      <p:sp>
        <p:nvSpPr>
          <p:cNvPr id="13315" name="Text Box 3"/>
          <p:cNvSpPr txBox="1">
            <a:spLocks noChangeArrowheads="1"/>
          </p:cNvSpPr>
          <p:nvPr/>
        </p:nvSpPr>
        <p:spPr bwMode="auto">
          <a:xfrm>
            <a:off x="669925" y="2479675"/>
            <a:ext cx="7533152" cy="369332"/>
          </a:xfrm>
          <a:prstGeom prst="rect">
            <a:avLst/>
          </a:prstGeom>
          <a:noFill/>
          <a:ln w="9525">
            <a:noFill/>
            <a:miter lim="800000"/>
            <a:headEnd/>
            <a:tailEnd/>
          </a:ln>
        </p:spPr>
        <p:txBody>
          <a:bodyPr wrap="none">
            <a:spAutoFit/>
          </a:bodyPr>
          <a:lstStyle/>
          <a:p>
            <a:r>
              <a:rPr lang="en-US" dirty="0"/>
              <a:t>Inventories  -  Quinn and Cameron – questionnaires that inquiry about culture </a:t>
            </a:r>
          </a:p>
        </p:txBody>
      </p:sp>
      <p:sp>
        <p:nvSpPr>
          <p:cNvPr id="13316" name="Text Box 4"/>
          <p:cNvSpPr txBox="1">
            <a:spLocks noChangeArrowheads="1"/>
          </p:cNvSpPr>
          <p:nvPr/>
        </p:nvSpPr>
        <p:spPr bwMode="auto">
          <a:xfrm>
            <a:off x="838200" y="3491202"/>
            <a:ext cx="7685887" cy="923330"/>
          </a:xfrm>
          <a:prstGeom prst="rect">
            <a:avLst/>
          </a:prstGeom>
          <a:noFill/>
          <a:ln w="9525">
            <a:noFill/>
            <a:miter lim="800000"/>
            <a:headEnd/>
            <a:tailEnd/>
          </a:ln>
        </p:spPr>
        <p:txBody>
          <a:bodyPr wrap="none">
            <a:spAutoFit/>
          </a:bodyPr>
          <a:lstStyle/>
          <a:p>
            <a:r>
              <a:rPr lang="en-US" dirty="0"/>
              <a:t>Participant observation – actually becoming a member of the culture to observe</a:t>
            </a:r>
          </a:p>
          <a:p>
            <a:endParaRPr lang="en-US" dirty="0"/>
          </a:p>
          <a:p>
            <a:r>
              <a:rPr lang="en-US" dirty="0"/>
              <a:t>e.g. for my doctoral dissertation, I became a member of a police academy class  </a:t>
            </a:r>
          </a:p>
        </p:txBody>
      </p:sp>
      <p:sp>
        <p:nvSpPr>
          <p:cNvPr id="2" name="TextBox 1">
            <a:extLst>
              <a:ext uri="{FF2B5EF4-FFF2-40B4-BE49-F238E27FC236}">
                <a16:creationId xmlns:a16="http://schemas.microsoft.com/office/drawing/2014/main" id="{820B9A1B-672A-4E8E-A91A-17B5294A5A46}"/>
              </a:ext>
            </a:extLst>
          </p:cNvPr>
          <p:cNvSpPr txBox="1"/>
          <p:nvPr/>
        </p:nvSpPr>
        <p:spPr>
          <a:xfrm>
            <a:off x="914400" y="5181600"/>
            <a:ext cx="2591800" cy="369332"/>
          </a:xfrm>
          <a:prstGeom prst="rect">
            <a:avLst/>
          </a:prstGeom>
          <a:noFill/>
        </p:spPr>
        <p:txBody>
          <a:bodyPr wrap="none" rtlCol="0">
            <a:spAutoFit/>
          </a:bodyPr>
          <a:lstStyle/>
          <a:p>
            <a:r>
              <a:rPr lang="en-US" dirty="0"/>
              <a:t>Collecting Cultural Stories</a:t>
            </a:r>
          </a:p>
        </p:txBody>
      </p:sp>
    </p:spTree>
    <p:custDataLst>
      <p:tags r:id="rId1"/>
    </p:custDataLst>
  </p:cSld>
  <p:clrMapOvr>
    <a:masterClrMapping/>
  </p:clrMapOvr>
  <p:transition advTm="42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3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P spid="13316"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Organizational Stories</a:t>
            </a:r>
          </a:p>
        </p:txBody>
      </p:sp>
      <p:sp>
        <p:nvSpPr>
          <p:cNvPr id="14339" name="Text Box 3"/>
          <p:cNvSpPr txBox="1">
            <a:spLocks noChangeArrowheads="1"/>
          </p:cNvSpPr>
          <p:nvPr/>
        </p:nvSpPr>
        <p:spPr bwMode="auto">
          <a:xfrm>
            <a:off x="1295400" y="2379446"/>
            <a:ext cx="5764213" cy="2647950"/>
          </a:xfrm>
          <a:prstGeom prst="rect">
            <a:avLst/>
          </a:prstGeom>
          <a:noFill/>
          <a:ln w="9525">
            <a:noFill/>
            <a:miter lim="800000"/>
            <a:headEnd/>
            <a:tailEnd/>
          </a:ln>
        </p:spPr>
        <p:txBody>
          <a:bodyPr wrap="none">
            <a:spAutoFit/>
          </a:bodyPr>
          <a:lstStyle/>
          <a:p>
            <a:r>
              <a:rPr lang="en-US" dirty="0"/>
              <a:t>Rule Breaking</a:t>
            </a:r>
          </a:p>
          <a:p>
            <a:r>
              <a:rPr lang="en-US" dirty="0"/>
              <a:t>Is the Big Boss Human</a:t>
            </a:r>
          </a:p>
          <a:p>
            <a:r>
              <a:rPr lang="en-US" dirty="0"/>
              <a:t>Can the little person rise to the top</a:t>
            </a:r>
          </a:p>
          <a:p>
            <a:r>
              <a:rPr lang="en-US" dirty="0"/>
              <a:t>Will I get fired</a:t>
            </a:r>
          </a:p>
          <a:p>
            <a:r>
              <a:rPr lang="en-US" dirty="0"/>
              <a:t>Will the organization help me when I move</a:t>
            </a:r>
          </a:p>
          <a:p>
            <a:r>
              <a:rPr lang="en-US" dirty="0"/>
              <a:t>How will the boss react to my mistake</a:t>
            </a:r>
          </a:p>
          <a:p>
            <a:r>
              <a:rPr lang="en-US" dirty="0"/>
              <a:t>How will the organization deal with obstacles</a:t>
            </a:r>
          </a:p>
        </p:txBody>
      </p:sp>
      <p:sp>
        <p:nvSpPr>
          <p:cNvPr id="14340" name="Text Box 4"/>
          <p:cNvSpPr txBox="1">
            <a:spLocks noChangeArrowheads="1"/>
          </p:cNvSpPr>
          <p:nvPr/>
        </p:nvSpPr>
        <p:spPr bwMode="auto">
          <a:xfrm>
            <a:off x="533400" y="5257800"/>
            <a:ext cx="5165725" cy="822325"/>
          </a:xfrm>
          <a:prstGeom prst="rect">
            <a:avLst/>
          </a:prstGeom>
          <a:noFill/>
          <a:ln w="9525">
            <a:noFill/>
            <a:miter lim="800000"/>
            <a:headEnd/>
            <a:tailEnd/>
          </a:ln>
        </p:spPr>
        <p:txBody>
          <a:bodyPr wrap="none">
            <a:spAutoFit/>
          </a:bodyPr>
          <a:lstStyle/>
          <a:p>
            <a:r>
              <a:rPr lang="en-US"/>
              <a:t>From Martin, Feldman,Hatch, and Sitkin</a:t>
            </a:r>
          </a:p>
          <a:p>
            <a:r>
              <a:rPr lang="en-US"/>
              <a:t>ASQ 28 1983</a:t>
            </a:r>
          </a:p>
        </p:txBody>
      </p:sp>
      <p:sp>
        <p:nvSpPr>
          <p:cNvPr id="2" name="TextBox 1">
            <a:extLst>
              <a:ext uri="{FF2B5EF4-FFF2-40B4-BE49-F238E27FC236}">
                <a16:creationId xmlns:a16="http://schemas.microsoft.com/office/drawing/2014/main" id="{CFE2F820-AFC7-4D57-99AC-77E7E0D821BC}"/>
              </a:ext>
            </a:extLst>
          </p:cNvPr>
          <p:cNvSpPr txBox="1"/>
          <p:nvPr/>
        </p:nvSpPr>
        <p:spPr>
          <a:xfrm>
            <a:off x="1066800" y="1600200"/>
            <a:ext cx="7872733" cy="646331"/>
          </a:xfrm>
          <a:prstGeom prst="rect">
            <a:avLst/>
          </a:prstGeom>
          <a:noFill/>
        </p:spPr>
        <p:txBody>
          <a:bodyPr wrap="none" rtlCol="0">
            <a:spAutoFit/>
          </a:bodyPr>
          <a:lstStyle/>
          <a:p>
            <a:r>
              <a:rPr lang="en-US" dirty="0"/>
              <a:t>It turns out that there are a finite number of cultural organizational stories: These </a:t>
            </a:r>
          </a:p>
          <a:p>
            <a:r>
              <a:rPr lang="en-US" dirty="0"/>
              <a:t>Seven story themes appear universal</a:t>
            </a:r>
          </a:p>
        </p:txBody>
      </p:sp>
      <p:sp>
        <p:nvSpPr>
          <p:cNvPr id="3" name="TextBox 2">
            <a:extLst>
              <a:ext uri="{FF2B5EF4-FFF2-40B4-BE49-F238E27FC236}">
                <a16:creationId xmlns:a16="http://schemas.microsoft.com/office/drawing/2014/main" id="{7A8A8C0F-ADD3-45D9-866C-0AF74DD40F12}"/>
              </a:ext>
            </a:extLst>
          </p:cNvPr>
          <p:cNvSpPr txBox="1"/>
          <p:nvPr/>
        </p:nvSpPr>
        <p:spPr>
          <a:xfrm>
            <a:off x="838200" y="4876800"/>
            <a:ext cx="8299708" cy="369332"/>
          </a:xfrm>
          <a:prstGeom prst="rect">
            <a:avLst/>
          </a:prstGeom>
          <a:noFill/>
        </p:spPr>
        <p:txBody>
          <a:bodyPr wrap="none" rtlCol="0">
            <a:spAutoFit/>
          </a:bodyPr>
          <a:lstStyle/>
          <a:p>
            <a:r>
              <a:rPr lang="en-US" dirty="0"/>
              <a:t>Each story has two versions – the particular version (outcome) helps define the culture</a:t>
            </a:r>
          </a:p>
        </p:txBody>
      </p:sp>
    </p:spTree>
    <p:custDataLst>
      <p:tags r:id="rId1"/>
    </p:custDataLst>
  </p:cSld>
  <p:clrMapOvr>
    <a:masterClrMapping/>
  </p:clrMapOvr>
  <p:transition advTm="368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60000"/>
                                  </p:stCondLst>
                                  <p:iterate type="wd">
                                    <p:tmAbs val="300"/>
                                  </p:iterate>
                                  <p:childTnLst>
                                    <p:set>
                                      <p:cBhvr>
                                        <p:cTn id="6" dur="1" fill="hold">
                                          <p:stCondLst>
                                            <p:cond delay="299"/>
                                          </p:stCondLst>
                                        </p:cTn>
                                        <p:tgtEl>
                                          <p:spTgt spid="143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34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4340"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6EDD-9644-4C25-9134-D2A0BA8A150B}"/>
              </a:ext>
            </a:extLst>
          </p:cNvPr>
          <p:cNvSpPr>
            <a:spLocks noGrp="1"/>
          </p:cNvSpPr>
          <p:nvPr>
            <p:ph type="title"/>
          </p:nvPr>
        </p:nvSpPr>
        <p:spPr/>
        <p:txBody>
          <a:bodyPr/>
          <a:lstStyle/>
          <a:p>
            <a:r>
              <a:rPr lang="en-US" dirty="0"/>
              <a:t>Fifth Reflective Pause</a:t>
            </a:r>
          </a:p>
        </p:txBody>
      </p:sp>
      <p:sp>
        <p:nvSpPr>
          <p:cNvPr id="3" name="Content Placeholder 2">
            <a:extLst>
              <a:ext uri="{FF2B5EF4-FFF2-40B4-BE49-F238E27FC236}">
                <a16:creationId xmlns:a16="http://schemas.microsoft.com/office/drawing/2014/main" id="{750C805B-C32D-494F-BA1A-552E3389FFAF}"/>
              </a:ext>
            </a:extLst>
          </p:cNvPr>
          <p:cNvSpPr>
            <a:spLocks noGrp="1"/>
          </p:cNvSpPr>
          <p:nvPr>
            <p:ph idx="1"/>
          </p:nvPr>
        </p:nvSpPr>
        <p:spPr/>
        <p:txBody>
          <a:bodyPr/>
          <a:lstStyle/>
          <a:p>
            <a:r>
              <a:rPr lang="en-US" dirty="0"/>
              <a:t>How would the stories turn out in your organization?</a:t>
            </a:r>
          </a:p>
          <a:p>
            <a:r>
              <a:rPr lang="en-US" dirty="0"/>
              <a:t>(E.G. Does the boss break the rules or follow them like everybody else?  Does the boss help out when all hands are needed regardless of the task or remain the boss? Etc. )</a:t>
            </a:r>
          </a:p>
        </p:txBody>
      </p:sp>
    </p:spTree>
    <p:extLst>
      <p:ext uri="{BB962C8B-B14F-4D97-AF65-F5344CB8AC3E}">
        <p14:creationId xmlns:p14="http://schemas.microsoft.com/office/powerpoint/2010/main" val="2310514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Quinn and Cameron </a:t>
            </a:r>
            <a:br>
              <a:rPr lang="en-US" dirty="0"/>
            </a:br>
            <a:r>
              <a:rPr lang="en-US" dirty="0"/>
              <a:t>A Cultural Elaboration</a:t>
            </a:r>
          </a:p>
        </p:txBody>
      </p:sp>
      <p:pic>
        <p:nvPicPr>
          <p:cNvPr id="1026" name="Picture 2" descr="http://www.cartonspleins.fr/wp-content/uploads/2011/03/cameron-and-quin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752600"/>
            <a:ext cx="49720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629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497D-E106-4521-AE4D-6F13E1789940}"/>
              </a:ext>
            </a:extLst>
          </p:cNvPr>
          <p:cNvSpPr>
            <a:spLocks noGrp="1"/>
          </p:cNvSpPr>
          <p:nvPr>
            <p:ph type="title"/>
          </p:nvPr>
        </p:nvSpPr>
        <p:spPr/>
        <p:txBody>
          <a:bodyPr/>
          <a:lstStyle/>
          <a:p>
            <a:r>
              <a:rPr lang="en-US" dirty="0"/>
              <a:t>Reflective Pause Six to Eighteen</a:t>
            </a:r>
          </a:p>
        </p:txBody>
      </p:sp>
      <p:sp>
        <p:nvSpPr>
          <p:cNvPr id="3" name="Content Placeholder 2">
            <a:extLst>
              <a:ext uri="{FF2B5EF4-FFF2-40B4-BE49-F238E27FC236}">
                <a16:creationId xmlns:a16="http://schemas.microsoft.com/office/drawing/2014/main" id="{2632900F-1231-47AC-9308-F123BBA7D69A}"/>
              </a:ext>
            </a:extLst>
          </p:cNvPr>
          <p:cNvSpPr>
            <a:spLocks noGrp="1"/>
          </p:cNvSpPr>
          <p:nvPr>
            <p:ph idx="1"/>
          </p:nvPr>
        </p:nvSpPr>
        <p:spPr/>
        <p:txBody>
          <a:bodyPr/>
          <a:lstStyle/>
          <a:p>
            <a:r>
              <a:rPr lang="en-US" dirty="0"/>
              <a:t>The next twelve slides asks you to rate your organizational culture and your leadership style, allowing you to map them according to the Quinn and Cameron cultural types</a:t>
            </a:r>
          </a:p>
        </p:txBody>
      </p:sp>
    </p:spTree>
    <p:extLst>
      <p:ext uri="{BB962C8B-B14F-4D97-AF65-F5344CB8AC3E}">
        <p14:creationId xmlns:p14="http://schemas.microsoft.com/office/powerpoint/2010/main" val="2804953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sz="4000" dirty="0"/>
              <a:t>Diagnosing your organizational culture</a:t>
            </a:r>
            <a:br>
              <a:rPr lang="en-US" sz="4000" dirty="0"/>
            </a:br>
            <a:r>
              <a:rPr lang="en-US" sz="4000" dirty="0"/>
              <a:t>1.</a:t>
            </a:r>
          </a:p>
        </p:txBody>
      </p:sp>
      <p:sp>
        <p:nvSpPr>
          <p:cNvPr id="8195" name="Rectangle 3"/>
          <p:cNvSpPr>
            <a:spLocks noGrp="1" noChangeArrowheads="1"/>
          </p:cNvSpPr>
          <p:nvPr>
            <p:ph idx="1"/>
          </p:nvPr>
        </p:nvSpPr>
        <p:spPr>
          <a:xfrm>
            <a:off x="457200" y="1905000"/>
            <a:ext cx="8229600" cy="4800600"/>
          </a:xfrm>
        </p:spPr>
        <p:txBody>
          <a:bodyPr/>
          <a:lstStyle/>
          <a:p>
            <a:r>
              <a:rPr lang="en-US" sz="2800" dirty="0"/>
              <a:t>Dominant Characteristics (Divide 100 points)</a:t>
            </a:r>
          </a:p>
          <a:p>
            <a:pPr lvl="1"/>
            <a:r>
              <a:rPr lang="en-US" sz="2400" dirty="0"/>
              <a:t>A._____ A is a very personal place. People seem to share a lot of themselves</a:t>
            </a:r>
          </a:p>
          <a:p>
            <a:pPr lvl="1"/>
            <a:r>
              <a:rPr lang="en-US" sz="2400" dirty="0"/>
              <a:t>B._____ B is a very dynamic place where people experiment and take risks</a:t>
            </a:r>
          </a:p>
          <a:p>
            <a:pPr lvl="1"/>
            <a:r>
              <a:rPr lang="en-US" sz="2400" dirty="0"/>
              <a:t>C._____ C is a very formalized and structured place. Bureaucratic procedures govern what people do.</a:t>
            </a:r>
          </a:p>
          <a:p>
            <a:pPr lvl="1"/>
            <a:r>
              <a:rPr lang="en-US" sz="2400" dirty="0"/>
              <a:t>D.______ D is  a very competitive place. A major concern is getting the job done. People are very production and achievement oriented.   </a:t>
            </a:r>
          </a:p>
        </p:txBody>
      </p:sp>
    </p:spTree>
  </p:cSld>
  <p:clrMapOvr>
    <a:masterClrMapping/>
  </p:clrMapOvr>
  <p:transition advTm="11200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 </a:t>
            </a:r>
            <a:r>
              <a:rPr lang="en-US" sz="3200"/>
              <a:t>2.Organizational</a:t>
            </a:r>
            <a:r>
              <a:rPr lang="en-US"/>
              <a:t> Leader</a:t>
            </a:r>
          </a:p>
        </p:txBody>
      </p:sp>
      <p:sp>
        <p:nvSpPr>
          <p:cNvPr id="9219" name="Rectangle 3"/>
          <p:cNvSpPr>
            <a:spLocks noGrp="1" noChangeArrowheads="1"/>
          </p:cNvSpPr>
          <p:nvPr>
            <p:ph idx="1"/>
          </p:nvPr>
        </p:nvSpPr>
        <p:spPr/>
        <p:txBody>
          <a:bodyPr/>
          <a:lstStyle/>
          <a:p>
            <a:pPr>
              <a:lnSpc>
                <a:spcPct val="80000"/>
              </a:lnSpc>
            </a:pPr>
            <a:r>
              <a:rPr lang="en-US" sz="2000" dirty="0"/>
              <a:t>A._____ The head of A is generally considered to be a mentor, a kind of parent figure.</a:t>
            </a:r>
          </a:p>
          <a:p>
            <a:pPr>
              <a:lnSpc>
                <a:spcPct val="80000"/>
              </a:lnSpc>
            </a:pPr>
            <a:r>
              <a:rPr lang="en-US" sz="2000" dirty="0"/>
              <a:t>B._____. The head of B is generally considered to be an innovator, or risk taker, always willing to try new things.</a:t>
            </a:r>
          </a:p>
          <a:p>
            <a:pPr>
              <a:lnSpc>
                <a:spcPct val="80000"/>
              </a:lnSpc>
            </a:pPr>
            <a:r>
              <a:rPr lang="en-US" sz="2000" dirty="0"/>
              <a:t>C._____ The head of C is generally considered to be a coordinator, an organizer, or an efficiency expert.</a:t>
            </a:r>
          </a:p>
          <a:p>
            <a:pPr>
              <a:lnSpc>
                <a:spcPct val="80000"/>
              </a:lnSpc>
            </a:pPr>
            <a:r>
              <a:rPr lang="en-US" sz="2000" dirty="0"/>
              <a:t>D._____ The head of D is generally considered to be a hard driver, focused on competition and getting things done. </a:t>
            </a:r>
          </a:p>
        </p:txBody>
      </p:sp>
    </p:spTree>
  </p:cSld>
  <p:clrMapOvr>
    <a:masterClrMapping/>
  </p:clrMapOvr>
  <p:transition advTm="8900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 3.Organizational Glue</a:t>
            </a:r>
          </a:p>
        </p:txBody>
      </p:sp>
      <p:sp>
        <p:nvSpPr>
          <p:cNvPr id="10243" name="Rectangle 3"/>
          <p:cNvSpPr>
            <a:spLocks noGrp="1" noChangeArrowheads="1"/>
          </p:cNvSpPr>
          <p:nvPr>
            <p:ph idx="1"/>
          </p:nvPr>
        </p:nvSpPr>
        <p:spPr/>
        <p:txBody>
          <a:bodyPr/>
          <a:lstStyle/>
          <a:p>
            <a:pPr>
              <a:lnSpc>
                <a:spcPct val="80000"/>
              </a:lnSpc>
            </a:pPr>
            <a:r>
              <a:rPr lang="en-US" sz="2800" dirty="0"/>
              <a:t>A. _____The glue that holds A together is loyalty. Cohesion and teamwork  are characteristic. </a:t>
            </a:r>
          </a:p>
          <a:p>
            <a:pPr>
              <a:lnSpc>
                <a:spcPct val="80000"/>
              </a:lnSpc>
            </a:pPr>
            <a:r>
              <a:rPr lang="en-US" sz="2800" dirty="0"/>
              <a:t>B._____ The glue that holds B together  is a focus on being cutting edge, being the first to try something new.</a:t>
            </a:r>
          </a:p>
          <a:p>
            <a:pPr>
              <a:lnSpc>
                <a:spcPct val="80000"/>
              </a:lnSpc>
            </a:pPr>
            <a:r>
              <a:rPr lang="en-US" sz="2800" dirty="0"/>
              <a:t>C.______ The glue that holds C together is formal procedures, rules, and policies. Emphasis is on keeping things smoothly running.</a:t>
            </a:r>
          </a:p>
          <a:p>
            <a:pPr>
              <a:lnSpc>
                <a:spcPct val="80000"/>
              </a:lnSpc>
            </a:pPr>
            <a:r>
              <a:rPr lang="en-US" sz="2800" dirty="0"/>
              <a:t>D.______ The glue that Dept D together is an emphasis on achievement and aggressively pursuing goals  </a:t>
            </a:r>
          </a:p>
        </p:txBody>
      </p:sp>
    </p:spTree>
  </p:cSld>
  <p:clrMapOvr>
    <a:masterClrMapping/>
  </p:clrMapOvr>
  <p:transition advTm="3700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4. Organizational Climate</a:t>
            </a:r>
          </a:p>
        </p:txBody>
      </p:sp>
      <p:sp>
        <p:nvSpPr>
          <p:cNvPr id="11267" name="Rectangle 3"/>
          <p:cNvSpPr>
            <a:spLocks noGrp="1" noChangeArrowheads="1"/>
          </p:cNvSpPr>
          <p:nvPr>
            <p:ph idx="1"/>
          </p:nvPr>
        </p:nvSpPr>
        <p:spPr/>
        <p:txBody>
          <a:bodyPr/>
          <a:lstStyle/>
          <a:p>
            <a:pPr>
              <a:lnSpc>
                <a:spcPct val="90000"/>
              </a:lnSpc>
            </a:pPr>
            <a:r>
              <a:rPr lang="en-US" sz="2400" dirty="0"/>
              <a:t>A._____ The climate inside A is comfortable and a place where high trust and openness exist</a:t>
            </a:r>
          </a:p>
          <a:p>
            <a:pPr>
              <a:lnSpc>
                <a:spcPct val="90000"/>
              </a:lnSpc>
            </a:pPr>
            <a:r>
              <a:rPr lang="en-US" sz="2400" dirty="0"/>
              <a:t>B._____ The climate inside B emphasizes dynamism and readiness to meet new challenges.  Trying new things and trial and error learning are common.</a:t>
            </a:r>
          </a:p>
          <a:p>
            <a:pPr>
              <a:lnSpc>
                <a:spcPct val="90000"/>
              </a:lnSpc>
            </a:pPr>
            <a:r>
              <a:rPr lang="en-US" sz="2400" dirty="0"/>
              <a:t>C._____ The climate inside C emphasizes stability with clear expectations regarding procedures and what’s expected.</a:t>
            </a:r>
          </a:p>
          <a:p>
            <a:pPr>
              <a:lnSpc>
                <a:spcPct val="90000"/>
              </a:lnSpc>
            </a:pPr>
            <a:r>
              <a:rPr lang="en-US" sz="2400" dirty="0"/>
              <a:t>D. _____ The climate inside D is competitive and confrontational. Emphasis is on winning.</a:t>
            </a:r>
          </a:p>
          <a:p>
            <a:pPr>
              <a:lnSpc>
                <a:spcPct val="90000"/>
              </a:lnSpc>
            </a:pPr>
            <a:endParaRPr lang="en-US" sz="2400" dirty="0"/>
          </a:p>
        </p:txBody>
      </p:sp>
    </p:spTree>
  </p:cSld>
  <p:clrMapOvr>
    <a:masterClrMapping/>
  </p:clrMapOvr>
  <p:transition advTm="2700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5. Criteria of Success</a:t>
            </a:r>
          </a:p>
        </p:txBody>
      </p:sp>
      <p:sp>
        <p:nvSpPr>
          <p:cNvPr id="12291" name="Rectangle 3"/>
          <p:cNvSpPr>
            <a:spLocks noGrp="1" noChangeArrowheads="1"/>
          </p:cNvSpPr>
          <p:nvPr>
            <p:ph idx="1"/>
          </p:nvPr>
        </p:nvSpPr>
        <p:spPr/>
        <p:txBody>
          <a:bodyPr/>
          <a:lstStyle/>
          <a:p>
            <a:pPr>
              <a:lnSpc>
                <a:spcPct val="80000"/>
              </a:lnSpc>
            </a:pPr>
            <a:r>
              <a:rPr lang="en-US" sz="2800" dirty="0"/>
              <a:t>A._____ A defines success in terms of team work and developing each person to achieve their own potential. Concern for people is highly valued.</a:t>
            </a:r>
          </a:p>
          <a:p>
            <a:pPr>
              <a:lnSpc>
                <a:spcPct val="80000"/>
              </a:lnSpc>
            </a:pPr>
            <a:r>
              <a:rPr lang="en-US" sz="2800" dirty="0"/>
              <a:t>B._____ B defines success on the basis of being unique and innovative.</a:t>
            </a:r>
          </a:p>
          <a:p>
            <a:pPr>
              <a:lnSpc>
                <a:spcPct val="80000"/>
              </a:lnSpc>
            </a:pPr>
            <a:r>
              <a:rPr lang="en-US" sz="2800" dirty="0"/>
              <a:t>C._____ C defines success as having an orderly, predictable, smoothly running unit where disruptions are kept at a minimum </a:t>
            </a:r>
          </a:p>
          <a:p>
            <a:pPr>
              <a:lnSpc>
                <a:spcPct val="80000"/>
              </a:lnSpc>
            </a:pPr>
            <a:r>
              <a:rPr lang="en-US" sz="2800" dirty="0"/>
              <a:t>D._____ D defines success as being number 1 in comparison to other units</a:t>
            </a:r>
          </a:p>
        </p:txBody>
      </p:sp>
    </p:spTree>
  </p:cSld>
  <p:clrMapOvr>
    <a:masterClrMapping/>
  </p:clrMapOvr>
  <p:transition advTm="3000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6.Leadership Style</a:t>
            </a:r>
          </a:p>
        </p:txBody>
      </p:sp>
      <p:sp>
        <p:nvSpPr>
          <p:cNvPr id="13315" name="Rectangle 3"/>
          <p:cNvSpPr>
            <a:spLocks noGrp="1" noChangeArrowheads="1"/>
          </p:cNvSpPr>
          <p:nvPr>
            <p:ph idx="1"/>
          </p:nvPr>
        </p:nvSpPr>
        <p:spPr/>
        <p:txBody>
          <a:bodyPr/>
          <a:lstStyle/>
          <a:p>
            <a:pPr>
              <a:lnSpc>
                <a:spcPct val="90000"/>
              </a:lnSpc>
            </a:pPr>
            <a:r>
              <a:rPr lang="en-US" sz="2800" dirty="0"/>
              <a:t>A._____ In A the leadership style is characterized by teamwork, consensus building, and participation</a:t>
            </a:r>
          </a:p>
          <a:p>
            <a:pPr>
              <a:lnSpc>
                <a:spcPct val="90000"/>
              </a:lnSpc>
            </a:pPr>
            <a:r>
              <a:rPr lang="en-US" sz="2800" dirty="0"/>
              <a:t>B.______ In B leadership fosters uniqueness, freedom, and innovation.</a:t>
            </a:r>
          </a:p>
          <a:p>
            <a:pPr>
              <a:lnSpc>
                <a:spcPct val="90000"/>
              </a:lnSpc>
            </a:pPr>
            <a:r>
              <a:rPr lang="en-US" sz="2800" dirty="0"/>
              <a:t>C.______ In C leadership is characterized by adhering to rules, procedures and emphasizing stability</a:t>
            </a:r>
          </a:p>
          <a:p>
            <a:pPr>
              <a:lnSpc>
                <a:spcPct val="90000"/>
              </a:lnSpc>
            </a:pPr>
            <a:r>
              <a:rPr lang="en-US" sz="2800" dirty="0"/>
              <a:t>D._____ In D leadership stresses competitiveness and achievement.   </a:t>
            </a:r>
          </a:p>
        </p:txBody>
      </p:sp>
    </p:spTree>
  </p:cSld>
  <p:clrMapOvr>
    <a:masterClrMapping/>
  </p:clrMapOvr>
  <p:transition advTm="2000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Profile</a:t>
            </a:r>
          </a:p>
        </p:txBody>
      </p:sp>
      <p:sp>
        <p:nvSpPr>
          <p:cNvPr id="6" name="Text Placeholder 5"/>
          <p:cNvSpPr>
            <a:spLocks noGrp="1"/>
          </p:cNvSpPr>
          <p:nvPr>
            <p:ph type="body" idx="1"/>
          </p:nvPr>
        </p:nvSpPr>
        <p:spPr/>
        <p:txBody>
          <a:bodyPr>
            <a:normAutofit fontScale="92500" lnSpcReduction="20000"/>
          </a:bodyPr>
          <a:lstStyle/>
          <a:p>
            <a:r>
              <a:rPr lang="en-US" dirty="0"/>
              <a:t>Total Organizational Points Assigned</a:t>
            </a:r>
          </a:p>
        </p:txBody>
      </p:sp>
      <p:sp>
        <p:nvSpPr>
          <p:cNvPr id="7" name="Content Placeholder 6"/>
          <p:cNvSpPr>
            <a:spLocks noGrp="1"/>
          </p:cNvSpPr>
          <p:nvPr>
            <p:ph sz="half" idx="2"/>
          </p:nvPr>
        </p:nvSpPr>
        <p:spPr/>
        <p:txBody>
          <a:bodyPr/>
          <a:lstStyle/>
          <a:p>
            <a:r>
              <a:rPr lang="en-US" dirty="0"/>
              <a:t>A__________ /6</a:t>
            </a:r>
          </a:p>
          <a:p>
            <a:r>
              <a:rPr lang="en-US" dirty="0"/>
              <a:t>B__________ /6</a:t>
            </a:r>
          </a:p>
          <a:p>
            <a:r>
              <a:rPr lang="en-US" dirty="0"/>
              <a:t>C__________ /6</a:t>
            </a:r>
          </a:p>
          <a:p>
            <a:r>
              <a:rPr lang="en-US" dirty="0"/>
              <a:t>D__________ /6</a:t>
            </a:r>
          </a:p>
        </p:txBody>
      </p:sp>
      <p:sp>
        <p:nvSpPr>
          <p:cNvPr id="8" name="Text Placeholder 7"/>
          <p:cNvSpPr>
            <a:spLocks noGrp="1"/>
          </p:cNvSpPr>
          <p:nvPr>
            <p:ph type="body" sz="quarter" idx="3"/>
          </p:nvPr>
        </p:nvSpPr>
        <p:spPr/>
        <p:txBody>
          <a:bodyPr/>
          <a:lstStyle/>
          <a:p>
            <a:r>
              <a:rPr lang="en-US" dirty="0"/>
              <a:t>Average Points for</a:t>
            </a:r>
          </a:p>
        </p:txBody>
      </p:sp>
      <p:sp>
        <p:nvSpPr>
          <p:cNvPr id="9" name="Content Placeholder 8"/>
          <p:cNvSpPr>
            <a:spLocks noGrp="1"/>
          </p:cNvSpPr>
          <p:nvPr>
            <p:ph sz="quarter" idx="4"/>
          </p:nvPr>
        </p:nvSpPr>
        <p:spPr/>
        <p:txBody>
          <a:bodyPr/>
          <a:lstStyle/>
          <a:p>
            <a:r>
              <a:rPr lang="en-US" dirty="0"/>
              <a:t>A_________</a:t>
            </a:r>
          </a:p>
          <a:p>
            <a:r>
              <a:rPr lang="en-US" dirty="0"/>
              <a:t>B__________</a:t>
            </a:r>
          </a:p>
          <a:p>
            <a:r>
              <a:rPr lang="en-US" dirty="0"/>
              <a:t>C__________</a:t>
            </a:r>
          </a:p>
          <a:p>
            <a:r>
              <a:rPr lang="en-US" dirty="0"/>
              <a:t>D__________</a:t>
            </a:r>
          </a:p>
        </p:txBody>
      </p:sp>
    </p:spTree>
  </p:cSld>
  <p:clrMapOvr>
    <a:masterClrMapping/>
  </p:clrMapOvr>
  <p:transition advTm="4900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Line 2"/>
          <p:cNvSpPr>
            <a:spLocks noChangeShapeType="1"/>
          </p:cNvSpPr>
          <p:nvPr/>
        </p:nvSpPr>
        <p:spPr bwMode="auto">
          <a:xfrm>
            <a:off x="4114800" y="533400"/>
            <a:ext cx="0" cy="4876800"/>
          </a:xfrm>
          <a:prstGeom prst="line">
            <a:avLst/>
          </a:prstGeom>
          <a:noFill/>
          <a:ln w="9525">
            <a:solidFill>
              <a:schemeClr val="tx1"/>
            </a:solidFill>
            <a:round/>
            <a:headEnd/>
            <a:tailEnd/>
          </a:ln>
          <a:effectLst/>
        </p:spPr>
        <p:txBody>
          <a:bodyPr/>
          <a:lstStyle/>
          <a:p>
            <a:endParaRPr lang="en-US"/>
          </a:p>
        </p:txBody>
      </p:sp>
      <p:sp>
        <p:nvSpPr>
          <p:cNvPr id="21507" name="Line 3"/>
          <p:cNvSpPr>
            <a:spLocks noChangeShapeType="1"/>
          </p:cNvSpPr>
          <p:nvPr/>
        </p:nvSpPr>
        <p:spPr bwMode="auto">
          <a:xfrm>
            <a:off x="1295400" y="2590800"/>
            <a:ext cx="5638800" cy="0"/>
          </a:xfrm>
          <a:prstGeom prst="line">
            <a:avLst/>
          </a:prstGeom>
          <a:noFill/>
          <a:ln w="9525">
            <a:solidFill>
              <a:schemeClr val="tx1"/>
            </a:solidFill>
            <a:round/>
            <a:headEnd/>
            <a:tailEnd/>
          </a:ln>
          <a:effectLst/>
        </p:spPr>
        <p:txBody>
          <a:bodyPr/>
          <a:lstStyle/>
          <a:p>
            <a:endParaRPr lang="en-US"/>
          </a:p>
        </p:txBody>
      </p:sp>
      <p:sp>
        <p:nvSpPr>
          <p:cNvPr id="21508" name="Text Box 4"/>
          <p:cNvSpPr txBox="1">
            <a:spLocks noChangeArrowheads="1"/>
          </p:cNvSpPr>
          <p:nvPr/>
        </p:nvSpPr>
        <p:spPr bwMode="auto">
          <a:xfrm>
            <a:off x="2727325" y="5599113"/>
            <a:ext cx="920750" cy="366712"/>
          </a:xfrm>
          <a:prstGeom prst="rect">
            <a:avLst/>
          </a:prstGeom>
          <a:noFill/>
          <a:ln w="9525">
            <a:noFill/>
            <a:miter lim="800000"/>
            <a:headEnd/>
            <a:tailEnd/>
          </a:ln>
          <a:effectLst/>
        </p:spPr>
        <p:txBody>
          <a:bodyPr wrap="none">
            <a:spAutoFit/>
          </a:bodyPr>
          <a:lstStyle/>
          <a:p>
            <a:r>
              <a:rPr lang="en-US"/>
              <a:t>Control</a:t>
            </a:r>
          </a:p>
        </p:txBody>
      </p:sp>
      <p:sp>
        <p:nvSpPr>
          <p:cNvPr id="21509" name="Text Box 5"/>
          <p:cNvSpPr txBox="1">
            <a:spLocks noChangeArrowheads="1"/>
          </p:cNvSpPr>
          <p:nvPr/>
        </p:nvSpPr>
        <p:spPr bwMode="auto">
          <a:xfrm>
            <a:off x="2955925" y="265113"/>
            <a:ext cx="1123950" cy="366712"/>
          </a:xfrm>
          <a:prstGeom prst="rect">
            <a:avLst/>
          </a:prstGeom>
          <a:noFill/>
          <a:ln w="9525">
            <a:noFill/>
            <a:miter lim="800000"/>
            <a:headEnd/>
            <a:tailEnd/>
          </a:ln>
          <a:effectLst/>
        </p:spPr>
        <p:txBody>
          <a:bodyPr wrap="none">
            <a:spAutoFit/>
          </a:bodyPr>
          <a:lstStyle/>
          <a:p>
            <a:r>
              <a:rPr lang="en-US"/>
              <a:t>Flexibility</a:t>
            </a:r>
          </a:p>
        </p:txBody>
      </p:sp>
      <p:sp>
        <p:nvSpPr>
          <p:cNvPr id="21510" name="Text Box 6"/>
          <p:cNvSpPr txBox="1">
            <a:spLocks noChangeArrowheads="1"/>
          </p:cNvSpPr>
          <p:nvPr/>
        </p:nvSpPr>
        <p:spPr bwMode="auto">
          <a:xfrm>
            <a:off x="593725" y="2322513"/>
            <a:ext cx="946150" cy="366712"/>
          </a:xfrm>
          <a:prstGeom prst="rect">
            <a:avLst/>
          </a:prstGeom>
          <a:noFill/>
          <a:ln w="9525">
            <a:noFill/>
            <a:miter lim="800000"/>
            <a:headEnd/>
            <a:tailEnd/>
          </a:ln>
          <a:effectLst/>
        </p:spPr>
        <p:txBody>
          <a:bodyPr wrap="none">
            <a:spAutoFit/>
          </a:bodyPr>
          <a:lstStyle/>
          <a:p>
            <a:r>
              <a:rPr lang="en-US"/>
              <a:t>Internal</a:t>
            </a:r>
          </a:p>
        </p:txBody>
      </p:sp>
      <p:sp>
        <p:nvSpPr>
          <p:cNvPr id="21511" name="Text Box 7"/>
          <p:cNvSpPr txBox="1">
            <a:spLocks noChangeArrowheads="1"/>
          </p:cNvSpPr>
          <p:nvPr/>
        </p:nvSpPr>
        <p:spPr bwMode="auto">
          <a:xfrm>
            <a:off x="7299325" y="2322513"/>
            <a:ext cx="1022350" cy="366712"/>
          </a:xfrm>
          <a:prstGeom prst="rect">
            <a:avLst/>
          </a:prstGeom>
          <a:noFill/>
          <a:ln w="9525">
            <a:noFill/>
            <a:miter lim="800000"/>
            <a:headEnd/>
            <a:tailEnd/>
          </a:ln>
          <a:effectLst/>
        </p:spPr>
        <p:txBody>
          <a:bodyPr wrap="none">
            <a:spAutoFit/>
          </a:bodyPr>
          <a:lstStyle/>
          <a:p>
            <a:r>
              <a:rPr lang="en-US"/>
              <a:t>External</a:t>
            </a:r>
          </a:p>
        </p:txBody>
      </p:sp>
      <p:sp>
        <p:nvSpPr>
          <p:cNvPr id="21512" name="Line 8"/>
          <p:cNvSpPr>
            <a:spLocks noChangeShapeType="1"/>
          </p:cNvSpPr>
          <p:nvPr/>
        </p:nvSpPr>
        <p:spPr bwMode="auto">
          <a:xfrm flipV="1">
            <a:off x="1905000" y="990600"/>
            <a:ext cx="4267200" cy="3276600"/>
          </a:xfrm>
          <a:prstGeom prst="line">
            <a:avLst/>
          </a:prstGeom>
          <a:noFill/>
          <a:ln w="9525">
            <a:solidFill>
              <a:schemeClr val="tx1"/>
            </a:solidFill>
            <a:round/>
            <a:headEnd/>
            <a:tailEnd/>
          </a:ln>
          <a:effectLst/>
        </p:spPr>
        <p:txBody>
          <a:bodyPr/>
          <a:lstStyle/>
          <a:p>
            <a:endParaRPr lang="en-US"/>
          </a:p>
        </p:txBody>
      </p:sp>
      <p:sp>
        <p:nvSpPr>
          <p:cNvPr id="21513" name="Line 9"/>
          <p:cNvSpPr>
            <a:spLocks noChangeShapeType="1"/>
          </p:cNvSpPr>
          <p:nvPr/>
        </p:nvSpPr>
        <p:spPr bwMode="auto">
          <a:xfrm>
            <a:off x="2209800" y="914400"/>
            <a:ext cx="4038600" cy="3505200"/>
          </a:xfrm>
          <a:prstGeom prst="line">
            <a:avLst/>
          </a:prstGeom>
          <a:noFill/>
          <a:ln w="9525">
            <a:solidFill>
              <a:schemeClr val="tx1"/>
            </a:solidFill>
            <a:round/>
            <a:headEnd/>
            <a:tailEnd/>
          </a:ln>
          <a:effectLst/>
        </p:spPr>
        <p:txBody>
          <a:bodyPr/>
          <a:lstStyle/>
          <a:p>
            <a:endParaRPr lang="en-US"/>
          </a:p>
        </p:txBody>
      </p:sp>
      <p:sp>
        <p:nvSpPr>
          <p:cNvPr id="21514" name="Line 10"/>
          <p:cNvSpPr>
            <a:spLocks noChangeShapeType="1"/>
          </p:cNvSpPr>
          <p:nvPr/>
        </p:nvSpPr>
        <p:spPr bwMode="auto">
          <a:xfrm>
            <a:off x="3352800" y="1981200"/>
            <a:ext cx="0" cy="0"/>
          </a:xfrm>
          <a:prstGeom prst="line">
            <a:avLst/>
          </a:prstGeom>
          <a:noFill/>
          <a:ln w="9525">
            <a:solidFill>
              <a:schemeClr val="tx1"/>
            </a:solidFill>
            <a:round/>
            <a:headEnd/>
            <a:tailEnd/>
          </a:ln>
          <a:effectLst/>
        </p:spPr>
        <p:txBody>
          <a:bodyPr/>
          <a:lstStyle/>
          <a:p>
            <a:endParaRPr lang="en-US"/>
          </a:p>
        </p:txBody>
      </p:sp>
      <p:sp>
        <p:nvSpPr>
          <p:cNvPr id="21515" name="Line 11"/>
          <p:cNvSpPr>
            <a:spLocks noChangeShapeType="1"/>
          </p:cNvSpPr>
          <p:nvPr/>
        </p:nvSpPr>
        <p:spPr bwMode="auto">
          <a:xfrm flipH="1">
            <a:off x="4038600" y="2590800"/>
            <a:ext cx="76200" cy="76200"/>
          </a:xfrm>
          <a:prstGeom prst="line">
            <a:avLst/>
          </a:prstGeom>
          <a:noFill/>
          <a:ln w="9525">
            <a:solidFill>
              <a:schemeClr val="tx1"/>
            </a:solidFill>
            <a:round/>
            <a:headEnd/>
            <a:tailEnd/>
          </a:ln>
          <a:effectLst/>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8238" name="Ink 46"/>
              <p14:cNvContentPartPr>
                <a14:cpLocks xmlns:a14="http://schemas.microsoft.com/office/drawing/2010/main" noRot="1" noChangeAspect="1" noEditPoints="1" noChangeArrowheads="1" noChangeShapeType="1"/>
              </p14:cNvContentPartPr>
              <p14:nvPr/>
            </p14:nvContentPartPr>
            <p14:xfrm>
              <a:off x="2090738" y="4086225"/>
              <a:ext cx="12700" cy="7938"/>
            </p14:xfrm>
          </p:contentPart>
        </mc:Choice>
        <mc:Fallback xmlns="">
          <p:pic>
            <p:nvPicPr>
              <p:cNvPr id="8238" name="Ink 46"/>
              <p:cNvPicPr>
                <a:picLocks noRot="1" noChangeAspect="1" noEditPoints="1" noChangeArrowheads="1" noChangeShapeType="1"/>
              </p:cNvPicPr>
              <p:nvPr/>
            </p:nvPicPr>
            <p:blipFill>
              <a:blip r:embed="rId5"/>
              <a:stretch>
                <a:fillRect/>
              </a:stretch>
            </p:blipFill>
            <p:spPr>
              <a:xfrm>
                <a:off x="2084932" y="4082653"/>
                <a:ext cx="21771" cy="1746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240" name="Ink 48"/>
              <p14:cNvContentPartPr>
                <a14:cpLocks xmlns:a14="http://schemas.microsoft.com/office/drawing/2010/main" noRot="1" noChangeAspect="1" noEditPoints="1" noChangeArrowheads="1" noChangeShapeType="1"/>
              </p14:cNvContentPartPr>
              <p14:nvPr/>
            </p14:nvContentPartPr>
            <p14:xfrm>
              <a:off x="2974975" y="1509713"/>
              <a:ext cx="3175" cy="25400"/>
            </p14:xfrm>
          </p:contentPart>
        </mc:Choice>
        <mc:Fallback xmlns="">
          <p:pic>
            <p:nvPicPr>
              <p:cNvPr id="8240" name="Ink 48"/>
              <p:cNvPicPr>
                <a:picLocks noRot="1" noChangeAspect="1" noEditPoints="1" noChangeArrowheads="1" noChangeShapeType="1"/>
              </p:cNvPicPr>
              <p:nvPr/>
            </p:nvPicPr>
            <p:blipFill>
              <a:blip r:embed="rId7"/>
              <a:stretch>
                <a:fillRect/>
              </a:stretch>
            </p:blipFill>
            <p:spPr>
              <a:xfrm>
                <a:off x="2971482" y="1504996"/>
                <a:ext cx="10795" cy="3410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239" name="Ink 47"/>
              <p14:cNvContentPartPr>
                <a14:cpLocks xmlns:a14="http://schemas.microsoft.com/office/drawing/2010/main" noRot="1" noChangeAspect="1" noEditPoints="1" noChangeArrowheads="1" noChangeShapeType="1"/>
              </p14:cNvContentPartPr>
              <p14:nvPr/>
            </p14:nvContentPartPr>
            <p14:xfrm>
              <a:off x="3468688" y="2189163"/>
              <a:ext cx="20637" cy="4762"/>
            </p14:xfrm>
          </p:contentPart>
        </mc:Choice>
        <mc:Fallback xmlns="">
          <p:pic>
            <p:nvPicPr>
              <p:cNvPr id="8239" name="Ink 47"/>
              <p:cNvPicPr>
                <a:picLocks noRot="1" noChangeAspect="1" noEditPoints="1" noChangeArrowheads="1" noChangeShapeType="1"/>
              </p:cNvPicPr>
              <p:nvPr/>
            </p:nvPicPr>
            <p:blipFill>
              <a:blip r:embed="rId9"/>
              <a:stretch>
                <a:fillRect/>
              </a:stretch>
            </p:blipFill>
            <p:spPr>
              <a:xfrm>
                <a:off x="3465430" y="2186233"/>
                <a:ext cx="26792" cy="1098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241" name="Ink 49"/>
              <p14:cNvContentPartPr>
                <a14:cpLocks xmlns:a14="http://schemas.microsoft.com/office/drawing/2010/main" noRot="1" noChangeAspect="1" noEditPoints="1" noChangeArrowheads="1" noChangeShapeType="1"/>
              </p14:cNvContentPartPr>
              <p14:nvPr/>
            </p14:nvContentPartPr>
            <p14:xfrm>
              <a:off x="1485900" y="2212975"/>
              <a:ext cx="34925" cy="14288"/>
            </p14:xfrm>
          </p:contentPart>
        </mc:Choice>
        <mc:Fallback xmlns="">
          <p:pic>
            <p:nvPicPr>
              <p:cNvPr id="8241" name="Ink 49"/>
              <p:cNvPicPr>
                <a:picLocks noRot="1" noChangeAspect="1" noEditPoints="1" noChangeArrowheads="1" noChangeShapeType="1"/>
              </p:cNvPicPr>
              <p:nvPr/>
            </p:nvPicPr>
            <p:blipFill>
              <a:blip r:embed="rId11"/>
              <a:stretch>
                <a:fillRect/>
              </a:stretch>
            </p:blipFill>
            <p:spPr>
              <a:xfrm>
                <a:off x="1483020" y="2210475"/>
                <a:ext cx="40326" cy="1964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242" name="Ink 50"/>
              <p14:cNvContentPartPr>
                <a14:cpLocks xmlns:a14="http://schemas.microsoft.com/office/drawing/2010/main" noRot="1" noChangeAspect="1" noEditPoints="1" noChangeArrowheads="1" noChangeShapeType="1"/>
              </p14:cNvContentPartPr>
              <p14:nvPr/>
            </p14:nvContentPartPr>
            <p14:xfrm>
              <a:off x="3598863" y="4105275"/>
              <a:ext cx="33337" cy="61913"/>
            </p14:xfrm>
          </p:contentPart>
        </mc:Choice>
        <mc:Fallback xmlns="">
          <p:pic>
            <p:nvPicPr>
              <p:cNvPr id="8242" name="Ink 50"/>
              <p:cNvPicPr>
                <a:picLocks noRot="1" noChangeAspect="1" noEditPoints="1" noChangeArrowheads="1" noChangeShapeType="1"/>
              </p:cNvPicPr>
              <p:nvPr/>
            </p:nvPicPr>
            <p:blipFill>
              <a:blip r:embed="rId13"/>
              <a:stretch>
                <a:fillRect/>
              </a:stretch>
            </p:blipFill>
            <p:spPr>
              <a:xfrm>
                <a:off x="3593486" y="4100236"/>
                <a:ext cx="43732" cy="72352"/>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234" name="Ink 42"/>
              <p14:cNvContentPartPr>
                <a14:cpLocks xmlns:a14="http://schemas.microsoft.com/office/drawing/2010/main" noRot="1" noChangeAspect="1" noEditPoints="1" noChangeArrowheads="1" noChangeShapeType="1"/>
              </p14:cNvContentPartPr>
              <p14:nvPr/>
            </p14:nvContentPartPr>
            <p14:xfrm>
              <a:off x="2906713" y="3497263"/>
              <a:ext cx="3175" cy="1587"/>
            </p14:xfrm>
          </p:contentPart>
        </mc:Choice>
        <mc:Fallback xmlns="">
          <p:pic>
            <p:nvPicPr>
              <p:cNvPr id="8234" name="Ink 42"/>
              <p:cNvPicPr>
                <a:picLocks noRot="1" noChangeAspect="1" noEditPoints="1" noChangeArrowheads="1" noChangeShapeType="1"/>
              </p:cNvPicPr>
              <p:nvPr/>
            </p:nvPicPr>
            <p:blipFill>
              <a:blip r:embed="rId15"/>
              <a:stretch>
                <a:fillRect/>
              </a:stretch>
            </p:blipFill>
            <p:spPr>
              <a:xfrm>
                <a:off x="2903891" y="3494089"/>
                <a:ext cx="9172" cy="8332"/>
              </a:xfrm>
              <a:prstGeom prst="rect">
                <a:avLst/>
              </a:prstGeom>
            </p:spPr>
          </p:pic>
        </mc:Fallback>
      </mc:AlternateContent>
      <p:sp>
        <p:nvSpPr>
          <p:cNvPr id="2" name="TextBox 1">
            <a:extLst>
              <a:ext uri="{FF2B5EF4-FFF2-40B4-BE49-F238E27FC236}">
                <a16:creationId xmlns:a16="http://schemas.microsoft.com/office/drawing/2014/main" id="{B0C1C888-16BF-47E2-A1AE-A178C93A4C99}"/>
              </a:ext>
            </a:extLst>
          </p:cNvPr>
          <p:cNvSpPr txBox="1"/>
          <p:nvPr/>
        </p:nvSpPr>
        <p:spPr>
          <a:xfrm>
            <a:off x="685800" y="6096000"/>
            <a:ext cx="7401963" cy="369332"/>
          </a:xfrm>
          <a:prstGeom prst="rect">
            <a:avLst/>
          </a:prstGeom>
          <a:noFill/>
        </p:spPr>
        <p:txBody>
          <a:bodyPr wrap="none" rtlCol="0">
            <a:spAutoFit/>
          </a:bodyPr>
          <a:lstStyle/>
          <a:p>
            <a:r>
              <a:rPr lang="en-US" dirty="0"/>
              <a:t>Map your organization on this grid according to the scores given each criteria</a:t>
            </a:r>
          </a:p>
        </p:txBody>
      </p:sp>
    </p:spTree>
  </p:cSld>
  <p:clrMapOvr>
    <a:masterClrMapping/>
  </p:clrMapOvr>
  <p:transition advTm="6600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Leadership related to culture</a:t>
            </a:r>
          </a:p>
        </p:txBody>
      </p:sp>
      <p:sp>
        <p:nvSpPr>
          <p:cNvPr id="3" name="Content Placeholder 2"/>
          <p:cNvSpPr>
            <a:spLocks noGrp="1"/>
          </p:cNvSpPr>
          <p:nvPr>
            <p:ph idx="1"/>
          </p:nvPr>
        </p:nvSpPr>
        <p:spPr/>
        <p:txBody>
          <a:bodyPr>
            <a:normAutofit lnSpcReduction="10000"/>
          </a:bodyPr>
          <a:lstStyle/>
          <a:p>
            <a:r>
              <a:rPr lang="en-US" dirty="0"/>
              <a:t>Very Infrequently 1 2 3 4 5 6 7 Very Frequently</a:t>
            </a:r>
          </a:p>
          <a:p>
            <a:pPr lvl="1"/>
            <a:r>
              <a:rPr lang="en-US" dirty="0"/>
              <a:t>1.Listen to the personal problems of subordinates</a:t>
            </a:r>
          </a:p>
          <a:p>
            <a:pPr lvl="1"/>
            <a:r>
              <a:rPr lang="en-US" dirty="0"/>
              <a:t>2.Meticulously review detailed reports</a:t>
            </a:r>
          </a:p>
          <a:p>
            <a:pPr lvl="1"/>
            <a:r>
              <a:rPr lang="en-US" dirty="0"/>
              <a:t>3.Influence decisions at higher levels</a:t>
            </a:r>
          </a:p>
          <a:p>
            <a:pPr lvl="1"/>
            <a:r>
              <a:rPr lang="en-US" dirty="0"/>
              <a:t>4.Do problem solving in creative, cleaver ways</a:t>
            </a:r>
          </a:p>
          <a:p>
            <a:pPr lvl="1"/>
            <a:r>
              <a:rPr lang="en-US" dirty="0"/>
              <a:t>5.Clearly define areas of responsibility for subs</a:t>
            </a:r>
          </a:p>
          <a:p>
            <a:pPr lvl="1"/>
            <a:r>
              <a:rPr lang="en-US" dirty="0"/>
              <a:t>6.Display a whole hearted commitment to the job</a:t>
            </a:r>
          </a:p>
          <a:p>
            <a:pPr lvl="1"/>
            <a:r>
              <a:rPr lang="en-US" dirty="0"/>
              <a:t>7.Facilitate consensus building in work group sessions</a:t>
            </a:r>
          </a:p>
        </p:txBody>
      </p:sp>
      <mc:AlternateContent xmlns:mc="http://schemas.openxmlformats.org/markup-compatibility/2006" xmlns:p14="http://schemas.microsoft.com/office/powerpoint/2010/main">
        <mc:Choice Requires="p14">
          <p:contentPart p14:bwMode="auto" r:id="rId3">
            <p14:nvContentPartPr>
              <p14:cNvPr id="44034" name="Ink 2"/>
              <p14:cNvContentPartPr>
                <a14:cpLocks xmlns:a14="http://schemas.microsoft.com/office/drawing/2010/main" noRot="1" noChangeAspect="1" noEditPoints="1" noChangeArrowheads="1" noChangeShapeType="1"/>
              </p14:cNvContentPartPr>
              <p14:nvPr/>
            </p14:nvContentPartPr>
            <p14:xfrm>
              <a:off x="1360488" y="6343650"/>
              <a:ext cx="79375" cy="11113"/>
            </p14:xfrm>
          </p:contentPart>
        </mc:Choice>
        <mc:Fallback xmlns="">
          <p:pic>
            <p:nvPicPr>
              <p:cNvPr id="44034" name="Ink 2"/>
              <p:cNvPicPr>
                <a:picLocks noRot="1" noChangeAspect="1" noEditPoints="1" noChangeArrowheads="1" noChangeShapeType="1"/>
              </p:cNvPicPr>
              <p:nvPr/>
            </p:nvPicPr>
            <p:blipFill>
              <a:blip r:embed="rId6"/>
              <a:stretch>
                <a:fillRect/>
              </a:stretch>
            </p:blipFill>
            <p:spPr>
              <a:xfrm>
                <a:off x="1351150" y="6334329"/>
                <a:ext cx="98051" cy="29754"/>
              </a:xfrm>
              <a:prstGeom prst="rect">
                <a:avLst/>
              </a:prstGeom>
            </p:spPr>
          </p:pic>
        </mc:Fallback>
      </mc:AlternateContent>
    </p:spTree>
    <p:custDataLst>
      <p:tags r:id="rId1"/>
    </p:custDataLst>
  </p:cSld>
  <p:clrMapOvr>
    <a:masterClrMapping/>
  </p:clrMapOvr>
  <p:transition advTm="153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pPr lvl="1"/>
            <a:r>
              <a:rPr lang="en-US" dirty="0"/>
              <a:t>8.Protect continuity in day-to-day operations</a:t>
            </a:r>
          </a:p>
          <a:p>
            <a:pPr lvl="1"/>
            <a:r>
              <a:rPr lang="en-US" dirty="0"/>
              <a:t>9.Compare records, reports, and so on to detect any discrepancies in them</a:t>
            </a:r>
          </a:p>
          <a:p>
            <a:pPr lvl="1"/>
            <a:r>
              <a:rPr lang="en-US" dirty="0"/>
              <a:t>10.Show empathy and concern in dealing with subs</a:t>
            </a:r>
          </a:p>
          <a:p>
            <a:pPr lvl="1"/>
            <a:r>
              <a:rPr lang="en-US" dirty="0"/>
              <a:t>11.Set clear objectives for the work unit</a:t>
            </a:r>
          </a:p>
          <a:p>
            <a:pPr lvl="1"/>
            <a:r>
              <a:rPr lang="en-US" dirty="0"/>
              <a:t>12.Search for innovations and potential improvement</a:t>
            </a:r>
          </a:p>
          <a:p>
            <a:pPr lvl="1"/>
            <a:r>
              <a:rPr lang="en-US" dirty="0"/>
              <a:t>13.Work on networking with </a:t>
            </a:r>
            <a:r>
              <a:rPr lang="en-US" dirty="0" err="1"/>
              <a:t>influentials</a:t>
            </a:r>
            <a:endParaRPr lang="en-US" dirty="0"/>
          </a:p>
          <a:p>
            <a:pPr lvl="1"/>
            <a:r>
              <a:rPr lang="en-US" dirty="0"/>
              <a:t>14.Insist on minimum disruption of work flow</a:t>
            </a:r>
          </a:p>
          <a:p>
            <a:pPr lvl="1"/>
            <a:r>
              <a:rPr lang="en-US" dirty="0"/>
              <a:t>15.Reflect high motivation for my role</a:t>
            </a:r>
          </a:p>
          <a:p>
            <a:pPr lvl="1"/>
            <a:r>
              <a:rPr lang="en-US" dirty="0"/>
              <a:t>16.Encourage participative decision making </a:t>
            </a:r>
          </a:p>
        </p:txBody>
      </p:sp>
    </p:spTree>
    <p:custDataLst>
      <p:tags r:id="rId1"/>
    </p:custDataLst>
  </p:cSld>
  <p:clrMapOvr>
    <a:masterClrMapping/>
  </p:clrMapOvr>
  <p:transition advTm="43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r>
              <a:rPr lang="en-US" dirty="0"/>
              <a:t>The Facilitator </a:t>
            </a:r>
          </a:p>
          <a:p>
            <a:pPr lvl="1"/>
            <a:r>
              <a:rPr lang="en-US" dirty="0"/>
              <a:t># 7___ and 16___ T___</a:t>
            </a:r>
          </a:p>
          <a:p>
            <a:r>
              <a:rPr lang="en-US" dirty="0"/>
              <a:t>The Innovator</a:t>
            </a:r>
          </a:p>
          <a:p>
            <a:pPr lvl="1"/>
            <a:r>
              <a:rPr lang="en-US" dirty="0"/>
              <a:t># 4___ and 12___ T___</a:t>
            </a:r>
          </a:p>
          <a:p>
            <a:r>
              <a:rPr lang="en-US" dirty="0"/>
              <a:t>The Producer</a:t>
            </a:r>
          </a:p>
          <a:p>
            <a:pPr lvl="1"/>
            <a:r>
              <a:rPr lang="en-US" dirty="0"/>
              <a:t>#6___ and 15___ T___</a:t>
            </a:r>
          </a:p>
          <a:p>
            <a:r>
              <a:rPr lang="en-US" dirty="0"/>
              <a:t>The Coordinator</a:t>
            </a:r>
          </a:p>
          <a:p>
            <a:pPr lvl="1"/>
            <a:r>
              <a:rPr lang="en-US" dirty="0"/>
              <a:t>#8___ and 14___ T___	</a:t>
            </a:r>
          </a:p>
          <a:p>
            <a:pPr lvl="2"/>
            <a:endParaRPr lang="en-US" dirty="0"/>
          </a:p>
        </p:txBody>
      </p:sp>
      <p:sp>
        <p:nvSpPr>
          <p:cNvPr id="5" name="Content Placeholder 4"/>
          <p:cNvSpPr>
            <a:spLocks noGrp="1"/>
          </p:cNvSpPr>
          <p:nvPr>
            <p:ph sz="half" idx="2"/>
          </p:nvPr>
        </p:nvSpPr>
        <p:spPr/>
        <p:txBody>
          <a:bodyPr/>
          <a:lstStyle/>
          <a:p>
            <a:r>
              <a:rPr lang="en-US" dirty="0"/>
              <a:t>The Mentor</a:t>
            </a:r>
          </a:p>
          <a:p>
            <a:pPr lvl="1"/>
            <a:r>
              <a:rPr lang="en-US" dirty="0"/>
              <a:t># 1___ and 10___ T___</a:t>
            </a:r>
          </a:p>
          <a:p>
            <a:r>
              <a:rPr lang="en-US" dirty="0"/>
              <a:t>The Broker</a:t>
            </a:r>
          </a:p>
          <a:p>
            <a:pPr lvl="1"/>
            <a:r>
              <a:rPr lang="en-US" dirty="0"/>
              <a:t>#3___ and 13___ T___</a:t>
            </a:r>
          </a:p>
          <a:p>
            <a:r>
              <a:rPr lang="en-US" dirty="0"/>
              <a:t>The Director</a:t>
            </a:r>
          </a:p>
          <a:p>
            <a:pPr lvl="1"/>
            <a:r>
              <a:rPr lang="en-US" dirty="0"/>
              <a:t>#5___ and 11___ T___</a:t>
            </a:r>
          </a:p>
          <a:p>
            <a:r>
              <a:rPr lang="en-US" dirty="0"/>
              <a:t>The Monitor</a:t>
            </a:r>
          </a:p>
          <a:p>
            <a:pPr lvl="1"/>
            <a:r>
              <a:rPr lang="en-US" dirty="0"/>
              <a:t>#2___ and 9___ T___</a:t>
            </a:r>
          </a:p>
        </p:txBody>
      </p:sp>
    </p:spTree>
    <p:custDataLst>
      <p:tags r:id="rId1"/>
    </p:custDataLst>
  </p:cSld>
  <p:clrMapOvr>
    <a:masterClrMapping/>
  </p:clrMapOvr>
  <p:transition advTm="14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1"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1"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1"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ssolv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dissolve">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dissolve">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dissolve">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dissolve">
                                      <p:cBhvr>
                                        <p:cTn id="4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Mapping your leadership style</a:t>
            </a:r>
            <a:endParaRPr lang="en-US" dirty="0"/>
          </a:p>
        </p:txBody>
      </p:sp>
      <p:graphicFrame>
        <p:nvGraphicFramePr>
          <p:cNvPr id="7" name="Content Placeholder 6"/>
          <p:cNvGraphicFramePr>
            <a:graphicFrameLocks noGrp="1"/>
          </p:cNvGraphicFramePr>
          <p:nvPr>
            <p:ph idx="1"/>
          </p:nvPr>
        </p:nvGraphicFramePr>
        <p:xfrm>
          <a:off x="457200" y="1447800"/>
          <a:ext cx="8229600" cy="4525963"/>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rot="5400000">
            <a:off x="2667000" y="3429000"/>
            <a:ext cx="3352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362200" y="2133600"/>
            <a:ext cx="4419600" cy="20574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45069" name="Ink 13"/>
              <p14:cNvContentPartPr>
                <a14:cpLocks xmlns:a14="http://schemas.microsoft.com/office/drawing/2010/main" noRot="1" noChangeAspect="1" noEditPoints="1" noChangeArrowheads="1" noChangeShapeType="1"/>
              </p14:cNvContentPartPr>
              <p14:nvPr/>
            </p14:nvContentPartPr>
            <p14:xfrm>
              <a:off x="7543800" y="4686300"/>
              <a:ext cx="49213" cy="28575"/>
            </p14:xfrm>
          </p:contentPart>
        </mc:Choice>
        <mc:Fallback xmlns="">
          <p:pic>
            <p:nvPicPr>
              <p:cNvPr id="45069" name="Ink 13"/>
              <p:cNvPicPr>
                <a:picLocks noRot="1" noChangeAspect="1" noEditPoints="1" noChangeArrowheads="1" noChangeShapeType="1"/>
              </p:cNvPicPr>
              <p:nvPr/>
            </p:nvPicPr>
            <p:blipFill>
              <a:blip r:embed="rId6"/>
              <a:stretch>
                <a:fillRect/>
              </a:stretch>
            </p:blipFill>
            <p:spPr>
              <a:xfrm>
                <a:off x="7539130" y="4680513"/>
                <a:ext cx="59630" cy="4123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5068" name="Ink 12"/>
              <p14:cNvContentPartPr>
                <a14:cpLocks xmlns:a14="http://schemas.microsoft.com/office/drawing/2010/main" noRot="1" noChangeAspect="1" noEditPoints="1" noChangeArrowheads="1" noChangeShapeType="1"/>
              </p14:cNvContentPartPr>
              <p14:nvPr/>
            </p14:nvContentPartPr>
            <p14:xfrm>
              <a:off x="5989638" y="5114925"/>
              <a:ext cx="19050" cy="53975"/>
            </p14:xfrm>
          </p:contentPart>
        </mc:Choice>
        <mc:Fallback xmlns="">
          <p:pic>
            <p:nvPicPr>
              <p:cNvPr id="45068" name="Ink 12"/>
              <p:cNvPicPr>
                <a:picLocks noRot="1" noChangeAspect="1" noEditPoints="1" noChangeArrowheads="1" noChangeShapeType="1"/>
              </p:cNvPicPr>
              <p:nvPr/>
            </p:nvPicPr>
            <p:blipFill>
              <a:blip r:embed="rId8"/>
              <a:stretch>
                <a:fillRect/>
              </a:stretch>
            </p:blipFill>
            <p:spPr>
              <a:xfrm>
                <a:off x="5983893" y="5109633"/>
                <a:ext cx="29331" cy="6596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061" name="Ink 5"/>
              <p14:cNvContentPartPr>
                <a14:cpLocks xmlns:a14="http://schemas.microsoft.com/office/drawing/2010/main" noRot="1" noChangeAspect="1" noEditPoints="1" noChangeArrowheads="1" noChangeShapeType="1"/>
              </p14:cNvContentPartPr>
              <p14:nvPr/>
            </p14:nvContentPartPr>
            <p14:xfrm>
              <a:off x="4887913" y="2732088"/>
              <a:ext cx="7937" cy="4762"/>
            </p14:xfrm>
          </p:contentPart>
        </mc:Choice>
        <mc:Fallback xmlns="">
          <p:pic>
            <p:nvPicPr>
              <p:cNvPr id="45061" name="Ink 5"/>
              <p:cNvPicPr>
                <a:picLocks noRot="1" noChangeAspect="1" noEditPoints="1" noChangeArrowheads="1" noChangeShapeType="1"/>
              </p:cNvPicPr>
              <p:nvPr/>
            </p:nvPicPr>
            <p:blipFill>
              <a:blip r:embed="rId10"/>
              <a:stretch>
                <a:fillRect/>
              </a:stretch>
            </p:blipFill>
            <p:spPr>
              <a:xfrm>
                <a:off x="4883944" y="2727692"/>
                <a:ext cx="14431" cy="1318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5062" name="Ink 6"/>
              <p14:cNvContentPartPr>
                <a14:cpLocks xmlns:a14="http://schemas.microsoft.com/office/drawing/2010/main" noRot="1" noChangeAspect="1" noEditPoints="1" noChangeArrowheads="1" noChangeShapeType="1"/>
              </p14:cNvContentPartPr>
              <p14:nvPr/>
            </p14:nvContentPartPr>
            <p14:xfrm>
              <a:off x="5627688" y="1819275"/>
              <a:ext cx="31750" cy="58738"/>
            </p14:xfrm>
          </p:contentPart>
        </mc:Choice>
        <mc:Fallback xmlns="">
          <p:pic>
            <p:nvPicPr>
              <p:cNvPr id="45062" name="Ink 6"/>
              <p:cNvPicPr>
                <a:picLocks noRot="1" noChangeAspect="1" noEditPoints="1" noChangeArrowheads="1" noChangeShapeType="1"/>
              </p:cNvPicPr>
              <p:nvPr/>
            </p:nvPicPr>
            <p:blipFill>
              <a:blip r:embed="rId12"/>
              <a:stretch>
                <a:fillRect/>
              </a:stretch>
            </p:blipFill>
            <p:spPr>
              <a:xfrm>
                <a:off x="5625162" y="1816753"/>
                <a:ext cx="36801" cy="6378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063" name="Ink 7"/>
              <p14:cNvContentPartPr>
                <a14:cpLocks xmlns:a14="http://schemas.microsoft.com/office/drawing/2010/main" noRot="1" noChangeAspect="1" noEditPoints="1" noChangeArrowheads="1" noChangeShapeType="1"/>
              </p14:cNvContentPartPr>
              <p14:nvPr/>
            </p14:nvContentPartPr>
            <p14:xfrm>
              <a:off x="5334000" y="4227513"/>
              <a:ext cx="28575" cy="11112"/>
            </p14:xfrm>
          </p:contentPart>
        </mc:Choice>
        <mc:Fallback xmlns="">
          <p:pic>
            <p:nvPicPr>
              <p:cNvPr id="45063" name="Ink 7"/>
              <p:cNvPicPr>
                <a:picLocks noRot="1" noChangeAspect="1" noEditPoints="1" noChangeArrowheads="1" noChangeShapeType="1"/>
              </p:cNvPicPr>
              <p:nvPr/>
            </p:nvPicPr>
            <p:blipFill>
              <a:blip r:embed="rId14"/>
              <a:stretch>
                <a:fillRect/>
              </a:stretch>
            </p:blipFill>
            <p:spPr>
              <a:xfrm>
                <a:off x="5322064" y="4219627"/>
                <a:ext cx="44852" cy="28676"/>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5066" name="Ink 10"/>
              <p14:cNvContentPartPr>
                <a14:cpLocks xmlns:a14="http://schemas.microsoft.com/office/drawing/2010/main" noRot="1" noChangeAspect="1" noEditPoints="1" noChangeArrowheads="1" noChangeShapeType="1"/>
              </p14:cNvContentPartPr>
              <p14:nvPr/>
            </p14:nvContentPartPr>
            <p14:xfrm>
              <a:off x="3108325" y="4021138"/>
              <a:ext cx="69850" cy="66675"/>
            </p14:xfrm>
          </p:contentPart>
        </mc:Choice>
        <mc:Fallback xmlns="">
          <p:pic>
            <p:nvPicPr>
              <p:cNvPr id="45066" name="Ink 10"/>
              <p:cNvPicPr>
                <a:picLocks noRot="1" noChangeAspect="1" noEditPoints="1" noChangeArrowheads="1" noChangeShapeType="1"/>
              </p:cNvPicPr>
              <p:nvPr/>
            </p:nvPicPr>
            <p:blipFill>
              <a:blip r:embed="rId16"/>
              <a:stretch>
                <a:fillRect/>
              </a:stretch>
            </p:blipFill>
            <p:spPr>
              <a:xfrm>
                <a:off x="3103644" y="4018255"/>
                <a:ext cx="81012" cy="79650"/>
              </a:xfrm>
              <a:prstGeom prst="rect">
                <a:avLst/>
              </a:prstGeom>
            </p:spPr>
          </p:pic>
        </mc:Fallback>
      </mc:AlternateContent>
      <p:sp>
        <p:nvSpPr>
          <p:cNvPr id="2" name="TextBox 1">
            <a:extLst>
              <a:ext uri="{FF2B5EF4-FFF2-40B4-BE49-F238E27FC236}">
                <a16:creationId xmlns:a16="http://schemas.microsoft.com/office/drawing/2014/main" id="{8E95AE4A-C235-4168-B8C5-C4DB6BC1AEEA}"/>
              </a:ext>
            </a:extLst>
          </p:cNvPr>
          <p:cNvSpPr txBox="1"/>
          <p:nvPr/>
        </p:nvSpPr>
        <p:spPr>
          <a:xfrm>
            <a:off x="990600" y="6477000"/>
            <a:ext cx="6422336" cy="369332"/>
          </a:xfrm>
          <a:prstGeom prst="rect">
            <a:avLst/>
          </a:prstGeom>
          <a:noFill/>
        </p:spPr>
        <p:txBody>
          <a:bodyPr wrap="none" rtlCol="0">
            <a:spAutoFit/>
          </a:bodyPr>
          <a:lstStyle/>
          <a:p>
            <a:r>
              <a:rPr lang="en-US" dirty="0"/>
              <a:t>Map your leadership style according to the scores in each category</a:t>
            </a:r>
          </a:p>
        </p:txBody>
      </p:sp>
    </p:spTree>
  </p:cSld>
  <p:clrMapOvr>
    <a:masterClrMapping/>
  </p:clrMapOvr>
  <p:transition advTm="15300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we are at</a:t>
            </a:r>
          </a:p>
        </p:txBody>
      </p:sp>
      <p:sp>
        <p:nvSpPr>
          <p:cNvPr id="3" name="Content Placeholder 2"/>
          <p:cNvSpPr>
            <a:spLocks noGrp="1"/>
          </p:cNvSpPr>
          <p:nvPr>
            <p:ph idx="1"/>
          </p:nvPr>
        </p:nvSpPr>
        <p:spPr/>
        <p:txBody>
          <a:bodyPr>
            <a:normAutofit lnSpcReduction="10000"/>
          </a:bodyPr>
          <a:lstStyle/>
          <a:p>
            <a:r>
              <a:rPr lang="en-US" dirty="0"/>
              <a:t>Culture is important for understanding a variety of organizational elements</a:t>
            </a:r>
          </a:p>
          <a:p>
            <a:pPr lvl="1"/>
            <a:r>
              <a:rPr lang="en-US" dirty="0"/>
              <a:t>Leadership style</a:t>
            </a:r>
          </a:p>
          <a:p>
            <a:pPr lvl="1"/>
            <a:r>
              <a:rPr lang="en-US" dirty="0"/>
              <a:t>The case of transformational leadership</a:t>
            </a:r>
          </a:p>
          <a:p>
            <a:pPr lvl="1"/>
            <a:r>
              <a:rPr lang="en-US" dirty="0"/>
              <a:t>Ethics of the organization</a:t>
            </a:r>
          </a:p>
          <a:p>
            <a:pPr lvl="1"/>
            <a:r>
              <a:rPr lang="en-US" dirty="0"/>
              <a:t>Time</a:t>
            </a:r>
          </a:p>
          <a:p>
            <a:pPr lvl="1"/>
            <a:r>
              <a:rPr lang="en-US" dirty="0"/>
              <a:t>Space</a:t>
            </a:r>
          </a:p>
          <a:p>
            <a:pPr lvl="1"/>
            <a:r>
              <a:rPr lang="en-US" dirty="0"/>
              <a:t>Ability to read the environment</a:t>
            </a:r>
          </a:p>
          <a:p>
            <a:pPr lvl="1"/>
            <a:r>
              <a:rPr lang="en-US" dirty="0"/>
              <a:t>Organizational form</a:t>
            </a:r>
          </a:p>
        </p:txBody>
      </p:sp>
    </p:spTree>
  </p:cSld>
  <p:clrMapOvr>
    <a:masterClrMapping/>
  </p:clrMapOvr>
  <p:transition advTm="41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4514" name="Picture 2"/>
          <p:cNvPicPr>
            <a:picLocks noGrp="1" noChangeAspect="1" noChangeArrowheads="1"/>
          </p:cNvPicPr>
          <p:nvPr>
            <p:ph idx="1"/>
          </p:nvPr>
        </p:nvPicPr>
        <p:blipFill>
          <a:blip r:embed="rId2" cstate="print"/>
          <a:srcRect/>
          <a:stretch>
            <a:fillRect/>
          </a:stretch>
        </p:blipFill>
        <p:spPr bwMode="auto">
          <a:xfrm>
            <a:off x="2249072" y="1600200"/>
            <a:ext cx="4645856" cy="4525963"/>
          </a:xfrm>
          <a:prstGeom prst="rect">
            <a:avLst/>
          </a:prstGeom>
          <a:noFill/>
          <a:ln w="9525">
            <a:noFill/>
            <a:miter lim="800000"/>
            <a:headEnd/>
            <a:tailEnd/>
          </a:ln>
        </p:spPr>
      </p:pic>
    </p:spTree>
  </p:cSld>
  <p:clrMapOvr>
    <a:masterClrMapping/>
  </p:clrMapOvr>
  <p:transition advTm="3500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Culture Plus</a:t>
            </a:r>
          </a:p>
        </p:txBody>
      </p:sp>
      <p:sp>
        <p:nvSpPr>
          <p:cNvPr id="3" name="Content Placeholder 2"/>
          <p:cNvSpPr>
            <a:spLocks noGrp="1"/>
          </p:cNvSpPr>
          <p:nvPr>
            <p:ph idx="1"/>
          </p:nvPr>
        </p:nvSpPr>
        <p:spPr/>
        <p:txBody>
          <a:bodyPr>
            <a:normAutofit fontScale="92500" lnSpcReduction="10000"/>
          </a:bodyPr>
          <a:lstStyle/>
          <a:p>
            <a:r>
              <a:rPr lang="en-US" dirty="0"/>
              <a:t>Culture is a necessary but not sufficient condition for explaining success or failure of an organization</a:t>
            </a:r>
          </a:p>
          <a:p>
            <a:r>
              <a:rPr lang="en-US" dirty="0"/>
              <a:t>The case of Tandem</a:t>
            </a:r>
          </a:p>
          <a:p>
            <a:pPr lvl="1"/>
            <a:r>
              <a:rPr lang="en-US" dirty="0"/>
              <a:t>Tandem was famous for its unique Silicon Valley company culture</a:t>
            </a:r>
          </a:p>
          <a:p>
            <a:pPr lvl="1"/>
            <a:r>
              <a:rPr lang="en-US" dirty="0"/>
              <a:t>The goals of that culture were formalized in a 'Tandem Philosophy' class for new employees in 1980 and refreshed in 1983:</a:t>
            </a:r>
            <a:r>
              <a:rPr lang="en-US" baseline="30000" dirty="0">
                <a:hlinkClick r:id="rId2"/>
              </a:rPr>
              <a:t>[27]</a:t>
            </a:r>
            <a:endParaRPr lang="en-US" dirty="0"/>
          </a:p>
          <a:p>
            <a:pPr lvl="2"/>
            <a:r>
              <a:rPr lang="en-US" dirty="0"/>
              <a:t>An employee-oriented workplace.</a:t>
            </a:r>
          </a:p>
          <a:p>
            <a:pPr lvl="2"/>
            <a:r>
              <a:rPr lang="en-US" dirty="0"/>
              <a:t>Sustained profitability.</a:t>
            </a:r>
          </a:p>
          <a:p>
            <a:pPr lvl="2"/>
            <a:r>
              <a:rPr lang="en-US" dirty="0"/>
              <a:t>High customer satisfaction.</a:t>
            </a:r>
          </a:p>
          <a:p>
            <a:pPr lvl="1"/>
            <a:endParaRPr lang="en-US" dirty="0"/>
          </a:p>
        </p:txBody>
      </p:sp>
    </p:spTree>
  </p:cSld>
  <p:clrMapOvr>
    <a:masterClrMapping/>
  </p:clrMapOvr>
  <p:transition advTm="3000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Beer Busts</a:t>
            </a:r>
          </a:p>
        </p:txBody>
      </p:sp>
      <p:sp>
        <p:nvSpPr>
          <p:cNvPr id="3" name="Content Placeholder 2"/>
          <p:cNvSpPr>
            <a:spLocks noGrp="1"/>
          </p:cNvSpPr>
          <p:nvPr>
            <p:ph idx="1"/>
          </p:nvPr>
        </p:nvSpPr>
        <p:spPr/>
        <p:txBody>
          <a:bodyPr/>
          <a:lstStyle/>
          <a:p>
            <a:r>
              <a:rPr lang="en-US" dirty="0"/>
              <a:t>Tandem's weekly beer busts were the most visible sign that this company was a bit different. These had keg beer, wine, soft drinks, popcorn, unshelled peanuts, and good conversation. Besides being fun, they encouraged employees of different groups and levels to mix and learn what others in the company needed. The CEO was always present and accessible.</a:t>
            </a:r>
          </a:p>
          <a:p>
            <a:endParaRPr lang="en-US" dirty="0"/>
          </a:p>
        </p:txBody>
      </p:sp>
    </p:spTree>
  </p:cSld>
  <p:clrMapOvr>
    <a:masterClrMapping/>
  </p:clrMapOvr>
  <p:transition advTm="3100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End</a:t>
            </a:r>
          </a:p>
        </p:txBody>
      </p:sp>
      <p:sp>
        <p:nvSpPr>
          <p:cNvPr id="3" name="Content Placeholder 2"/>
          <p:cNvSpPr>
            <a:spLocks noGrp="1"/>
          </p:cNvSpPr>
          <p:nvPr>
            <p:ph idx="1"/>
          </p:nvPr>
        </p:nvSpPr>
        <p:spPr/>
        <p:txBody>
          <a:bodyPr>
            <a:normAutofit lnSpcReduction="10000"/>
          </a:bodyPr>
          <a:lstStyle/>
          <a:p>
            <a:r>
              <a:rPr lang="en-US" dirty="0"/>
              <a:t>Tandem's spectacular growth stagnated due to saturated markets, economic slowdowns, and the costs and limitations of the main product line.</a:t>
            </a:r>
          </a:p>
          <a:p>
            <a:r>
              <a:rPr lang="en-US" dirty="0"/>
              <a:t>As a nearly anonymous division within Compaq and now HP, Tandem's culture is now just history.</a:t>
            </a:r>
          </a:p>
          <a:p>
            <a:r>
              <a:rPr lang="en-US" dirty="0"/>
              <a:t>You can’t escape the influence of the environment </a:t>
            </a:r>
          </a:p>
        </p:txBody>
      </p:sp>
    </p:spTree>
  </p:cSld>
  <p:clrMapOvr>
    <a:masterClrMapping/>
  </p:clrMapOvr>
  <p:transition advTm="51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Connecting the Dots: Leadership, Culture, and Ethics </a:t>
            </a:r>
          </a:p>
        </p:txBody>
      </p:sp>
      <p:sp>
        <p:nvSpPr>
          <p:cNvPr id="3" name="Content Placeholder 2"/>
          <p:cNvSpPr>
            <a:spLocks noGrp="1"/>
          </p:cNvSpPr>
          <p:nvPr>
            <p:ph idx="1"/>
          </p:nvPr>
        </p:nvSpPr>
        <p:spPr/>
        <p:txBody>
          <a:bodyPr>
            <a:normAutofit lnSpcReduction="10000"/>
          </a:bodyPr>
          <a:lstStyle/>
          <a:p>
            <a:r>
              <a:rPr lang="en-US" dirty="0"/>
              <a:t>Barnard makes the point that the executive is responsible for the creation and inculcation of an organizational moral code.</a:t>
            </a:r>
          </a:p>
          <a:p>
            <a:r>
              <a:rPr lang="en-US" dirty="0"/>
              <a:t>Most large organization have developed codes of codes of conduct</a:t>
            </a:r>
          </a:p>
          <a:p>
            <a:r>
              <a:rPr lang="en-US" dirty="0"/>
              <a:t>Such codes are the product of the rationalization of processes and the dominance of bureaucracy as described by Weber.  </a:t>
            </a:r>
          </a:p>
        </p:txBody>
      </p:sp>
    </p:spTree>
    <p:extLst>
      <p:ext uri="{BB962C8B-B14F-4D97-AF65-F5344CB8AC3E}">
        <p14:creationId xmlns:p14="http://schemas.microsoft.com/office/powerpoint/2010/main" val="572654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Meta Narrative: A One Size Fits All Ethics</a:t>
            </a:r>
          </a:p>
        </p:txBody>
      </p:sp>
      <p:sp>
        <p:nvSpPr>
          <p:cNvPr id="3" name="Content Placeholder 2"/>
          <p:cNvSpPr>
            <a:spLocks noGrp="1"/>
          </p:cNvSpPr>
          <p:nvPr>
            <p:ph idx="1"/>
          </p:nvPr>
        </p:nvSpPr>
        <p:spPr/>
        <p:txBody>
          <a:bodyPr>
            <a:normAutofit fontScale="92500" lnSpcReduction="20000"/>
          </a:bodyPr>
          <a:lstStyle/>
          <a:p>
            <a:r>
              <a:rPr lang="en-US" dirty="0"/>
              <a:t>Rationalism in Western Society assumes a single meta narrative</a:t>
            </a:r>
          </a:p>
          <a:p>
            <a:pPr lvl="1"/>
            <a:r>
              <a:rPr lang="en-US" dirty="0"/>
              <a:t>Efficiency/Free Market Economy is the way to maximize the greatest good for the greatest number</a:t>
            </a:r>
          </a:p>
          <a:p>
            <a:r>
              <a:rPr lang="en-US" dirty="0"/>
              <a:t>Leads to a utilitarian/ consequentialist ethic </a:t>
            </a:r>
          </a:p>
          <a:p>
            <a:r>
              <a:rPr lang="en-US" dirty="0"/>
              <a:t>Unfortunately, application of such an ethic can have an unintended, unethical consequence</a:t>
            </a:r>
          </a:p>
          <a:p>
            <a:pPr lvl="1"/>
            <a:r>
              <a:rPr lang="en-US" dirty="0"/>
              <a:t>People treated as means to an end rather than as an end in themselves </a:t>
            </a:r>
          </a:p>
          <a:p>
            <a:pPr lvl="1"/>
            <a:r>
              <a:rPr lang="en-US" dirty="0"/>
              <a:t>  The bus not the bus driver is important  </a:t>
            </a:r>
          </a:p>
          <a:p>
            <a:pPr lvl="1"/>
            <a:r>
              <a:rPr lang="en-US" dirty="0" err="1"/>
              <a:t>Trolleyology</a:t>
            </a:r>
            <a:r>
              <a:rPr lang="en-US" dirty="0"/>
              <a:t>   </a:t>
            </a:r>
          </a:p>
        </p:txBody>
      </p:sp>
    </p:spTree>
    <p:extLst>
      <p:ext uri="{BB962C8B-B14F-4D97-AF65-F5344CB8AC3E}">
        <p14:creationId xmlns:p14="http://schemas.microsoft.com/office/powerpoint/2010/main" val="287724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Corrective: Deontology</a:t>
            </a:r>
          </a:p>
        </p:txBody>
      </p:sp>
      <p:sp>
        <p:nvSpPr>
          <p:cNvPr id="3" name="Content Placeholder 2"/>
          <p:cNvSpPr>
            <a:spLocks noGrp="1"/>
          </p:cNvSpPr>
          <p:nvPr>
            <p:ph idx="1"/>
          </p:nvPr>
        </p:nvSpPr>
        <p:spPr/>
        <p:txBody>
          <a:bodyPr/>
          <a:lstStyle/>
          <a:p>
            <a:r>
              <a:rPr lang="en-US" dirty="0"/>
              <a:t>Duty to universal principles</a:t>
            </a:r>
          </a:p>
          <a:p>
            <a:pPr lvl="1"/>
            <a:r>
              <a:rPr lang="en-US" dirty="0"/>
              <a:t>E.g. The golden rule/treat others as you wish to be treated</a:t>
            </a:r>
          </a:p>
          <a:p>
            <a:pPr lvl="1"/>
            <a:r>
              <a:rPr lang="en-US" dirty="0"/>
              <a:t>Code of conduct: Be impartial in dealing with suppliers; decisions based on fact not personal, relationships</a:t>
            </a:r>
          </a:p>
        </p:txBody>
      </p:sp>
    </p:spTree>
    <p:extLst>
      <p:ext uri="{BB962C8B-B14F-4D97-AF65-F5344CB8AC3E}">
        <p14:creationId xmlns:p14="http://schemas.microsoft.com/office/powerpoint/2010/main" val="2773867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535A3-B651-4DDE-B5C5-CFC3E41DF996}"/>
              </a:ext>
            </a:extLst>
          </p:cNvPr>
          <p:cNvSpPr>
            <a:spLocks noGrp="1"/>
          </p:cNvSpPr>
          <p:nvPr>
            <p:ph type="title"/>
          </p:nvPr>
        </p:nvSpPr>
        <p:spPr/>
        <p:txBody>
          <a:bodyPr/>
          <a:lstStyle/>
          <a:p>
            <a:r>
              <a:rPr lang="en-US" dirty="0"/>
              <a:t>Reflective Pause 19</a:t>
            </a:r>
          </a:p>
        </p:txBody>
      </p:sp>
      <p:sp>
        <p:nvSpPr>
          <p:cNvPr id="3" name="Content Placeholder 2">
            <a:extLst>
              <a:ext uri="{FF2B5EF4-FFF2-40B4-BE49-F238E27FC236}">
                <a16:creationId xmlns:a16="http://schemas.microsoft.com/office/drawing/2014/main" id="{93BB93D6-2F33-4C6C-87FD-387A488C00EE}"/>
              </a:ext>
            </a:extLst>
          </p:cNvPr>
          <p:cNvSpPr>
            <a:spLocks noGrp="1"/>
          </p:cNvSpPr>
          <p:nvPr>
            <p:ph idx="1"/>
          </p:nvPr>
        </p:nvSpPr>
        <p:spPr/>
        <p:txBody>
          <a:bodyPr/>
          <a:lstStyle/>
          <a:p>
            <a:r>
              <a:rPr lang="en-US" dirty="0"/>
              <a:t>Please read the article “When Deontology and Utilitarianism Aren't Enough: How Heidegger's Notion of "Dwelling" Might Help </a:t>
            </a:r>
            <a:r>
              <a:rPr lang="en-US" dirty="0" err="1"/>
              <a:t>Organisational</a:t>
            </a:r>
            <a:r>
              <a:rPr lang="en-US" dirty="0"/>
              <a:t> Leaders Resolve Ethical Issues Author(s): D. </a:t>
            </a:r>
            <a:r>
              <a:rPr lang="en-US" dirty="0" err="1"/>
              <a:t>Ladkin</a:t>
            </a:r>
            <a:r>
              <a:rPr lang="en-US" dirty="0"/>
              <a:t> Source: Journal of Business Ethics, Vol. 65, No. 1 (Apr., 2006), pp. 87-98”</a:t>
            </a:r>
          </a:p>
          <a:p>
            <a:r>
              <a:rPr lang="en-US" dirty="0"/>
              <a:t>Then proceed to work the following slides</a:t>
            </a:r>
          </a:p>
        </p:txBody>
      </p:sp>
    </p:spTree>
    <p:extLst>
      <p:ext uri="{BB962C8B-B14F-4D97-AF65-F5344CB8AC3E}">
        <p14:creationId xmlns:p14="http://schemas.microsoft.com/office/powerpoint/2010/main" val="1231953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Case Study</a:t>
            </a:r>
          </a:p>
        </p:txBody>
      </p:sp>
      <p:sp>
        <p:nvSpPr>
          <p:cNvPr id="3" name="Content Placeholder 2"/>
          <p:cNvSpPr>
            <a:spLocks noGrp="1"/>
          </p:cNvSpPr>
          <p:nvPr>
            <p:ph idx="1"/>
          </p:nvPr>
        </p:nvSpPr>
        <p:spPr/>
        <p:txBody>
          <a:bodyPr/>
          <a:lstStyle/>
          <a:p>
            <a:r>
              <a:rPr lang="en-US" dirty="0"/>
              <a:t>Jake and Max</a:t>
            </a:r>
          </a:p>
          <a:p>
            <a:r>
              <a:rPr lang="en-US" dirty="0"/>
              <a:t>What should Jake do?</a:t>
            </a:r>
          </a:p>
          <a:p>
            <a:r>
              <a:rPr lang="en-US" dirty="0"/>
              <a:t>Which of the two major ethical frameworks are you basing your decision on?</a:t>
            </a:r>
          </a:p>
          <a:p>
            <a:r>
              <a:rPr lang="en-US" dirty="0"/>
              <a:t>Do you feel good about your decision?</a:t>
            </a:r>
          </a:p>
          <a:p>
            <a:r>
              <a:rPr lang="en-US" dirty="0"/>
              <a:t>Is there a third Way?</a:t>
            </a:r>
          </a:p>
          <a:p>
            <a:r>
              <a:rPr lang="en-US" dirty="0"/>
              <a:t>WWMPFD?  (What Would Mary </a:t>
            </a:r>
            <a:r>
              <a:rPr lang="en-US"/>
              <a:t>Parker Follett Do?)</a:t>
            </a:r>
            <a:endParaRPr lang="en-US" dirty="0"/>
          </a:p>
        </p:txBody>
      </p:sp>
    </p:spTree>
    <p:extLst>
      <p:ext uri="{BB962C8B-B14F-4D97-AF65-F5344CB8AC3E}">
        <p14:creationId xmlns:p14="http://schemas.microsoft.com/office/powerpoint/2010/main" val="17458870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Mary Parker Follett </a:t>
            </a:r>
          </a:p>
        </p:txBody>
      </p:sp>
      <p:sp>
        <p:nvSpPr>
          <p:cNvPr id="3" name="Content Placeholder 2"/>
          <p:cNvSpPr>
            <a:spLocks noGrp="1"/>
          </p:cNvSpPr>
          <p:nvPr>
            <p:ph idx="1"/>
          </p:nvPr>
        </p:nvSpPr>
        <p:spPr/>
        <p:txBody>
          <a:bodyPr>
            <a:normAutofit fontScale="92500" lnSpcReduction="10000"/>
          </a:bodyPr>
          <a:lstStyle/>
          <a:p>
            <a:r>
              <a:rPr lang="en-US" dirty="0"/>
              <a:t>Circular Response, Evocation, Integration</a:t>
            </a:r>
          </a:p>
          <a:p>
            <a:r>
              <a:rPr lang="en-US" dirty="0"/>
              <a:t>Intellectual roots in Hegel – Synthesis </a:t>
            </a:r>
          </a:p>
          <a:p>
            <a:r>
              <a:rPr lang="en-US" dirty="0"/>
              <a:t>Philosophically aligned with Heidegger as well</a:t>
            </a:r>
          </a:p>
          <a:p>
            <a:r>
              <a:rPr lang="en-US" dirty="0"/>
              <a:t>Heidegger’s notion of “dwelling with” </a:t>
            </a:r>
          </a:p>
          <a:p>
            <a:pPr lvl="1"/>
            <a:r>
              <a:rPr lang="en-US" dirty="0"/>
              <a:t>STAYING WITH</a:t>
            </a:r>
          </a:p>
          <a:p>
            <a:r>
              <a:rPr lang="en-US" dirty="0"/>
              <a:t>Not rushing to a solution</a:t>
            </a:r>
          </a:p>
          <a:p>
            <a:pPr lvl="1"/>
            <a:r>
              <a:rPr lang="en-US" dirty="0"/>
              <a:t>Waiting to see how reality catches up with appearance </a:t>
            </a:r>
          </a:p>
          <a:p>
            <a:r>
              <a:rPr lang="en-US" dirty="0"/>
              <a:t>Consequentialism assumes knowledge    </a:t>
            </a:r>
          </a:p>
        </p:txBody>
      </p:sp>
    </p:spTree>
    <p:extLst>
      <p:ext uri="{BB962C8B-B14F-4D97-AF65-F5344CB8AC3E}">
        <p14:creationId xmlns:p14="http://schemas.microsoft.com/office/powerpoint/2010/main" val="3368962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Jake</a:t>
            </a:r>
          </a:p>
        </p:txBody>
      </p:sp>
      <p:sp>
        <p:nvSpPr>
          <p:cNvPr id="3" name="Content Placeholder 2"/>
          <p:cNvSpPr>
            <a:spLocks noGrp="1"/>
          </p:cNvSpPr>
          <p:nvPr>
            <p:ph idx="1"/>
          </p:nvPr>
        </p:nvSpPr>
        <p:spPr/>
        <p:txBody>
          <a:bodyPr>
            <a:normAutofit fontScale="92500" lnSpcReduction="20000"/>
          </a:bodyPr>
          <a:lstStyle/>
          <a:p>
            <a:r>
              <a:rPr lang="en-US" dirty="0"/>
              <a:t>How much did he really know about Max’s situation?	</a:t>
            </a:r>
          </a:p>
          <a:p>
            <a:pPr lvl="1"/>
            <a:r>
              <a:rPr lang="en-US" dirty="0"/>
              <a:t>The need to find out more</a:t>
            </a:r>
          </a:p>
          <a:p>
            <a:pPr lvl="1"/>
            <a:r>
              <a:rPr lang="en-US" dirty="0"/>
              <a:t>Be open in conversation</a:t>
            </a:r>
          </a:p>
          <a:p>
            <a:r>
              <a:rPr lang="en-US" dirty="0"/>
              <a:t>In actually talking to Max he found out that the account executive responsible for the </a:t>
            </a:r>
            <a:r>
              <a:rPr lang="en-US" dirty="0" err="1"/>
              <a:t>Vimex</a:t>
            </a:r>
            <a:r>
              <a:rPr lang="en-US" dirty="0"/>
              <a:t> account had left the company</a:t>
            </a:r>
          </a:p>
          <a:p>
            <a:r>
              <a:rPr lang="en-US" dirty="0"/>
              <a:t>New solution emerges/</a:t>
            </a:r>
            <a:r>
              <a:rPr lang="en-US" dirty="0" err="1"/>
              <a:t>Vimex</a:t>
            </a:r>
            <a:r>
              <a:rPr lang="en-US" dirty="0"/>
              <a:t> loans a staff member to </a:t>
            </a:r>
            <a:r>
              <a:rPr lang="en-US" dirty="0" err="1"/>
              <a:t>Saide</a:t>
            </a:r>
            <a:r>
              <a:rPr lang="en-US" dirty="0"/>
              <a:t> for six months </a:t>
            </a:r>
          </a:p>
          <a:p>
            <a:r>
              <a:rPr lang="en-US" sz="1400" dirty="0"/>
              <a:t>(When Deontology and Utilitarianism Aren’t Enough: How Heidegger’s Notion of ‘‘Dwelling’’ Might Help </a:t>
            </a:r>
            <a:r>
              <a:rPr lang="en-US" sz="1400" dirty="0" err="1"/>
              <a:t>Organisational</a:t>
            </a:r>
            <a:r>
              <a:rPr lang="en-US" sz="1400" dirty="0"/>
              <a:t> Leaders Resolve Ethical Issues, D. </a:t>
            </a:r>
            <a:r>
              <a:rPr lang="en-US" sz="1400" dirty="0" err="1"/>
              <a:t>Ladkin</a:t>
            </a:r>
            <a:r>
              <a:rPr lang="en-US" sz="1400" dirty="0"/>
              <a:t>  (Journal of Business Ethics (2006) 65: 87–98 </a:t>
            </a:r>
            <a:r>
              <a:rPr lang="en-US" sz="1400"/>
              <a:t>_ Spring </a:t>
            </a:r>
            <a:r>
              <a:rPr lang="en-US" sz="1400" dirty="0"/>
              <a:t>2006)</a:t>
            </a:r>
          </a:p>
          <a:p>
            <a:endParaRPr lang="en-US" sz="1400" dirty="0"/>
          </a:p>
          <a:p>
            <a:pPr lvl="4"/>
            <a:endParaRPr lang="en-US" dirty="0"/>
          </a:p>
          <a:p>
            <a:pPr lvl="1"/>
            <a:endParaRPr lang="en-US" dirty="0"/>
          </a:p>
        </p:txBody>
      </p:sp>
    </p:spTree>
    <p:extLst>
      <p:ext uri="{BB962C8B-B14F-4D97-AF65-F5344CB8AC3E}">
        <p14:creationId xmlns:p14="http://schemas.microsoft.com/office/powerpoint/2010/main" val="51189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Lessons for Leadership and Ethics</a:t>
            </a:r>
          </a:p>
        </p:txBody>
      </p:sp>
      <p:sp>
        <p:nvSpPr>
          <p:cNvPr id="3" name="Content Placeholder 2"/>
          <p:cNvSpPr>
            <a:spLocks noGrp="1"/>
          </p:cNvSpPr>
          <p:nvPr>
            <p:ph idx="1"/>
          </p:nvPr>
        </p:nvSpPr>
        <p:spPr/>
        <p:txBody>
          <a:bodyPr>
            <a:normAutofit fontScale="92500" lnSpcReduction="20000"/>
          </a:bodyPr>
          <a:lstStyle/>
          <a:p>
            <a:r>
              <a:rPr lang="en-US" dirty="0"/>
              <a:t>Leadership is highly situational – Follett’s idea of “law of the situation”</a:t>
            </a:r>
          </a:p>
          <a:p>
            <a:pPr lvl="1"/>
            <a:r>
              <a:rPr lang="en-US" dirty="0"/>
              <a:t>Hence her emphasis on functional leadership, rather than positional or personality</a:t>
            </a:r>
          </a:p>
          <a:p>
            <a:r>
              <a:rPr lang="en-US" dirty="0"/>
              <a:t>Ethics of leadership also has to be open to the situation	</a:t>
            </a:r>
          </a:p>
          <a:p>
            <a:pPr lvl="1"/>
            <a:r>
              <a:rPr lang="en-US" dirty="0"/>
              <a:t>In some situations neither of the major ethical frameworks work</a:t>
            </a:r>
          </a:p>
          <a:p>
            <a:r>
              <a:rPr lang="en-US" dirty="0"/>
              <a:t>Feminist ethics or the “ethics of care”</a:t>
            </a:r>
          </a:p>
          <a:p>
            <a:r>
              <a:rPr lang="en-US" dirty="0"/>
              <a:t>Carol Gilligan – men focus on objective truth, women on nurturing relationships </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4110889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95400"/>
          </a:xfrm>
        </p:spPr>
        <p:txBody>
          <a:bodyPr>
            <a:normAutofit fontScale="90000"/>
          </a:bodyPr>
          <a:lstStyle/>
          <a:p>
            <a:br>
              <a:rPr lang="en-US" b="1" dirty="0"/>
            </a:br>
            <a:r>
              <a:rPr lang="en-US" b="1" dirty="0"/>
              <a:t>Can Detroit Beat Google to the Self-Driving Car?</a:t>
            </a:r>
            <a:br>
              <a:rPr lang="en-US" b="1" dirty="0"/>
            </a:br>
            <a:endParaRPr lang="en-US"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32926" y="1600200"/>
            <a:ext cx="6678147"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3333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Do Self Driving Cars Have To Do With Ethics?</a:t>
            </a:r>
          </a:p>
        </p:txBody>
      </p:sp>
      <p:sp>
        <p:nvSpPr>
          <p:cNvPr id="3" name="Content Placeholder 2"/>
          <p:cNvSpPr>
            <a:spLocks noGrp="1"/>
          </p:cNvSpPr>
          <p:nvPr>
            <p:ph idx="1"/>
          </p:nvPr>
        </p:nvSpPr>
        <p:spPr/>
        <p:txBody>
          <a:bodyPr>
            <a:normAutofit fontScale="92500" lnSpcReduction="10000"/>
          </a:bodyPr>
          <a:lstStyle/>
          <a:p>
            <a:r>
              <a:rPr lang="en-US" dirty="0"/>
              <a:t>They will have a built in Ethics Algorithm</a:t>
            </a:r>
          </a:p>
          <a:p>
            <a:pPr lvl="1"/>
            <a:r>
              <a:rPr lang="en-US" dirty="0"/>
              <a:t>Utilitarianism</a:t>
            </a:r>
          </a:p>
          <a:p>
            <a:pPr lvl="1"/>
            <a:r>
              <a:rPr lang="en-US" dirty="0"/>
              <a:t>Deontology</a:t>
            </a:r>
          </a:p>
          <a:p>
            <a:r>
              <a:rPr lang="en-US" dirty="0"/>
              <a:t>Researchers at MIT,U of Oregon, and Toulouse School of Economics asked potential consumers what they would prefer</a:t>
            </a:r>
          </a:p>
          <a:p>
            <a:r>
              <a:rPr lang="en-US" dirty="0"/>
              <a:t>The trolley problem applied to a new technology</a:t>
            </a:r>
          </a:p>
          <a:p>
            <a:pPr lvl="1"/>
            <a:r>
              <a:rPr lang="en-US" dirty="0"/>
              <a:t>Ten people suddenly appear in the road</a:t>
            </a:r>
          </a:p>
          <a:p>
            <a:pPr lvl="2"/>
            <a:r>
              <a:rPr lang="en-US" dirty="0"/>
              <a:t>Swerve into a wall avoiding the people but killing the owner</a:t>
            </a:r>
          </a:p>
          <a:p>
            <a:pPr lvl="2"/>
            <a:r>
              <a:rPr lang="en-US" dirty="0"/>
              <a:t>Or save the one but kill the many </a:t>
            </a:r>
          </a:p>
        </p:txBody>
      </p:sp>
    </p:spTree>
    <p:extLst>
      <p:ext uri="{BB962C8B-B14F-4D97-AF65-F5344CB8AC3E}">
        <p14:creationId xmlns:p14="http://schemas.microsoft.com/office/powerpoint/2010/main" val="235254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do Folks decide</a:t>
            </a:r>
            <a:br>
              <a:rPr lang="en-US" dirty="0"/>
            </a:br>
            <a:r>
              <a:rPr lang="en-US" sz="1400" dirty="0"/>
              <a:t>(</a:t>
            </a:r>
            <a:r>
              <a:rPr lang="en-US" sz="1400" dirty="0">
                <a:hlinkClick r:id="rId2"/>
              </a:rPr>
              <a:t>http://www.washingtonpost.com/news/morning-mix</a:t>
            </a:r>
            <a:r>
              <a:rPr lang="en-US" sz="1400" dirty="0"/>
              <a:t>  10/28/2015)</a:t>
            </a:r>
            <a:endParaRPr lang="en-US" dirty="0"/>
          </a:p>
        </p:txBody>
      </p:sp>
      <p:sp>
        <p:nvSpPr>
          <p:cNvPr id="3" name="Content Placeholder 2"/>
          <p:cNvSpPr>
            <a:spLocks noGrp="1"/>
          </p:cNvSpPr>
          <p:nvPr>
            <p:ph idx="1"/>
          </p:nvPr>
        </p:nvSpPr>
        <p:spPr/>
        <p:txBody>
          <a:bodyPr>
            <a:normAutofit fontScale="92500" lnSpcReduction="10000"/>
          </a:bodyPr>
          <a:lstStyle/>
          <a:p>
            <a:r>
              <a:rPr lang="en-US" dirty="0"/>
              <a:t>Support the Utilitarian/Consequentialist Algorithm</a:t>
            </a:r>
          </a:p>
          <a:p>
            <a:r>
              <a:rPr lang="en-US" dirty="0"/>
              <a:t>But they thought manufactures would opt for saving the passenger, regardless of the number of lives that would be lost</a:t>
            </a:r>
          </a:p>
          <a:p>
            <a:r>
              <a:rPr lang="en-US" dirty="0"/>
              <a:t>Most respondents supported buying self driving cars that estimates suggest would save over 21,000 lives (a utilitarian calculation)</a:t>
            </a:r>
          </a:p>
          <a:p>
            <a:pPr lvl="1"/>
            <a:r>
              <a:rPr lang="en-US" dirty="0"/>
              <a:t>But were less willing to buy such cars themselves</a:t>
            </a:r>
          </a:p>
          <a:p>
            <a:pPr lvl="1"/>
            <a:r>
              <a:rPr lang="en-US" dirty="0"/>
              <a:t>Who would want to buy a car that could kill them? </a:t>
            </a:r>
          </a:p>
          <a:p>
            <a:pPr lvl="1"/>
            <a:endParaRPr lang="en-US" dirty="0"/>
          </a:p>
          <a:p>
            <a:pPr lvl="1"/>
            <a:endParaRPr lang="en-US" dirty="0"/>
          </a:p>
        </p:txBody>
      </p:sp>
    </p:spTree>
    <p:extLst>
      <p:ext uri="{BB962C8B-B14F-4D97-AF65-F5344CB8AC3E}">
        <p14:creationId xmlns:p14="http://schemas.microsoft.com/office/powerpoint/2010/main" val="396713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of Researching A Culture</a:t>
            </a:r>
          </a:p>
        </p:txBody>
      </p:sp>
      <p:pic>
        <p:nvPicPr>
          <p:cNvPr id="4" name="Content Placeholder 3"/>
          <p:cNvPicPr>
            <a:picLocks noGrp="1"/>
          </p:cNvPicPr>
          <p:nvPr>
            <p:ph idx="1"/>
          </p:nvPr>
        </p:nvPicPr>
        <p:blipFill>
          <a:blip r:embed="rId2"/>
          <a:stretch>
            <a:fillRect/>
          </a:stretch>
        </p:blipFill>
        <p:spPr>
          <a:xfrm>
            <a:off x="1524000" y="2915444"/>
            <a:ext cx="6096000" cy="1895475"/>
          </a:xfrm>
          <a:prstGeom prst="rect">
            <a:avLst/>
          </a:prstGeom>
        </p:spPr>
      </p:pic>
    </p:spTree>
    <p:extLst>
      <p:ext uri="{BB962C8B-B14F-4D97-AF65-F5344CB8AC3E}">
        <p14:creationId xmlns:p14="http://schemas.microsoft.com/office/powerpoint/2010/main" val="87656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Ethics of Researching a Culture (cont.)</a:t>
            </a:r>
          </a:p>
        </p:txBody>
      </p:sp>
      <p:pic>
        <p:nvPicPr>
          <p:cNvPr id="4" name="Content Placeholder 3"/>
          <p:cNvPicPr>
            <a:picLocks noGrp="1"/>
          </p:cNvPicPr>
          <p:nvPr>
            <p:ph idx="1"/>
          </p:nvPr>
        </p:nvPicPr>
        <p:blipFill>
          <a:blip r:embed="rId2"/>
          <a:stretch>
            <a:fillRect/>
          </a:stretch>
        </p:blipFill>
        <p:spPr>
          <a:xfrm>
            <a:off x="1524000" y="2915444"/>
            <a:ext cx="6096000" cy="1895475"/>
          </a:xfrm>
          <a:prstGeom prst="rect">
            <a:avLst/>
          </a:prstGeom>
        </p:spPr>
      </p:pic>
    </p:spTree>
    <p:extLst>
      <p:ext uri="{BB962C8B-B14F-4D97-AF65-F5344CB8AC3E}">
        <p14:creationId xmlns:p14="http://schemas.microsoft.com/office/powerpoint/2010/main" val="1425125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Importance of the Hyphen In Cultural Research</a:t>
            </a:r>
          </a:p>
        </p:txBody>
      </p:sp>
      <p:sp>
        <p:nvSpPr>
          <p:cNvPr id="3" name="Content Placeholder 2"/>
          <p:cNvSpPr>
            <a:spLocks noGrp="1"/>
          </p:cNvSpPr>
          <p:nvPr>
            <p:ph idx="1"/>
          </p:nvPr>
        </p:nvSpPr>
        <p:spPr/>
        <p:txBody>
          <a:bodyPr/>
          <a:lstStyle/>
          <a:p>
            <a:r>
              <a:rPr lang="en-US" dirty="0"/>
              <a:t>Cultural research involves a relationship </a:t>
            </a:r>
          </a:p>
          <a:p>
            <a:r>
              <a:rPr lang="en-US" dirty="0"/>
              <a:t>You – and - ?</a:t>
            </a:r>
          </a:p>
          <a:p>
            <a:r>
              <a:rPr lang="en-US" dirty="0"/>
              <a:t>The key question in organizational research is</a:t>
            </a:r>
          </a:p>
          <a:p>
            <a:r>
              <a:rPr lang="en-US" dirty="0"/>
              <a:t>“Who is the client?”</a:t>
            </a:r>
          </a:p>
          <a:p>
            <a:pPr lvl="1"/>
            <a:r>
              <a:rPr lang="en-US" dirty="0"/>
              <a:t>How will the information be used</a:t>
            </a:r>
          </a:p>
          <a:p>
            <a:pPr lvl="1"/>
            <a:r>
              <a:rPr lang="en-US" dirty="0"/>
              <a:t>Will someone win and someone lose as a result of uncovering culture</a:t>
            </a:r>
          </a:p>
          <a:p>
            <a:pPr lvl="1"/>
            <a:r>
              <a:rPr lang="en-US" dirty="0"/>
              <a:t>What is the ethical obligation of the researcher  </a:t>
            </a:r>
          </a:p>
        </p:txBody>
      </p:sp>
    </p:spTree>
    <p:extLst>
      <p:ext uri="{BB962C8B-B14F-4D97-AF65-F5344CB8AC3E}">
        <p14:creationId xmlns:p14="http://schemas.microsoft.com/office/powerpoint/2010/main" val="287728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work the -</a:t>
            </a:r>
          </a:p>
        </p:txBody>
      </p:sp>
      <p:sp>
        <p:nvSpPr>
          <p:cNvPr id="3" name="Content Placeholder 2"/>
          <p:cNvSpPr>
            <a:spLocks noGrp="1"/>
          </p:cNvSpPr>
          <p:nvPr>
            <p:ph idx="1"/>
          </p:nvPr>
        </p:nvSpPr>
        <p:spPr/>
        <p:txBody>
          <a:bodyPr/>
          <a:lstStyle/>
          <a:p>
            <a:r>
              <a:rPr lang="en-US" dirty="0"/>
              <a:t>Vertically – the expert in the ivory tower</a:t>
            </a:r>
          </a:p>
          <a:p>
            <a:r>
              <a:rPr lang="en-US" dirty="0"/>
              <a:t>Horizontally – evaluation research</a:t>
            </a:r>
          </a:p>
          <a:p>
            <a:r>
              <a:rPr lang="en-US" dirty="0"/>
              <a:t>Hermeneutically – a circular relationship</a:t>
            </a:r>
          </a:p>
          <a:p>
            <a:r>
              <a:rPr lang="en-US" dirty="0"/>
              <a:t>Each of these relationships has its own ethical challenge  </a:t>
            </a:r>
          </a:p>
        </p:txBody>
      </p:sp>
    </p:spTree>
    <p:extLst>
      <p:ext uri="{BB962C8B-B14F-4D97-AF65-F5344CB8AC3E}">
        <p14:creationId xmlns:p14="http://schemas.microsoft.com/office/powerpoint/2010/main" val="3067042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vertical axis </a:t>
            </a:r>
          </a:p>
        </p:txBody>
      </p:sp>
      <p:sp>
        <p:nvSpPr>
          <p:cNvPr id="3" name="Content Placeholder 2"/>
          <p:cNvSpPr>
            <a:spLocks noGrp="1"/>
          </p:cNvSpPr>
          <p:nvPr>
            <p:ph idx="1"/>
          </p:nvPr>
        </p:nvSpPr>
        <p:spPr/>
        <p:txBody>
          <a:bodyPr/>
          <a:lstStyle/>
          <a:p>
            <a:r>
              <a:rPr lang="en-US" dirty="0"/>
              <a:t>The Hawthorne studies start out framed by </a:t>
            </a:r>
            <a:r>
              <a:rPr lang="en-US" dirty="0" err="1"/>
              <a:t>Taylorism</a:t>
            </a:r>
            <a:endParaRPr lang="en-US" dirty="0"/>
          </a:p>
          <a:p>
            <a:pPr lvl="1"/>
            <a:r>
              <a:rPr lang="en-US" dirty="0"/>
              <a:t>The worker as object</a:t>
            </a:r>
          </a:p>
          <a:p>
            <a:pPr lvl="1"/>
            <a:r>
              <a:rPr lang="en-US" dirty="0"/>
              <a:t>The goal to increase productivity (i.e. management is the customer)</a:t>
            </a:r>
          </a:p>
        </p:txBody>
      </p:sp>
    </p:spTree>
    <p:extLst>
      <p:ext uri="{BB962C8B-B14F-4D97-AF65-F5344CB8AC3E}">
        <p14:creationId xmlns:p14="http://schemas.microsoft.com/office/powerpoint/2010/main" val="3663316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horizontal axis</a:t>
            </a:r>
          </a:p>
        </p:txBody>
      </p:sp>
      <p:sp>
        <p:nvSpPr>
          <p:cNvPr id="3" name="Content Placeholder 2"/>
          <p:cNvSpPr>
            <a:spLocks noGrp="1"/>
          </p:cNvSpPr>
          <p:nvPr>
            <p:ph idx="1"/>
          </p:nvPr>
        </p:nvSpPr>
        <p:spPr/>
        <p:txBody>
          <a:bodyPr/>
          <a:lstStyle/>
          <a:p>
            <a:r>
              <a:rPr lang="en-US" dirty="0"/>
              <a:t>This is one way to think about Follett and Barnard – authority is cumulative and organizations are systems of exchange</a:t>
            </a:r>
          </a:p>
          <a:p>
            <a:r>
              <a:rPr lang="en-US" dirty="0"/>
              <a:t>Ethical dilemma for a researcher however -</a:t>
            </a:r>
          </a:p>
          <a:p>
            <a:r>
              <a:rPr lang="en-US" dirty="0"/>
              <a:t>Do you serve the interest of the client no matter the ethical/moral consequences ?  </a:t>
            </a:r>
          </a:p>
          <a:p>
            <a:r>
              <a:rPr lang="en-US" dirty="0"/>
              <a:t>Who is John </a:t>
            </a:r>
            <a:r>
              <a:rPr lang="en-US" dirty="0" err="1"/>
              <a:t>Yoo</a:t>
            </a:r>
            <a:r>
              <a:rPr lang="en-US" dirty="0"/>
              <a:t>?</a:t>
            </a:r>
          </a:p>
        </p:txBody>
      </p:sp>
    </p:spTree>
    <p:extLst>
      <p:ext uri="{BB962C8B-B14F-4D97-AF65-F5344CB8AC3E}">
        <p14:creationId xmlns:p14="http://schemas.microsoft.com/office/powerpoint/2010/main" val="408427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Ethical Challenges in Circular Relationships</a:t>
            </a:r>
          </a:p>
        </p:txBody>
      </p:sp>
      <p:sp>
        <p:nvSpPr>
          <p:cNvPr id="3" name="Content Placeholder 2"/>
          <p:cNvSpPr>
            <a:spLocks noGrp="1"/>
          </p:cNvSpPr>
          <p:nvPr>
            <p:ph idx="1"/>
          </p:nvPr>
        </p:nvSpPr>
        <p:spPr/>
        <p:txBody>
          <a:bodyPr/>
          <a:lstStyle/>
          <a:p>
            <a:r>
              <a:rPr lang="en-US" dirty="0"/>
              <a:t>Particularly problematic in studying marginal organizations</a:t>
            </a:r>
          </a:p>
          <a:p>
            <a:pPr lvl="1"/>
            <a:r>
              <a:rPr lang="en-US" dirty="0"/>
              <a:t>Gangs</a:t>
            </a:r>
          </a:p>
          <a:p>
            <a:pPr lvl="1"/>
            <a:r>
              <a:rPr lang="en-US" dirty="0"/>
              <a:t>Blue collar ways of organizing work</a:t>
            </a:r>
          </a:p>
          <a:p>
            <a:r>
              <a:rPr lang="en-US" dirty="0"/>
              <a:t>“</a:t>
            </a:r>
            <a:r>
              <a:rPr lang="en-US" dirty="0" err="1"/>
              <a:t>Othering</a:t>
            </a:r>
            <a:r>
              <a:rPr lang="en-US" dirty="0"/>
              <a:t>”</a:t>
            </a:r>
          </a:p>
          <a:p>
            <a:r>
              <a:rPr lang="en-US" dirty="0"/>
              <a:t>Narrative </a:t>
            </a:r>
            <a:r>
              <a:rPr lang="en-US"/>
              <a:t>Affirmative Action</a:t>
            </a:r>
            <a:endParaRPr lang="en-US" dirty="0"/>
          </a:p>
        </p:txBody>
      </p:sp>
    </p:spTree>
    <p:extLst>
      <p:ext uri="{BB962C8B-B14F-4D97-AF65-F5344CB8AC3E}">
        <p14:creationId xmlns:p14="http://schemas.microsoft.com/office/powerpoint/2010/main" val="33967069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25187-62D7-4E01-86B3-73DEA1E379F7}"/>
              </a:ext>
            </a:extLst>
          </p:cNvPr>
          <p:cNvSpPr>
            <a:spLocks noGrp="1"/>
          </p:cNvSpPr>
          <p:nvPr>
            <p:ph type="title"/>
          </p:nvPr>
        </p:nvSpPr>
        <p:spPr/>
        <p:txBody>
          <a:bodyPr/>
          <a:lstStyle/>
          <a:p>
            <a:r>
              <a:rPr lang="en-US" dirty="0"/>
              <a:t>Final Reflective Pause</a:t>
            </a:r>
          </a:p>
        </p:txBody>
      </p:sp>
      <p:sp>
        <p:nvSpPr>
          <p:cNvPr id="3" name="Content Placeholder 2">
            <a:extLst>
              <a:ext uri="{FF2B5EF4-FFF2-40B4-BE49-F238E27FC236}">
                <a16:creationId xmlns:a16="http://schemas.microsoft.com/office/drawing/2014/main" id="{09FE87DB-6F80-4831-8878-973CB97A9813}"/>
              </a:ext>
            </a:extLst>
          </p:cNvPr>
          <p:cNvSpPr>
            <a:spLocks noGrp="1"/>
          </p:cNvSpPr>
          <p:nvPr>
            <p:ph idx="1"/>
          </p:nvPr>
        </p:nvSpPr>
        <p:spPr/>
        <p:txBody>
          <a:bodyPr>
            <a:normAutofit fontScale="85000" lnSpcReduction="20000"/>
          </a:bodyPr>
          <a:lstStyle/>
          <a:p>
            <a:r>
              <a:rPr lang="en-US" dirty="0"/>
              <a:t>Each of the relationship described have their own ethical challenges</a:t>
            </a:r>
          </a:p>
          <a:p>
            <a:r>
              <a:rPr lang="en-US" dirty="0"/>
              <a:t>Have you seen or participated in situations of the type described below?</a:t>
            </a:r>
          </a:p>
          <a:p>
            <a:pPr lvl="1"/>
            <a:r>
              <a:rPr lang="en-US" dirty="0"/>
              <a:t> In the interest of efficiency an employee was treated as an object rather than as a partner in decision making/just get a decision made and move on</a:t>
            </a:r>
          </a:p>
          <a:p>
            <a:pPr lvl="1"/>
            <a:r>
              <a:rPr lang="en-US" dirty="0"/>
              <a:t>As a consultant, a report was framed to meet the needs, desires of management (who after all are paying the consulting fee) rather than an objective report that may have contained some negative information</a:t>
            </a:r>
          </a:p>
          <a:p>
            <a:pPr lvl="1"/>
            <a:r>
              <a:rPr lang="en-US" dirty="0"/>
              <a:t>As a researcher, perhaps inadvertently contributing to a negative stereotype and further “othering” a group    </a:t>
            </a:r>
          </a:p>
        </p:txBody>
      </p:sp>
    </p:spTree>
    <p:extLst>
      <p:ext uri="{BB962C8B-B14F-4D97-AF65-F5344CB8AC3E}">
        <p14:creationId xmlns:p14="http://schemas.microsoft.com/office/powerpoint/2010/main" val="29280300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Summary of Cultural Models</a:t>
            </a:r>
          </a:p>
        </p:txBody>
      </p:sp>
      <p:cxnSp>
        <p:nvCxnSpPr>
          <p:cNvPr id="4" name="Straight Connector 3"/>
          <p:cNvCxnSpPr/>
          <p:nvPr/>
        </p:nvCxnSpPr>
        <p:spPr>
          <a:xfrm>
            <a:off x="457200" y="2667000"/>
            <a:ext cx="84582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33400" y="2057400"/>
            <a:ext cx="8628003" cy="338554"/>
          </a:xfrm>
          <a:prstGeom prst="rect">
            <a:avLst/>
          </a:prstGeom>
          <a:noFill/>
        </p:spPr>
        <p:txBody>
          <a:bodyPr wrap="none" rtlCol="0">
            <a:spAutoFit/>
          </a:bodyPr>
          <a:lstStyle/>
          <a:p>
            <a:r>
              <a:rPr lang="en-US" sz="1600" dirty="0"/>
              <a:t>Cross Culture – Corporate  Culture -  Organizational Cognition -   Symbolism – Unconscious Processes  </a:t>
            </a:r>
          </a:p>
        </p:txBody>
      </p:sp>
      <p:cxnSp>
        <p:nvCxnSpPr>
          <p:cNvPr id="9" name="Straight Arrow Connector 8"/>
          <p:cNvCxnSpPr/>
          <p:nvPr/>
        </p:nvCxnSpPr>
        <p:spPr>
          <a:xfrm>
            <a:off x="1066800" y="2395954"/>
            <a:ext cx="0" cy="4996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514600" y="2226677"/>
            <a:ext cx="0" cy="668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495800" y="2226677"/>
            <a:ext cx="0" cy="668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400800" y="2226677"/>
            <a:ext cx="0" cy="5927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7772400" y="2286000"/>
            <a:ext cx="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85800" y="3040380"/>
            <a:ext cx="977987" cy="369332"/>
          </a:xfrm>
          <a:prstGeom prst="rect">
            <a:avLst/>
          </a:prstGeom>
          <a:noFill/>
        </p:spPr>
        <p:txBody>
          <a:bodyPr wrap="square" rtlCol="0">
            <a:spAutoFit/>
          </a:bodyPr>
          <a:lstStyle/>
          <a:p>
            <a:r>
              <a:rPr lang="en-US" dirty="0"/>
              <a:t>X-Y-Z</a:t>
            </a:r>
          </a:p>
        </p:txBody>
      </p:sp>
      <p:sp>
        <p:nvSpPr>
          <p:cNvPr id="20" name="TextBox 19"/>
          <p:cNvSpPr txBox="1"/>
          <p:nvPr/>
        </p:nvSpPr>
        <p:spPr>
          <a:xfrm>
            <a:off x="1812185" y="2913042"/>
            <a:ext cx="2036619" cy="1200329"/>
          </a:xfrm>
          <a:prstGeom prst="rect">
            <a:avLst/>
          </a:prstGeom>
          <a:noFill/>
        </p:spPr>
        <p:txBody>
          <a:bodyPr wrap="square" rtlCol="0">
            <a:spAutoFit/>
          </a:bodyPr>
          <a:lstStyle/>
          <a:p>
            <a:r>
              <a:rPr lang="en-US" dirty="0"/>
              <a:t>Deal/Kennedy</a:t>
            </a:r>
          </a:p>
          <a:p>
            <a:r>
              <a:rPr lang="en-US" dirty="0"/>
              <a:t>Macho, Bet your</a:t>
            </a:r>
          </a:p>
          <a:p>
            <a:r>
              <a:rPr lang="en-US" dirty="0"/>
              <a:t>Company, Sales,</a:t>
            </a:r>
          </a:p>
          <a:p>
            <a:r>
              <a:rPr lang="en-US" dirty="0"/>
              <a:t>Process</a:t>
            </a:r>
          </a:p>
        </p:txBody>
      </p:sp>
      <p:sp>
        <p:nvSpPr>
          <p:cNvPr id="21" name="TextBox 20"/>
          <p:cNvSpPr txBox="1"/>
          <p:nvPr/>
        </p:nvSpPr>
        <p:spPr>
          <a:xfrm>
            <a:off x="3865419" y="3225046"/>
            <a:ext cx="1252266" cy="369332"/>
          </a:xfrm>
          <a:prstGeom prst="rect">
            <a:avLst/>
          </a:prstGeom>
          <a:noFill/>
        </p:spPr>
        <p:txBody>
          <a:bodyPr wrap="none" rtlCol="0">
            <a:spAutoFit/>
          </a:bodyPr>
          <a:lstStyle/>
          <a:p>
            <a:r>
              <a:rPr lang="en-US" dirty="0"/>
              <a:t>Doing Class</a:t>
            </a:r>
          </a:p>
        </p:txBody>
      </p:sp>
      <p:sp>
        <p:nvSpPr>
          <p:cNvPr id="22" name="TextBox 21"/>
          <p:cNvSpPr txBox="1"/>
          <p:nvPr/>
        </p:nvSpPr>
        <p:spPr>
          <a:xfrm>
            <a:off x="5715000" y="3305562"/>
            <a:ext cx="1722331" cy="338554"/>
          </a:xfrm>
          <a:prstGeom prst="rect">
            <a:avLst/>
          </a:prstGeom>
          <a:noFill/>
        </p:spPr>
        <p:txBody>
          <a:bodyPr wrap="none" rtlCol="0">
            <a:spAutoFit/>
          </a:bodyPr>
          <a:lstStyle/>
          <a:p>
            <a:r>
              <a:rPr lang="en-US" sz="1600" dirty="0"/>
              <a:t>CYA. Be Suspicious</a:t>
            </a:r>
          </a:p>
        </p:txBody>
      </p:sp>
      <p:sp>
        <p:nvSpPr>
          <p:cNvPr id="23" name="TextBox 22"/>
          <p:cNvSpPr txBox="1"/>
          <p:nvPr/>
        </p:nvSpPr>
        <p:spPr>
          <a:xfrm>
            <a:off x="7449017" y="3143875"/>
            <a:ext cx="1537024" cy="646331"/>
          </a:xfrm>
          <a:prstGeom prst="rect">
            <a:avLst/>
          </a:prstGeom>
          <a:noFill/>
        </p:spPr>
        <p:txBody>
          <a:bodyPr wrap="none" rtlCol="0">
            <a:spAutoFit/>
          </a:bodyPr>
          <a:lstStyle/>
          <a:p>
            <a:r>
              <a:rPr lang="en-US" dirty="0"/>
              <a:t>Organizational</a:t>
            </a:r>
          </a:p>
          <a:p>
            <a:r>
              <a:rPr lang="en-US" dirty="0"/>
              <a:t>Stories</a:t>
            </a:r>
          </a:p>
        </p:txBody>
      </p:sp>
      <p:sp>
        <p:nvSpPr>
          <p:cNvPr id="24" name="TextBox 23"/>
          <p:cNvSpPr txBox="1"/>
          <p:nvPr/>
        </p:nvSpPr>
        <p:spPr>
          <a:xfrm>
            <a:off x="3866876" y="3539549"/>
            <a:ext cx="1584344" cy="523220"/>
          </a:xfrm>
          <a:prstGeom prst="rect">
            <a:avLst/>
          </a:prstGeom>
          <a:noFill/>
        </p:spPr>
        <p:txBody>
          <a:bodyPr wrap="none" rtlCol="0">
            <a:spAutoFit/>
          </a:bodyPr>
          <a:lstStyle/>
          <a:p>
            <a:r>
              <a:rPr lang="en-US" sz="1400" dirty="0"/>
              <a:t>(Shared knowledge</a:t>
            </a:r>
          </a:p>
          <a:p>
            <a:r>
              <a:rPr lang="en-US" sz="1400" dirty="0"/>
              <a:t>Rules, Scripts)</a:t>
            </a:r>
          </a:p>
        </p:txBody>
      </p:sp>
      <p:sp>
        <p:nvSpPr>
          <p:cNvPr id="26" name="TextBox 25"/>
          <p:cNvSpPr txBox="1"/>
          <p:nvPr/>
        </p:nvSpPr>
        <p:spPr>
          <a:xfrm>
            <a:off x="5867400" y="3592324"/>
            <a:ext cx="1303627" cy="307777"/>
          </a:xfrm>
          <a:prstGeom prst="rect">
            <a:avLst/>
          </a:prstGeom>
          <a:noFill/>
        </p:spPr>
        <p:txBody>
          <a:bodyPr wrap="none" rtlCol="0">
            <a:spAutoFit/>
          </a:bodyPr>
          <a:lstStyle/>
          <a:p>
            <a:r>
              <a:rPr lang="en-US" sz="1400" dirty="0"/>
              <a:t>(Shared reality)</a:t>
            </a:r>
          </a:p>
        </p:txBody>
      </p:sp>
      <p:sp>
        <p:nvSpPr>
          <p:cNvPr id="29" name="TextBox 28"/>
          <p:cNvSpPr txBox="1"/>
          <p:nvPr/>
        </p:nvSpPr>
        <p:spPr>
          <a:xfrm>
            <a:off x="1066800" y="4086701"/>
            <a:ext cx="2889445" cy="369332"/>
          </a:xfrm>
          <a:prstGeom prst="rect">
            <a:avLst/>
          </a:prstGeom>
          <a:noFill/>
        </p:spPr>
        <p:txBody>
          <a:bodyPr wrap="none" rtlCol="0">
            <a:spAutoFit/>
          </a:bodyPr>
          <a:lstStyle/>
          <a:p>
            <a:r>
              <a:rPr lang="en-US" dirty="0"/>
              <a:t>Rituals, ceremonies, artifacts</a:t>
            </a:r>
          </a:p>
        </p:txBody>
      </p:sp>
      <p:sp>
        <p:nvSpPr>
          <p:cNvPr id="30" name="TextBox 29"/>
          <p:cNvSpPr txBox="1"/>
          <p:nvPr/>
        </p:nvSpPr>
        <p:spPr>
          <a:xfrm>
            <a:off x="4595160" y="4086701"/>
            <a:ext cx="3848105" cy="369332"/>
          </a:xfrm>
          <a:prstGeom prst="rect">
            <a:avLst/>
          </a:prstGeom>
          <a:noFill/>
        </p:spPr>
        <p:txBody>
          <a:bodyPr wrap="none" rtlCol="0">
            <a:spAutoFit/>
          </a:bodyPr>
          <a:lstStyle/>
          <a:p>
            <a:r>
              <a:rPr lang="en-US" dirty="0"/>
              <a:t>Values                         Basic Assumptions</a:t>
            </a:r>
          </a:p>
        </p:txBody>
      </p:sp>
      <p:cxnSp>
        <p:nvCxnSpPr>
          <p:cNvPr id="34" name="Straight Connector 33"/>
          <p:cNvCxnSpPr/>
          <p:nvPr/>
        </p:nvCxnSpPr>
        <p:spPr>
          <a:xfrm>
            <a:off x="4267200" y="5181600"/>
            <a:ext cx="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505200" y="5791200"/>
            <a:ext cx="1447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200400" y="5638800"/>
            <a:ext cx="260931" cy="369332"/>
          </a:xfrm>
          <a:prstGeom prst="rect">
            <a:avLst/>
          </a:prstGeom>
          <a:noFill/>
        </p:spPr>
        <p:txBody>
          <a:bodyPr wrap="square" rtlCol="0">
            <a:spAutoFit/>
          </a:bodyPr>
          <a:lstStyle/>
          <a:p>
            <a:r>
              <a:rPr lang="en-US" dirty="0"/>
              <a:t>I</a:t>
            </a:r>
          </a:p>
        </p:txBody>
      </p:sp>
      <p:sp>
        <p:nvSpPr>
          <p:cNvPr id="42" name="TextBox 41"/>
          <p:cNvSpPr txBox="1"/>
          <p:nvPr/>
        </p:nvSpPr>
        <p:spPr>
          <a:xfrm>
            <a:off x="5029200" y="5638800"/>
            <a:ext cx="296876" cy="369332"/>
          </a:xfrm>
          <a:prstGeom prst="rect">
            <a:avLst/>
          </a:prstGeom>
          <a:noFill/>
        </p:spPr>
        <p:txBody>
          <a:bodyPr wrap="none" rtlCol="0">
            <a:spAutoFit/>
          </a:bodyPr>
          <a:lstStyle/>
          <a:p>
            <a:r>
              <a:rPr lang="en-US" dirty="0"/>
              <a:t>E</a:t>
            </a:r>
          </a:p>
        </p:txBody>
      </p:sp>
      <p:sp>
        <p:nvSpPr>
          <p:cNvPr id="44" name="TextBox 43"/>
          <p:cNvSpPr txBox="1"/>
          <p:nvPr/>
        </p:nvSpPr>
        <p:spPr>
          <a:xfrm>
            <a:off x="4114800" y="5029200"/>
            <a:ext cx="290464" cy="369332"/>
          </a:xfrm>
          <a:prstGeom prst="rect">
            <a:avLst/>
          </a:prstGeom>
          <a:noFill/>
        </p:spPr>
        <p:txBody>
          <a:bodyPr wrap="none" rtlCol="0">
            <a:spAutoFit/>
          </a:bodyPr>
          <a:lstStyle/>
          <a:p>
            <a:r>
              <a:rPr lang="en-US" dirty="0"/>
              <a:t>F</a:t>
            </a:r>
          </a:p>
        </p:txBody>
      </p:sp>
      <p:sp>
        <p:nvSpPr>
          <p:cNvPr id="45" name="TextBox 44"/>
          <p:cNvSpPr txBox="1"/>
          <p:nvPr/>
        </p:nvSpPr>
        <p:spPr>
          <a:xfrm>
            <a:off x="4159368" y="6444734"/>
            <a:ext cx="215663" cy="369332"/>
          </a:xfrm>
          <a:prstGeom prst="rect">
            <a:avLst/>
          </a:prstGeom>
          <a:noFill/>
        </p:spPr>
        <p:txBody>
          <a:bodyPr wrap="square" rtlCol="0">
            <a:spAutoFit/>
          </a:bodyPr>
          <a:lstStyle/>
          <a:p>
            <a:r>
              <a:rPr lang="en-US" dirty="0"/>
              <a:t>C</a:t>
            </a:r>
          </a:p>
        </p:txBody>
      </p:sp>
      <p:sp>
        <p:nvSpPr>
          <p:cNvPr id="46" name="TextBox 45"/>
          <p:cNvSpPr txBox="1"/>
          <p:nvPr/>
        </p:nvSpPr>
        <p:spPr>
          <a:xfrm>
            <a:off x="3143250" y="5867400"/>
            <a:ext cx="1112315" cy="523220"/>
          </a:xfrm>
          <a:prstGeom prst="rect">
            <a:avLst/>
          </a:prstGeom>
          <a:noFill/>
        </p:spPr>
        <p:txBody>
          <a:bodyPr wrap="square" rtlCol="0">
            <a:spAutoFit/>
          </a:bodyPr>
          <a:lstStyle/>
          <a:p>
            <a:r>
              <a:rPr lang="en-US" sz="1400" dirty="0"/>
              <a:t>Bureaucratic</a:t>
            </a:r>
          </a:p>
          <a:p>
            <a:r>
              <a:rPr lang="en-US" sz="1400" dirty="0"/>
              <a:t>“do it right”</a:t>
            </a:r>
          </a:p>
        </p:txBody>
      </p:sp>
      <p:sp>
        <p:nvSpPr>
          <p:cNvPr id="47" name="TextBox 46"/>
          <p:cNvSpPr txBox="1"/>
          <p:nvPr/>
        </p:nvSpPr>
        <p:spPr>
          <a:xfrm>
            <a:off x="3039453" y="5300246"/>
            <a:ext cx="1442574" cy="523220"/>
          </a:xfrm>
          <a:prstGeom prst="rect">
            <a:avLst/>
          </a:prstGeom>
          <a:noFill/>
        </p:spPr>
        <p:txBody>
          <a:bodyPr wrap="square" rtlCol="0">
            <a:spAutoFit/>
          </a:bodyPr>
          <a:lstStyle/>
          <a:p>
            <a:r>
              <a:rPr lang="en-US" sz="1400" dirty="0"/>
              <a:t>Clan</a:t>
            </a:r>
          </a:p>
          <a:p>
            <a:r>
              <a:rPr lang="en-US" sz="1400" dirty="0"/>
              <a:t>“do it together”</a:t>
            </a:r>
          </a:p>
        </p:txBody>
      </p:sp>
      <p:sp>
        <p:nvSpPr>
          <p:cNvPr id="48" name="TextBox 47"/>
          <p:cNvSpPr txBox="1"/>
          <p:nvPr/>
        </p:nvSpPr>
        <p:spPr>
          <a:xfrm>
            <a:off x="4495800" y="5269230"/>
            <a:ext cx="1516380" cy="523220"/>
          </a:xfrm>
          <a:prstGeom prst="rect">
            <a:avLst/>
          </a:prstGeom>
          <a:noFill/>
        </p:spPr>
        <p:txBody>
          <a:bodyPr wrap="square" rtlCol="0">
            <a:spAutoFit/>
          </a:bodyPr>
          <a:lstStyle/>
          <a:p>
            <a:r>
              <a:rPr lang="en-US" sz="1400" dirty="0"/>
              <a:t>Entrepreneurial</a:t>
            </a:r>
          </a:p>
          <a:p>
            <a:r>
              <a:rPr lang="en-US" sz="1400" dirty="0"/>
              <a:t>“do it first”</a:t>
            </a:r>
          </a:p>
        </p:txBody>
      </p:sp>
      <p:sp>
        <p:nvSpPr>
          <p:cNvPr id="52" name="TextBox 51"/>
          <p:cNvSpPr txBox="1"/>
          <p:nvPr/>
        </p:nvSpPr>
        <p:spPr>
          <a:xfrm>
            <a:off x="4621664" y="5916097"/>
            <a:ext cx="972317" cy="523220"/>
          </a:xfrm>
          <a:prstGeom prst="rect">
            <a:avLst/>
          </a:prstGeom>
          <a:noFill/>
        </p:spPr>
        <p:txBody>
          <a:bodyPr wrap="none" rtlCol="0">
            <a:spAutoFit/>
          </a:bodyPr>
          <a:lstStyle/>
          <a:p>
            <a:r>
              <a:rPr lang="en-US" sz="1400" dirty="0"/>
              <a:t>Market</a:t>
            </a:r>
          </a:p>
          <a:p>
            <a:r>
              <a:rPr lang="en-US" sz="1400" dirty="0"/>
              <a:t>“do it fast”</a:t>
            </a:r>
          </a:p>
        </p:txBody>
      </p:sp>
    </p:spTree>
    <p:extLst>
      <p:ext uri="{BB962C8B-B14F-4D97-AF65-F5344CB8AC3E}">
        <p14:creationId xmlns:p14="http://schemas.microsoft.com/office/powerpoint/2010/main" val="17572385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6.2|1|1|0.8|1|1.1|11.5|1.3|3|1|0.9|8.3|11.2"/>
</p:tagLst>
</file>

<file path=ppt/tags/tag2.xml><?xml version="1.0" encoding="utf-8"?>
<p:tagLst xmlns:a="http://schemas.openxmlformats.org/drawingml/2006/main" xmlns:r="http://schemas.openxmlformats.org/officeDocument/2006/relationships" xmlns:p="http://schemas.openxmlformats.org/presentationml/2006/main">
  <p:tag name="TIMING" val="|1.5|25.7|2.4|3.1|3.9|3.9|13.9"/>
</p:tagLst>
</file>

<file path=ppt/tags/tag3.xml><?xml version="1.0" encoding="utf-8"?>
<p:tagLst xmlns:a="http://schemas.openxmlformats.org/drawingml/2006/main" xmlns:r="http://schemas.openxmlformats.org/officeDocument/2006/relationships" xmlns:p="http://schemas.openxmlformats.org/presentationml/2006/main">
  <p:tag name="TIMING" val="|2.5|9|5.4|11.9|46.7"/>
</p:tagLst>
</file>

<file path=ppt/tags/tag4.xml><?xml version="1.0" encoding="utf-8"?>
<p:tagLst xmlns:a="http://schemas.openxmlformats.org/drawingml/2006/main" xmlns:r="http://schemas.openxmlformats.org/officeDocument/2006/relationships" xmlns:p="http://schemas.openxmlformats.org/presentationml/2006/main">
  <p:tag name="TIMING" val="|1.1|4|3.7|5.7|1.5|1.2|1.3|1.3|3.7|12.2|2.7|1.2"/>
</p:tagLst>
</file>

<file path=ppt/tags/tag5.xml><?xml version="1.0" encoding="utf-8"?>
<p:tagLst xmlns:a="http://schemas.openxmlformats.org/drawingml/2006/main" xmlns:r="http://schemas.openxmlformats.org/officeDocument/2006/relationships" xmlns:p="http://schemas.openxmlformats.org/presentationml/2006/main">
  <p:tag name="TIMING" val="|8.6|1.8|4.4|2.5|1.4|2.6|1.4|16.9|4.5|1.9|1.1"/>
</p:tagLst>
</file>

<file path=ppt/tags/tag6.xml><?xml version="1.0" encoding="utf-8"?>
<p:tagLst xmlns:a="http://schemas.openxmlformats.org/drawingml/2006/main" xmlns:r="http://schemas.openxmlformats.org/officeDocument/2006/relationships" xmlns:p="http://schemas.openxmlformats.org/presentationml/2006/main">
  <p:tag name="TIMING" val="|8|5|1.5|12.8|3.6|4.4|7.6|2|6.5|3.4|5.3|2.3|6"/>
</p:tagLst>
</file>

<file path=ppt/tags/tag7.xml><?xml version="1.0" encoding="utf-8"?>
<p:tagLst xmlns:a="http://schemas.openxmlformats.org/drawingml/2006/main" xmlns:r="http://schemas.openxmlformats.org/officeDocument/2006/relationships" xmlns:p="http://schemas.openxmlformats.org/presentationml/2006/main">
  <p:tag name="TIMING" val="|3.3|10.2|55.9|46.8|3.9|31.2|8.3|9.1|24.4|7.5"/>
</p:tagLst>
</file>

<file path=ppt/tags/tag8.xml><?xml version="1.0" encoding="utf-8"?>
<p:tagLst xmlns:a="http://schemas.openxmlformats.org/drawingml/2006/main" xmlns:r="http://schemas.openxmlformats.org/officeDocument/2006/relationships" xmlns:p="http://schemas.openxmlformats.org/presentationml/2006/main">
  <p:tag name="TIMING" val="|4.9|11.1|31.4|15.4|1.3|5.3|4.2|1.1|80.9"/>
</p:tagLst>
</file>

<file path=ppt/tags/tag9.xml><?xml version="1.0" encoding="utf-8"?>
<p:tagLst xmlns:a="http://schemas.openxmlformats.org/drawingml/2006/main" xmlns:r="http://schemas.openxmlformats.org/officeDocument/2006/relationships" xmlns:p="http://schemas.openxmlformats.org/presentationml/2006/main">
  <p:tag name="TIMING" val="|2.7|292.5"/>
</p:tagLst>
</file>

<file path=ppt/tags/tag10.xml><?xml version="1.0" encoding="utf-8"?>
<p:tagLst xmlns:a="http://schemas.openxmlformats.org/drawingml/2006/main" xmlns:r="http://schemas.openxmlformats.org/officeDocument/2006/relationships" xmlns:p="http://schemas.openxmlformats.org/presentationml/2006/main">
  <p:tag name="TIMING" val="|74.6|31.3|8.3|12.8|8.6|3.9|3.3|5.4"/>
</p:tagLst>
</file>

<file path=ppt/tags/tag11.xml><?xml version="1.0" encoding="utf-8"?>
<p:tagLst xmlns:a="http://schemas.openxmlformats.org/drawingml/2006/main" xmlns:r="http://schemas.openxmlformats.org/officeDocument/2006/relationships" xmlns:p="http://schemas.openxmlformats.org/presentationml/2006/main">
  <p:tag name="TIMING" val="|3.4|8.3|6|4.5|3|4.7|2.8|3.9|3.1"/>
</p:tagLst>
</file>

<file path=ppt/tags/tag12.xml><?xml version="1.0" encoding="utf-8"?>
<p:tagLst xmlns:a="http://schemas.openxmlformats.org/drawingml/2006/main" xmlns:r="http://schemas.openxmlformats.org/officeDocument/2006/relationships" xmlns:p="http://schemas.openxmlformats.org/presentationml/2006/main">
  <p:tag name="TIMING" val="|57.4|10.6|16.6|8.6|5.9|9.2|16.1|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392</TotalTime>
  <Words>3019</Words>
  <Application>Microsoft Office PowerPoint</Application>
  <PresentationFormat>On-screen Show (4:3)</PresentationFormat>
  <Paragraphs>393</Paragraphs>
  <Slides>56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From Machine to Team</vt:lpstr>
      <vt:lpstr>So what does the Commons have to do with organizations?</vt:lpstr>
      <vt:lpstr>First Reflective Pause</vt:lpstr>
      <vt:lpstr>Key questions regarding culture</vt:lpstr>
      <vt:lpstr>Uncovering Culture</vt:lpstr>
      <vt:lpstr>PowerPoint Presentation</vt:lpstr>
      <vt:lpstr>Second Reflective Pause</vt:lpstr>
      <vt:lpstr>Culture as a mind set</vt:lpstr>
      <vt:lpstr>Elements of Culture</vt:lpstr>
      <vt:lpstr>PowerPoint Presentation</vt:lpstr>
      <vt:lpstr>PowerPoint Presentation</vt:lpstr>
      <vt:lpstr>Third Reflective Pause</vt:lpstr>
      <vt:lpstr>Other Deal/Kennedy Elements</vt:lpstr>
      <vt:lpstr>Fourth reflective pause</vt:lpstr>
      <vt:lpstr>Ways and examples of how to study organizational culture</vt:lpstr>
      <vt:lpstr>Organizational Stories</vt:lpstr>
      <vt:lpstr>Fifth Reflective Pause</vt:lpstr>
      <vt:lpstr>Quinn and Cameron  A Cultural Elaboration</vt:lpstr>
      <vt:lpstr>Reflective Pause Six to Eighteen</vt:lpstr>
      <vt:lpstr>Diagnosing your organizational culture 1.</vt:lpstr>
      <vt:lpstr> 2.Organizational Leader</vt:lpstr>
      <vt:lpstr> 3.Organizational Glue</vt:lpstr>
      <vt:lpstr>4. Organizational Climate</vt:lpstr>
      <vt:lpstr>5. Criteria of Success</vt:lpstr>
      <vt:lpstr>6.Leadership Style</vt:lpstr>
      <vt:lpstr>Organizational Profile</vt:lpstr>
      <vt:lpstr>PowerPoint Presentation</vt:lpstr>
      <vt:lpstr>Leadership related to culture</vt:lpstr>
      <vt:lpstr>PowerPoint Presentation</vt:lpstr>
      <vt:lpstr>PowerPoint Presentation</vt:lpstr>
      <vt:lpstr>Mapping your leadership style</vt:lpstr>
      <vt:lpstr>Where we are at</vt:lpstr>
      <vt:lpstr>PowerPoint Presentation</vt:lpstr>
      <vt:lpstr>Culture Plus</vt:lpstr>
      <vt:lpstr>Beer Busts</vt:lpstr>
      <vt:lpstr>The End</vt:lpstr>
      <vt:lpstr>Connecting the Dots: Leadership, Culture, and Ethics </vt:lpstr>
      <vt:lpstr>The Meta Narrative: A One Size Fits All Ethics</vt:lpstr>
      <vt:lpstr>The Corrective: Deontology</vt:lpstr>
      <vt:lpstr>Reflective Pause 19</vt:lpstr>
      <vt:lpstr>The Case Study</vt:lpstr>
      <vt:lpstr>Mary Parker Follett </vt:lpstr>
      <vt:lpstr>Back to Jake</vt:lpstr>
      <vt:lpstr>Lessons for Leadership and Ethics</vt:lpstr>
      <vt:lpstr> Can Detroit Beat Google to the Self-Driving Car? </vt:lpstr>
      <vt:lpstr>What Do Self Driving Cars Have To Do With Ethics?</vt:lpstr>
      <vt:lpstr>What do Folks decide (http://www.washingtonpost.com/news/morning-mix  10/28/2015)</vt:lpstr>
      <vt:lpstr>Ethics of Researching A Culture</vt:lpstr>
      <vt:lpstr>Ethics of Researching a Culture (cont.)</vt:lpstr>
      <vt:lpstr>The Importance of the Hyphen In Cultural Research</vt:lpstr>
      <vt:lpstr>Ways to work the -</vt:lpstr>
      <vt:lpstr>The vertical axis </vt:lpstr>
      <vt:lpstr>The horizontal axis</vt:lpstr>
      <vt:lpstr>Ethical Challenges in Circular Relationships</vt:lpstr>
      <vt:lpstr>Final Reflective Pause</vt:lpstr>
      <vt:lpstr> Summary of Cultural Models</vt:lpstr>
    </vt:vector>
  </TitlesOfParts>
  <Company>Saint Louis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Machine to Team</dc:title>
  <dc:creator>James F. Gilsinan</dc:creator>
  <cp:lastModifiedBy>James Gislsinan</cp:lastModifiedBy>
  <cp:revision>34</cp:revision>
  <cp:lastPrinted>2015-10-26T18:50:32Z</cp:lastPrinted>
  <dcterms:created xsi:type="dcterms:W3CDTF">2014-10-09T14:58:35Z</dcterms:created>
  <dcterms:modified xsi:type="dcterms:W3CDTF">2020-02-23T14:59:25Z</dcterms:modified>
</cp:coreProperties>
</file>