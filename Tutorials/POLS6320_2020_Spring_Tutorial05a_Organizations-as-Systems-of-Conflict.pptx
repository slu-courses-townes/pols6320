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256" r:id="rId2"/>
    <p:sldId id="308" r:id="rId3"/>
    <p:sldId id="309" r:id="rId4"/>
    <p:sldId id="257" r:id="rId5"/>
    <p:sldId id="258" r:id="rId6"/>
    <p:sldId id="335" r:id="rId7"/>
    <p:sldId id="259" r:id="rId8"/>
    <p:sldId id="268" r:id="rId9"/>
    <p:sldId id="336" r:id="rId10"/>
    <p:sldId id="328" r:id="rId11"/>
    <p:sldId id="260" r:id="rId12"/>
    <p:sldId id="261" r:id="rId13"/>
    <p:sldId id="310" r:id="rId14"/>
    <p:sldId id="305" r:id="rId15"/>
    <p:sldId id="306" r:id="rId16"/>
    <p:sldId id="307" r:id="rId17"/>
    <p:sldId id="311" r:id="rId18"/>
    <p:sldId id="337" r:id="rId19"/>
    <p:sldId id="312" r:id="rId20"/>
    <p:sldId id="313" r:id="rId21"/>
    <p:sldId id="314" r:id="rId22"/>
    <p:sldId id="315" r:id="rId23"/>
    <p:sldId id="338" r:id="rId24"/>
    <p:sldId id="339" r:id="rId25"/>
    <p:sldId id="318" r:id="rId26"/>
    <p:sldId id="340" r:id="rId27"/>
    <p:sldId id="341" r:id="rId28"/>
    <p:sldId id="342" r:id="rId29"/>
    <p:sldId id="343" r:id="rId30"/>
    <p:sldId id="264" r:id="rId31"/>
    <p:sldId id="344" r:id="rId32"/>
    <p:sldId id="265" r:id="rId33"/>
    <p:sldId id="269" r:id="rId34"/>
    <p:sldId id="270" r:id="rId35"/>
    <p:sldId id="271" r:id="rId36"/>
    <p:sldId id="272" r:id="rId37"/>
    <p:sldId id="300" r:id="rId38"/>
    <p:sldId id="333" r:id="rId39"/>
    <p:sldId id="301" r:id="rId40"/>
    <p:sldId id="319" r:id="rId41"/>
    <p:sldId id="325" r:id="rId42"/>
    <p:sldId id="326" r:id="rId43"/>
    <p:sldId id="327" r:id="rId44"/>
    <p:sldId id="322" r:id="rId45"/>
    <p:sldId id="302" r:id="rId46"/>
    <p:sldId id="334" r:id="rId47"/>
    <p:sldId id="320" r:id="rId48"/>
    <p:sldId id="303" r:id="rId49"/>
    <p:sldId id="304" r:id="rId50"/>
    <p:sldId id="323" r:id="rId51"/>
    <p:sldId id="324" r:id="rId52"/>
    <p:sldId id="273" r:id="rId53"/>
    <p:sldId id="274" r:id="rId54"/>
  </p:sldIdLst>
  <p:sldSz cx="9144000" cy="6858000" type="screen4x3"/>
  <p:notesSz cx="7010400" cy="92964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BAD70A-D4A3-41FE-B857-99DCC9E42662}" v="1" dt="2020-03-30T18:40:57.5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7"/>
    <p:restoredTop sz="90929"/>
  </p:normalViewPr>
  <p:slideViewPr>
    <p:cSldViewPr>
      <p:cViewPr varScale="1">
        <p:scale>
          <a:sx n="94" d="100"/>
          <a:sy n="94" d="100"/>
        </p:scale>
        <p:origin x="45" y="8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61"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Gislsinan" userId="32f47de1724c8ca4" providerId="LiveId" clId="{13BAD70A-D4A3-41FE-B857-99DCC9E42662}"/>
    <pc:docChg chg="addSld modSld">
      <pc:chgData name="James Gislsinan" userId="32f47de1724c8ca4" providerId="LiveId" clId="{13BAD70A-D4A3-41FE-B857-99DCC9E42662}" dt="2020-03-30T18:43:42.269" v="337" actId="20577"/>
      <pc:docMkLst>
        <pc:docMk/>
      </pc:docMkLst>
      <pc:sldChg chg="modSp add">
        <pc:chgData name="James Gislsinan" userId="32f47de1724c8ca4" providerId="LiveId" clId="{13BAD70A-D4A3-41FE-B857-99DCC9E42662}" dt="2020-03-30T18:43:42.269" v="337" actId="20577"/>
        <pc:sldMkLst>
          <pc:docMk/>
          <pc:sldMk cId="1015714932" sldId="344"/>
        </pc:sldMkLst>
        <pc:spChg chg="mod">
          <ac:chgData name="James Gislsinan" userId="32f47de1724c8ca4" providerId="LiveId" clId="{13BAD70A-D4A3-41FE-B857-99DCC9E42662}" dt="2020-03-30T18:41:07.714" v="22" actId="20577"/>
          <ac:spMkLst>
            <pc:docMk/>
            <pc:sldMk cId="1015714932" sldId="344"/>
            <ac:spMk id="2" creationId="{C4B10B61-883F-415B-95F6-D84C17879FD7}"/>
          </ac:spMkLst>
        </pc:spChg>
        <pc:spChg chg="mod">
          <ac:chgData name="James Gislsinan" userId="32f47de1724c8ca4" providerId="LiveId" clId="{13BAD70A-D4A3-41FE-B857-99DCC9E42662}" dt="2020-03-30T18:43:42.269" v="337" actId="20577"/>
          <ac:spMkLst>
            <pc:docMk/>
            <pc:sldMk cId="1015714932" sldId="344"/>
            <ac:spMk id="3" creationId="{CC17F7AB-198B-4934-B8F5-915B93BB44E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2"/>
            <a:ext cx="3038425" cy="465460"/>
          </a:xfrm>
          <a:prstGeom prst="rect">
            <a:avLst/>
          </a:prstGeom>
          <a:noFill/>
          <a:ln w="9525">
            <a:noFill/>
            <a:miter lim="800000"/>
            <a:headEnd/>
            <a:tailEnd/>
          </a:ln>
          <a:effectLst/>
        </p:spPr>
        <p:txBody>
          <a:bodyPr vert="horz" wrap="square" lIns="93180" tIns="46591" rIns="93180" bIns="46591" numCol="1" anchor="t" anchorCtr="0" compatLnSpc="1">
            <a:prstTxWarp prst="textNoShape">
              <a:avLst/>
            </a:prstTxWarp>
          </a:bodyPr>
          <a:lstStyle>
            <a:lvl1pPr defTabSz="931578">
              <a:defRPr sz="1200">
                <a:latin typeface="Times New Roman" charset="0"/>
              </a:defRPr>
            </a:lvl1pPr>
          </a:lstStyle>
          <a:p>
            <a:pPr>
              <a:defRPr/>
            </a:pPr>
            <a:endParaRPr lang="en-US"/>
          </a:p>
        </p:txBody>
      </p:sp>
      <p:sp>
        <p:nvSpPr>
          <p:cNvPr id="23555" name="Rectangle 3"/>
          <p:cNvSpPr>
            <a:spLocks noGrp="1" noChangeArrowheads="1"/>
          </p:cNvSpPr>
          <p:nvPr>
            <p:ph type="dt" sz="quarter" idx="1"/>
          </p:nvPr>
        </p:nvSpPr>
        <p:spPr bwMode="auto">
          <a:xfrm>
            <a:off x="3971976" y="2"/>
            <a:ext cx="3038425" cy="465460"/>
          </a:xfrm>
          <a:prstGeom prst="rect">
            <a:avLst/>
          </a:prstGeom>
          <a:noFill/>
          <a:ln w="9525">
            <a:noFill/>
            <a:miter lim="800000"/>
            <a:headEnd/>
            <a:tailEnd/>
          </a:ln>
          <a:effectLst/>
        </p:spPr>
        <p:txBody>
          <a:bodyPr vert="horz" wrap="square" lIns="93180" tIns="46591" rIns="93180" bIns="46591" numCol="1" anchor="t" anchorCtr="0" compatLnSpc="1">
            <a:prstTxWarp prst="textNoShape">
              <a:avLst/>
            </a:prstTxWarp>
          </a:bodyPr>
          <a:lstStyle>
            <a:lvl1pPr algn="r" defTabSz="931578">
              <a:defRPr sz="1200">
                <a:latin typeface="Times New Roman" charset="0"/>
              </a:defRPr>
            </a:lvl1pPr>
          </a:lstStyle>
          <a:p>
            <a:pPr>
              <a:defRPr/>
            </a:pPr>
            <a:endParaRPr lang="en-US"/>
          </a:p>
        </p:txBody>
      </p:sp>
      <p:sp>
        <p:nvSpPr>
          <p:cNvPr id="23556" name="Rectangle 4"/>
          <p:cNvSpPr>
            <a:spLocks noGrp="1" noChangeArrowheads="1"/>
          </p:cNvSpPr>
          <p:nvPr>
            <p:ph type="ftr" sz="quarter" idx="2"/>
          </p:nvPr>
        </p:nvSpPr>
        <p:spPr bwMode="auto">
          <a:xfrm>
            <a:off x="0" y="8830941"/>
            <a:ext cx="3038425" cy="465459"/>
          </a:xfrm>
          <a:prstGeom prst="rect">
            <a:avLst/>
          </a:prstGeom>
          <a:noFill/>
          <a:ln w="9525">
            <a:noFill/>
            <a:miter lim="800000"/>
            <a:headEnd/>
            <a:tailEnd/>
          </a:ln>
          <a:effectLst/>
        </p:spPr>
        <p:txBody>
          <a:bodyPr vert="horz" wrap="square" lIns="93180" tIns="46591" rIns="93180" bIns="46591" numCol="1" anchor="b" anchorCtr="0" compatLnSpc="1">
            <a:prstTxWarp prst="textNoShape">
              <a:avLst/>
            </a:prstTxWarp>
          </a:bodyPr>
          <a:lstStyle>
            <a:lvl1pPr defTabSz="931578">
              <a:defRPr sz="1200">
                <a:latin typeface="Times New Roman" charset="0"/>
              </a:defRPr>
            </a:lvl1pPr>
          </a:lstStyle>
          <a:p>
            <a:pPr>
              <a:defRPr/>
            </a:pPr>
            <a:endParaRPr lang="en-US"/>
          </a:p>
        </p:txBody>
      </p:sp>
      <p:sp>
        <p:nvSpPr>
          <p:cNvPr id="23557" name="Rectangle 5"/>
          <p:cNvSpPr>
            <a:spLocks noGrp="1" noChangeArrowheads="1"/>
          </p:cNvSpPr>
          <p:nvPr>
            <p:ph type="sldNum" sz="quarter" idx="3"/>
          </p:nvPr>
        </p:nvSpPr>
        <p:spPr bwMode="auto">
          <a:xfrm>
            <a:off x="3971976" y="8830941"/>
            <a:ext cx="3038425" cy="465459"/>
          </a:xfrm>
          <a:prstGeom prst="rect">
            <a:avLst/>
          </a:prstGeom>
          <a:noFill/>
          <a:ln w="9525">
            <a:noFill/>
            <a:miter lim="800000"/>
            <a:headEnd/>
            <a:tailEnd/>
          </a:ln>
          <a:effectLst/>
        </p:spPr>
        <p:txBody>
          <a:bodyPr vert="horz" wrap="square" lIns="93180" tIns="46591" rIns="93180" bIns="46591" numCol="1" anchor="b" anchorCtr="0" compatLnSpc="1">
            <a:prstTxWarp prst="textNoShape">
              <a:avLst/>
            </a:prstTxWarp>
          </a:bodyPr>
          <a:lstStyle>
            <a:lvl1pPr algn="r" defTabSz="931578">
              <a:defRPr sz="1200">
                <a:latin typeface="Times New Roman" charset="0"/>
              </a:defRPr>
            </a:lvl1pPr>
          </a:lstStyle>
          <a:p>
            <a:pPr>
              <a:defRPr/>
            </a:pPr>
            <a:fld id="{B5E1D923-BD03-434E-93AB-98F20BEDB182}" type="slidenum">
              <a:rPr lang="en-US"/>
              <a:pPr>
                <a:defRPr/>
              </a:pPr>
              <a:t>‹#›</a:t>
            </a:fld>
            <a:endParaRPr lang="en-US"/>
          </a:p>
        </p:txBody>
      </p:sp>
    </p:spTree>
    <p:extLst>
      <p:ext uri="{BB962C8B-B14F-4D97-AF65-F5344CB8AC3E}">
        <p14:creationId xmlns:p14="http://schemas.microsoft.com/office/powerpoint/2010/main" val="294351129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6:27:08.227"/>
    </inkml:context>
    <inkml:brush xml:id="br0">
      <inkml:brushProperty name="width" value="0.05" units="cm"/>
      <inkml:brushProperty name="height" value="0.05" units="cm"/>
      <inkml:brushProperty name="ignorePressure" value="1"/>
    </inkml:brush>
  </inkml:definitions>
  <inkml:trace contextRef="#ctx0" brushRef="#br0">1 1,'0'2,"0"4,0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6:27:10.779"/>
    </inkml:context>
    <inkml:brush xml:id="br0">
      <inkml:brushProperty name="width" value="0.05" units="cm"/>
      <inkml:brushProperty name="height" value="0.05" units="cm"/>
      <inkml:brushProperty name="ignorePressure" value="1"/>
    </inkml:brush>
  </inkml:definitions>
  <inkml:trace contextRef="#ctx0" brushRef="#br0">0 1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6:26:16.763"/>
    </inkml:context>
    <inkml:brush xml:id="br0">
      <inkml:brushProperty name="width" value="0.05" units="cm"/>
      <inkml:brushProperty name="height" value="0.05" units="cm"/>
      <inkml:brushProperty name="ignorePressure" value="1"/>
    </inkml:brush>
  </inkml:definitions>
  <inkml:trace contextRef="#ctx0" brushRef="#br0">1 1,'0'290,"1"-262,2-1,0 1,4 6,5 38,-6-21,-1-10,-1-1,-2 4,-3 1095,4-1111,0-16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6:26:21.243"/>
    </inkml:context>
    <inkml:brush xml:id="br0">
      <inkml:brushProperty name="width" value="0.05" units="cm"/>
      <inkml:brushProperty name="height" value="0.05" units="cm"/>
      <inkml:brushProperty name="ignorePressure" value="1"/>
    </inkml:brush>
  </inkml:definitions>
  <inkml:trace contextRef="#ctx0" brushRef="#br0">0 0,'1391'0,"-1301"4,0 3,-1 4,1 5,-83-15,0 1,0-1,0 0,1-1,-1 0,0 0,0 0,0-1,1 0,-1 0,0-1,0 0,-1 0,4-2,5-5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6:26:27.298"/>
    </inkml:context>
    <inkml:brush xml:id="br0">
      <inkml:brushProperty name="width" value="0.05" units="cm"/>
      <inkml:brushProperty name="height" value="0.05" units="cm"/>
      <inkml:brushProperty name="ignorePressure" value="1"/>
    </inkml:brush>
  </inkml:definitions>
  <inkml:trace contextRef="#ctx0" brushRef="#br0">1 1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6:27:21.652"/>
    </inkml:context>
    <inkml:brush xml:id="br0">
      <inkml:brushProperty name="width" value="0.05" units="cm"/>
      <inkml:brushProperty name="height" value="0.05" units="cm"/>
      <inkml:brushProperty name="ignorePressure" value="1"/>
    </inkml:brush>
  </inkml:definitions>
  <inkml:trace contextRef="#ctx0" brushRef="#br0">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6:28:51.219"/>
    </inkml:context>
    <inkml:brush xml:id="br0">
      <inkml:brushProperty name="width" value="0.05" units="cm"/>
      <inkml:brushProperty name="height" value="0.05" units="cm"/>
      <inkml:brushProperty name="ignorePressure" value="1"/>
    </inkml:brush>
  </inkml:definitions>
  <inkml:trace contextRef="#ctx0" brushRef="#br0">9 0,'3'3,"0"2,0 4,-5 5,-5-1,-1-2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038425" cy="465460"/>
          </a:xfrm>
          <a:prstGeom prst="rect">
            <a:avLst/>
          </a:prstGeom>
        </p:spPr>
        <p:txBody>
          <a:bodyPr vert="horz" lIns="92039" tIns="46020" rIns="92039" bIns="46020" rtlCol="0"/>
          <a:lstStyle>
            <a:lvl1pPr algn="l">
              <a:defRPr sz="1200">
                <a:latin typeface="Times New Roman" charset="0"/>
              </a:defRPr>
            </a:lvl1pPr>
          </a:lstStyle>
          <a:p>
            <a:pPr>
              <a:defRPr/>
            </a:pPr>
            <a:endParaRPr lang="en-US"/>
          </a:p>
        </p:txBody>
      </p:sp>
      <p:sp>
        <p:nvSpPr>
          <p:cNvPr id="3" name="Date Placeholder 2"/>
          <p:cNvSpPr>
            <a:spLocks noGrp="1"/>
          </p:cNvSpPr>
          <p:nvPr>
            <p:ph type="dt" idx="1"/>
          </p:nvPr>
        </p:nvSpPr>
        <p:spPr>
          <a:xfrm>
            <a:off x="3970379" y="2"/>
            <a:ext cx="3038425" cy="465460"/>
          </a:xfrm>
          <a:prstGeom prst="rect">
            <a:avLst/>
          </a:prstGeom>
        </p:spPr>
        <p:txBody>
          <a:bodyPr vert="horz" lIns="92039" tIns="46020" rIns="92039" bIns="46020" rtlCol="0"/>
          <a:lstStyle>
            <a:lvl1pPr algn="r">
              <a:defRPr sz="1200">
                <a:latin typeface="Times New Roman" charset="0"/>
              </a:defRPr>
            </a:lvl1pPr>
          </a:lstStyle>
          <a:p>
            <a:pPr>
              <a:defRPr/>
            </a:pPr>
            <a:fld id="{1CC5A2CA-1F87-446D-B7D9-019911E96C78}" type="datetimeFigureOut">
              <a:rPr lang="en-US"/>
              <a:pPr>
                <a:defRPr/>
              </a:pPr>
              <a:t>3/30/2020</a:t>
            </a:fld>
            <a:endParaRPr lang="en-US"/>
          </a:p>
        </p:txBody>
      </p:sp>
      <p:sp>
        <p:nvSpPr>
          <p:cNvPr id="4" name="Slide Image Placeholder 3"/>
          <p:cNvSpPr>
            <a:spLocks noGrp="1" noRot="1" noChangeAspect="1"/>
          </p:cNvSpPr>
          <p:nvPr>
            <p:ph type="sldImg" idx="2"/>
          </p:nvPr>
        </p:nvSpPr>
        <p:spPr>
          <a:xfrm>
            <a:off x="1182688" y="698500"/>
            <a:ext cx="4645025" cy="3484563"/>
          </a:xfrm>
          <a:prstGeom prst="rect">
            <a:avLst/>
          </a:prstGeom>
          <a:noFill/>
          <a:ln w="12700">
            <a:solidFill>
              <a:prstClr val="black"/>
            </a:solidFill>
          </a:ln>
        </p:spPr>
        <p:txBody>
          <a:bodyPr vert="horz" lIns="92039" tIns="46020" rIns="92039" bIns="46020" rtlCol="0" anchor="ctr"/>
          <a:lstStyle/>
          <a:p>
            <a:pPr lvl="0"/>
            <a:endParaRPr lang="en-US" noProof="0"/>
          </a:p>
        </p:txBody>
      </p:sp>
      <p:sp>
        <p:nvSpPr>
          <p:cNvPr id="5" name="Notes Placeholder 4"/>
          <p:cNvSpPr>
            <a:spLocks noGrp="1"/>
          </p:cNvSpPr>
          <p:nvPr>
            <p:ph type="body" sz="quarter" idx="3"/>
          </p:nvPr>
        </p:nvSpPr>
        <p:spPr>
          <a:xfrm>
            <a:off x="700562" y="4416271"/>
            <a:ext cx="5609277" cy="4182740"/>
          </a:xfrm>
          <a:prstGeom prst="rect">
            <a:avLst/>
          </a:prstGeom>
        </p:spPr>
        <p:txBody>
          <a:bodyPr vert="horz" lIns="92039" tIns="46020" rIns="92039" bIns="460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342"/>
            <a:ext cx="3038425" cy="465460"/>
          </a:xfrm>
          <a:prstGeom prst="rect">
            <a:avLst/>
          </a:prstGeom>
        </p:spPr>
        <p:txBody>
          <a:bodyPr vert="horz" lIns="92039" tIns="46020" rIns="92039" bIns="46020" rtlCol="0" anchor="b"/>
          <a:lstStyle>
            <a:lvl1pPr algn="l">
              <a:defRPr sz="1200">
                <a:latin typeface="Times New Roman" charset="0"/>
              </a:defRPr>
            </a:lvl1pPr>
          </a:lstStyle>
          <a:p>
            <a:pPr>
              <a:defRPr/>
            </a:pPr>
            <a:endParaRPr lang="en-US"/>
          </a:p>
        </p:txBody>
      </p:sp>
      <p:sp>
        <p:nvSpPr>
          <p:cNvPr id="7" name="Slide Number Placeholder 6"/>
          <p:cNvSpPr>
            <a:spLocks noGrp="1"/>
          </p:cNvSpPr>
          <p:nvPr>
            <p:ph type="sldNum" sz="quarter" idx="5"/>
          </p:nvPr>
        </p:nvSpPr>
        <p:spPr>
          <a:xfrm>
            <a:off x="3970379" y="8829342"/>
            <a:ext cx="3038425" cy="465460"/>
          </a:xfrm>
          <a:prstGeom prst="rect">
            <a:avLst/>
          </a:prstGeom>
        </p:spPr>
        <p:txBody>
          <a:bodyPr vert="horz" lIns="92039" tIns="46020" rIns="92039" bIns="46020" rtlCol="0" anchor="b"/>
          <a:lstStyle>
            <a:lvl1pPr algn="r">
              <a:defRPr sz="1200">
                <a:latin typeface="Times New Roman" charset="0"/>
              </a:defRPr>
            </a:lvl1pPr>
          </a:lstStyle>
          <a:p>
            <a:pPr>
              <a:defRPr/>
            </a:pPr>
            <a:fld id="{BF65EB64-0289-48D5-9A6A-A427384F7C48}" type="slidenum">
              <a:rPr lang="en-US"/>
              <a:pPr>
                <a:defRPr/>
              </a:pPr>
              <a:t>‹#›</a:t>
            </a:fld>
            <a:endParaRPr lang="en-US"/>
          </a:p>
        </p:txBody>
      </p:sp>
    </p:spTree>
    <p:extLst>
      <p:ext uri="{BB962C8B-B14F-4D97-AF65-F5344CB8AC3E}">
        <p14:creationId xmlns:p14="http://schemas.microsoft.com/office/powerpoint/2010/main" val="35350508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BF65EB64-0289-48D5-9A6A-A427384F7C48}" type="slidenum">
              <a:rPr lang="en-US" smtClean="0"/>
              <a:pPr>
                <a:defRPr/>
              </a:pPr>
              <a:t>9</a:t>
            </a:fld>
            <a:endParaRPr lang="en-US"/>
          </a:p>
        </p:txBody>
      </p:sp>
    </p:spTree>
    <p:extLst>
      <p:ext uri="{BB962C8B-B14F-4D97-AF65-F5344CB8AC3E}">
        <p14:creationId xmlns:p14="http://schemas.microsoft.com/office/powerpoint/2010/main" val="3848409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BF65EB64-0289-48D5-9A6A-A427384F7C48}" type="slidenum">
              <a:rPr lang="en-US" smtClean="0"/>
              <a:pPr>
                <a:defRPr/>
              </a:pPr>
              <a:t>18</a:t>
            </a:fld>
            <a:endParaRPr lang="en-US"/>
          </a:p>
        </p:txBody>
      </p:sp>
    </p:spTree>
    <p:extLst>
      <p:ext uri="{BB962C8B-B14F-4D97-AF65-F5344CB8AC3E}">
        <p14:creationId xmlns:p14="http://schemas.microsoft.com/office/powerpoint/2010/main" val="2001005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F65EB64-0289-48D5-9A6A-A427384F7C48}" type="slidenum">
              <a:rPr lang="en-US" smtClean="0"/>
              <a:pPr>
                <a:defRPr/>
              </a:pPr>
              <a:t>35</a:t>
            </a:fld>
            <a:endParaRPr lang="en-US"/>
          </a:p>
        </p:txBody>
      </p:sp>
    </p:spTree>
    <p:extLst>
      <p:ext uri="{BB962C8B-B14F-4D97-AF65-F5344CB8AC3E}">
        <p14:creationId xmlns:p14="http://schemas.microsoft.com/office/powerpoint/2010/main" val="4276995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F65EB64-0289-48D5-9A6A-A427384F7C48}" type="slidenum">
              <a:rPr lang="en-US" smtClean="0"/>
              <a:pPr>
                <a:defRPr/>
              </a:pPr>
              <a:t>40</a:t>
            </a:fld>
            <a:endParaRPr lang="en-US"/>
          </a:p>
        </p:txBody>
      </p:sp>
    </p:spTree>
    <p:extLst>
      <p:ext uri="{BB962C8B-B14F-4D97-AF65-F5344CB8AC3E}">
        <p14:creationId xmlns:p14="http://schemas.microsoft.com/office/powerpoint/2010/main" val="222344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8B3FC04-86AB-4BE4-8C0F-9AAE7954907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3F00311-7E95-45A0-88CC-6340456997C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22A6B79-88F4-41AE-8DAE-731A158F0AA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781021A-4253-47B0-B71B-956E713AEB9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70F9CDDE-1C55-4C94-808C-67B66262D35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2918DDD-7A70-4C95-A39D-A00802EE312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50F2238-8776-4986-8345-B568CA355AE5}"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7A97877-8EA1-46EF-A5A5-FE50969BD4D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F1841D5-416C-4CCB-9AFA-47C53911E12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10874B6-15DA-4411-AFAB-10892DC9348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E31613A-CD61-48C1-9D45-0EDA42CD7F99}"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1FF1A48-C378-4914-9185-6CDD656D2B7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charset="0"/>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charset="0"/>
              </a:defRPr>
            </a:lvl1pPr>
          </a:lstStyle>
          <a:p>
            <a:pPr>
              <a:defRPr/>
            </a:pPr>
            <a:fld id="{145EB004-62BD-4471-9D18-53CB5538536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fontAlgn="base">
        <a:spcBef>
          <a:spcPct val="0"/>
        </a:spcBef>
        <a:spcAft>
          <a:spcPct val="0"/>
        </a:spcAft>
        <a:defRPr sz="4400">
          <a:solidFill>
            <a:schemeClr val="tx2"/>
          </a:solidFill>
          <a:latin typeface="Times New Roman" charset="0"/>
        </a:defRPr>
      </a:lvl6pPr>
      <a:lvl7pPr marL="914400" algn="ctr" rtl="0" fontAlgn="base">
        <a:spcBef>
          <a:spcPct val="0"/>
        </a:spcBef>
        <a:spcAft>
          <a:spcPct val="0"/>
        </a:spcAft>
        <a:defRPr sz="4400">
          <a:solidFill>
            <a:schemeClr val="tx2"/>
          </a:solidFill>
          <a:latin typeface="Times New Roman" charset="0"/>
        </a:defRPr>
      </a:lvl7pPr>
      <a:lvl8pPr marL="1371600" algn="ctr" rtl="0" fontAlgn="base">
        <a:spcBef>
          <a:spcPct val="0"/>
        </a:spcBef>
        <a:spcAft>
          <a:spcPct val="0"/>
        </a:spcAft>
        <a:defRPr sz="4400">
          <a:solidFill>
            <a:schemeClr val="tx2"/>
          </a:solidFill>
          <a:latin typeface="Times New Roman" charset="0"/>
        </a:defRPr>
      </a:lvl8pPr>
      <a:lvl9pPr marL="1828800" algn="ctr" rtl="0" fontAlgn="base">
        <a:spcBef>
          <a:spcPct val="0"/>
        </a:spcBef>
        <a:spcAft>
          <a:spcPct val="0"/>
        </a:spcAft>
        <a:defRPr sz="4400">
          <a:solidFill>
            <a:schemeClr val="tx2"/>
          </a:solidFill>
          <a:latin typeface="Times New Roman"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2.xml"/><Relationship Id="rId4" Type="http://schemas.openxmlformats.org/officeDocument/2006/relationships/customXml" Target="../ink/ink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customXml" Target="../ink/ink3.xml"/><Relationship Id="rId7" Type="http://schemas.openxmlformats.org/officeDocument/2006/relationships/customXml" Target="../ink/ink5.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5.png"/><Relationship Id="rId5" Type="http://schemas.openxmlformats.org/officeDocument/2006/relationships/customXml" Target="../ink/ink4.xml"/><Relationship Id="rId10" Type="http://schemas.openxmlformats.org/officeDocument/2006/relationships/customXml" Target="../ink/ink7.xml"/><Relationship Id="rId4" Type="http://schemas.openxmlformats.org/officeDocument/2006/relationships/image" Target="../media/image3.png"/><Relationship Id="rId9" Type="http://schemas.openxmlformats.org/officeDocument/2006/relationships/customXml" Target="../ink/ink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youtube.com/watch?v=-c-SUdBoD6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youtube.com/watch?v=uSdhJw0fFj8" TargetMode="External"/><Relationship Id="rId2" Type="http://schemas.openxmlformats.org/officeDocument/2006/relationships/hyperlink" Target="http://www.youtube.com/watch?v=z_iGdiYO7gI&amp;feature=relate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hyperlink" Target="http://www.bing.com/videos/search?q=What+did+you+learn+in+school+today&amp;qpvt=What+did+you+learn+in+school+today&amp;FORM=VDRE" TargetMode="External"/><Relationship Id="rId5" Type="http://schemas.openxmlformats.org/officeDocument/2006/relationships/slide" Target="slide35.xml"/><Relationship Id="rId4" Type="http://schemas.openxmlformats.org/officeDocument/2006/relationships/hyperlink" Target="https://www.youtube.com/watch?v=VucczIg98Gw" TargetMode="External"/></Relationships>
</file>

<file path=ppt/slides/_rels/slide3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5.wav"/><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www.fastcompany.com/3020699/bottom-line/why-intuit-founder-scott-cook-wants-you-to-stop-listening-to-your-boss"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audio" Target="../media/audio7.wav"/><Relationship Id="rId2" Type="http://schemas.openxmlformats.org/officeDocument/2006/relationships/audio" Target="../media/audio6.wav"/><Relationship Id="rId1" Type="http://schemas.openxmlformats.org/officeDocument/2006/relationships/slideLayout" Target="../slideLayouts/slideLayout6.xml"/><Relationship Id="rId4" Type="http://schemas.openxmlformats.org/officeDocument/2006/relationships/audio" Target="../media/audio5.wav"/></Relationships>
</file>

<file path=ppt/slides/_rels/slide53.xml.rels><?xml version="1.0" encoding="UTF-8" standalone="yes"?>
<Relationships xmlns="http://schemas.openxmlformats.org/package/2006/relationships"><Relationship Id="rId2" Type="http://schemas.openxmlformats.org/officeDocument/2006/relationships/audio" Target="../media/audio5.wav"/><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2286000"/>
            <a:ext cx="7772400" cy="1143000"/>
          </a:xfrm>
        </p:spPr>
        <p:txBody>
          <a:bodyPr/>
          <a:lstStyle/>
          <a:p>
            <a:pPr eaLnBrk="1" hangingPunct="1"/>
            <a:r>
              <a:rPr lang="en-US"/>
              <a:t>Organizations as Systems of Conflict</a:t>
            </a:r>
          </a:p>
        </p:txBody>
      </p:sp>
      <p:sp>
        <p:nvSpPr>
          <p:cNvPr id="2051" name="Rectangle 3"/>
          <p:cNvSpPr>
            <a:spLocks noGrp="1" noChangeArrowheads="1"/>
          </p:cNvSpPr>
          <p:nvPr>
            <p:ph type="subTitle" idx="1"/>
          </p:nvPr>
        </p:nvSpPr>
        <p:spPr/>
        <p:txBody>
          <a:bodyPr/>
          <a:lstStyle/>
          <a:p>
            <a:pPr eaLnBrk="1" hangingPunct="1"/>
            <a:r>
              <a:rPr lang="en-US"/>
              <a:t>Is this what organizations are really about?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85800"/>
            <a:ext cx="7772400" cy="1143000"/>
          </a:xfrm>
        </p:spPr>
        <p:txBody>
          <a:bodyPr>
            <a:noAutofit/>
          </a:bodyPr>
          <a:lstStyle/>
          <a:p>
            <a:r>
              <a:rPr lang="en-US" sz="3600" dirty="0"/>
              <a:t>Key Question Posed This Semester: Is organizational conflict good or bad? </a:t>
            </a:r>
          </a:p>
        </p:txBody>
      </p:sp>
      <p:sp>
        <p:nvSpPr>
          <p:cNvPr id="3" name="Content Placeholder 2"/>
          <p:cNvSpPr>
            <a:spLocks noGrp="1"/>
          </p:cNvSpPr>
          <p:nvPr>
            <p:ph idx="1"/>
          </p:nvPr>
        </p:nvSpPr>
        <p:spPr/>
        <p:txBody>
          <a:bodyPr>
            <a:normAutofit fontScale="92500" lnSpcReduction="10000"/>
          </a:bodyPr>
          <a:lstStyle/>
          <a:p>
            <a:r>
              <a:rPr lang="en-US" dirty="0"/>
              <a:t>Good = Mary Parker Follett</a:t>
            </a:r>
          </a:p>
          <a:p>
            <a:pPr lvl="1"/>
            <a:r>
              <a:rPr lang="en-US" dirty="0"/>
              <a:t>Through a dialectic process, new understandings</a:t>
            </a:r>
          </a:p>
          <a:p>
            <a:r>
              <a:rPr lang="en-US" dirty="0"/>
              <a:t>Bad = Frederick Taylor</a:t>
            </a:r>
          </a:p>
          <a:p>
            <a:pPr lvl="1"/>
            <a:r>
              <a:rPr lang="en-US" dirty="0"/>
              <a:t>Must be repressed</a:t>
            </a:r>
          </a:p>
          <a:p>
            <a:r>
              <a:rPr lang="en-US" dirty="0"/>
              <a:t>Bad = Elton Mayo</a:t>
            </a:r>
          </a:p>
          <a:p>
            <a:pPr lvl="1"/>
            <a:r>
              <a:rPr lang="en-US" dirty="0"/>
              <a:t>Education to eliminate the “</a:t>
            </a:r>
            <a:r>
              <a:rPr lang="en-US" dirty="0" err="1"/>
              <a:t>nightmind</a:t>
            </a:r>
            <a:r>
              <a:rPr lang="en-US" dirty="0"/>
              <a:t>” of the child and the “savage” surviving in the adult </a:t>
            </a:r>
          </a:p>
          <a:p>
            <a:r>
              <a:rPr lang="en-US" dirty="0"/>
              <a:t>Good = Charles </a:t>
            </a:r>
            <a:r>
              <a:rPr lang="en-US" dirty="0" err="1"/>
              <a:t>Lindblom</a:t>
            </a:r>
            <a:endParaRPr lang="en-US" dirty="0"/>
          </a:p>
          <a:p>
            <a:pPr lvl="1"/>
            <a:r>
              <a:rPr lang="en-US" dirty="0"/>
              <a:t>Mutual adjustment</a:t>
            </a:r>
          </a:p>
          <a:p>
            <a:pPr lvl="1"/>
            <a:endParaRPr lang="en-US" dirty="0"/>
          </a:p>
        </p:txBody>
      </p:sp>
    </p:spTree>
    <p:extLst>
      <p:ext uri="{BB962C8B-B14F-4D97-AF65-F5344CB8AC3E}">
        <p14:creationId xmlns:p14="http://schemas.microsoft.com/office/powerpoint/2010/main" val="2487750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Everybody Agrees</a:t>
            </a:r>
          </a:p>
        </p:txBody>
      </p:sp>
      <p:sp>
        <p:nvSpPr>
          <p:cNvPr id="3" name="Content Placeholder 2"/>
          <p:cNvSpPr>
            <a:spLocks noGrp="1"/>
          </p:cNvSpPr>
          <p:nvPr>
            <p:ph idx="1"/>
          </p:nvPr>
        </p:nvSpPr>
        <p:spPr/>
        <p:txBody>
          <a:bodyPr/>
          <a:lstStyle/>
          <a:p>
            <a:r>
              <a:rPr lang="en-US" dirty="0"/>
              <a:t>The potential for conflict/and conflict itself is ubiquitous in organizations </a:t>
            </a:r>
          </a:p>
          <a:p>
            <a:r>
              <a:rPr lang="en-US" dirty="0"/>
              <a:t>So what do you do about it</a:t>
            </a:r>
          </a:p>
          <a:p>
            <a:pPr lvl="1"/>
            <a:r>
              <a:rPr lang="en-US" dirty="0"/>
              <a:t>Try to eliminate it</a:t>
            </a:r>
          </a:p>
          <a:p>
            <a:pPr lvl="1"/>
            <a:r>
              <a:rPr lang="en-US" dirty="0"/>
              <a:t>Try to creatively engage </a:t>
            </a:r>
          </a:p>
          <a:p>
            <a:r>
              <a:rPr lang="en-US" dirty="0"/>
              <a:t>Which approach is chosen depends on the definition of conflict in play </a:t>
            </a:r>
          </a:p>
        </p:txBody>
      </p:sp>
    </p:spTree>
    <p:extLst>
      <p:ext uri="{BB962C8B-B14F-4D97-AF65-F5344CB8AC3E}">
        <p14:creationId xmlns:p14="http://schemas.microsoft.com/office/powerpoint/2010/main" val="953368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dirty="0"/>
              <a:t>Definition of conflict: The Traditional View</a:t>
            </a:r>
          </a:p>
        </p:txBody>
      </p:sp>
      <p:sp>
        <p:nvSpPr>
          <p:cNvPr id="3075" name="Rectangle 3"/>
          <p:cNvSpPr>
            <a:spLocks noGrp="1" noChangeArrowheads="1"/>
          </p:cNvSpPr>
          <p:nvPr>
            <p:ph type="body" idx="1"/>
          </p:nvPr>
        </p:nvSpPr>
        <p:spPr/>
        <p:txBody>
          <a:bodyPr/>
          <a:lstStyle/>
          <a:p>
            <a:pPr eaLnBrk="1" hangingPunct="1">
              <a:lnSpc>
                <a:spcPct val="90000"/>
              </a:lnSpc>
            </a:pPr>
            <a:r>
              <a:rPr lang="en-US" dirty="0"/>
              <a:t>A clash over scarce resources</a:t>
            </a:r>
          </a:p>
          <a:p>
            <a:pPr lvl="1" eaLnBrk="1" hangingPunct="1">
              <a:lnSpc>
                <a:spcPct val="90000"/>
              </a:lnSpc>
            </a:pPr>
            <a:r>
              <a:rPr lang="en-US" dirty="0"/>
              <a:t>Monetary</a:t>
            </a:r>
          </a:p>
          <a:p>
            <a:pPr lvl="1" eaLnBrk="1" hangingPunct="1">
              <a:lnSpc>
                <a:spcPct val="90000"/>
              </a:lnSpc>
            </a:pPr>
            <a:r>
              <a:rPr lang="en-US" dirty="0"/>
              <a:t>Psychic</a:t>
            </a:r>
          </a:p>
          <a:p>
            <a:pPr lvl="1" eaLnBrk="1" hangingPunct="1">
              <a:lnSpc>
                <a:spcPct val="90000"/>
              </a:lnSpc>
            </a:pPr>
            <a:r>
              <a:rPr lang="en-US" dirty="0"/>
              <a:t>Informational</a:t>
            </a:r>
          </a:p>
          <a:p>
            <a:pPr lvl="1" eaLnBrk="1" hangingPunct="1">
              <a:lnSpc>
                <a:spcPct val="90000"/>
              </a:lnSpc>
            </a:pPr>
            <a:r>
              <a:rPr lang="en-US" dirty="0"/>
              <a:t>Social</a:t>
            </a:r>
          </a:p>
          <a:p>
            <a:pPr lvl="1" eaLnBrk="1" hangingPunct="1">
              <a:lnSpc>
                <a:spcPct val="90000"/>
              </a:lnSpc>
            </a:pPr>
            <a:r>
              <a:rPr lang="en-US" dirty="0"/>
              <a:t>Spatial</a:t>
            </a:r>
          </a:p>
          <a:p>
            <a:pPr lvl="1" eaLnBrk="1" hangingPunct="1">
              <a:lnSpc>
                <a:spcPct val="90000"/>
              </a:lnSpc>
            </a:pPr>
            <a:r>
              <a:rPr lang="en-US" dirty="0"/>
              <a:t>Time</a:t>
            </a:r>
          </a:p>
          <a:p>
            <a:pPr lvl="1" eaLnBrk="1" hangingPunct="1">
              <a:lnSpc>
                <a:spcPct val="90000"/>
              </a:lnSpc>
            </a:pPr>
            <a:r>
              <a:rPr lang="en-US" dirty="0"/>
              <a:t>Etc.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t>Clash</a:t>
            </a:r>
          </a:p>
        </p:txBody>
      </p:sp>
      <p:sp>
        <p:nvSpPr>
          <p:cNvPr id="4099" name="Rectangle 3"/>
          <p:cNvSpPr>
            <a:spLocks noGrp="1" noChangeArrowheads="1"/>
          </p:cNvSpPr>
          <p:nvPr>
            <p:ph type="body" idx="1"/>
          </p:nvPr>
        </p:nvSpPr>
        <p:spPr/>
        <p:txBody>
          <a:bodyPr/>
          <a:lstStyle/>
          <a:p>
            <a:pPr eaLnBrk="1" hangingPunct="1"/>
            <a:r>
              <a:rPr lang="en-US"/>
              <a:t>To collide with; a loud harsh noise</a:t>
            </a:r>
          </a:p>
          <a:p>
            <a:pPr eaLnBrk="1" hangingPunct="1"/>
            <a:r>
              <a:rPr lang="en-US"/>
              <a:t>A strategy of engagement for winning or gaining the resource</a:t>
            </a:r>
          </a:p>
          <a:p>
            <a:pPr eaLnBrk="1" hangingPunct="1"/>
            <a:r>
              <a:rPr lang="en-US"/>
              <a:t>If the clash gets too loud or obvious it is considered dysfunctional (going postal)</a:t>
            </a:r>
          </a:p>
          <a:p>
            <a:pPr eaLnBrk="1" hangingPunct="1"/>
            <a:r>
              <a:rPr lang="en-US"/>
              <a:t>Modern organizations stifle the noise – but not the harsh feelings.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98"/>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explode.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99">
                                            <p:txEl>
                                              <p:pRg st="0" end="0"/>
                                            </p:txEl>
                                          </p:spTgt>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3" name="driveby.wav"/>
                                        </p:tgtEl>
                                      </p:cMediaNode>
                                    </p:audio>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99">
                                            <p:txEl>
                                              <p:pRg st="1" end="1"/>
                                            </p:txEl>
                                          </p:spTgt>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3" name="driveby.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099">
                                            <p:txEl>
                                              <p:pRg st="2" end="2"/>
                                            </p:txEl>
                                          </p:spTgt>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3" name="driveby.wav"/>
                                        </p:tgtEl>
                                      </p:cMediaNode>
                                    </p:audio>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099">
                                            <p:txEl>
                                              <p:pRg st="3" end="3"/>
                                            </p:txEl>
                                          </p:spTgt>
                                        </p:tgtEl>
                                        <p:attrNameLst>
                                          <p:attrName>style.visibility</p:attrName>
                                        </p:attrNameLst>
                                      </p:cBhvr>
                                      <p:to>
                                        <p:strVal val="visible"/>
                                      </p:to>
                                    </p:set>
                                  </p:childTnLst>
                                  <p:subTnLst>
                                    <p:audio>
                                      <p:cMediaNode>
                                        <p:cTn display="0" masterRel="sameClick">
                                          <p:stCondLst>
                                            <p:cond evt="begin" delay="0">
                                              <p:tn val="21"/>
                                            </p:cond>
                                          </p:stCondLst>
                                          <p:endCondLst>
                                            <p:cond evt="onStopAudio" delay="0">
                                              <p:tgtEl>
                                                <p:sldTgt/>
                                              </p:tgtEl>
                                            </p:cond>
                                          </p:endCondLst>
                                        </p:cTn>
                                        <p:tgtEl>
                                          <p:sndTgt r:embed="rId3" name="driveby.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utoUpdateAnimBg="0"/>
      <p:bldP spid="4099"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86659-71C2-4B99-89B2-983DFE0B2112}"/>
              </a:ext>
            </a:extLst>
          </p:cNvPr>
          <p:cNvSpPr>
            <a:spLocks noGrp="1"/>
          </p:cNvSpPr>
          <p:nvPr>
            <p:ph type="title"/>
          </p:nvPr>
        </p:nvSpPr>
        <p:spPr/>
        <p:txBody>
          <a:bodyPr/>
          <a:lstStyle/>
          <a:p>
            <a:r>
              <a:rPr lang="en-US" dirty="0"/>
              <a:t>First Reflective Pause </a:t>
            </a:r>
          </a:p>
        </p:txBody>
      </p:sp>
      <p:sp>
        <p:nvSpPr>
          <p:cNvPr id="3" name="Content Placeholder 2">
            <a:extLst>
              <a:ext uri="{FF2B5EF4-FFF2-40B4-BE49-F238E27FC236}">
                <a16:creationId xmlns:a16="http://schemas.microsoft.com/office/drawing/2014/main" id="{36050749-8842-4454-8CA9-2293D23ECA92}"/>
              </a:ext>
            </a:extLst>
          </p:cNvPr>
          <p:cNvSpPr>
            <a:spLocks noGrp="1"/>
          </p:cNvSpPr>
          <p:nvPr>
            <p:ph idx="1"/>
          </p:nvPr>
        </p:nvSpPr>
        <p:spPr/>
        <p:txBody>
          <a:bodyPr>
            <a:normAutofit fontScale="92500" lnSpcReduction="10000"/>
          </a:bodyPr>
          <a:lstStyle/>
          <a:p>
            <a:r>
              <a:rPr lang="en-US" dirty="0"/>
              <a:t>In your view, and given your experience, on what side to you come down</a:t>
            </a:r>
          </a:p>
          <a:p>
            <a:pPr lvl="1"/>
            <a:r>
              <a:rPr lang="en-US" dirty="0"/>
              <a:t>Conflict is good</a:t>
            </a:r>
          </a:p>
          <a:p>
            <a:pPr lvl="1"/>
            <a:r>
              <a:rPr lang="en-US" dirty="0"/>
              <a:t>Conflict is bad</a:t>
            </a:r>
          </a:p>
          <a:p>
            <a:r>
              <a:rPr lang="en-US" dirty="0"/>
              <a:t>Can you provide examples of where conflict was handled creatively (good) or destructively (bad)</a:t>
            </a:r>
          </a:p>
          <a:p>
            <a:r>
              <a:rPr lang="en-US" dirty="0"/>
              <a:t>If an organization tries to stifle conflict does it result in whistle blowing?</a:t>
            </a:r>
          </a:p>
          <a:p>
            <a:pPr lvl="1"/>
            <a:endParaRPr lang="en-US" dirty="0"/>
          </a:p>
        </p:txBody>
      </p:sp>
    </p:spTree>
    <p:extLst>
      <p:ext uri="{BB962C8B-B14F-4D97-AF65-F5344CB8AC3E}">
        <p14:creationId xmlns:p14="http://schemas.microsoft.com/office/powerpoint/2010/main" val="3283137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Analyzing Sources of Conflict</a:t>
            </a:r>
          </a:p>
        </p:txBody>
      </p:sp>
      <p:graphicFrame>
        <p:nvGraphicFramePr>
          <p:cNvPr id="13351" name="Group 39"/>
          <p:cNvGraphicFramePr>
            <a:graphicFrameLocks noGrp="1"/>
          </p:cNvGraphicFramePr>
          <p:nvPr>
            <p:ph type="tbl" idx="1"/>
          </p:nvPr>
        </p:nvGraphicFramePr>
        <p:xfrm>
          <a:off x="685800" y="1981200"/>
          <a:ext cx="7772400" cy="4114800"/>
        </p:xfrm>
        <a:graphic>
          <a:graphicData uri="http://schemas.openxmlformats.org/drawingml/2006/table">
            <a:tbl>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295400">
                  <a:extLst>
                    <a:ext uri="{9D8B030D-6E8A-4147-A177-3AD203B41FA5}">
                      <a16:colId xmlns:a16="http://schemas.microsoft.com/office/drawing/2014/main" val="20005"/>
                    </a:ext>
                  </a:extLst>
                </a:gridCol>
              </a:tblGrid>
              <a:tr h="1371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rPr>
                        <a:t>Level</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chemeClr val="tx1"/>
                        </a:solidFill>
                        <a:effectLst/>
                        <a:latin typeface="Times New Roman"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tx1"/>
                          </a:solidFill>
                          <a:effectLst/>
                          <a:latin typeface="Times New Roman" charset="0"/>
                        </a:rPr>
                        <a:t>Location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rPr>
                        <a:t>Role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rPr>
                        <a:t>Group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rPr>
                        <a:t>Org.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rPr>
                        <a:t>System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rPr>
                        <a:t>Culture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71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Times New Roman" charset="0"/>
                        </a:rPr>
                        <a:t>Intra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charset="0"/>
                        </a:rPr>
                        <a:t>1 role,with conflicting expectat.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charset="0"/>
                        </a:rPr>
                        <a:t>Task/</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charset="0"/>
                        </a:rPr>
                        <a:t>Mission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charset="0"/>
                        </a:rPr>
                        <a:t>Problem definition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charset="0"/>
                        </a:rPr>
                        <a:t>Belief System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71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Times New Roman" charset="0"/>
                        </a:rPr>
                        <a:t>Inter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charset="0"/>
                        </a:rPr>
                        <a:t>1 person, 2 roles which conflict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charset="0"/>
                        </a:rPr>
                        <a:t>Autonomy</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charset="0"/>
                        </a:rPr>
                        <a:t>control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charset="0"/>
                        </a:rPr>
                        <a:t>resources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charset="0"/>
                        </a:rPr>
                        <a:t>Problem definition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Times New Roman" charset="0"/>
                        </a:rPr>
                        <a:t>Belief system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153" name="Line 40"/>
          <p:cNvSpPr>
            <a:spLocks noChangeShapeType="1"/>
          </p:cNvSpPr>
          <p:nvPr/>
        </p:nvSpPr>
        <p:spPr bwMode="auto">
          <a:xfrm>
            <a:off x="5029200" y="3581400"/>
            <a:ext cx="0" cy="762000"/>
          </a:xfrm>
          <a:prstGeom prst="line">
            <a:avLst/>
          </a:prstGeom>
          <a:noFill/>
          <a:ln w="9525">
            <a:solidFill>
              <a:schemeClr val="tx1"/>
            </a:solidFill>
            <a:round/>
            <a:headEnd/>
            <a:tailEnd/>
          </a:ln>
        </p:spPr>
        <p:txBody>
          <a:bodyPr/>
          <a:lstStyle/>
          <a:p>
            <a:endParaRPr lang="en-US"/>
          </a:p>
        </p:txBody>
      </p:sp>
      <p:sp>
        <p:nvSpPr>
          <p:cNvPr id="5154" name="Line 42"/>
          <p:cNvSpPr>
            <a:spLocks noChangeShapeType="1"/>
          </p:cNvSpPr>
          <p:nvPr/>
        </p:nvSpPr>
        <p:spPr bwMode="auto">
          <a:xfrm>
            <a:off x="4648200" y="3962400"/>
            <a:ext cx="838200" cy="0"/>
          </a:xfrm>
          <a:prstGeom prst="line">
            <a:avLst/>
          </a:prstGeom>
          <a:noFill/>
          <a:ln w="9525">
            <a:solidFill>
              <a:schemeClr val="tx1"/>
            </a:solidFill>
            <a:round/>
            <a:headEnd/>
            <a:tailEnd/>
          </a:ln>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7F19E31F-B132-4202-BDC3-3192A0745268}"/>
                  </a:ext>
                </a:extLst>
              </p14:cNvPr>
              <p14:cNvContentPartPr/>
              <p14:nvPr/>
            </p14:nvContentPartPr>
            <p14:xfrm>
              <a:off x="5130120" y="5424840"/>
              <a:ext cx="360" cy="5400"/>
            </p14:xfrm>
          </p:contentPart>
        </mc:Choice>
        <mc:Fallback xmlns="">
          <p:pic>
            <p:nvPicPr>
              <p:cNvPr id="2" name="Ink 1">
                <a:extLst>
                  <a:ext uri="{FF2B5EF4-FFF2-40B4-BE49-F238E27FC236}">
                    <a16:creationId xmlns:a16="http://schemas.microsoft.com/office/drawing/2014/main" id="{7F19E31F-B132-4202-BDC3-3192A0745268}"/>
                  </a:ext>
                </a:extLst>
              </p:cNvPr>
              <p:cNvPicPr/>
              <p:nvPr/>
            </p:nvPicPr>
            <p:blipFill>
              <a:blip r:embed="rId3"/>
              <a:stretch>
                <a:fillRect/>
              </a:stretch>
            </p:blipFill>
            <p:spPr>
              <a:xfrm>
                <a:off x="5121480" y="5416200"/>
                <a:ext cx="1800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A7C1101C-0EA0-45A3-87FA-C09E43F3F8DD}"/>
                  </a:ext>
                </a:extLst>
              </p14:cNvPr>
              <p14:cNvContentPartPr/>
              <p14:nvPr/>
            </p14:nvContentPartPr>
            <p14:xfrm>
              <a:off x="4739520" y="4439520"/>
              <a:ext cx="360" cy="360"/>
            </p14:xfrm>
          </p:contentPart>
        </mc:Choice>
        <mc:Fallback xmlns="">
          <p:pic>
            <p:nvPicPr>
              <p:cNvPr id="3" name="Ink 2">
                <a:extLst>
                  <a:ext uri="{FF2B5EF4-FFF2-40B4-BE49-F238E27FC236}">
                    <a16:creationId xmlns:a16="http://schemas.microsoft.com/office/drawing/2014/main" id="{A7C1101C-0EA0-45A3-87FA-C09E43F3F8DD}"/>
                  </a:ext>
                </a:extLst>
              </p:cNvPr>
              <p:cNvPicPr/>
              <p:nvPr/>
            </p:nvPicPr>
            <p:blipFill>
              <a:blip r:embed="rId3"/>
              <a:stretch>
                <a:fillRect/>
              </a:stretch>
            </p:blipFill>
            <p:spPr>
              <a:xfrm>
                <a:off x="4730520" y="4430880"/>
                <a:ext cx="18000" cy="1800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endParaRPr lang="en-US"/>
          </a:p>
        </p:txBody>
      </p:sp>
      <p:pic>
        <p:nvPicPr>
          <p:cNvPr id="6147" name="Picture 2"/>
          <p:cNvPicPr>
            <a:picLocks noGrp="1" noChangeAspect="1" noChangeArrowheads="1"/>
          </p:cNvPicPr>
          <p:nvPr>
            <p:ph idx="1"/>
          </p:nvPr>
        </p:nvPicPr>
        <p:blipFill>
          <a:blip r:embed="rId2" cstate="print"/>
          <a:srcRect/>
          <a:stretch>
            <a:fillRect/>
          </a:stretch>
        </p:blipFill>
        <p:spPr>
          <a:xfrm>
            <a:off x="1524000" y="2916238"/>
            <a:ext cx="6096000" cy="1895475"/>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6A7D8-60BC-448C-887F-E14D323357D7}"/>
              </a:ext>
            </a:extLst>
          </p:cNvPr>
          <p:cNvSpPr>
            <a:spLocks noGrp="1"/>
          </p:cNvSpPr>
          <p:nvPr>
            <p:ph type="title"/>
          </p:nvPr>
        </p:nvSpPr>
        <p:spPr/>
        <p:txBody>
          <a:bodyPr/>
          <a:lstStyle/>
          <a:p>
            <a:r>
              <a:rPr lang="en-US" dirty="0"/>
              <a:t>Second Reflective Pause</a:t>
            </a:r>
            <a:br>
              <a:rPr lang="en-US" dirty="0"/>
            </a:br>
            <a:r>
              <a:rPr lang="en-US" dirty="0"/>
              <a:t>fill in each square</a:t>
            </a:r>
          </a:p>
        </p:txBody>
      </p:sp>
      <p:graphicFrame>
        <p:nvGraphicFramePr>
          <p:cNvPr id="4" name="Table 4">
            <a:extLst>
              <a:ext uri="{FF2B5EF4-FFF2-40B4-BE49-F238E27FC236}">
                <a16:creationId xmlns:a16="http://schemas.microsoft.com/office/drawing/2014/main" id="{C4A9F26D-19E0-4BA1-B6BA-33745F3D5078}"/>
              </a:ext>
            </a:extLst>
          </p:cNvPr>
          <p:cNvGraphicFramePr>
            <a:graphicFrameLocks noGrp="1"/>
          </p:cNvGraphicFramePr>
          <p:nvPr>
            <p:ph idx="1"/>
            <p:extLst>
              <p:ext uri="{D42A27DB-BD31-4B8C-83A1-F6EECF244321}">
                <p14:modId xmlns:p14="http://schemas.microsoft.com/office/powerpoint/2010/main" val="4098592981"/>
              </p:ext>
            </p:extLst>
          </p:nvPr>
        </p:nvGraphicFramePr>
        <p:xfrm>
          <a:off x="685800" y="1981200"/>
          <a:ext cx="8001000" cy="3566160"/>
        </p:xfrm>
        <a:graphic>
          <a:graphicData uri="http://schemas.openxmlformats.org/drawingml/2006/table">
            <a:tbl>
              <a:tblPr firstRow="1" bandRow="1">
                <a:tableStyleId>{073A0DAA-6AF3-43AB-8588-CEC1D06C72B9}</a:tableStyleId>
              </a:tblPr>
              <a:tblGrid>
                <a:gridCol w="1295400">
                  <a:extLst>
                    <a:ext uri="{9D8B030D-6E8A-4147-A177-3AD203B41FA5}">
                      <a16:colId xmlns:a16="http://schemas.microsoft.com/office/drawing/2014/main" val="2901724507"/>
                    </a:ext>
                  </a:extLst>
                </a:gridCol>
                <a:gridCol w="1295400">
                  <a:extLst>
                    <a:ext uri="{9D8B030D-6E8A-4147-A177-3AD203B41FA5}">
                      <a16:colId xmlns:a16="http://schemas.microsoft.com/office/drawing/2014/main" val="2710941725"/>
                    </a:ext>
                  </a:extLst>
                </a:gridCol>
                <a:gridCol w="1295400">
                  <a:extLst>
                    <a:ext uri="{9D8B030D-6E8A-4147-A177-3AD203B41FA5}">
                      <a16:colId xmlns:a16="http://schemas.microsoft.com/office/drawing/2014/main" val="3427771079"/>
                    </a:ext>
                  </a:extLst>
                </a:gridCol>
                <a:gridCol w="1295400">
                  <a:extLst>
                    <a:ext uri="{9D8B030D-6E8A-4147-A177-3AD203B41FA5}">
                      <a16:colId xmlns:a16="http://schemas.microsoft.com/office/drawing/2014/main" val="2638411735"/>
                    </a:ext>
                  </a:extLst>
                </a:gridCol>
                <a:gridCol w="1295400">
                  <a:extLst>
                    <a:ext uri="{9D8B030D-6E8A-4147-A177-3AD203B41FA5}">
                      <a16:colId xmlns:a16="http://schemas.microsoft.com/office/drawing/2014/main" val="1371291627"/>
                    </a:ext>
                  </a:extLst>
                </a:gridCol>
                <a:gridCol w="1524000">
                  <a:extLst>
                    <a:ext uri="{9D8B030D-6E8A-4147-A177-3AD203B41FA5}">
                      <a16:colId xmlns:a16="http://schemas.microsoft.com/office/drawing/2014/main" val="2102408889"/>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u="none" strike="noStrike" cap="none" normalizeH="0" baseline="0" dirty="0">
                          <a:ln>
                            <a:noFill/>
                          </a:ln>
                          <a:effectLst/>
                        </a:rPr>
                        <a:t>Level</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u="none" strike="noStrike" cap="none" normalizeH="0" baseline="0" dirty="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Location</a:t>
                      </a:r>
                      <a:endParaRPr kumimoji="0" lang="en-US" sz="2000" b="1" i="0" u="none" strike="noStrike" cap="none" normalizeH="0" baseline="0" dirty="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u="none" strike="noStrike" cap="none" normalizeH="0" baseline="0">
                          <a:ln>
                            <a:noFill/>
                          </a:ln>
                          <a:effectLst/>
                        </a:rPr>
                        <a:t>Role</a:t>
                      </a:r>
                      <a:endParaRPr kumimoji="0" lang="en-US" sz="2800" b="0" i="0" u="none" strike="noStrike" cap="none" normalizeH="0" baseline="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u="none" strike="noStrike" cap="none" normalizeH="0" baseline="0">
                          <a:ln>
                            <a:noFill/>
                          </a:ln>
                          <a:effectLst/>
                        </a:rPr>
                        <a:t>Group</a:t>
                      </a:r>
                      <a:endParaRPr kumimoji="0" lang="en-US" sz="2800" b="0" i="0" u="none" strike="noStrike" cap="none" normalizeH="0" baseline="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u="none" strike="noStrike" cap="none" normalizeH="0" baseline="0">
                          <a:ln>
                            <a:noFill/>
                          </a:ln>
                          <a:effectLst/>
                        </a:rPr>
                        <a:t>Org.</a:t>
                      </a:r>
                      <a:endParaRPr kumimoji="0" lang="en-US" sz="2800" b="0" i="0" u="none" strike="noStrike" cap="none" normalizeH="0" baseline="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u="none" strike="noStrike" cap="none" normalizeH="0" baseline="0">
                          <a:ln>
                            <a:noFill/>
                          </a:ln>
                          <a:effectLst/>
                        </a:rPr>
                        <a:t>System</a:t>
                      </a:r>
                      <a:endParaRPr kumimoji="0" lang="en-US" sz="2800" b="0" i="0" u="none" strike="noStrike" cap="none" normalizeH="0" baseline="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u="none" strike="noStrike" cap="none" normalizeH="0" baseline="0">
                          <a:ln>
                            <a:noFill/>
                          </a:ln>
                          <a:effectLst/>
                        </a:rPr>
                        <a:t>Culture</a:t>
                      </a:r>
                      <a:endParaRPr kumimoji="0" lang="en-US" sz="2800" b="0" i="0" u="none" strike="noStrike" cap="none" normalizeH="0" baseline="0">
                        <a:ln>
                          <a:noFill/>
                        </a:ln>
                        <a:solidFill>
                          <a:schemeClr val="tx1"/>
                        </a:solidFill>
                        <a:effectLst/>
                        <a:latin typeface="Times New Roman" charset="0"/>
                      </a:endParaRPr>
                    </a:p>
                  </a:txBody>
                  <a:tcPr horzOverflow="overflow"/>
                </a:tc>
                <a:extLst>
                  <a:ext uri="{0D108BD9-81ED-4DB2-BD59-A6C34878D82A}">
                    <a16:rowId xmlns:a16="http://schemas.microsoft.com/office/drawing/2014/main" val="3201236774"/>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u="none" strike="noStrike" cap="none" normalizeH="0" baseline="0" dirty="0">
                          <a:ln>
                            <a:noFill/>
                          </a:ln>
                          <a:effectLst/>
                        </a:rPr>
                        <a:t>Intra</a:t>
                      </a:r>
                      <a:endParaRPr kumimoji="0" lang="en-US" sz="2800" b="0" i="0" u="none" strike="noStrike" cap="none" normalizeH="0" baseline="0" dirty="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role,with conflicting expectat.</a:t>
                      </a:r>
                      <a:endParaRPr kumimoji="0" lang="en-US" sz="2000" b="0" i="0" u="none" strike="noStrike" cap="none" normalizeH="0" baseline="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Task/</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Mission</a:t>
                      </a:r>
                      <a:endParaRPr kumimoji="0" lang="en-US" sz="2000" b="0" i="0" u="none" strike="noStrike" cap="none" normalizeH="0" baseline="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Problem definition</a:t>
                      </a:r>
                      <a:endParaRPr kumimoji="0" lang="en-US" sz="2000" b="0" i="0" u="none" strike="noStrike" cap="none" normalizeH="0" baseline="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Belief System</a:t>
                      </a:r>
                      <a:endParaRPr kumimoji="0" lang="en-US" sz="2000" b="0" i="0" u="none" strike="noStrike" cap="none" normalizeH="0" baseline="0">
                        <a:ln>
                          <a:noFill/>
                        </a:ln>
                        <a:solidFill>
                          <a:schemeClr val="tx1"/>
                        </a:solidFill>
                        <a:effectLst/>
                        <a:latin typeface="Times New Roman" charset="0"/>
                      </a:endParaRPr>
                    </a:p>
                  </a:txBody>
                  <a:tcPr horzOverflow="overflow"/>
                </a:tc>
                <a:extLst>
                  <a:ext uri="{0D108BD9-81ED-4DB2-BD59-A6C34878D82A}">
                    <a16:rowId xmlns:a16="http://schemas.microsoft.com/office/drawing/2014/main" val="496771443"/>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u="none" strike="noStrike" cap="none" normalizeH="0" baseline="0" dirty="0">
                          <a:ln>
                            <a:noFill/>
                          </a:ln>
                          <a:effectLst/>
                        </a:rPr>
                        <a:t>Inter</a:t>
                      </a:r>
                      <a:endParaRPr kumimoji="0" lang="en-US" sz="2800" b="0" i="0" u="none" strike="noStrike" cap="none" normalizeH="0" baseline="0" dirty="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 person, 2 roles which conflict </a:t>
                      </a:r>
                      <a:endParaRPr kumimoji="0" lang="en-US" sz="2000" b="0" i="0" u="none" strike="noStrike" cap="none" normalizeH="0" baseline="0" dirty="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Autonomy</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control</a:t>
                      </a:r>
                      <a:endParaRPr kumimoji="0" lang="en-US" sz="2000" b="0" i="0" u="none" strike="noStrike" cap="none" normalizeH="0" baseline="0" dirty="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resources </a:t>
                      </a:r>
                      <a:endParaRPr kumimoji="0" lang="en-US" sz="2000" b="0" i="0" u="none" strike="noStrike" cap="none" normalizeH="0" baseline="0" dirty="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Problem definition</a:t>
                      </a:r>
                      <a:endParaRPr kumimoji="0" lang="en-US" sz="2000" b="0" i="0" u="none" strike="noStrike" cap="none" normalizeH="0" baseline="0" dirty="0">
                        <a:ln>
                          <a:noFill/>
                        </a:ln>
                        <a:solidFill>
                          <a:schemeClr val="tx1"/>
                        </a:solidFill>
                        <a:effectLst/>
                        <a:latin typeface="Times New Roman"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Belief system</a:t>
                      </a:r>
                      <a:endParaRPr kumimoji="0" lang="en-US" sz="2000" b="0" i="0" u="none" strike="noStrike" cap="none" normalizeH="0" baseline="0" dirty="0">
                        <a:ln>
                          <a:noFill/>
                        </a:ln>
                        <a:solidFill>
                          <a:schemeClr val="tx1"/>
                        </a:solidFill>
                        <a:effectLst/>
                        <a:latin typeface="Times New Roman" charset="0"/>
                      </a:endParaRPr>
                    </a:p>
                  </a:txBody>
                  <a:tcPr horzOverflow="overflow"/>
                </a:tc>
                <a:extLst>
                  <a:ext uri="{0D108BD9-81ED-4DB2-BD59-A6C34878D82A}">
                    <a16:rowId xmlns:a16="http://schemas.microsoft.com/office/drawing/2014/main" val="1512194615"/>
                  </a:ext>
                </a:extLst>
              </a:tr>
            </a:tbl>
          </a:graphicData>
        </a:graphic>
      </p:graphicFrame>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EA2E0134-051E-4A7F-A97B-F90436F22267}"/>
                  </a:ext>
                </a:extLst>
              </p14:cNvPr>
              <p14:cNvContentPartPr/>
              <p14:nvPr/>
            </p14:nvContentPartPr>
            <p14:xfrm>
              <a:off x="5099880" y="3367440"/>
              <a:ext cx="17640" cy="660600"/>
            </p14:xfrm>
          </p:contentPart>
        </mc:Choice>
        <mc:Fallback xmlns="">
          <p:pic>
            <p:nvPicPr>
              <p:cNvPr id="10" name="Ink 9">
                <a:extLst>
                  <a:ext uri="{FF2B5EF4-FFF2-40B4-BE49-F238E27FC236}">
                    <a16:creationId xmlns:a16="http://schemas.microsoft.com/office/drawing/2014/main" id="{EA2E0134-051E-4A7F-A97B-F90436F22267}"/>
                  </a:ext>
                </a:extLst>
              </p:cNvPr>
              <p:cNvPicPr/>
              <p:nvPr/>
            </p:nvPicPr>
            <p:blipFill>
              <a:blip r:embed="rId4"/>
              <a:stretch>
                <a:fillRect/>
              </a:stretch>
            </p:blipFill>
            <p:spPr>
              <a:xfrm>
                <a:off x="5091240" y="3358800"/>
                <a:ext cx="35280" cy="678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8915930D-112F-4378-BD3E-C17687CB2DA4}"/>
                  </a:ext>
                </a:extLst>
              </p14:cNvPr>
              <p14:cNvContentPartPr/>
              <p14:nvPr/>
            </p14:nvContentPartPr>
            <p14:xfrm>
              <a:off x="4815480" y="3733560"/>
              <a:ext cx="674640" cy="15840"/>
            </p14:xfrm>
          </p:contentPart>
        </mc:Choice>
        <mc:Fallback xmlns="">
          <p:pic>
            <p:nvPicPr>
              <p:cNvPr id="11" name="Ink 10">
                <a:extLst>
                  <a:ext uri="{FF2B5EF4-FFF2-40B4-BE49-F238E27FC236}">
                    <a16:creationId xmlns:a16="http://schemas.microsoft.com/office/drawing/2014/main" id="{8915930D-112F-4378-BD3E-C17687CB2DA4}"/>
                  </a:ext>
                </a:extLst>
              </p:cNvPr>
              <p:cNvPicPr/>
              <p:nvPr/>
            </p:nvPicPr>
            <p:blipFill>
              <a:blip r:embed="rId6"/>
              <a:stretch>
                <a:fillRect/>
              </a:stretch>
            </p:blipFill>
            <p:spPr>
              <a:xfrm>
                <a:off x="4806480" y="3724560"/>
                <a:ext cx="6922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B8C3A636-0E16-4471-B24E-12B7F5B27EB3}"/>
                  </a:ext>
                </a:extLst>
              </p14:cNvPr>
              <p14:cNvContentPartPr/>
              <p14:nvPr/>
            </p14:nvContentPartPr>
            <p14:xfrm>
              <a:off x="5125080" y="3540240"/>
              <a:ext cx="360" cy="360"/>
            </p14:xfrm>
          </p:contentPart>
        </mc:Choice>
        <mc:Fallback xmlns="">
          <p:pic>
            <p:nvPicPr>
              <p:cNvPr id="12" name="Ink 11">
                <a:extLst>
                  <a:ext uri="{FF2B5EF4-FFF2-40B4-BE49-F238E27FC236}">
                    <a16:creationId xmlns:a16="http://schemas.microsoft.com/office/drawing/2014/main" id="{B8C3A636-0E16-4471-B24E-12B7F5B27EB3}"/>
                  </a:ext>
                </a:extLst>
              </p:cNvPr>
              <p:cNvPicPr/>
              <p:nvPr/>
            </p:nvPicPr>
            <p:blipFill>
              <a:blip r:embed="rId8"/>
              <a:stretch>
                <a:fillRect/>
              </a:stretch>
            </p:blipFill>
            <p:spPr>
              <a:xfrm>
                <a:off x="5116440" y="35316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B74EDB88-32BA-4913-9B49-B35CD8184899}"/>
                  </a:ext>
                </a:extLst>
              </p14:cNvPr>
              <p14:cNvContentPartPr/>
              <p14:nvPr/>
            </p14:nvContentPartPr>
            <p14:xfrm>
              <a:off x="5104920" y="3652200"/>
              <a:ext cx="360" cy="360"/>
            </p14:xfrm>
          </p:contentPart>
        </mc:Choice>
        <mc:Fallback xmlns="">
          <p:pic>
            <p:nvPicPr>
              <p:cNvPr id="15" name="Ink 14">
                <a:extLst>
                  <a:ext uri="{FF2B5EF4-FFF2-40B4-BE49-F238E27FC236}">
                    <a16:creationId xmlns:a16="http://schemas.microsoft.com/office/drawing/2014/main" id="{B74EDB88-32BA-4913-9B49-B35CD8184899}"/>
                  </a:ext>
                </a:extLst>
              </p:cNvPr>
              <p:cNvPicPr/>
              <p:nvPr/>
            </p:nvPicPr>
            <p:blipFill>
              <a:blip r:embed="rId8"/>
              <a:stretch>
                <a:fillRect/>
              </a:stretch>
            </p:blipFill>
            <p:spPr>
              <a:xfrm>
                <a:off x="5095920" y="36432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 name="Ink 16">
                <a:extLst>
                  <a:ext uri="{FF2B5EF4-FFF2-40B4-BE49-F238E27FC236}">
                    <a16:creationId xmlns:a16="http://schemas.microsoft.com/office/drawing/2014/main" id="{4A1CC562-C0D2-42F5-8182-98464FF9E17F}"/>
                  </a:ext>
                </a:extLst>
              </p14:cNvPr>
              <p14:cNvContentPartPr/>
              <p14:nvPr/>
            </p14:nvContentPartPr>
            <p14:xfrm>
              <a:off x="2622720" y="1234080"/>
              <a:ext cx="6840" cy="20160"/>
            </p14:xfrm>
          </p:contentPart>
        </mc:Choice>
        <mc:Fallback xmlns="">
          <p:pic>
            <p:nvPicPr>
              <p:cNvPr id="17" name="Ink 16">
                <a:extLst>
                  <a:ext uri="{FF2B5EF4-FFF2-40B4-BE49-F238E27FC236}">
                    <a16:creationId xmlns:a16="http://schemas.microsoft.com/office/drawing/2014/main" id="{4A1CC562-C0D2-42F5-8182-98464FF9E17F}"/>
                  </a:ext>
                </a:extLst>
              </p:cNvPr>
              <p:cNvPicPr/>
              <p:nvPr/>
            </p:nvPicPr>
            <p:blipFill>
              <a:blip r:embed="rId11"/>
              <a:stretch>
                <a:fillRect/>
              </a:stretch>
            </p:blipFill>
            <p:spPr>
              <a:xfrm>
                <a:off x="2614080" y="1225080"/>
                <a:ext cx="24480" cy="37800"/>
              </a:xfrm>
              <a:prstGeom prst="rect">
                <a:avLst/>
              </a:prstGeom>
            </p:spPr>
          </p:pic>
        </mc:Fallback>
      </mc:AlternateContent>
    </p:spTree>
    <p:extLst>
      <p:ext uri="{BB962C8B-B14F-4D97-AF65-F5344CB8AC3E}">
        <p14:creationId xmlns:p14="http://schemas.microsoft.com/office/powerpoint/2010/main" val="1923278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dirty="0"/>
              <a:t>The case of abused children</a:t>
            </a:r>
          </a:p>
        </p:txBody>
      </p:sp>
      <p:sp>
        <p:nvSpPr>
          <p:cNvPr id="10243" name="Rectangle 3"/>
          <p:cNvSpPr>
            <a:spLocks noGrp="1" noChangeArrowheads="1"/>
          </p:cNvSpPr>
          <p:nvPr>
            <p:ph type="body" idx="1"/>
          </p:nvPr>
        </p:nvSpPr>
        <p:spPr/>
        <p:txBody>
          <a:bodyPr>
            <a:normAutofit fontScale="85000" lnSpcReduction="10000"/>
          </a:bodyPr>
          <a:lstStyle/>
          <a:p>
            <a:pPr eaLnBrk="1" hangingPunct="1"/>
            <a:r>
              <a:rPr lang="en-US" sz="2800" dirty="0"/>
              <a:t>Child abuse is/was a contested concept</a:t>
            </a:r>
          </a:p>
          <a:p>
            <a:pPr eaLnBrk="1" hangingPunct="1"/>
            <a:r>
              <a:rPr lang="en-US" sz="2800" dirty="0"/>
              <a:t>The beliefs of each constituency determines their problem definition and strategy</a:t>
            </a:r>
          </a:p>
          <a:p>
            <a:pPr eaLnBrk="1" hangingPunct="1"/>
            <a:r>
              <a:rPr lang="en-US" sz="2800" dirty="0"/>
              <a:t>Medical coalition – battered child syndrome</a:t>
            </a:r>
          </a:p>
          <a:p>
            <a:pPr lvl="1" eaLnBrk="1" hangingPunct="1"/>
            <a:r>
              <a:rPr lang="en-US" sz="2400" dirty="0"/>
              <a:t>Enhance routines and public exposure of pediatric radiologists</a:t>
            </a:r>
          </a:p>
          <a:p>
            <a:pPr eaLnBrk="1" hangingPunct="1"/>
            <a:r>
              <a:rPr lang="en-US" sz="2800" dirty="0"/>
              <a:t>Social Welfare coalition -  dysfunctional family </a:t>
            </a:r>
          </a:p>
          <a:p>
            <a:pPr lvl="1" eaLnBrk="1" hangingPunct="1"/>
            <a:r>
              <a:rPr lang="en-US" sz="2400" dirty="0"/>
              <a:t>Flow of resources to social work agencies increases</a:t>
            </a:r>
          </a:p>
          <a:p>
            <a:pPr eaLnBrk="1" hangingPunct="1"/>
            <a:r>
              <a:rPr lang="en-US" sz="2800" dirty="0"/>
              <a:t>Law Enforcement – child abuse</a:t>
            </a:r>
          </a:p>
          <a:p>
            <a:pPr lvl="1" eaLnBrk="1" hangingPunct="1"/>
            <a:r>
              <a:rPr lang="en-US" sz="2400" dirty="0"/>
              <a:t>Flow of resources to police and family courts </a:t>
            </a:r>
          </a:p>
          <a:p>
            <a:pPr lvl="1" eaLnBrk="1" hangingPunct="1"/>
            <a:r>
              <a:rPr lang="en-US" sz="2400" dirty="0"/>
              <a:t>(Stephen J. </a:t>
            </a:r>
            <a:r>
              <a:rPr lang="en-US" sz="2400" dirty="0" err="1"/>
              <a:t>Pfohl</a:t>
            </a:r>
            <a:r>
              <a:rPr lang="en-US" sz="2400" dirty="0"/>
              <a:t>, “The Discovery of Child Abuse,” Social Problems, vol.24, no.3, Feb. 1977, 310-323)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pPr eaLnBrk="1" hangingPunct="1"/>
            <a:r>
              <a:rPr lang="en-US" dirty="0"/>
              <a:t>This slide shows how problem definitions flow/ it can start in either direction </a:t>
            </a:r>
          </a:p>
        </p:txBody>
      </p:sp>
      <p:sp>
        <p:nvSpPr>
          <p:cNvPr id="7171" name="Line 3"/>
          <p:cNvSpPr>
            <a:spLocks noChangeShapeType="1"/>
          </p:cNvSpPr>
          <p:nvPr/>
        </p:nvSpPr>
        <p:spPr bwMode="auto">
          <a:xfrm>
            <a:off x="2362200" y="2743200"/>
            <a:ext cx="2667000" cy="0"/>
          </a:xfrm>
          <a:prstGeom prst="line">
            <a:avLst/>
          </a:prstGeom>
          <a:noFill/>
          <a:ln w="9525">
            <a:solidFill>
              <a:schemeClr val="tx1"/>
            </a:solidFill>
            <a:round/>
            <a:headEnd/>
            <a:tailEnd/>
          </a:ln>
        </p:spPr>
        <p:txBody>
          <a:bodyPr/>
          <a:lstStyle/>
          <a:p>
            <a:endParaRPr lang="en-US"/>
          </a:p>
        </p:txBody>
      </p:sp>
      <p:sp>
        <p:nvSpPr>
          <p:cNvPr id="7172" name="Line 4"/>
          <p:cNvSpPr>
            <a:spLocks noChangeShapeType="1"/>
          </p:cNvSpPr>
          <p:nvPr/>
        </p:nvSpPr>
        <p:spPr bwMode="auto">
          <a:xfrm>
            <a:off x="2362200" y="2743200"/>
            <a:ext cx="1371600" cy="3657600"/>
          </a:xfrm>
          <a:prstGeom prst="line">
            <a:avLst/>
          </a:prstGeom>
          <a:noFill/>
          <a:ln w="9525">
            <a:solidFill>
              <a:schemeClr val="tx1"/>
            </a:solidFill>
            <a:round/>
            <a:headEnd/>
            <a:tailEnd/>
          </a:ln>
        </p:spPr>
        <p:txBody>
          <a:bodyPr/>
          <a:lstStyle/>
          <a:p>
            <a:endParaRPr lang="en-US"/>
          </a:p>
        </p:txBody>
      </p:sp>
      <p:sp>
        <p:nvSpPr>
          <p:cNvPr id="7173" name="Line 5"/>
          <p:cNvSpPr>
            <a:spLocks noChangeShapeType="1"/>
          </p:cNvSpPr>
          <p:nvPr/>
        </p:nvSpPr>
        <p:spPr bwMode="auto">
          <a:xfrm flipH="1">
            <a:off x="3733800" y="2743200"/>
            <a:ext cx="1295400" cy="3810000"/>
          </a:xfrm>
          <a:prstGeom prst="line">
            <a:avLst/>
          </a:prstGeom>
          <a:noFill/>
          <a:ln w="9525">
            <a:solidFill>
              <a:schemeClr val="tx1"/>
            </a:solidFill>
            <a:round/>
            <a:headEnd/>
            <a:tailEnd/>
          </a:ln>
        </p:spPr>
        <p:txBody>
          <a:bodyPr/>
          <a:lstStyle/>
          <a:p>
            <a:endParaRPr lang="en-US"/>
          </a:p>
        </p:txBody>
      </p:sp>
      <p:sp>
        <p:nvSpPr>
          <p:cNvPr id="7174" name="Text Box 7"/>
          <p:cNvSpPr txBox="1">
            <a:spLocks noChangeArrowheads="1"/>
          </p:cNvSpPr>
          <p:nvPr/>
        </p:nvSpPr>
        <p:spPr bwMode="auto">
          <a:xfrm>
            <a:off x="5013325" y="2479675"/>
            <a:ext cx="2336800" cy="457200"/>
          </a:xfrm>
          <a:prstGeom prst="rect">
            <a:avLst/>
          </a:prstGeom>
          <a:noFill/>
          <a:ln w="9525">
            <a:noFill/>
            <a:miter lim="800000"/>
            <a:headEnd/>
            <a:tailEnd/>
          </a:ln>
        </p:spPr>
        <p:txBody>
          <a:bodyPr wrap="none">
            <a:spAutoFit/>
          </a:bodyPr>
          <a:lstStyle/>
          <a:p>
            <a:r>
              <a:rPr lang="en-US"/>
              <a:t>Beliefs legitimate</a:t>
            </a:r>
          </a:p>
        </p:txBody>
      </p:sp>
      <p:sp>
        <p:nvSpPr>
          <p:cNvPr id="7175" name="Text Box 8"/>
          <p:cNvSpPr txBox="1">
            <a:spLocks noChangeArrowheads="1"/>
          </p:cNvSpPr>
          <p:nvPr/>
        </p:nvSpPr>
        <p:spPr bwMode="auto">
          <a:xfrm>
            <a:off x="4708525" y="3775075"/>
            <a:ext cx="3346450" cy="457200"/>
          </a:xfrm>
          <a:prstGeom prst="rect">
            <a:avLst/>
          </a:prstGeom>
          <a:noFill/>
          <a:ln w="9525">
            <a:noFill/>
            <a:miter lim="800000"/>
            <a:headEnd/>
            <a:tailEnd/>
          </a:ln>
        </p:spPr>
        <p:txBody>
          <a:bodyPr wrap="none">
            <a:spAutoFit/>
          </a:bodyPr>
          <a:lstStyle/>
          <a:p>
            <a:r>
              <a:rPr lang="en-US"/>
              <a:t>Problem categories which</a:t>
            </a:r>
          </a:p>
        </p:txBody>
      </p:sp>
      <p:sp>
        <p:nvSpPr>
          <p:cNvPr id="7176" name="Text Box 9"/>
          <p:cNvSpPr txBox="1">
            <a:spLocks noChangeArrowheads="1"/>
          </p:cNvSpPr>
          <p:nvPr/>
        </p:nvSpPr>
        <p:spPr bwMode="auto">
          <a:xfrm>
            <a:off x="4327525" y="4689475"/>
            <a:ext cx="3330575" cy="457200"/>
          </a:xfrm>
          <a:prstGeom prst="rect">
            <a:avLst/>
          </a:prstGeom>
          <a:noFill/>
          <a:ln w="9525">
            <a:noFill/>
            <a:miter lim="800000"/>
            <a:headEnd/>
            <a:tailEnd/>
          </a:ln>
        </p:spPr>
        <p:txBody>
          <a:bodyPr wrap="none">
            <a:spAutoFit/>
          </a:bodyPr>
          <a:lstStyle/>
          <a:p>
            <a:r>
              <a:rPr lang="en-US"/>
              <a:t>Determines resource flow</a:t>
            </a:r>
          </a:p>
        </p:txBody>
      </p:sp>
      <p:sp>
        <p:nvSpPr>
          <p:cNvPr id="7177" name="Text Box 10"/>
          <p:cNvSpPr txBox="1">
            <a:spLocks noChangeArrowheads="1"/>
          </p:cNvSpPr>
          <p:nvPr/>
        </p:nvSpPr>
        <p:spPr bwMode="auto">
          <a:xfrm>
            <a:off x="4098925" y="5375275"/>
            <a:ext cx="2941638" cy="457200"/>
          </a:xfrm>
          <a:prstGeom prst="rect">
            <a:avLst/>
          </a:prstGeom>
          <a:noFill/>
          <a:ln w="9525">
            <a:noFill/>
            <a:miter lim="800000"/>
            <a:headEnd/>
            <a:tailEnd/>
          </a:ln>
        </p:spPr>
        <p:txBody>
          <a:bodyPr wrap="none">
            <a:spAutoFit/>
          </a:bodyPr>
          <a:lstStyle/>
          <a:p>
            <a:r>
              <a:rPr lang="en-US"/>
              <a:t>Defining task /mission</a:t>
            </a:r>
          </a:p>
        </p:txBody>
      </p:sp>
      <p:sp>
        <p:nvSpPr>
          <p:cNvPr id="7178" name="Text Box 12"/>
          <p:cNvSpPr txBox="1">
            <a:spLocks noChangeArrowheads="1"/>
          </p:cNvSpPr>
          <p:nvPr/>
        </p:nvSpPr>
        <p:spPr bwMode="auto">
          <a:xfrm>
            <a:off x="3946525" y="6137275"/>
            <a:ext cx="2660650" cy="457200"/>
          </a:xfrm>
          <a:prstGeom prst="rect">
            <a:avLst/>
          </a:prstGeom>
          <a:noFill/>
          <a:ln w="9525">
            <a:noFill/>
            <a:miter lim="800000"/>
            <a:headEnd/>
            <a:tailEnd/>
          </a:ln>
        </p:spPr>
        <p:txBody>
          <a:bodyPr wrap="none">
            <a:spAutoFit/>
          </a:bodyPr>
          <a:lstStyle/>
          <a:p>
            <a:r>
              <a:rPr lang="en-US"/>
              <a:t>Reducing ambiguity</a:t>
            </a:r>
          </a:p>
        </p:txBody>
      </p:sp>
      <p:sp>
        <p:nvSpPr>
          <p:cNvPr id="7179" name="Text Box 13"/>
          <p:cNvSpPr txBox="1">
            <a:spLocks noChangeArrowheads="1"/>
          </p:cNvSpPr>
          <p:nvPr/>
        </p:nvSpPr>
        <p:spPr bwMode="auto">
          <a:xfrm>
            <a:off x="822325" y="2403475"/>
            <a:ext cx="1028700" cy="457200"/>
          </a:xfrm>
          <a:prstGeom prst="rect">
            <a:avLst/>
          </a:prstGeom>
          <a:noFill/>
          <a:ln w="9525">
            <a:noFill/>
            <a:miter lim="800000"/>
            <a:headEnd/>
            <a:tailEnd/>
          </a:ln>
        </p:spPr>
        <p:txBody>
          <a:bodyPr wrap="none">
            <a:spAutoFit/>
          </a:bodyPr>
          <a:lstStyle/>
          <a:p>
            <a:r>
              <a:rPr lang="en-US"/>
              <a:t>culture</a:t>
            </a:r>
          </a:p>
        </p:txBody>
      </p:sp>
      <p:sp>
        <p:nvSpPr>
          <p:cNvPr id="7180" name="Text Box 14"/>
          <p:cNvSpPr txBox="1">
            <a:spLocks noChangeArrowheads="1"/>
          </p:cNvSpPr>
          <p:nvPr/>
        </p:nvSpPr>
        <p:spPr bwMode="auto">
          <a:xfrm>
            <a:off x="762000" y="3657600"/>
            <a:ext cx="1006475" cy="457200"/>
          </a:xfrm>
          <a:prstGeom prst="rect">
            <a:avLst/>
          </a:prstGeom>
          <a:noFill/>
          <a:ln w="9525">
            <a:noFill/>
            <a:miter lim="800000"/>
            <a:headEnd/>
            <a:tailEnd/>
          </a:ln>
        </p:spPr>
        <p:txBody>
          <a:bodyPr>
            <a:spAutoFit/>
          </a:bodyPr>
          <a:lstStyle/>
          <a:p>
            <a:r>
              <a:rPr lang="en-US"/>
              <a:t>policy</a:t>
            </a:r>
          </a:p>
        </p:txBody>
      </p:sp>
      <p:sp>
        <p:nvSpPr>
          <p:cNvPr id="7181" name="Text Box 15"/>
          <p:cNvSpPr txBox="1">
            <a:spLocks noChangeArrowheads="1"/>
          </p:cNvSpPr>
          <p:nvPr/>
        </p:nvSpPr>
        <p:spPr bwMode="auto">
          <a:xfrm>
            <a:off x="838200" y="4648200"/>
            <a:ext cx="1704975" cy="457200"/>
          </a:xfrm>
          <a:prstGeom prst="rect">
            <a:avLst/>
          </a:prstGeom>
          <a:noFill/>
          <a:ln w="9525">
            <a:noFill/>
            <a:miter lim="800000"/>
            <a:headEnd/>
            <a:tailEnd/>
          </a:ln>
        </p:spPr>
        <p:txBody>
          <a:bodyPr wrap="none">
            <a:spAutoFit/>
          </a:bodyPr>
          <a:lstStyle/>
          <a:p>
            <a:r>
              <a:rPr lang="en-US"/>
              <a:t>organization</a:t>
            </a:r>
          </a:p>
        </p:txBody>
      </p:sp>
      <p:sp>
        <p:nvSpPr>
          <p:cNvPr id="7182" name="Text Box 16"/>
          <p:cNvSpPr txBox="1">
            <a:spLocks noChangeArrowheads="1"/>
          </p:cNvSpPr>
          <p:nvPr/>
        </p:nvSpPr>
        <p:spPr bwMode="auto">
          <a:xfrm>
            <a:off x="1584325" y="5299075"/>
            <a:ext cx="895350" cy="457200"/>
          </a:xfrm>
          <a:prstGeom prst="rect">
            <a:avLst/>
          </a:prstGeom>
          <a:noFill/>
          <a:ln w="9525">
            <a:noFill/>
            <a:miter lim="800000"/>
            <a:headEnd/>
            <a:tailEnd/>
          </a:ln>
        </p:spPr>
        <p:txBody>
          <a:bodyPr wrap="none">
            <a:spAutoFit/>
          </a:bodyPr>
          <a:lstStyle/>
          <a:p>
            <a:r>
              <a:rPr lang="en-US"/>
              <a:t>group</a:t>
            </a:r>
          </a:p>
        </p:txBody>
      </p:sp>
      <p:sp>
        <p:nvSpPr>
          <p:cNvPr id="7183" name="Text Box 17"/>
          <p:cNvSpPr txBox="1">
            <a:spLocks noChangeArrowheads="1"/>
          </p:cNvSpPr>
          <p:nvPr/>
        </p:nvSpPr>
        <p:spPr bwMode="auto">
          <a:xfrm>
            <a:off x="2193925" y="5984875"/>
            <a:ext cx="657225" cy="457200"/>
          </a:xfrm>
          <a:prstGeom prst="rect">
            <a:avLst/>
          </a:prstGeom>
          <a:noFill/>
          <a:ln w="9525">
            <a:noFill/>
            <a:miter lim="800000"/>
            <a:headEnd/>
            <a:tailEnd/>
          </a:ln>
        </p:spPr>
        <p:txBody>
          <a:bodyPr wrap="none">
            <a:spAutoFit/>
          </a:bodyPr>
          <a:lstStyle/>
          <a:p>
            <a:r>
              <a:rPr lang="en-US"/>
              <a:t>role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Consequences</a:t>
            </a:r>
          </a:p>
        </p:txBody>
      </p:sp>
      <p:sp>
        <p:nvSpPr>
          <p:cNvPr id="8195" name="Rectangle 3"/>
          <p:cNvSpPr>
            <a:spLocks noGrp="1" noChangeArrowheads="1"/>
          </p:cNvSpPr>
          <p:nvPr>
            <p:ph type="body" idx="1"/>
          </p:nvPr>
        </p:nvSpPr>
        <p:spPr>
          <a:xfrm>
            <a:off x="685800" y="2057400"/>
            <a:ext cx="7772400" cy="4114800"/>
          </a:xfrm>
        </p:spPr>
        <p:txBody>
          <a:bodyPr>
            <a:normAutofit/>
          </a:bodyPr>
          <a:lstStyle/>
          <a:p>
            <a:pPr eaLnBrk="1" hangingPunct="1"/>
            <a:r>
              <a:rPr lang="en-US" dirty="0"/>
              <a:t>This is a constructionist view of social reality</a:t>
            </a:r>
          </a:p>
          <a:p>
            <a:pPr eaLnBrk="1" hangingPunct="1"/>
            <a:r>
              <a:rPr lang="en-US" dirty="0"/>
              <a:t>Thus conflict is constructed</a:t>
            </a:r>
          </a:p>
          <a:p>
            <a:pPr eaLnBrk="1" hangingPunct="1"/>
            <a:r>
              <a:rPr lang="en-US" dirty="0"/>
              <a:t>Deep seated conflict is about meaning</a:t>
            </a:r>
          </a:p>
          <a:p>
            <a:pPr eaLnBrk="1" hangingPunct="1"/>
            <a:r>
              <a:rPr lang="en-US" dirty="0"/>
              <a:t>Meaning is however latent/tacit/embedded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if conflict is a social construct- </a:t>
            </a:r>
          </a:p>
        </p:txBody>
      </p:sp>
      <p:sp>
        <p:nvSpPr>
          <p:cNvPr id="3" name="Content Placeholder 2"/>
          <p:cNvSpPr>
            <a:spLocks noGrp="1"/>
          </p:cNvSpPr>
          <p:nvPr>
            <p:ph idx="1"/>
          </p:nvPr>
        </p:nvSpPr>
        <p:spPr/>
        <p:txBody>
          <a:bodyPr>
            <a:normAutofit fontScale="85000" lnSpcReduction="10000"/>
          </a:bodyPr>
          <a:lstStyle/>
          <a:p>
            <a:r>
              <a:rPr lang="en-US" dirty="0"/>
              <a:t>“The world makes much less sense than you think.  The coherence comes from the way your mind works” </a:t>
            </a:r>
            <a:r>
              <a:rPr lang="en-US" sz="1800" dirty="0"/>
              <a:t>(Daniel </a:t>
            </a:r>
            <a:r>
              <a:rPr lang="en-US" sz="1800" dirty="0" err="1"/>
              <a:t>Kahneman</a:t>
            </a:r>
            <a:r>
              <a:rPr lang="en-US" sz="1800" dirty="0"/>
              <a:t>, Thinking Fast and Slow)</a:t>
            </a:r>
          </a:p>
          <a:p>
            <a:endParaRPr lang="en-US" dirty="0"/>
          </a:p>
          <a:p>
            <a:r>
              <a:rPr lang="en-US" dirty="0"/>
              <a:t>Change the definition and you change the potential outcomes</a:t>
            </a:r>
          </a:p>
          <a:p>
            <a:pPr lvl="1"/>
            <a:r>
              <a:rPr lang="en-US" dirty="0"/>
              <a:t>From the clash of opposites to the synthesis of opposites</a:t>
            </a:r>
          </a:p>
          <a:p>
            <a:pPr lvl="1"/>
            <a:endParaRPr lang="en-US" dirty="0"/>
          </a:p>
          <a:p>
            <a:r>
              <a:rPr lang="en-US" dirty="0"/>
              <a:t>This synthesis starts at the level of the organism</a:t>
            </a:r>
          </a:p>
          <a:p>
            <a:endParaRPr lang="en-US" dirty="0"/>
          </a:p>
        </p:txBody>
      </p:sp>
    </p:spTree>
    <p:extLst>
      <p:ext uri="{BB962C8B-B14F-4D97-AF65-F5344CB8AC3E}">
        <p14:creationId xmlns:p14="http://schemas.microsoft.com/office/powerpoint/2010/main" val="3776484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Organisms Deteriorate Over Time</a:t>
            </a:r>
          </a:p>
        </p:txBody>
      </p:sp>
      <p:sp>
        <p:nvSpPr>
          <p:cNvPr id="3" name="Content Placeholder 2"/>
          <p:cNvSpPr>
            <a:spLocks noGrp="1"/>
          </p:cNvSpPr>
          <p:nvPr>
            <p:ph idx="1"/>
          </p:nvPr>
        </p:nvSpPr>
        <p:spPr/>
        <p:txBody>
          <a:bodyPr>
            <a:normAutofit lnSpcReduction="10000"/>
          </a:bodyPr>
          <a:lstStyle/>
          <a:p>
            <a:r>
              <a:rPr lang="en-US" sz="2800" dirty="0"/>
              <a:t>Since the brain is physical, our capacity to remember and retain knowledge has a shelf-life.</a:t>
            </a:r>
          </a:p>
          <a:p>
            <a:r>
              <a:rPr lang="en-US" sz="2800" dirty="0"/>
              <a:t>Good thing too/we need a delete button or we’d go crazy</a:t>
            </a:r>
          </a:p>
          <a:p>
            <a:r>
              <a:rPr lang="en-US" sz="2800" dirty="0"/>
              <a:t>“Man must remember if he is not to become meaningless, and must forget if he is not to go mad” (</a:t>
            </a:r>
            <a:r>
              <a:rPr lang="en-US" sz="1900" dirty="0" err="1"/>
              <a:t>McGlashan</a:t>
            </a:r>
            <a:r>
              <a:rPr lang="en-US" sz="1900" dirty="0"/>
              <a:t>, </a:t>
            </a:r>
            <a:r>
              <a:rPr lang="en-US" sz="1900" i="1" dirty="0"/>
              <a:t>The Savage and Beautiful Country, </a:t>
            </a:r>
            <a:r>
              <a:rPr lang="en-US" sz="1900" dirty="0"/>
              <a:t>1967)</a:t>
            </a:r>
          </a:p>
          <a:p>
            <a:r>
              <a:rPr lang="en-US" sz="2800" dirty="0"/>
              <a:t>So the first synthesis is the need to remember and forget at the same time </a:t>
            </a:r>
          </a:p>
          <a:p>
            <a:endParaRPr lang="en-US" dirty="0"/>
          </a:p>
        </p:txBody>
      </p:sp>
    </p:spTree>
    <p:extLst>
      <p:ext uri="{BB962C8B-B14F-4D97-AF65-F5344CB8AC3E}">
        <p14:creationId xmlns:p14="http://schemas.microsoft.com/office/powerpoint/2010/main" val="22827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and the Organization</a:t>
            </a:r>
          </a:p>
        </p:txBody>
      </p:sp>
      <p:sp>
        <p:nvSpPr>
          <p:cNvPr id="3" name="Content Placeholder 2"/>
          <p:cNvSpPr>
            <a:spLocks noGrp="1"/>
          </p:cNvSpPr>
          <p:nvPr>
            <p:ph idx="1"/>
          </p:nvPr>
        </p:nvSpPr>
        <p:spPr/>
        <p:txBody>
          <a:bodyPr>
            <a:normAutofit fontScale="77500" lnSpcReduction="20000"/>
          </a:bodyPr>
          <a:lstStyle/>
          <a:p>
            <a:r>
              <a:rPr lang="en-US" dirty="0"/>
              <a:t>How do organizations remember?</a:t>
            </a:r>
          </a:p>
          <a:p>
            <a:pPr lvl="1"/>
            <a:r>
              <a:rPr lang="en-US" dirty="0"/>
              <a:t>Individuals: the priests; the whisperers</a:t>
            </a:r>
          </a:p>
          <a:p>
            <a:pPr lvl="1"/>
            <a:r>
              <a:rPr lang="en-US" dirty="0"/>
              <a:t>Rules and regulations</a:t>
            </a:r>
          </a:p>
          <a:p>
            <a:pPr lvl="1"/>
            <a:r>
              <a:rPr lang="en-US" dirty="0"/>
              <a:t>Standard operating procedures</a:t>
            </a:r>
          </a:p>
          <a:p>
            <a:pPr lvl="1"/>
            <a:r>
              <a:rPr lang="en-US" dirty="0"/>
              <a:t>Files</a:t>
            </a:r>
          </a:p>
          <a:p>
            <a:r>
              <a:rPr lang="en-US" dirty="0"/>
              <a:t>In trying to solve an immediate problem, organizations ask, “What have we done in the past in similar situations?” (Satisficing)</a:t>
            </a:r>
          </a:p>
          <a:p>
            <a:r>
              <a:rPr lang="en-US" dirty="0"/>
              <a:t>But memory is selective (by people, interests, history, etc.) </a:t>
            </a:r>
          </a:p>
          <a:p>
            <a:r>
              <a:rPr lang="en-US" dirty="0"/>
              <a:t>And so who retains what can be a source for conflict when an organization tries to grapple with a problem   </a:t>
            </a:r>
          </a:p>
        </p:txBody>
      </p:sp>
    </p:spTree>
    <p:extLst>
      <p:ext uri="{BB962C8B-B14F-4D97-AF65-F5344CB8AC3E}">
        <p14:creationId xmlns:p14="http://schemas.microsoft.com/office/powerpoint/2010/main" val="2814330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Retention: A key organizational process, but ----</a:t>
            </a:r>
          </a:p>
        </p:txBody>
      </p:sp>
      <p:sp>
        <p:nvSpPr>
          <p:cNvPr id="3" name="Content Placeholder 2"/>
          <p:cNvSpPr>
            <a:spLocks noGrp="1"/>
          </p:cNvSpPr>
          <p:nvPr>
            <p:ph idx="1"/>
          </p:nvPr>
        </p:nvSpPr>
        <p:spPr/>
        <p:txBody>
          <a:bodyPr>
            <a:normAutofit fontScale="92500" lnSpcReduction="20000"/>
          </a:bodyPr>
          <a:lstStyle/>
          <a:p>
            <a:r>
              <a:rPr lang="en-US" dirty="0"/>
              <a:t>What exactly is retained</a:t>
            </a:r>
          </a:p>
          <a:p>
            <a:pPr lvl="1"/>
            <a:r>
              <a:rPr lang="en-US" dirty="0"/>
              <a:t>Memories which form-</a:t>
            </a:r>
            <a:r>
              <a:rPr lang="en-US" dirty="0">
                <a:sym typeface="Wingdings" panose="05000000000000000000" pitchFamily="2" charset="2"/>
              </a:rPr>
              <a:t></a:t>
            </a:r>
            <a:endParaRPr lang="en-US" dirty="0"/>
          </a:p>
          <a:p>
            <a:pPr lvl="1"/>
            <a:r>
              <a:rPr lang="en-US" dirty="0"/>
              <a:t>Templates about the world and how it works</a:t>
            </a:r>
          </a:p>
          <a:p>
            <a:r>
              <a:rPr lang="en-US" dirty="0"/>
              <a:t>Memory is essential for identity – history and sops define what an organization is</a:t>
            </a:r>
          </a:p>
          <a:p>
            <a:r>
              <a:rPr lang="en-US" dirty="0"/>
              <a:t>But this also means that the environment is an output, not simply an input </a:t>
            </a:r>
          </a:p>
          <a:p>
            <a:r>
              <a:rPr lang="en-US" dirty="0"/>
              <a:t>Success breeds failure because of an organization’s inability to alter their template about how the world works  </a:t>
            </a:r>
          </a:p>
        </p:txBody>
      </p:sp>
    </p:spTree>
    <p:extLst>
      <p:ext uri="{BB962C8B-B14F-4D97-AF65-F5344CB8AC3E}">
        <p14:creationId xmlns:p14="http://schemas.microsoft.com/office/powerpoint/2010/main" val="3274865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Discrediting Memory: Another key organizational process</a:t>
            </a:r>
          </a:p>
        </p:txBody>
      </p:sp>
      <p:sp>
        <p:nvSpPr>
          <p:cNvPr id="3" name="Content Placeholder 2"/>
          <p:cNvSpPr>
            <a:spLocks noGrp="1"/>
          </p:cNvSpPr>
          <p:nvPr>
            <p:ph idx="1"/>
          </p:nvPr>
        </p:nvSpPr>
        <p:spPr/>
        <p:txBody>
          <a:bodyPr>
            <a:normAutofit fontScale="92500" lnSpcReduction="20000"/>
          </a:bodyPr>
          <a:lstStyle/>
          <a:p>
            <a:r>
              <a:rPr lang="en-US" dirty="0"/>
              <a:t>Organizations must be flexible if they are to survive in a changing environment</a:t>
            </a:r>
          </a:p>
          <a:p>
            <a:r>
              <a:rPr lang="en-US" dirty="0"/>
              <a:t>But they must also be stable since chronic flexibility destroys identity.</a:t>
            </a:r>
          </a:p>
          <a:p>
            <a:r>
              <a:rPr lang="en-US" dirty="0"/>
              <a:t>“You live your life forward and understand it backward”</a:t>
            </a:r>
          </a:p>
          <a:p>
            <a:r>
              <a:rPr lang="en-US" dirty="0"/>
              <a:t>This sentence helps us understand how organizations can retain and discredit memory at the same time i.e. be simultaneously stable and flexible  </a:t>
            </a:r>
          </a:p>
        </p:txBody>
      </p:sp>
    </p:spTree>
    <p:extLst>
      <p:ext uri="{BB962C8B-B14F-4D97-AF65-F5344CB8AC3E}">
        <p14:creationId xmlns:p14="http://schemas.microsoft.com/office/powerpoint/2010/main" val="332967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FA97C-E475-4007-A9DF-204B258408F7}"/>
              </a:ext>
            </a:extLst>
          </p:cNvPr>
          <p:cNvSpPr>
            <a:spLocks noGrp="1"/>
          </p:cNvSpPr>
          <p:nvPr>
            <p:ph type="title"/>
          </p:nvPr>
        </p:nvSpPr>
        <p:spPr/>
        <p:txBody>
          <a:bodyPr/>
          <a:lstStyle/>
          <a:p>
            <a:r>
              <a:rPr lang="en-US" dirty="0"/>
              <a:t>Third reflective pause</a:t>
            </a:r>
          </a:p>
        </p:txBody>
      </p:sp>
      <p:sp>
        <p:nvSpPr>
          <p:cNvPr id="3" name="Content Placeholder 2">
            <a:extLst>
              <a:ext uri="{FF2B5EF4-FFF2-40B4-BE49-F238E27FC236}">
                <a16:creationId xmlns:a16="http://schemas.microsoft.com/office/drawing/2014/main" id="{47720977-82BC-4449-BF8C-ABF3A8DCA63F}"/>
              </a:ext>
            </a:extLst>
          </p:cNvPr>
          <p:cNvSpPr>
            <a:spLocks noGrp="1"/>
          </p:cNvSpPr>
          <p:nvPr>
            <p:ph idx="1"/>
          </p:nvPr>
        </p:nvSpPr>
        <p:spPr/>
        <p:txBody>
          <a:bodyPr/>
          <a:lstStyle/>
          <a:p>
            <a:r>
              <a:rPr lang="en-US" dirty="0"/>
              <a:t>How do you interpret the statement, “you live your life forward and understand it backward”</a:t>
            </a:r>
          </a:p>
          <a:p>
            <a:r>
              <a:rPr lang="en-US" dirty="0"/>
              <a:t>Does this imply that the meaning of an event is never settled?</a:t>
            </a:r>
          </a:p>
          <a:p>
            <a:r>
              <a:rPr lang="en-US" dirty="0"/>
              <a:t>What are the organizational implications of this statement?</a:t>
            </a:r>
          </a:p>
        </p:txBody>
      </p:sp>
    </p:spTree>
    <p:extLst>
      <p:ext uri="{BB962C8B-B14F-4D97-AF65-F5344CB8AC3E}">
        <p14:creationId xmlns:p14="http://schemas.microsoft.com/office/powerpoint/2010/main" val="1969366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a:t>
            </a:r>
            <a:r>
              <a:rPr lang="en-US" dirty="0" err="1"/>
              <a:t>illustration:The</a:t>
            </a:r>
            <a:r>
              <a:rPr lang="en-US" dirty="0"/>
              <a:t> Problem of “Doing” Classroom</a:t>
            </a:r>
          </a:p>
        </p:txBody>
      </p:sp>
      <p:sp>
        <p:nvSpPr>
          <p:cNvPr id="3" name="Content Placeholder 2"/>
          <p:cNvSpPr>
            <a:spLocks noGrp="1"/>
          </p:cNvSpPr>
          <p:nvPr>
            <p:ph idx="1"/>
          </p:nvPr>
        </p:nvSpPr>
        <p:spPr/>
        <p:txBody>
          <a:bodyPr>
            <a:normAutofit fontScale="92500"/>
          </a:bodyPr>
          <a:lstStyle/>
          <a:p>
            <a:r>
              <a:rPr lang="en-US" dirty="0"/>
              <a:t>Classroom does not exist unless we do it (or enact it in the words of Karl Weick)</a:t>
            </a:r>
          </a:p>
          <a:p>
            <a:r>
              <a:rPr lang="en-US" dirty="0"/>
              <a:t>We all have memories of the enactments called “class” that form mental maps for how to do it</a:t>
            </a:r>
          </a:p>
          <a:p>
            <a:r>
              <a:rPr lang="en-US" dirty="0"/>
              <a:t> The memory holds meaning</a:t>
            </a:r>
          </a:p>
          <a:p>
            <a:pPr lvl="1"/>
            <a:r>
              <a:rPr lang="en-US" dirty="0"/>
              <a:t>Hierarchy: Professor/Student</a:t>
            </a:r>
          </a:p>
          <a:p>
            <a:pPr lvl="1"/>
            <a:r>
              <a:rPr lang="en-US" dirty="0"/>
              <a:t>Roles: Active/Passive</a:t>
            </a:r>
          </a:p>
          <a:p>
            <a:pPr lvl="1"/>
            <a:r>
              <a:rPr lang="en-US" dirty="0"/>
              <a:t>Emotions: Excitement/Boredom </a:t>
            </a:r>
          </a:p>
        </p:txBody>
      </p:sp>
    </p:spTree>
    <p:extLst>
      <p:ext uri="{BB962C8B-B14F-4D97-AF65-F5344CB8AC3E}">
        <p14:creationId xmlns:p14="http://schemas.microsoft.com/office/powerpoint/2010/main" val="1932256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Deconstructing “Doing Class”</a:t>
            </a:r>
          </a:p>
        </p:txBody>
      </p:sp>
      <p:sp>
        <p:nvSpPr>
          <p:cNvPr id="3" name="Content Placeholder 2"/>
          <p:cNvSpPr>
            <a:spLocks noGrp="1"/>
          </p:cNvSpPr>
          <p:nvPr>
            <p:ph idx="1"/>
          </p:nvPr>
        </p:nvSpPr>
        <p:spPr/>
        <p:txBody>
          <a:bodyPr>
            <a:normAutofit fontScale="92500" lnSpcReduction="20000"/>
          </a:bodyPr>
          <a:lstStyle/>
          <a:p>
            <a:pPr marL="342900" lvl="1" indent="-342900">
              <a:buFontTx/>
              <a:buChar char="•"/>
            </a:pPr>
            <a:r>
              <a:rPr lang="en-US" dirty="0"/>
              <a:t>Hierarchy: Professor-------------------Student</a:t>
            </a:r>
          </a:p>
          <a:p>
            <a:pPr marL="342900" lvl="1" indent="-342900">
              <a:buFontTx/>
              <a:buChar char="•"/>
            </a:pPr>
            <a:r>
              <a:rPr lang="en-US" dirty="0"/>
              <a:t>Roles: Passive---------------------Active</a:t>
            </a:r>
          </a:p>
          <a:p>
            <a:pPr marL="342900" lvl="1" indent="-342900">
              <a:buFontTx/>
              <a:buChar char="•"/>
            </a:pPr>
            <a:r>
              <a:rPr lang="en-US" dirty="0"/>
              <a:t>Emotions: Boredom-----------------Excitement</a:t>
            </a:r>
          </a:p>
          <a:p>
            <a:pPr marL="342900" lvl="1" indent="-342900">
              <a:buFontTx/>
              <a:buChar char="•"/>
            </a:pPr>
            <a:r>
              <a:rPr lang="en-US" dirty="0"/>
              <a:t>Self Definition: Incompetent------------Competent</a:t>
            </a:r>
          </a:p>
          <a:p>
            <a:pPr marL="342900" lvl="1" indent="-342900">
              <a:buFontTx/>
              <a:buChar char="•"/>
            </a:pPr>
            <a:endParaRPr lang="en-US" dirty="0"/>
          </a:p>
          <a:p>
            <a:pPr marL="342900" lvl="1" indent="-342900">
              <a:buFontTx/>
              <a:buChar char="•"/>
            </a:pPr>
            <a:r>
              <a:rPr lang="en-US" dirty="0"/>
              <a:t>We retrieve an enacted environment from memory</a:t>
            </a:r>
          </a:p>
          <a:p>
            <a:pPr marL="742950" lvl="2" indent="-342900"/>
            <a:r>
              <a:rPr lang="en-US" dirty="0"/>
              <a:t>The classroom</a:t>
            </a:r>
          </a:p>
          <a:p>
            <a:pPr marL="742950" lvl="2" indent="-342900"/>
            <a:r>
              <a:rPr lang="en-US" dirty="0"/>
              <a:t>Requires we make an interpretive choice: “Knowing what I know now, should I change the way I label and connect the flow of experience?”  i.e. should I revise the interpretation I 	lay on the new experience</a:t>
            </a:r>
          </a:p>
          <a:p>
            <a:pPr marL="742950" lvl="2" indent="-342900"/>
            <a:endParaRPr lang="en-US" dirty="0"/>
          </a:p>
          <a:p>
            <a:pPr marL="342900" lvl="1" indent="-342900">
              <a:buFontTx/>
              <a:buChar char="•"/>
            </a:pPr>
            <a:endParaRPr lang="en-US" dirty="0"/>
          </a:p>
          <a:p>
            <a:pPr marL="342900" lvl="1" indent="-342900">
              <a:buFontTx/>
              <a:buChar char="•"/>
            </a:pPr>
            <a:endParaRPr lang="en-US" dirty="0"/>
          </a:p>
          <a:p>
            <a:pPr marL="342900" lvl="1" indent="-342900">
              <a:buFontTx/>
              <a:buChar char="•"/>
            </a:pPr>
            <a:endParaRPr lang="en-US" dirty="0"/>
          </a:p>
          <a:p>
            <a:pPr marL="342900" lvl="1" indent="-342900">
              <a:buFontTx/>
              <a:buChar char="•"/>
            </a:pPr>
            <a:endParaRPr lang="en-US" dirty="0"/>
          </a:p>
          <a:p>
            <a:pPr marL="342900" lvl="1" indent="-342900">
              <a:buFontTx/>
              <a:buChar char="•"/>
            </a:pPr>
            <a:endParaRPr lang="en-US" dirty="0"/>
          </a:p>
          <a:p>
            <a:pPr marL="342900" lvl="1" indent="-342900">
              <a:buFontTx/>
              <a:buChar char="•"/>
            </a:pPr>
            <a:endParaRPr lang="en-US" dirty="0"/>
          </a:p>
          <a:p>
            <a:endParaRPr lang="en-US" dirty="0"/>
          </a:p>
        </p:txBody>
      </p:sp>
    </p:spTree>
    <p:extLst>
      <p:ext uri="{BB962C8B-B14F-4D97-AF65-F5344CB8AC3E}">
        <p14:creationId xmlns:p14="http://schemas.microsoft.com/office/powerpoint/2010/main" val="93452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A second choice has to be made: The enactment choice:</a:t>
            </a:r>
          </a:p>
          <a:p>
            <a:r>
              <a:rPr lang="en-US" dirty="0"/>
              <a:t>“Knowing what I know now, should I act differently?”</a:t>
            </a:r>
          </a:p>
          <a:p>
            <a:r>
              <a:rPr lang="en-US" dirty="0"/>
              <a:t>If I never change interpretation of past events and never change action flowing from memory the stability drives out flexibility.</a:t>
            </a:r>
          </a:p>
          <a:p>
            <a:r>
              <a:rPr lang="en-US" dirty="0"/>
              <a:t>If I totally discredit past interpretations and don’t use them as guides to current action, chaos results   </a:t>
            </a:r>
          </a:p>
        </p:txBody>
      </p:sp>
    </p:spTree>
    <p:extLst>
      <p:ext uri="{BB962C8B-B14F-4D97-AF65-F5344CB8AC3E}">
        <p14:creationId xmlns:p14="http://schemas.microsoft.com/office/powerpoint/2010/main" val="1715908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class starts and moves ahead </a:t>
            </a:r>
          </a:p>
        </p:txBody>
      </p:sp>
      <p:sp>
        <p:nvSpPr>
          <p:cNvPr id="3" name="Content Placeholder 2"/>
          <p:cNvSpPr>
            <a:spLocks noGrp="1"/>
          </p:cNvSpPr>
          <p:nvPr>
            <p:ph idx="1"/>
          </p:nvPr>
        </p:nvSpPr>
        <p:spPr/>
        <p:txBody>
          <a:bodyPr>
            <a:normAutofit fontScale="92500" lnSpcReduction="10000"/>
          </a:bodyPr>
          <a:lstStyle/>
          <a:p>
            <a:r>
              <a:rPr lang="en-US" dirty="0"/>
              <a:t>So we both have elaborate cause maps about how to do class – “every class is the same”  -  This allows us to get started</a:t>
            </a:r>
          </a:p>
          <a:p>
            <a:r>
              <a:rPr lang="en-US" dirty="0"/>
              <a:t>But as we go along we have to adjust and discredit some parts of our map as we adjust to the new situation (different people, subject matter, circumstances) and act accordingly</a:t>
            </a:r>
          </a:p>
          <a:p>
            <a:r>
              <a:rPr lang="en-US" dirty="0"/>
              <a:t>So this class is the same as any other class and different from any other class</a:t>
            </a:r>
          </a:p>
        </p:txBody>
      </p:sp>
    </p:spTree>
    <p:extLst>
      <p:ext uri="{BB962C8B-B14F-4D97-AF65-F5344CB8AC3E}">
        <p14:creationId xmlns:p14="http://schemas.microsoft.com/office/powerpoint/2010/main" val="1683164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D24E0-7C3C-42EC-A706-7B162E0F7082}"/>
              </a:ext>
            </a:extLst>
          </p:cNvPr>
          <p:cNvSpPr>
            <a:spLocks noGrp="1"/>
          </p:cNvSpPr>
          <p:nvPr>
            <p:ph type="title"/>
          </p:nvPr>
        </p:nvSpPr>
        <p:spPr/>
        <p:txBody>
          <a:bodyPr/>
          <a:lstStyle/>
          <a:p>
            <a:r>
              <a:rPr lang="en-US" dirty="0"/>
              <a:t>Fourth Reflective Pause</a:t>
            </a:r>
          </a:p>
        </p:txBody>
      </p:sp>
      <p:sp>
        <p:nvSpPr>
          <p:cNvPr id="3" name="Content Placeholder 2">
            <a:extLst>
              <a:ext uri="{FF2B5EF4-FFF2-40B4-BE49-F238E27FC236}">
                <a16:creationId xmlns:a16="http://schemas.microsoft.com/office/drawing/2014/main" id="{895E770D-18AF-4EC9-9213-E055FBC1800D}"/>
              </a:ext>
            </a:extLst>
          </p:cNvPr>
          <p:cNvSpPr>
            <a:spLocks noGrp="1"/>
          </p:cNvSpPr>
          <p:nvPr>
            <p:ph idx="1"/>
          </p:nvPr>
        </p:nvSpPr>
        <p:spPr/>
        <p:txBody>
          <a:bodyPr>
            <a:normAutofit lnSpcReduction="10000"/>
          </a:bodyPr>
          <a:lstStyle/>
          <a:p>
            <a:r>
              <a:rPr lang="en-US" dirty="0"/>
              <a:t>Up to this point, we’ve been taking a constructivist view of reality</a:t>
            </a:r>
          </a:p>
          <a:p>
            <a:pPr lvl="1"/>
            <a:r>
              <a:rPr lang="en-US" dirty="0"/>
              <a:t>How we perceive things and how we act in response to that perception is what structures reality</a:t>
            </a:r>
          </a:p>
          <a:p>
            <a:pPr lvl="1"/>
            <a:r>
              <a:rPr lang="en-US" dirty="0"/>
              <a:t>Thus, changing the way we frame a conflict can help toward creative solutions</a:t>
            </a:r>
          </a:p>
          <a:p>
            <a:pPr lvl="1"/>
            <a:r>
              <a:rPr lang="en-US" dirty="0"/>
              <a:t>Think of Jake and Max from the Deontology and Utilitarianism article</a:t>
            </a:r>
          </a:p>
          <a:p>
            <a:pPr lvl="1"/>
            <a:endParaRPr lang="en-US" dirty="0"/>
          </a:p>
        </p:txBody>
      </p:sp>
    </p:spTree>
    <p:extLst>
      <p:ext uri="{BB962C8B-B14F-4D97-AF65-F5344CB8AC3E}">
        <p14:creationId xmlns:p14="http://schemas.microsoft.com/office/powerpoint/2010/main" val="1764735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D24E0-7C3C-42EC-A706-7B162E0F708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95E770D-18AF-4EC9-9213-E055FBC1800D}"/>
              </a:ext>
            </a:extLst>
          </p:cNvPr>
          <p:cNvSpPr>
            <a:spLocks noGrp="1"/>
          </p:cNvSpPr>
          <p:nvPr>
            <p:ph idx="1"/>
          </p:nvPr>
        </p:nvSpPr>
        <p:spPr/>
        <p:txBody>
          <a:bodyPr>
            <a:normAutofit lnSpcReduction="10000"/>
          </a:bodyPr>
          <a:lstStyle/>
          <a:p>
            <a:r>
              <a:rPr lang="en-US" dirty="0"/>
              <a:t>Perceptions are the stumbling block to creative problem solving</a:t>
            </a:r>
          </a:p>
          <a:p>
            <a:r>
              <a:rPr lang="en-US" dirty="0"/>
              <a:t>Critique the technique discussed in the YouTube below</a:t>
            </a:r>
          </a:p>
          <a:p>
            <a:r>
              <a:rPr lang="en-US" dirty="0"/>
              <a:t>Is it workable, practical, have you ever tried it?</a:t>
            </a:r>
          </a:p>
          <a:p>
            <a:r>
              <a:rPr lang="en-US" dirty="0">
                <a:hlinkClick r:id="rId2"/>
              </a:rPr>
              <a:t>https://www.youtube.com/watch?v=-c-SUdBoD6M</a:t>
            </a:r>
            <a:r>
              <a:rPr lang="en-US" dirty="0"/>
              <a:t>  </a:t>
            </a:r>
          </a:p>
        </p:txBody>
      </p:sp>
    </p:spTree>
    <p:extLst>
      <p:ext uri="{BB962C8B-B14F-4D97-AF65-F5344CB8AC3E}">
        <p14:creationId xmlns:p14="http://schemas.microsoft.com/office/powerpoint/2010/main" val="968611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 use language to structure reality</a:t>
            </a:r>
          </a:p>
        </p:txBody>
      </p:sp>
      <p:sp>
        <p:nvSpPr>
          <p:cNvPr id="3" name="Content Placeholder 2"/>
          <p:cNvSpPr>
            <a:spLocks noGrp="1"/>
          </p:cNvSpPr>
          <p:nvPr>
            <p:ph idx="1"/>
          </p:nvPr>
        </p:nvSpPr>
        <p:spPr/>
        <p:txBody>
          <a:bodyPr>
            <a:normAutofit fontScale="77500" lnSpcReduction="20000"/>
          </a:bodyPr>
          <a:lstStyle/>
          <a:p>
            <a:r>
              <a:rPr lang="en-US" dirty="0"/>
              <a:t>Background:  Art was pulled over for an alleged traffic violation.  Arthur is a long haired, white, thirtyish male in a predominantly African American, economically marginal neighborhood. The conversation takes place in a police car between Art and the police officer taking him in -</a:t>
            </a:r>
          </a:p>
          <a:p>
            <a:endParaRPr lang="en-US" dirty="0"/>
          </a:p>
          <a:p>
            <a:r>
              <a:rPr lang="en-US" dirty="0"/>
              <a:t> Art: I just had the car in the shop.  I can show you the bill of sale for getting it fixed.</a:t>
            </a:r>
          </a:p>
          <a:p>
            <a:endParaRPr lang="en-US" dirty="0"/>
          </a:p>
          <a:p>
            <a:r>
              <a:rPr lang="en-US" dirty="0"/>
              <a:t>PO: We can make it hard on you if you want to go that route.  We don’t stop you for nothing.</a:t>
            </a:r>
          </a:p>
          <a:p>
            <a:endParaRPr lang="en-US" dirty="0"/>
          </a:p>
        </p:txBody>
      </p:sp>
    </p:spTree>
    <p:extLst>
      <p:ext uri="{BB962C8B-B14F-4D97-AF65-F5344CB8AC3E}">
        <p14:creationId xmlns:p14="http://schemas.microsoft.com/office/powerpoint/2010/main" val="2879949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70000" lnSpcReduction="20000"/>
          </a:bodyPr>
          <a:lstStyle/>
          <a:p>
            <a:r>
              <a:rPr lang="en-US" dirty="0"/>
              <a:t>Art: You going to write me a traffic ticket for it? It’s a traffic offense.</a:t>
            </a:r>
          </a:p>
          <a:p>
            <a:endParaRPr lang="en-US" dirty="0"/>
          </a:p>
          <a:p>
            <a:r>
              <a:rPr lang="en-US" dirty="0"/>
              <a:t>PO: We’ll write you a traffic ticket for it. Also take you to jail for not having a valid operators license, you want to get heavy.</a:t>
            </a:r>
          </a:p>
          <a:p>
            <a:endParaRPr lang="en-US" dirty="0"/>
          </a:p>
          <a:p>
            <a:r>
              <a:rPr lang="en-US" dirty="0"/>
              <a:t>Art: Not having a valid license?</a:t>
            </a:r>
          </a:p>
          <a:p>
            <a:endParaRPr lang="en-US" dirty="0"/>
          </a:p>
          <a:p>
            <a:r>
              <a:rPr lang="en-US" dirty="0"/>
              <a:t>PO: You want to play the game, that’s fine.  You want to get heavy, that’s fine too.  It makes no difference to us  </a:t>
            </a:r>
          </a:p>
        </p:txBody>
      </p:sp>
    </p:spTree>
    <p:extLst>
      <p:ext uri="{BB962C8B-B14F-4D97-AF65-F5344CB8AC3E}">
        <p14:creationId xmlns:p14="http://schemas.microsoft.com/office/powerpoint/2010/main" val="3560128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736C-BFDD-41D3-92D7-D7EE3895681D}"/>
              </a:ext>
            </a:extLst>
          </p:cNvPr>
          <p:cNvSpPr>
            <a:spLocks noGrp="1"/>
          </p:cNvSpPr>
          <p:nvPr>
            <p:ph type="title"/>
          </p:nvPr>
        </p:nvSpPr>
        <p:spPr/>
        <p:txBody>
          <a:bodyPr/>
          <a:lstStyle/>
          <a:p>
            <a:r>
              <a:rPr lang="en-US" dirty="0"/>
              <a:t>Fifth Reflective Pause</a:t>
            </a:r>
          </a:p>
        </p:txBody>
      </p:sp>
      <p:sp>
        <p:nvSpPr>
          <p:cNvPr id="3" name="Content Placeholder 2">
            <a:extLst>
              <a:ext uri="{FF2B5EF4-FFF2-40B4-BE49-F238E27FC236}">
                <a16:creationId xmlns:a16="http://schemas.microsoft.com/office/drawing/2014/main" id="{C404B28D-2954-435C-8782-E7BB24B2C172}"/>
              </a:ext>
            </a:extLst>
          </p:cNvPr>
          <p:cNvSpPr>
            <a:spLocks noGrp="1"/>
          </p:cNvSpPr>
          <p:nvPr>
            <p:ph idx="1"/>
          </p:nvPr>
        </p:nvSpPr>
        <p:spPr/>
        <p:txBody>
          <a:bodyPr/>
          <a:lstStyle/>
          <a:p>
            <a:r>
              <a:rPr lang="en-US" dirty="0"/>
              <a:t>What is going on here?</a:t>
            </a:r>
          </a:p>
          <a:p>
            <a:r>
              <a:rPr lang="en-US" dirty="0"/>
              <a:t>Analyze the actual words used in the conversation</a:t>
            </a:r>
          </a:p>
          <a:p>
            <a:r>
              <a:rPr lang="en-US" dirty="0"/>
              <a:t>What are the differences in the kinds of terms the police officer is mostly using and those that Art is using?</a:t>
            </a:r>
          </a:p>
        </p:txBody>
      </p:sp>
    </p:spTree>
    <p:extLst>
      <p:ext uri="{BB962C8B-B14F-4D97-AF65-F5344CB8AC3E}">
        <p14:creationId xmlns:p14="http://schemas.microsoft.com/office/powerpoint/2010/main" val="2219039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DD163-1B08-452D-BF2B-69777E813ABB}"/>
              </a:ext>
            </a:extLst>
          </p:cNvPr>
          <p:cNvSpPr>
            <a:spLocks noGrp="1"/>
          </p:cNvSpPr>
          <p:nvPr>
            <p:ph type="title"/>
          </p:nvPr>
        </p:nvSpPr>
        <p:spPr/>
        <p:txBody>
          <a:bodyPr/>
          <a:lstStyle/>
          <a:p>
            <a:r>
              <a:rPr lang="en-US" dirty="0"/>
              <a:t>Unpackaging the conversation</a:t>
            </a:r>
          </a:p>
        </p:txBody>
      </p:sp>
      <p:sp>
        <p:nvSpPr>
          <p:cNvPr id="3" name="Content Placeholder 2">
            <a:extLst>
              <a:ext uri="{FF2B5EF4-FFF2-40B4-BE49-F238E27FC236}">
                <a16:creationId xmlns:a16="http://schemas.microsoft.com/office/drawing/2014/main" id="{E8D5B35E-65C3-4F8C-ADBB-24DB8C3E80E7}"/>
              </a:ext>
            </a:extLst>
          </p:cNvPr>
          <p:cNvSpPr>
            <a:spLocks noGrp="1"/>
          </p:cNvSpPr>
          <p:nvPr>
            <p:ph idx="1"/>
          </p:nvPr>
        </p:nvSpPr>
        <p:spPr/>
        <p:txBody>
          <a:bodyPr>
            <a:normAutofit fontScale="92500"/>
          </a:bodyPr>
          <a:lstStyle/>
          <a:p>
            <a:r>
              <a:rPr lang="en-US" dirty="0"/>
              <a:t>Arthur was pulled over for an alleged traffic violation, but the officers think he’s in the neighborhood to buy drugs</a:t>
            </a:r>
          </a:p>
          <a:p>
            <a:r>
              <a:rPr lang="en-US" dirty="0"/>
              <a:t>He is a “player” who from the officers’ point of view is not playing by the rules of the game</a:t>
            </a:r>
          </a:p>
          <a:p>
            <a:r>
              <a:rPr lang="en-US" dirty="0"/>
              <a:t>If he insists on wanting to be considered a traffic violator, the officers will charge him with a lot of violations (you want to get heavy) </a:t>
            </a:r>
          </a:p>
        </p:txBody>
      </p:sp>
    </p:spTree>
    <p:extLst>
      <p:ext uri="{BB962C8B-B14F-4D97-AF65-F5344CB8AC3E}">
        <p14:creationId xmlns:p14="http://schemas.microsoft.com/office/powerpoint/2010/main" val="20428093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0EE12-3C24-4067-912E-1BDA5664A0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B1470F-25BB-4BE3-9526-86CC83010072}"/>
              </a:ext>
            </a:extLst>
          </p:cNvPr>
          <p:cNvSpPr>
            <a:spLocks noGrp="1"/>
          </p:cNvSpPr>
          <p:nvPr>
            <p:ph idx="1"/>
          </p:nvPr>
        </p:nvSpPr>
        <p:spPr/>
        <p:txBody>
          <a:bodyPr/>
          <a:lstStyle/>
          <a:p>
            <a:r>
              <a:rPr lang="en-US" dirty="0"/>
              <a:t>The officers want him to work for them as a snitch – if he agrees to give them information, the rules of the game mean they let him go in exchange</a:t>
            </a:r>
          </a:p>
          <a:p>
            <a:r>
              <a:rPr lang="en-US" dirty="0"/>
              <a:t>So what is Arthur – a traffic violator or a druggie?</a:t>
            </a:r>
          </a:p>
          <a:p>
            <a:r>
              <a:rPr lang="en-US" dirty="0"/>
              <a:t>Arthur finally says, “Hey, I can’t be your snitch, I work for Martinez in narcotics!”</a:t>
            </a:r>
          </a:p>
        </p:txBody>
      </p:sp>
    </p:spTree>
    <p:extLst>
      <p:ext uri="{BB962C8B-B14F-4D97-AF65-F5344CB8AC3E}">
        <p14:creationId xmlns:p14="http://schemas.microsoft.com/office/powerpoint/2010/main" val="3049492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3"/>
          <p:cNvSpPr>
            <a:spLocks noGrp="1" noChangeArrowheads="1"/>
          </p:cNvSpPr>
          <p:nvPr>
            <p:ph type="title"/>
          </p:nvPr>
        </p:nvSpPr>
        <p:spPr/>
        <p:txBody>
          <a:bodyPr/>
          <a:lstStyle/>
          <a:p>
            <a:pPr eaLnBrk="1" hangingPunct="1"/>
            <a:r>
              <a:rPr lang="en-US"/>
              <a:t>Language Sets Agendas through </a:t>
            </a:r>
          </a:p>
        </p:txBody>
      </p:sp>
      <p:sp>
        <p:nvSpPr>
          <p:cNvPr id="19460" name="Rectangle 4"/>
          <p:cNvSpPr>
            <a:spLocks noGrp="1" noChangeArrowheads="1"/>
          </p:cNvSpPr>
          <p:nvPr>
            <p:ph type="body" idx="1"/>
          </p:nvPr>
        </p:nvSpPr>
        <p:spPr/>
        <p:txBody>
          <a:bodyPr>
            <a:normAutofit fontScale="70000" lnSpcReduction="20000"/>
          </a:bodyPr>
          <a:lstStyle/>
          <a:p>
            <a:pPr eaLnBrk="1" hangingPunct="1">
              <a:defRPr/>
            </a:pPr>
            <a:r>
              <a:rPr lang="en-US" dirty="0"/>
              <a:t>Forms</a:t>
            </a:r>
          </a:p>
          <a:p>
            <a:pPr eaLnBrk="1" hangingPunct="1">
              <a:defRPr/>
            </a:pPr>
            <a:r>
              <a:rPr lang="en-US" dirty="0"/>
              <a:t>In conversations</a:t>
            </a:r>
          </a:p>
          <a:p>
            <a:pPr eaLnBrk="1" hangingPunct="1">
              <a:defRPr/>
            </a:pPr>
            <a:r>
              <a:rPr lang="en-US" dirty="0"/>
              <a:t>Ways people are not even aware of (The Abilene paradox)</a:t>
            </a:r>
          </a:p>
          <a:p>
            <a:pPr eaLnBrk="1" hangingPunct="1">
              <a:defRPr/>
            </a:pPr>
            <a:r>
              <a:rPr lang="en-US" dirty="0"/>
              <a:t>The </a:t>
            </a:r>
            <a:r>
              <a:rPr lang="en-US" b="1" dirty="0"/>
              <a:t>Abilene paradox</a:t>
            </a:r>
            <a:r>
              <a:rPr lang="en-US" dirty="0"/>
              <a:t> is a paradox in which a group of people collectively decide on a course of action that is counter to the preferences of any of the individuals in the group.</a:t>
            </a:r>
          </a:p>
          <a:p>
            <a:pPr eaLnBrk="1" hangingPunct="1">
              <a:defRPr/>
            </a:pPr>
            <a:r>
              <a:rPr lang="en-US" dirty="0">
                <a:hlinkClick r:id="rId2"/>
              </a:rPr>
              <a:t>http://www.youtube.com/watch?v=z_iGdiYO7gI&amp;feature=related</a:t>
            </a:r>
            <a:endParaRPr lang="en-US" dirty="0"/>
          </a:p>
          <a:p>
            <a:pPr eaLnBrk="1" hangingPunct="1">
              <a:defRPr/>
            </a:pPr>
            <a:r>
              <a:rPr lang="en-US" dirty="0">
                <a:hlinkClick r:id="rId3"/>
              </a:rPr>
              <a:t>http://www.youtube.com/watch?v=uSdhJw0fFj8</a:t>
            </a:r>
            <a:endParaRPr lang="en-US" dirty="0"/>
          </a:p>
          <a:p>
            <a:pPr eaLnBrk="1" hangingPunct="1">
              <a:defRPr/>
            </a:pPr>
            <a:r>
              <a:rPr lang="en-US" dirty="0"/>
              <a:t>Through media </a:t>
            </a:r>
          </a:p>
          <a:p>
            <a:pPr eaLnBrk="1" hangingPunct="1">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4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46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46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946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946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946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10B61-883F-415B-95F6-D84C17879FD7}"/>
              </a:ext>
            </a:extLst>
          </p:cNvPr>
          <p:cNvSpPr>
            <a:spLocks noGrp="1"/>
          </p:cNvSpPr>
          <p:nvPr>
            <p:ph type="title"/>
          </p:nvPr>
        </p:nvSpPr>
        <p:spPr/>
        <p:txBody>
          <a:bodyPr/>
          <a:lstStyle/>
          <a:p>
            <a:r>
              <a:rPr lang="en-US" dirty="0"/>
              <a:t>Final Reflective Pause</a:t>
            </a:r>
          </a:p>
        </p:txBody>
      </p:sp>
      <p:sp>
        <p:nvSpPr>
          <p:cNvPr id="3" name="Content Placeholder 2">
            <a:extLst>
              <a:ext uri="{FF2B5EF4-FFF2-40B4-BE49-F238E27FC236}">
                <a16:creationId xmlns:a16="http://schemas.microsoft.com/office/drawing/2014/main" id="{CC17F7AB-198B-4934-B8F5-915B93BB44E9}"/>
              </a:ext>
            </a:extLst>
          </p:cNvPr>
          <p:cNvSpPr>
            <a:spLocks noGrp="1"/>
          </p:cNvSpPr>
          <p:nvPr>
            <p:ph idx="1"/>
          </p:nvPr>
        </p:nvSpPr>
        <p:spPr/>
        <p:txBody>
          <a:bodyPr/>
          <a:lstStyle/>
          <a:p>
            <a:r>
              <a:rPr lang="en-US" dirty="0"/>
              <a:t>We think of organizations as primarily an object external to ourselves</a:t>
            </a:r>
          </a:p>
          <a:p>
            <a:r>
              <a:rPr lang="en-US" dirty="0"/>
              <a:t>But, what if organizations are more action and language rather than external structures</a:t>
            </a:r>
          </a:p>
          <a:p>
            <a:pPr lvl="1"/>
            <a:r>
              <a:rPr lang="en-US" dirty="0"/>
              <a:t>i.e. we are continually creating organizational structures through language and actions</a:t>
            </a:r>
          </a:p>
          <a:p>
            <a:r>
              <a:rPr lang="en-US" dirty="0"/>
              <a:t>What are the implications for leadership, management and change?</a:t>
            </a:r>
          </a:p>
        </p:txBody>
      </p:sp>
    </p:spTree>
    <p:extLst>
      <p:ext uri="{BB962C8B-B14F-4D97-AF65-F5344CB8AC3E}">
        <p14:creationId xmlns:p14="http://schemas.microsoft.com/office/powerpoint/2010/main" val="10157149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t>Is authentic public discourse possible?</a:t>
            </a:r>
          </a:p>
        </p:txBody>
      </p:sp>
      <p:sp>
        <p:nvSpPr>
          <p:cNvPr id="36867" name="Text Box 3"/>
          <p:cNvSpPr txBox="1">
            <a:spLocks noChangeArrowheads="1"/>
          </p:cNvSpPr>
          <p:nvPr/>
        </p:nvSpPr>
        <p:spPr bwMode="auto">
          <a:xfrm>
            <a:off x="822325" y="3241675"/>
            <a:ext cx="4719638" cy="457200"/>
          </a:xfrm>
          <a:prstGeom prst="rect">
            <a:avLst/>
          </a:prstGeom>
          <a:noFill/>
          <a:ln w="9525">
            <a:noFill/>
            <a:miter lim="800000"/>
            <a:headEnd/>
            <a:tailEnd/>
          </a:ln>
        </p:spPr>
        <p:txBody>
          <a:bodyPr wrap="none">
            <a:spAutoFit/>
          </a:bodyPr>
          <a:lstStyle/>
          <a:p>
            <a:r>
              <a:rPr lang="en-US"/>
              <a:t>Habermas and warrants for discourse</a:t>
            </a:r>
          </a:p>
        </p:txBody>
      </p:sp>
      <p:sp>
        <p:nvSpPr>
          <p:cNvPr id="4" name="TextBox 3"/>
          <p:cNvSpPr txBox="1">
            <a:spLocks noChangeArrowheads="1"/>
          </p:cNvSpPr>
          <p:nvPr/>
        </p:nvSpPr>
        <p:spPr bwMode="auto">
          <a:xfrm>
            <a:off x="1905000" y="4114800"/>
            <a:ext cx="4262438" cy="1570038"/>
          </a:xfrm>
          <a:prstGeom prst="rect">
            <a:avLst/>
          </a:prstGeom>
          <a:noFill/>
          <a:ln w="9525">
            <a:noFill/>
            <a:miter lim="800000"/>
            <a:headEnd/>
            <a:tailEnd/>
          </a:ln>
        </p:spPr>
        <p:txBody>
          <a:bodyPr wrap="none">
            <a:spAutoFit/>
          </a:bodyPr>
          <a:lstStyle/>
          <a:p>
            <a:r>
              <a:rPr lang="en-US"/>
              <a:t>Sincerity</a:t>
            </a:r>
          </a:p>
          <a:p>
            <a:r>
              <a:rPr lang="en-US"/>
              <a:t>Situation regarding intentionality</a:t>
            </a:r>
          </a:p>
          <a:p>
            <a:r>
              <a:rPr lang="en-US"/>
              <a:t>Attention</a:t>
            </a:r>
          </a:p>
          <a:p>
            <a:r>
              <a:rPr lang="en-US"/>
              <a:t>Substantive Contribution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0" y="609600"/>
            <a:ext cx="7772400" cy="1143000"/>
          </a:xfrm>
        </p:spPr>
        <p:txBody>
          <a:bodyPr/>
          <a:lstStyle/>
          <a:p>
            <a:pPr eaLnBrk="1" hangingPunct="1"/>
            <a:r>
              <a:rPr lang="en-US"/>
              <a:t> </a:t>
            </a:r>
          </a:p>
        </p:txBody>
      </p:sp>
      <p:sp>
        <p:nvSpPr>
          <p:cNvPr id="3081" name="Text Box 9"/>
          <p:cNvSpPr txBox="1">
            <a:spLocks noChangeArrowheads="1"/>
          </p:cNvSpPr>
          <p:nvPr/>
        </p:nvSpPr>
        <p:spPr bwMode="auto">
          <a:xfrm>
            <a:off x="3429000" y="641350"/>
            <a:ext cx="2498725" cy="701675"/>
          </a:xfrm>
          <a:prstGeom prst="rect">
            <a:avLst/>
          </a:prstGeom>
          <a:noFill/>
          <a:ln w="9525">
            <a:noFill/>
            <a:miter lim="800000"/>
            <a:headEnd/>
            <a:tailEnd/>
          </a:ln>
        </p:spPr>
        <p:txBody>
          <a:bodyPr wrap="none">
            <a:spAutoFit/>
          </a:bodyPr>
          <a:lstStyle/>
          <a:p>
            <a:r>
              <a:rPr lang="en-US" sz="4000"/>
              <a:t>BodyMind</a:t>
            </a:r>
          </a:p>
        </p:txBody>
      </p:sp>
      <p:sp>
        <p:nvSpPr>
          <p:cNvPr id="3083" name="Text Box 11"/>
          <p:cNvSpPr txBox="1">
            <a:spLocks noChangeArrowheads="1"/>
          </p:cNvSpPr>
          <p:nvPr/>
        </p:nvSpPr>
        <p:spPr bwMode="auto">
          <a:xfrm>
            <a:off x="2133600" y="1825625"/>
            <a:ext cx="5251450" cy="701675"/>
          </a:xfrm>
          <a:prstGeom prst="rect">
            <a:avLst/>
          </a:prstGeom>
          <a:noFill/>
          <a:ln w="9525">
            <a:noFill/>
            <a:miter lim="800000"/>
            <a:headEnd/>
            <a:tailEnd/>
          </a:ln>
        </p:spPr>
        <p:txBody>
          <a:bodyPr>
            <a:spAutoFit/>
          </a:bodyPr>
          <a:lstStyle/>
          <a:p>
            <a:r>
              <a:rPr lang="en-US" sz="4000"/>
              <a:t>Body                     Mind</a:t>
            </a:r>
          </a:p>
        </p:txBody>
      </p:sp>
      <p:sp>
        <p:nvSpPr>
          <p:cNvPr id="3084" name="Text Box 12"/>
          <p:cNvSpPr txBox="1">
            <a:spLocks noChangeArrowheads="1"/>
          </p:cNvSpPr>
          <p:nvPr/>
        </p:nvSpPr>
        <p:spPr bwMode="auto">
          <a:xfrm>
            <a:off x="3413125" y="3654425"/>
            <a:ext cx="2625725" cy="701675"/>
          </a:xfrm>
          <a:prstGeom prst="rect">
            <a:avLst/>
          </a:prstGeom>
          <a:noFill/>
          <a:ln w="9525">
            <a:noFill/>
            <a:miter lim="800000"/>
            <a:headEnd/>
            <a:tailEnd/>
          </a:ln>
        </p:spPr>
        <p:txBody>
          <a:bodyPr wrap="none">
            <a:spAutoFit/>
          </a:bodyPr>
          <a:lstStyle/>
          <a:p>
            <a:r>
              <a:rPr lang="en-US" sz="4000"/>
              <a:t>BodyMind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3081"/>
                                        </p:tgtEl>
                                        <p:attrNameLst>
                                          <p:attrName>style.visibility</p:attrName>
                                        </p:attrNameLst>
                                      </p:cBhvr>
                                      <p:to>
                                        <p:strVal val="visible"/>
                                      </p:to>
                                    </p:set>
                                    <p:animEffect transition="in" filter="dissolve">
                                      <p:cBhvr>
                                        <p:cTn id="7" dur="75"/>
                                        <p:tgtEl>
                                          <p:spTgt spid="3081"/>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iterate type="wd">
                                    <p:tmPct val="100000"/>
                                  </p:iterate>
                                  <p:childTnLst>
                                    <p:set>
                                      <p:cBhvr>
                                        <p:cTn id="11" dur="1" fill="hold">
                                          <p:stCondLst>
                                            <p:cond delay="0"/>
                                          </p:stCondLst>
                                        </p:cTn>
                                        <p:tgtEl>
                                          <p:spTgt spid="3083"/>
                                        </p:tgtEl>
                                        <p:attrNameLst>
                                          <p:attrName>style.visibility</p:attrName>
                                        </p:attrNameLst>
                                      </p:cBhvr>
                                      <p:to>
                                        <p:strVal val="visible"/>
                                      </p:to>
                                    </p:set>
                                    <p:anim calcmode="lin" valueType="num">
                                      <p:cBhvr>
                                        <p:cTn id="12" dur="300" fill="hold"/>
                                        <p:tgtEl>
                                          <p:spTgt spid="3083"/>
                                        </p:tgtEl>
                                        <p:attrNameLst>
                                          <p:attrName>ppt_w</p:attrName>
                                        </p:attrNameLst>
                                      </p:cBhvr>
                                      <p:tavLst>
                                        <p:tav tm="0">
                                          <p:val>
                                            <p:fltVal val="0"/>
                                          </p:val>
                                        </p:tav>
                                        <p:tav tm="100000">
                                          <p:val>
                                            <p:strVal val="#ppt_w"/>
                                          </p:val>
                                        </p:tav>
                                      </p:tavLst>
                                    </p:anim>
                                    <p:anim calcmode="lin" valueType="num">
                                      <p:cBhvr>
                                        <p:cTn id="13" dur="300" fill="hold"/>
                                        <p:tgtEl>
                                          <p:spTgt spid="308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
                                            </p:cond>
                                          </p:stCondLst>
                                          <p:endCondLst>
                                            <p:cond evt="onStopAudio" delay="0">
                                              <p:tgtEl>
                                                <p:sldTgt/>
                                              </p:tgtEl>
                                            </p:cond>
                                          </p:endCondLst>
                                        </p:cTn>
                                        <p:tgtEl>
                                          <p:sndTgt r:embed="rId2" name="explode.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iterate type="wd">
                                    <p:tmPct val="100000"/>
                                  </p:iterate>
                                  <p:childTnLst>
                                    <p:set>
                                      <p:cBhvr>
                                        <p:cTn id="17" dur="1" fill="hold">
                                          <p:stCondLst>
                                            <p:cond delay="0"/>
                                          </p:stCondLst>
                                        </p:cTn>
                                        <p:tgtEl>
                                          <p:spTgt spid="3084"/>
                                        </p:tgtEl>
                                        <p:attrNameLst>
                                          <p:attrName>style.visibility</p:attrName>
                                        </p:attrNameLst>
                                      </p:cBhvr>
                                      <p:to>
                                        <p:strVal val="visible"/>
                                      </p:to>
                                    </p:set>
                                    <p:anim calcmode="lin" valueType="num">
                                      <p:cBhvr additive="base">
                                        <p:cTn id="18" dur="300" fill="hold"/>
                                        <p:tgtEl>
                                          <p:spTgt spid="3084"/>
                                        </p:tgtEl>
                                        <p:attrNameLst>
                                          <p:attrName>ppt_x</p:attrName>
                                        </p:attrNameLst>
                                      </p:cBhvr>
                                      <p:tavLst>
                                        <p:tav tm="0">
                                          <p:val>
                                            <p:strVal val="1+#ppt_w/2"/>
                                          </p:val>
                                        </p:tav>
                                        <p:tav tm="100000">
                                          <p:val>
                                            <p:strVal val="#ppt_x"/>
                                          </p:val>
                                        </p:tav>
                                      </p:tavLst>
                                    </p:anim>
                                    <p:anim calcmode="lin" valueType="num">
                                      <p:cBhvr additive="base">
                                        <p:cTn id="19" dur="300" fill="hold"/>
                                        <p:tgtEl>
                                          <p:spTgt spid="30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1" grpId="0" autoUpdateAnimBg="0"/>
      <p:bldP spid="3083" grpId="0" autoUpdateAnimBg="0"/>
      <p:bldP spid="3084"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3"/>
          <p:cNvSpPr>
            <a:spLocks noGrp="1" noChangeArrowheads="1"/>
          </p:cNvSpPr>
          <p:nvPr>
            <p:ph type="title"/>
          </p:nvPr>
        </p:nvSpPr>
        <p:spPr/>
        <p:txBody>
          <a:bodyPr/>
          <a:lstStyle/>
          <a:p>
            <a:pPr eaLnBrk="1" hangingPunct="1"/>
            <a:r>
              <a:rPr lang="en-US"/>
              <a:t>The Separation</a:t>
            </a:r>
          </a:p>
        </p:txBody>
      </p:sp>
      <p:sp>
        <p:nvSpPr>
          <p:cNvPr id="6148" name="Rectangle 4"/>
          <p:cNvSpPr>
            <a:spLocks noGrp="1" noChangeArrowheads="1"/>
          </p:cNvSpPr>
          <p:nvPr>
            <p:ph type="body" sz="half" idx="1"/>
          </p:nvPr>
        </p:nvSpPr>
        <p:spPr/>
        <p:txBody>
          <a:bodyPr/>
          <a:lstStyle/>
          <a:p>
            <a:pPr eaLnBrk="1" hangingPunct="1"/>
            <a:r>
              <a:rPr lang="en-US"/>
              <a:t>Greco-Roman </a:t>
            </a:r>
          </a:p>
          <a:p>
            <a:pPr eaLnBrk="1" hangingPunct="1"/>
            <a:r>
              <a:rPr lang="en-US"/>
              <a:t>Judeo-Christian</a:t>
            </a:r>
          </a:p>
          <a:p>
            <a:pPr eaLnBrk="1" hangingPunct="1"/>
            <a:r>
              <a:rPr lang="en-US"/>
              <a:t>Barbarian tradition</a:t>
            </a:r>
          </a:p>
          <a:p>
            <a:pPr eaLnBrk="1" hangingPunct="1"/>
            <a:endParaRPr lang="en-US"/>
          </a:p>
          <a:p>
            <a:pPr eaLnBrk="1" hangingPunct="1"/>
            <a:endParaRPr lang="en-US"/>
          </a:p>
        </p:txBody>
      </p:sp>
      <p:sp>
        <p:nvSpPr>
          <p:cNvPr id="6149" name="Rectangle 5"/>
          <p:cNvSpPr>
            <a:spLocks noGrp="1" noChangeArrowheads="1"/>
          </p:cNvSpPr>
          <p:nvPr>
            <p:ph type="body" sz="half" idx="2"/>
          </p:nvPr>
        </p:nvSpPr>
        <p:spPr/>
        <p:txBody>
          <a:bodyPr/>
          <a:lstStyle/>
          <a:p>
            <a:pPr eaLnBrk="1" hangingPunct="1"/>
            <a:r>
              <a:rPr lang="en-US"/>
              <a:t>Weber</a:t>
            </a:r>
          </a:p>
          <a:p>
            <a:pPr eaLnBrk="1" hangingPunct="1"/>
            <a:r>
              <a:rPr lang="en-US"/>
              <a:t>Taylor</a:t>
            </a:r>
          </a:p>
          <a:p>
            <a:pPr eaLnBrk="1" hangingPunct="1"/>
            <a:r>
              <a:rPr lang="en-US"/>
              <a:t>Gulick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300"/>
                                  </p:iterate>
                                  <p:childTnLst>
                                    <p:set>
                                      <p:cBhvr>
                                        <p:cTn id="6" dur="1" fill="hold">
                                          <p:stCondLst>
                                            <p:cond delay="299"/>
                                          </p:stCondLst>
                                        </p:cTn>
                                        <p:tgtEl>
                                          <p:spTgt spid="6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300"/>
                                  </p:iterate>
                                  <p:childTnLst>
                                    <p:set>
                                      <p:cBhvr>
                                        <p:cTn id="10" dur="1" fill="hold">
                                          <p:stCondLst>
                                            <p:cond delay="299"/>
                                          </p:stCondLst>
                                        </p:cTn>
                                        <p:tgtEl>
                                          <p:spTgt spid="61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wd">
                                    <p:tmAbs val="300"/>
                                  </p:iterate>
                                  <p:childTnLst>
                                    <p:set>
                                      <p:cBhvr>
                                        <p:cTn id="14" dur="1" fill="hold">
                                          <p:stCondLst>
                                            <p:cond delay="299"/>
                                          </p:stCondLst>
                                        </p:cTn>
                                        <p:tgtEl>
                                          <p:spTgt spid="61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wd">
                                    <p:tmAbs val="300"/>
                                  </p:iterate>
                                  <p:childTnLst>
                                    <p:set>
                                      <p:cBhvr>
                                        <p:cTn id="18" dur="1" fill="hold">
                                          <p:stCondLst>
                                            <p:cond delay="299"/>
                                          </p:stCondLst>
                                        </p:cTn>
                                        <p:tgtEl>
                                          <p:spTgt spid="614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Abs val="300"/>
                                  </p:iterate>
                                  <p:childTnLst>
                                    <p:set>
                                      <p:cBhvr>
                                        <p:cTn id="22" dur="1" fill="hold">
                                          <p:stCondLst>
                                            <p:cond delay="299"/>
                                          </p:stCondLst>
                                        </p:cTn>
                                        <p:tgtEl>
                                          <p:spTgt spid="614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wd">
                                    <p:tmAbs val="300"/>
                                  </p:iterate>
                                  <p:childTnLst>
                                    <p:set>
                                      <p:cBhvr>
                                        <p:cTn id="26" dur="1" fill="hold">
                                          <p:stCondLst>
                                            <p:cond delay="299"/>
                                          </p:stCondLst>
                                        </p:cTn>
                                        <p:tgtEl>
                                          <p:spTgt spid="61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autoUpdateAnimBg="0"/>
      <p:bldP spid="6149"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t>The Battle for reunification</a:t>
            </a:r>
          </a:p>
        </p:txBody>
      </p:sp>
      <p:sp>
        <p:nvSpPr>
          <p:cNvPr id="9219" name="Text Box 3"/>
          <p:cNvSpPr txBox="1">
            <a:spLocks noChangeArrowheads="1"/>
          </p:cNvSpPr>
          <p:nvPr/>
        </p:nvSpPr>
        <p:spPr bwMode="auto">
          <a:xfrm>
            <a:off x="1203325" y="2816225"/>
            <a:ext cx="6548438" cy="1920875"/>
          </a:xfrm>
          <a:prstGeom prst="rect">
            <a:avLst/>
          </a:prstGeom>
          <a:noFill/>
          <a:ln w="9525">
            <a:noFill/>
            <a:miter lim="800000"/>
            <a:headEnd/>
            <a:tailEnd/>
          </a:ln>
        </p:spPr>
        <p:txBody>
          <a:bodyPr wrap="none">
            <a:spAutoFit/>
          </a:bodyPr>
          <a:lstStyle/>
          <a:p>
            <a:r>
              <a:rPr lang="en-US" sz="4000"/>
              <a:t>Orthodoxy and the loop model </a:t>
            </a:r>
          </a:p>
          <a:p>
            <a:r>
              <a:rPr lang="en-US" sz="4000"/>
              <a:t>                of democracy</a:t>
            </a:r>
          </a:p>
          <a:p>
            <a:endParaRPr lang="en-US" sz="4000"/>
          </a:p>
        </p:txBody>
      </p:sp>
      <p:sp>
        <p:nvSpPr>
          <p:cNvPr id="9221" name="Text Box 5"/>
          <p:cNvSpPr txBox="1">
            <a:spLocks noChangeArrowheads="1"/>
          </p:cNvSpPr>
          <p:nvPr/>
        </p:nvSpPr>
        <p:spPr bwMode="auto">
          <a:xfrm>
            <a:off x="441325" y="4765675"/>
            <a:ext cx="18047761" cy="2677656"/>
          </a:xfrm>
          <a:prstGeom prst="rect">
            <a:avLst/>
          </a:prstGeom>
          <a:noFill/>
          <a:ln w="9525">
            <a:noFill/>
            <a:miter lim="800000"/>
            <a:headEnd/>
            <a:tailEnd/>
          </a:ln>
        </p:spPr>
        <p:txBody>
          <a:bodyPr wrap="none">
            <a:spAutoFit/>
          </a:bodyPr>
          <a:lstStyle/>
          <a:p>
            <a:r>
              <a:rPr lang="en-US" dirty="0"/>
              <a:t>a.) people know what they want; b.) politicians offer choices; </a:t>
            </a:r>
          </a:p>
          <a:p>
            <a:r>
              <a:rPr lang="en-US" dirty="0"/>
              <a:t>c.) people choose based on these choices; d.)laws reflect popular will;</a:t>
            </a:r>
          </a:p>
          <a:p>
            <a:r>
              <a:rPr lang="en-US" dirty="0"/>
              <a:t>e.) people pay attention; f.) rascals will be voted out</a:t>
            </a:r>
          </a:p>
          <a:p>
            <a:r>
              <a:rPr lang="en-US" dirty="0">
                <a:hlinkClick r:id="rId4"/>
              </a:rPr>
              <a:t>https://www.youtube.com/watch?v=VucczIg98Gw</a:t>
            </a:r>
            <a:endParaRPr lang="en-US" dirty="0"/>
          </a:p>
          <a:p>
            <a:r>
              <a:rPr lang="en-US" dirty="0">
                <a:hlinkClick r:id="rId5" action="ppaction://hlinksldjump"/>
              </a:rPr>
              <a:t>http://www.bing.com/videos/search?q=What+did+you+learn+in+school+today&amp;qpvt=What+did+you+learn+in+school+today&amp;FORM=VDRE</a:t>
            </a:r>
            <a:r>
              <a:rPr lang="en-US" dirty="0"/>
              <a:t>#</a:t>
            </a:r>
          </a:p>
          <a:p>
            <a:r>
              <a:rPr lang="en-US" dirty="0">
                <a:hlinkClick r:id="rId5" action="ppaction://hlinksldjump"/>
              </a:rPr>
              <a:t>The Battle for reunification</a:t>
            </a:r>
            <a:r>
              <a:rPr lang="en-US" dirty="0"/>
              <a:t> </a:t>
            </a:r>
          </a:p>
          <a:p>
            <a:r>
              <a:rPr lang="en-US" dirty="0">
                <a:hlinkClick r:id="rId6"/>
              </a:rPr>
              <a:t>http://www.bing.com/videos/search?q=What+did+you+learn+in+school+today&amp;qpvt=What+did+you+learn+in+school+today&amp;FORM=VDRE#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9"/>
                                        </p:tgtEl>
                                        <p:attrNameLst>
                                          <p:attrName>style.visibility</p:attrName>
                                        </p:attrNameLst>
                                      </p:cBhvr>
                                      <p:to>
                                        <p:strVal val="visible"/>
                                      </p:to>
                                    </p:set>
                                    <p:anim calcmode="lin" valueType="num">
                                      <p:cBhvr additive="base">
                                        <p:cTn id="7" dur="500" fill="hold"/>
                                        <p:tgtEl>
                                          <p:spTgt spid="9219"/>
                                        </p:tgtEl>
                                        <p:attrNameLst>
                                          <p:attrName>ppt_x</p:attrName>
                                        </p:attrNameLst>
                                      </p:cBhvr>
                                      <p:tavLst>
                                        <p:tav tm="0">
                                          <p:val>
                                            <p:strVal val="0-#ppt_w/2"/>
                                          </p:val>
                                        </p:tav>
                                        <p:tav tm="100000">
                                          <p:val>
                                            <p:strVal val="#ppt_x"/>
                                          </p:val>
                                        </p:tav>
                                      </p:tavLst>
                                    </p:anim>
                                    <p:anim calcmode="lin" valueType="num">
                                      <p:cBhvr additive="base">
                                        <p:cTn id="8" dur="500" fill="hold"/>
                                        <p:tgtEl>
                                          <p:spTgt spid="92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drumroll.wav"/>
                                        </p:tgtEl>
                                      </p:cMediaNode>
                                    </p:audio>
                                  </p:sub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iterate type="wd">
                                    <p:tmPct val="100000"/>
                                  </p:iterate>
                                  <p:childTnLst>
                                    <p:set>
                                      <p:cBhvr>
                                        <p:cTn id="12" dur="1" fill="hold">
                                          <p:stCondLst>
                                            <p:cond delay="0"/>
                                          </p:stCondLst>
                                        </p:cTn>
                                        <p:tgtEl>
                                          <p:spTgt spid="9221"/>
                                        </p:tgtEl>
                                        <p:attrNameLst>
                                          <p:attrName>style.visibility</p:attrName>
                                        </p:attrNameLst>
                                      </p:cBhvr>
                                      <p:to>
                                        <p:strVal val="visible"/>
                                      </p:to>
                                    </p:set>
                                    <p:anim calcmode="lin" valueType="num">
                                      <p:cBhvr>
                                        <p:cTn id="13" dur="300" fill="hold"/>
                                        <p:tgtEl>
                                          <p:spTgt spid="9221"/>
                                        </p:tgtEl>
                                        <p:attrNameLst>
                                          <p:attrName>ppt_w</p:attrName>
                                        </p:attrNameLst>
                                      </p:cBhvr>
                                      <p:tavLst>
                                        <p:tav tm="0">
                                          <p:val>
                                            <p:fltVal val="0"/>
                                          </p:val>
                                        </p:tav>
                                        <p:tav tm="100000">
                                          <p:val>
                                            <p:strVal val="#ppt_w"/>
                                          </p:val>
                                        </p:tav>
                                      </p:tavLst>
                                    </p:anim>
                                    <p:anim calcmode="lin" valueType="num">
                                      <p:cBhvr>
                                        <p:cTn id="14" dur="300" fill="hold"/>
                                        <p:tgtEl>
                                          <p:spTgt spid="922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autoUpdateAnimBg="0"/>
      <p:bldP spid="9221"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t>The seeds of destruction have been sown</a:t>
            </a:r>
          </a:p>
        </p:txBody>
      </p:sp>
      <p:sp>
        <p:nvSpPr>
          <p:cNvPr id="40963" name="Rectangle 3"/>
          <p:cNvSpPr>
            <a:spLocks noGrp="1" noChangeArrowheads="1"/>
          </p:cNvSpPr>
          <p:nvPr>
            <p:ph type="body" sz="half" idx="4294967295"/>
          </p:nvPr>
        </p:nvSpPr>
        <p:spPr>
          <a:xfrm>
            <a:off x="0" y="1981200"/>
            <a:ext cx="3810000" cy="4114800"/>
          </a:xfrm>
        </p:spPr>
        <p:txBody>
          <a:bodyPr/>
          <a:lstStyle/>
          <a:p>
            <a:pPr eaLnBrk="1" hangingPunct="1"/>
            <a:endParaRPr lang="en-US" sz="2800"/>
          </a:p>
          <a:p>
            <a:pPr lvl="1" eaLnBrk="1" hangingPunct="1"/>
            <a:endParaRPr lang="en-US" sz="2400"/>
          </a:p>
        </p:txBody>
      </p:sp>
      <p:sp>
        <p:nvSpPr>
          <p:cNvPr id="10245" name="Oval 5"/>
          <p:cNvSpPr>
            <a:spLocks noChangeArrowheads="1"/>
          </p:cNvSpPr>
          <p:nvPr/>
        </p:nvSpPr>
        <p:spPr bwMode="auto">
          <a:xfrm flipV="1">
            <a:off x="1219200" y="2514600"/>
            <a:ext cx="2286000" cy="2286000"/>
          </a:xfrm>
          <a:prstGeom prst="ellipse">
            <a:avLst/>
          </a:prstGeom>
          <a:noFill/>
          <a:ln w="9525">
            <a:solidFill>
              <a:schemeClr val="tx1"/>
            </a:solidFill>
            <a:round/>
            <a:headEnd/>
            <a:tailEnd/>
          </a:ln>
        </p:spPr>
        <p:txBody>
          <a:bodyPr wrap="none" anchor="ctr"/>
          <a:lstStyle/>
          <a:p>
            <a:endParaRPr lang="en-US"/>
          </a:p>
        </p:txBody>
      </p:sp>
      <p:sp>
        <p:nvSpPr>
          <p:cNvPr id="10246" name="Text Box 6"/>
          <p:cNvSpPr txBox="1">
            <a:spLocks noChangeArrowheads="1"/>
          </p:cNvSpPr>
          <p:nvPr/>
        </p:nvSpPr>
        <p:spPr bwMode="auto">
          <a:xfrm>
            <a:off x="1431925" y="3138488"/>
            <a:ext cx="1760538" cy="701675"/>
          </a:xfrm>
          <a:prstGeom prst="rect">
            <a:avLst/>
          </a:prstGeom>
          <a:noFill/>
          <a:ln w="9525">
            <a:noFill/>
            <a:miter lim="800000"/>
            <a:headEnd/>
            <a:tailEnd/>
          </a:ln>
        </p:spPr>
        <p:txBody>
          <a:bodyPr wrap="none">
            <a:spAutoFit/>
          </a:bodyPr>
          <a:lstStyle/>
          <a:p>
            <a:r>
              <a:rPr lang="en-US" sz="2000"/>
              <a:t>Monologic </a:t>
            </a:r>
          </a:p>
          <a:p>
            <a:r>
              <a:rPr lang="en-US" sz="2000"/>
              <a:t>communication</a:t>
            </a:r>
          </a:p>
        </p:txBody>
      </p:sp>
      <p:sp>
        <p:nvSpPr>
          <p:cNvPr id="10247" name="Oval 7"/>
          <p:cNvSpPr>
            <a:spLocks noChangeArrowheads="1"/>
          </p:cNvSpPr>
          <p:nvPr/>
        </p:nvSpPr>
        <p:spPr bwMode="auto">
          <a:xfrm>
            <a:off x="4114800" y="2514600"/>
            <a:ext cx="1828800" cy="914400"/>
          </a:xfrm>
          <a:prstGeom prst="ellipse">
            <a:avLst/>
          </a:prstGeom>
          <a:noFill/>
          <a:ln w="9525">
            <a:solidFill>
              <a:schemeClr val="tx1"/>
            </a:solidFill>
            <a:round/>
            <a:headEnd/>
            <a:tailEnd/>
          </a:ln>
        </p:spPr>
        <p:txBody>
          <a:bodyPr wrap="none" anchor="ctr"/>
          <a:lstStyle/>
          <a:p>
            <a:endParaRPr lang="en-US"/>
          </a:p>
        </p:txBody>
      </p:sp>
      <p:sp>
        <p:nvSpPr>
          <p:cNvPr id="10248" name="Text Box 8"/>
          <p:cNvSpPr txBox="1">
            <a:spLocks noChangeArrowheads="1"/>
          </p:cNvSpPr>
          <p:nvPr/>
        </p:nvSpPr>
        <p:spPr bwMode="auto">
          <a:xfrm>
            <a:off x="4403725" y="2605088"/>
            <a:ext cx="1492250" cy="701675"/>
          </a:xfrm>
          <a:prstGeom prst="rect">
            <a:avLst/>
          </a:prstGeom>
          <a:noFill/>
          <a:ln w="9525">
            <a:noFill/>
            <a:miter lim="800000"/>
            <a:headEnd/>
            <a:tailEnd/>
          </a:ln>
        </p:spPr>
        <p:txBody>
          <a:bodyPr wrap="none">
            <a:spAutoFit/>
          </a:bodyPr>
          <a:lstStyle/>
          <a:p>
            <a:r>
              <a:rPr lang="en-US" sz="2000"/>
              <a:t>Pseudo</a:t>
            </a:r>
          </a:p>
          <a:p>
            <a:r>
              <a:rPr lang="en-US" sz="2000"/>
              <a:t>communities</a:t>
            </a:r>
          </a:p>
        </p:txBody>
      </p:sp>
      <p:sp>
        <p:nvSpPr>
          <p:cNvPr id="10249" name="Oval 9"/>
          <p:cNvSpPr>
            <a:spLocks noChangeArrowheads="1"/>
          </p:cNvSpPr>
          <p:nvPr/>
        </p:nvSpPr>
        <p:spPr bwMode="auto">
          <a:xfrm>
            <a:off x="2743200" y="4419600"/>
            <a:ext cx="2590800" cy="1752600"/>
          </a:xfrm>
          <a:prstGeom prst="ellipse">
            <a:avLst/>
          </a:prstGeom>
          <a:noFill/>
          <a:ln w="9525">
            <a:solidFill>
              <a:schemeClr val="tx1"/>
            </a:solidFill>
            <a:round/>
            <a:headEnd/>
            <a:tailEnd/>
          </a:ln>
        </p:spPr>
        <p:txBody>
          <a:bodyPr wrap="none" anchor="ctr"/>
          <a:lstStyle/>
          <a:p>
            <a:endParaRPr lang="en-US"/>
          </a:p>
        </p:txBody>
      </p:sp>
      <p:sp>
        <p:nvSpPr>
          <p:cNvPr id="10250" name="Text Box 10"/>
          <p:cNvSpPr txBox="1">
            <a:spLocks noChangeArrowheads="1"/>
          </p:cNvSpPr>
          <p:nvPr/>
        </p:nvSpPr>
        <p:spPr bwMode="auto">
          <a:xfrm>
            <a:off x="2955925" y="4891088"/>
            <a:ext cx="1168400" cy="396875"/>
          </a:xfrm>
          <a:prstGeom prst="rect">
            <a:avLst/>
          </a:prstGeom>
          <a:noFill/>
          <a:ln w="9525">
            <a:noFill/>
            <a:miter lim="800000"/>
            <a:headEnd/>
            <a:tailEnd/>
          </a:ln>
        </p:spPr>
        <p:txBody>
          <a:bodyPr wrap="none">
            <a:spAutoFit/>
          </a:bodyPr>
          <a:lstStyle/>
          <a:p>
            <a:r>
              <a:rPr lang="en-US" sz="2000"/>
              <a:t>simulacra</a:t>
            </a:r>
          </a:p>
        </p:txBody>
      </p:sp>
      <p:sp>
        <p:nvSpPr>
          <p:cNvPr id="10251" name="Oval 11"/>
          <p:cNvSpPr>
            <a:spLocks noChangeArrowheads="1"/>
          </p:cNvSpPr>
          <p:nvPr/>
        </p:nvSpPr>
        <p:spPr bwMode="auto">
          <a:xfrm>
            <a:off x="5943600" y="3581400"/>
            <a:ext cx="2438400" cy="1295400"/>
          </a:xfrm>
          <a:prstGeom prst="ellipse">
            <a:avLst/>
          </a:prstGeom>
          <a:noFill/>
          <a:ln w="9525">
            <a:solidFill>
              <a:schemeClr val="tx1"/>
            </a:solidFill>
            <a:round/>
            <a:headEnd/>
            <a:tailEnd/>
          </a:ln>
        </p:spPr>
        <p:txBody>
          <a:bodyPr wrap="none" anchor="ctr"/>
          <a:lstStyle/>
          <a:p>
            <a:endParaRPr lang="en-US"/>
          </a:p>
        </p:txBody>
      </p:sp>
      <p:sp>
        <p:nvSpPr>
          <p:cNvPr id="10252" name="Text Box 12"/>
          <p:cNvSpPr txBox="1">
            <a:spLocks noChangeArrowheads="1"/>
          </p:cNvSpPr>
          <p:nvPr/>
        </p:nvSpPr>
        <p:spPr bwMode="auto">
          <a:xfrm>
            <a:off x="6308725" y="3976688"/>
            <a:ext cx="1373188" cy="396875"/>
          </a:xfrm>
          <a:prstGeom prst="rect">
            <a:avLst/>
          </a:prstGeom>
          <a:noFill/>
          <a:ln w="9525">
            <a:noFill/>
            <a:miter lim="800000"/>
            <a:headEnd/>
            <a:tailEnd/>
          </a:ln>
        </p:spPr>
        <p:txBody>
          <a:bodyPr wrap="none">
            <a:spAutoFit/>
          </a:bodyPr>
          <a:lstStyle/>
          <a:p>
            <a:r>
              <a:rPr lang="en-US" sz="2000"/>
              <a:t>Reification </a:t>
            </a:r>
          </a:p>
        </p:txBody>
      </p:sp>
      <p:sp>
        <p:nvSpPr>
          <p:cNvPr id="10253" name="Oval 13"/>
          <p:cNvSpPr>
            <a:spLocks noChangeArrowheads="1"/>
          </p:cNvSpPr>
          <p:nvPr/>
        </p:nvSpPr>
        <p:spPr bwMode="auto">
          <a:xfrm>
            <a:off x="5943600" y="1676400"/>
            <a:ext cx="2057400" cy="1676400"/>
          </a:xfrm>
          <a:prstGeom prst="ellipse">
            <a:avLst/>
          </a:prstGeom>
          <a:noFill/>
          <a:ln w="9525">
            <a:solidFill>
              <a:schemeClr val="tx1"/>
            </a:solidFill>
            <a:round/>
            <a:headEnd/>
            <a:tailEnd/>
          </a:ln>
        </p:spPr>
        <p:txBody>
          <a:bodyPr wrap="none" anchor="ctr"/>
          <a:lstStyle/>
          <a:p>
            <a:endParaRPr lang="en-US"/>
          </a:p>
        </p:txBody>
      </p:sp>
      <p:sp>
        <p:nvSpPr>
          <p:cNvPr id="10254" name="Text Box 14"/>
          <p:cNvSpPr txBox="1">
            <a:spLocks noChangeArrowheads="1"/>
          </p:cNvSpPr>
          <p:nvPr/>
        </p:nvSpPr>
        <p:spPr bwMode="auto">
          <a:xfrm>
            <a:off x="6156325" y="1919288"/>
            <a:ext cx="1423988" cy="701675"/>
          </a:xfrm>
          <a:prstGeom prst="rect">
            <a:avLst/>
          </a:prstGeom>
          <a:noFill/>
          <a:ln w="9525">
            <a:noFill/>
            <a:miter lim="800000"/>
            <a:headEnd/>
            <a:tailEnd/>
          </a:ln>
        </p:spPr>
        <p:txBody>
          <a:bodyPr wrap="none">
            <a:spAutoFit/>
          </a:bodyPr>
          <a:lstStyle/>
          <a:p>
            <a:r>
              <a:rPr lang="en-US" sz="2000"/>
              <a:t>De-centered</a:t>
            </a:r>
          </a:p>
          <a:p>
            <a:r>
              <a:rPr lang="en-US" sz="2000"/>
              <a:t>self</a:t>
            </a:r>
          </a:p>
        </p:txBody>
      </p:sp>
      <p:sp>
        <p:nvSpPr>
          <p:cNvPr id="10260" name="Oval 20"/>
          <p:cNvSpPr>
            <a:spLocks noChangeArrowheads="1"/>
          </p:cNvSpPr>
          <p:nvPr/>
        </p:nvSpPr>
        <p:spPr bwMode="auto">
          <a:xfrm>
            <a:off x="0" y="5410200"/>
            <a:ext cx="2057400" cy="990600"/>
          </a:xfrm>
          <a:prstGeom prst="ellipse">
            <a:avLst/>
          </a:prstGeom>
          <a:noFill/>
          <a:ln w="9525">
            <a:solidFill>
              <a:schemeClr val="tx1"/>
            </a:solidFill>
            <a:round/>
            <a:headEnd/>
            <a:tailEnd/>
          </a:ln>
        </p:spPr>
        <p:txBody>
          <a:bodyPr wrap="none" anchor="ctr"/>
          <a:lstStyle/>
          <a:p>
            <a:endParaRPr lang="en-US"/>
          </a:p>
        </p:txBody>
      </p:sp>
      <p:sp>
        <p:nvSpPr>
          <p:cNvPr id="10261" name="Text Box 21"/>
          <p:cNvSpPr txBox="1">
            <a:spLocks noChangeArrowheads="1"/>
          </p:cNvSpPr>
          <p:nvPr/>
        </p:nvSpPr>
        <p:spPr bwMode="auto">
          <a:xfrm>
            <a:off x="288925" y="5500688"/>
            <a:ext cx="1114425" cy="701675"/>
          </a:xfrm>
          <a:prstGeom prst="rect">
            <a:avLst/>
          </a:prstGeom>
          <a:noFill/>
          <a:ln w="9525">
            <a:noFill/>
            <a:miter lim="800000"/>
            <a:headEnd/>
            <a:tailEnd/>
          </a:ln>
        </p:spPr>
        <p:txBody>
          <a:bodyPr wrap="none">
            <a:spAutoFit/>
          </a:bodyPr>
          <a:lstStyle/>
          <a:p>
            <a:r>
              <a:rPr lang="en-US" sz="2000"/>
              <a:t>Thinning</a:t>
            </a:r>
          </a:p>
          <a:p>
            <a:r>
              <a:rPr lang="en-US" sz="2000"/>
              <a:t>reality </a:t>
            </a:r>
          </a:p>
        </p:txBody>
      </p:sp>
      <p:sp>
        <p:nvSpPr>
          <p:cNvPr id="10262" name="Oval 22"/>
          <p:cNvSpPr>
            <a:spLocks noChangeArrowheads="1"/>
          </p:cNvSpPr>
          <p:nvPr/>
        </p:nvSpPr>
        <p:spPr bwMode="auto">
          <a:xfrm>
            <a:off x="7010400" y="5334000"/>
            <a:ext cx="1905000" cy="1524000"/>
          </a:xfrm>
          <a:prstGeom prst="ellipse">
            <a:avLst/>
          </a:prstGeom>
          <a:noFill/>
          <a:ln w="9525">
            <a:solidFill>
              <a:schemeClr val="tx1"/>
            </a:solidFill>
            <a:round/>
            <a:headEnd/>
            <a:tailEnd/>
          </a:ln>
        </p:spPr>
        <p:txBody>
          <a:bodyPr wrap="none" anchor="ctr"/>
          <a:lstStyle/>
          <a:p>
            <a:endParaRPr lang="en-US"/>
          </a:p>
        </p:txBody>
      </p:sp>
      <p:sp>
        <p:nvSpPr>
          <p:cNvPr id="10263" name="Text Box 23"/>
          <p:cNvSpPr txBox="1">
            <a:spLocks noChangeArrowheads="1"/>
          </p:cNvSpPr>
          <p:nvPr/>
        </p:nvSpPr>
        <p:spPr bwMode="auto">
          <a:xfrm>
            <a:off x="7299325" y="5653088"/>
            <a:ext cx="1449388" cy="396875"/>
          </a:xfrm>
          <a:prstGeom prst="rect">
            <a:avLst/>
          </a:prstGeom>
          <a:noFill/>
          <a:ln w="9525">
            <a:noFill/>
            <a:miter lim="800000"/>
            <a:headEnd/>
            <a:tailEnd/>
          </a:ln>
        </p:spPr>
        <p:txBody>
          <a:bodyPr wrap="none">
            <a:spAutoFit/>
          </a:bodyPr>
          <a:lstStyle/>
          <a:p>
            <a:r>
              <a:rPr lang="en-US" sz="2000"/>
              <a:t>neotribalism</a:t>
            </a:r>
          </a:p>
        </p:txBody>
      </p:sp>
      <p:sp>
        <p:nvSpPr>
          <p:cNvPr id="10266" name="Oval 26"/>
          <p:cNvSpPr>
            <a:spLocks noChangeArrowheads="1"/>
          </p:cNvSpPr>
          <p:nvPr/>
        </p:nvSpPr>
        <p:spPr bwMode="auto">
          <a:xfrm>
            <a:off x="0" y="1371600"/>
            <a:ext cx="1676400" cy="1828800"/>
          </a:xfrm>
          <a:prstGeom prst="ellipse">
            <a:avLst/>
          </a:prstGeom>
          <a:noFill/>
          <a:ln w="9525">
            <a:solidFill>
              <a:schemeClr val="tx1"/>
            </a:solidFill>
            <a:round/>
            <a:headEnd/>
            <a:tailEnd/>
          </a:ln>
        </p:spPr>
        <p:txBody>
          <a:bodyPr wrap="none" anchor="ctr"/>
          <a:lstStyle/>
          <a:p>
            <a:endParaRPr lang="en-US"/>
          </a:p>
        </p:txBody>
      </p:sp>
      <p:sp>
        <p:nvSpPr>
          <p:cNvPr id="10267" name="Text Box 27"/>
          <p:cNvSpPr txBox="1">
            <a:spLocks noChangeArrowheads="1"/>
          </p:cNvSpPr>
          <p:nvPr/>
        </p:nvSpPr>
        <p:spPr bwMode="auto">
          <a:xfrm>
            <a:off x="212725" y="1538288"/>
            <a:ext cx="1370013" cy="1616075"/>
          </a:xfrm>
          <a:prstGeom prst="rect">
            <a:avLst/>
          </a:prstGeom>
          <a:noFill/>
          <a:ln w="9525">
            <a:noFill/>
            <a:miter lim="800000"/>
            <a:headEnd/>
            <a:tailEnd/>
          </a:ln>
        </p:spPr>
        <p:txBody>
          <a:bodyPr wrap="none">
            <a:spAutoFit/>
          </a:bodyPr>
          <a:lstStyle/>
          <a:p>
            <a:r>
              <a:rPr lang="en-US" sz="2000"/>
              <a:t>Meta </a:t>
            </a:r>
          </a:p>
          <a:p>
            <a:r>
              <a:rPr lang="en-US" sz="2000"/>
              <a:t>Narratives</a:t>
            </a:r>
          </a:p>
          <a:p>
            <a:r>
              <a:rPr lang="en-US" sz="2000"/>
              <a:t>And God’s </a:t>
            </a:r>
          </a:p>
          <a:p>
            <a:r>
              <a:rPr lang="en-US" sz="2000"/>
              <a:t>Eye are </a:t>
            </a:r>
          </a:p>
          <a:p>
            <a:r>
              <a:rPr lang="en-US" sz="2000"/>
              <a:t>blinded</a:t>
            </a:r>
          </a:p>
        </p:txBody>
      </p:sp>
      <p:sp>
        <p:nvSpPr>
          <p:cNvPr id="20" name="TextBox 19"/>
          <p:cNvSpPr txBox="1">
            <a:spLocks noChangeArrowheads="1"/>
          </p:cNvSpPr>
          <p:nvPr/>
        </p:nvSpPr>
        <p:spPr bwMode="auto">
          <a:xfrm flipH="1">
            <a:off x="7086600" y="6096000"/>
            <a:ext cx="1828800" cy="461963"/>
          </a:xfrm>
          <a:prstGeom prst="rect">
            <a:avLst/>
          </a:prstGeom>
          <a:noFill/>
          <a:ln w="9525">
            <a:noFill/>
            <a:miter lim="800000"/>
            <a:headEnd/>
            <a:tailEnd/>
          </a:ln>
        </p:spPr>
        <p:txBody>
          <a:bodyPr>
            <a:spAutoFit/>
          </a:bodyPr>
          <a:lstStyle/>
          <a:p>
            <a:r>
              <a:rPr lang="en-US" sz="1200" b="1"/>
              <a:t>It’s not a traditional America, anymore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 calcmode="lin" valueType="num">
                                      <p:cBhvr additive="base">
                                        <p:cTn id="7" dur="500" fill="hold"/>
                                        <p:tgtEl>
                                          <p:spTgt spid="10245"/>
                                        </p:tgtEl>
                                        <p:attrNameLst>
                                          <p:attrName>ppt_x</p:attrName>
                                        </p:attrNameLst>
                                      </p:cBhvr>
                                      <p:tavLst>
                                        <p:tav tm="0">
                                          <p:val>
                                            <p:strVal val="0-#ppt_w/2"/>
                                          </p:val>
                                        </p:tav>
                                        <p:tav tm="100000">
                                          <p:val>
                                            <p:strVal val="#ppt_x"/>
                                          </p:val>
                                        </p:tav>
                                      </p:tavLst>
                                    </p:anim>
                                    <p:anim calcmode="lin" valueType="num">
                                      <p:cBhvr additive="base">
                                        <p:cTn id="8" dur="500" fill="hold"/>
                                        <p:tgtEl>
                                          <p:spTgt spid="1024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0246">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024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1" fill="hold" grpId="0" nodeType="clickEffect">
                                  <p:stCondLst>
                                    <p:cond delay="0"/>
                                  </p:stCondLst>
                                  <p:childTnLst>
                                    <p:set>
                                      <p:cBhvr>
                                        <p:cTn id="20" dur="1" fill="hold">
                                          <p:stCondLst>
                                            <p:cond delay="0"/>
                                          </p:stCondLst>
                                        </p:cTn>
                                        <p:tgtEl>
                                          <p:spTgt spid="10247"/>
                                        </p:tgtEl>
                                        <p:attrNameLst>
                                          <p:attrName>style.visibility</p:attrName>
                                        </p:attrNameLst>
                                      </p:cBhvr>
                                      <p:to>
                                        <p:strVal val="visible"/>
                                      </p:to>
                                    </p:set>
                                    <p:anim calcmode="lin" valueType="num">
                                      <p:cBhvr additive="base">
                                        <p:cTn id="21" dur="500" fill="hold"/>
                                        <p:tgtEl>
                                          <p:spTgt spid="10247"/>
                                        </p:tgtEl>
                                        <p:attrNameLst>
                                          <p:attrName>ppt_x</p:attrName>
                                        </p:attrNameLst>
                                      </p:cBhvr>
                                      <p:tavLst>
                                        <p:tav tm="0">
                                          <p:val>
                                            <p:strVal val="#ppt_x"/>
                                          </p:val>
                                        </p:tav>
                                        <p:tav tm="100000">
                                          <p:val>
                                            <p:strVal val="#ppt_x"/>
                                          </p:val>
                                        </p:tav>
                                      </p:tavLst>
                                    </p:anim>
                                    <p:anim calcmode="lin" valueType="num">
                                      <p:cBhvr additive="base">
                                        <p:cTn id="22" dur="500" fill="hold"/>
                                        <p:tgtEl>
                                          <p:spTgt spid="10247"/>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24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024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0249"/>
                                        </p:tgtEl>
                                        <p:attrNameLst>
                                          <p:attrName>style.visibility</p:attrName>
                                        </p:attrNameLst>
                                      </p:cBhvr>
                                      <p:to>
                                        <p:strVal val="visible"/>
                                      </p:to>
                                    </p:set>
                                    <p:anim calcmode="lin" valueType="num">
                                      <p:cBhvr additive="base">
                                        <p:cTn id="35" dur="500" fill="hold"/>
                                        <p:tgtEl>
                                          <p:spTgt spid="10249"/>
                                        </p:tgtEl>
                                        <p:attrNameLst>
                                          <p:attrName>ppt_x</p:attrName>
                                        </p:attrNameLst>
                                      </p:cBhvr>
                                      <p:tavLst>
                                        <p:tav tm="0">
                                          <p:val>
                                            <p:strVal val="0-#ppt_w/2"/>
                                          </p:val>
                                        </p:tav>
                                        <p:tav tm="100000">
                                          <p:val>
                                            <p:strVal val="#ppt_x"/>
                                          </p:val>
                                        </p:tav>
                                      </p:tavLst>
                                    </p:anim>
                                    <p:anim calcmode="lin" valueType="num">
                                      <p:cBhvr additive="base">
                                        <p:cTn id="36" dur="500" fill="hold"/>
                                        <p:tgtEl>
                                          <p:spTgt spid="1024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10250">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0251"/>
                                        </p:tgtEl>
                                        <p:attrNameLst>
                                          <p:attrName>style.visibility</p:attrName>
                                        </p:attrNameLst>
                                      </p:cBhvr>
                                      <p:to>
                                        <p:strVal val="visible"/>
                                      </p:to>
                                    </p:set>
                                    <p:animEffect transition="in" filter="wipe(left)">
                                      <p:cBhvr>
                                        <p:cTn id="45" dur="500"/>
                                        <p:tgtEl>
                                          <p:spTgt spid="10251"/>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10252">
                                            <p:txEl>
                                              <p:pRg st="0" end="0"/>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10253"/>
                                        </p:tgtEl>
                                        <p:attrNameLst>
                                          <p:attrName>style.visibility</p:attrName>
                                        </p:attrNameLst>
                                      </p:cBhvr>
                                      <p:to>
                                        <p:strVal val="visible"/>
                                      </p:to>
                                    </p:set>
                                    <p:anim calcmode="lin" valueType="num">
                                      <p:cBhvr additive="base">
                                        <p:cTn id="54" dur="500" fill="hold"/>
                                        <p:tgtEl>
                                          <p:spTgt spid="10253"/>
                                        </p:tgtEl>
                                        <p:attrNameLst>
                                          <p:attrName>ppt_x</p:attrName>
                                        </p:attrNameLst>
                                      </p:cBhvr>
                                      <p:tavLst>
                                        <p:tav tm="0">
                                          <p:val>
                                            <p:strVal val="1+#ppt_w/2"/>
                                          </p:val>
                                        </p:tav>
                                        <p:tav tm="100000">
                                          <p:val>
                                            <p:strVal val="#ppt_x"/>
                                          </p:val>
                                        </p:tav>
                                      </p:tavLst>
                                    </p:anim>
                                    <p:anim calcmode="lin" valueType="num">
                                      <p:cBhvr additive="base">
                                        <p:cTn id="55" dur="500" fill="hold"/>
                                        <p:tgtEl>
                                          <p:spTgt spid="1025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2"/>
                                            </p:cond>
                                          </p:stCondLst>
                                          <p:endCondLst>
                                            <p:cond evt="onStopAudio" delay="0">
                                              <p:tgtEl>
                                                <p:sldTgt/>
                                              </p:tgtEl>
                                            </p:cond>
                                          </p:endCondLst>
                                        </p:cTn>
                                        <p:tgtEl>
                                          <p:sndTgt r:embed="rId3" name="carbrake.wav"/>
                                        </p:tgtEl>
                                      </p:cMediaNode>
                                    </p:audio>
                                  </p:sub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10254">
                                            <p:txEl>
                                              <p:pRg st="0" end="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499"/>
                                          </p:stCondLst>
                                        </p:cTn>
                                        <p:tgtEl>
                                          <p:spTgt spid="10254">
                                            <p:txEl>
                                              <p:pRg st="1" end="1"/>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 presetClass="entr" presetSubtype="1" fill="hold" grpId="0" nodeType="clickEffect">
                                  <p:stCondLst>
                                    <p:cond delay="0"/>
                                  </p:stCondLst>
                                  <p:iterate type="wd">
                                    <p:tmPct val="100000"/>
                                  </p:iterate>
                                  <p:childTnLst>
                                    <p:set>
                                      <p:cBhvr>
                                        <p:cTn id="67" dur="1" fill="hold">
                                          <p:stCondLst>
                                            <p:cond delay="0"/>
                                          </p:stCondLst>
                                        </p:cTn>
                                        <p:tgtEl>
                                          <p:spTgt spid="10261">
                                            <p:txEl>
                                              <p:pRg st="0" end="0"/>
                                            </p:txEl>
                                          </p:spTgt>
                                        </p:tgtEl>
                                        <p:attrNameLst>
                                          <p:attrName>style.visibility</p:attrName>
                                        </p:attrNameLst>
                                      </p:cBhvr>
                                      <p:to>
                                        <p:strVal val="visible"/>
                                      </p:to>
                                    </p:set>
                                    <p:anim calcmode="lin" valueType="num">
                                      <p:cBhvr additive="base">
                                        <p:cTn id="68" dur="300" fill="hold"/>
                                        <p:tgtEl>
                                          <p:spTgt spid="10261">
                                            <p:txEl>
                                              <p:pRg st="0" end="0"/>
                                            </p:txEl>
                                          </p:spTgt>
                                        </p:tgtEl>
                                        <p:attrNameLst>
                                          <p:attrName>ppt_x</p:attrName>
                                        </p:attrNameLst>
                                      </p:cBhvr>
                                      <p:tavLst>
                                        <p:tav tm="0">
                                          <p:val>
                                            <p:strVal val="#ppt_x"/>
                                          </p:val>
                                        </p:tav>
                                        <p:tav tm="100000">
                                          <p:val>
                                            <p:strVal val="#ppt_x"/>
                                          </p:val>
                                        </p:tav>
                                      </p:tavLst>
                                    </p:anim>
                                    <p:anim calcmode="lin" valueType="num">
                                      <p:cBhvr additive="base">
                                        <p:cTn id="69" dur="300" fill="hold"/>
                                        <p:tgtEl>
                                          <p:spTgt spid="1026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1" fill="hold" grpId="0" nodeType="clickEffect">
                                  <p:stCondLst>
                                    <p:cond delay="0"/>
                                  </p:stCondLst>
                                  <p:iterate type="wd">
                                    <p:tmPct val="100000"/>
                                  </p:iterate>
                                  <p:childTnLst>
                                    <p:set>
                                      <p:cBhvr>
                                        <p:cTn id="73" dur="1" fill="hold">
                                          <p:stCondLst>
                                            <p:cond delay="0"/>
                                          </p:stCondLst>
                                        </p:cTn>
                                        <p:tgtEl>
                                          <p:spTgt spid="10261">
                                            <p:txEl>
                                              <p:pRg st="1" end="1"/>
                                            </p:txEl>
                                          </p:spTgt>
                                        </p:tgtEl>
                                        <p:attrNameLst>
                                          <p:attrName>style.visibility</p:attrName>
                                        </p:attrNameLst>
                                      </p:cBhvr>
                                      <p:to>
                                        <p:strVal val="visible"/>
                                      </p:to>
                                    </p:set>
                                    <p:anim calcmode="lin" valueType="num">
                                      <p:cBhvr additive="base">
                                        <p:cTn id="74" dur="300" fill="hold"/>
                                        <p:tgtEl>
                                          <p:spTgt spid="10261">
                                            <p:txEl>
                                              <p:pRg st="1" end="1"/>
                                            </p:txEl>
                                          </p:spTgt>
                                        </p:tgtEl>
                                        <p:attrNameLst>
                                          <p:attrName>ppt_x</p:attrName>
                                        </p:attrNameLst>
                                      </p:cBhvr>
                                      <p:tavLst>
                                        <p:tav tm="0">
                                          <p:val>
                                            <p:strVal val="#ppt_x"/>
                                          </p:val>
                                        </p:tav>
                                        <p:tav tm="100000">
                                          <p:val>
                                            <p:strVal val="#ppt_x"/>
                                          </p:val>
                                        </p:tav>
                                      </p:tavLst>
                                    </p:anim>
                                    <p:anim calcmode="lin" valueType="num">
                                      <p:cBhvr additive="base">
                                        <p:cTn id="75" dur="300" fill="hold"/>
                                        <p:tgtEl>
                                          <p:spTgt spid="10261">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10260"/>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499"/>
                                          </p:stCondLst>
                                        </p:cTn>
                                        <p:tgtEl>
                                          <p:spTgt spid="10262"/>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0263">
                                            <p:txEl>
                                              <p:pRg st="0" end="0"/>
                                            </p:txEl>
                                          </p:spTgt>
                                        </p:tgtEl>
                                        <p:attrNameLst>
                                          <p:attrName>style.visibility</p:attrName>
                                        </p:attrNameLst>
                                      </p:cBhvr>
                                      <p:to>
                                        <p:strVal val="visible"/>
                                      </p:to>
                                    </p:set>
                                    <p:animEffect transition="in" filter="wipe(left)">
                                      <p:cBhvr>
                                        <p:cTn id="88" dur="500"/>
                                        <p:tgtEl>
                                          <p:spTgt spid="10263">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dissolve">
                                      <p:cBhvr>
                                        <p:cTn id="93" dur="500"/>
                                        <p:tgtEl>
                                          <p:spTgt spid="20"/>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0266"/>
                                        </p:tgtEl>
                                        <p:attrNameLst>
                                          <p:attrName>style.visibility</p:attrName>
                                        </p:attrNameLst>
                                      </p:cBhvr>
                                      <p:to>
                                        <p:strVal val="visible"/>
                                      </p:to>
                                    </p:set>
                                    <p:animEffect transition="in" filter="wipe(left)">
                                      <p:cBhvr>
                                        <p:cTn id="98" dur="500"/>
                                        <p:tgtEl>
                                          <p:spTgt spid="10266"/>
                                        </p:tgtEl>
                                      </p:cBhvr>
                                    </p:animEffect>
                                  </p:childTnLst>
                                </p:cTn>
                              </p:par>
                            </p:childTnLst>
                          </p:cTn>
                        </p:par>
                      </p:childTnLst>
                    </p:cTn>
                  </p:par>
                  <p:par>
                    <p:cTn id="99" fill="hold">
                      <p:stCondLst>
                        <p:cond delay="indefinite"/>
                      </p:stCondLst>
                      <p:childTnLst>
                        <p:par>
                          <p:cTn id="100" fill="hold">
                            <p:stCondLst>
                              <p:cond delay="0"/>
                            </p:stCondLst>
                            <p:childTnLst>
                              <p:par>
                                <p:cTn id="101" presetID="2" presetClass="entr" presetSubtype="1" fill="hold" grpId="0" nodeType="clickEffect">
                                  <p:stCondLst>
                                    <p:cond delay="0"/>
                                  </p:stCondLst>
                                  <p:iterate type="wd">
                                    <p:tmPct val="100000"/>
                                  </p:iterate>
                                  <p:childTnLst>
                                    <p:set>
                                      <p:cBhvr>
                                        <p:cTn id="102" dur="1" fill="hold">
                                          <p:stCondLst>
                                            <p:cond delay="0"/>
                                          </p:stCondLst>
                                        </p:cTn>
                                        <p:tgtEl>
                                          <p:spTgt spid="10267">
                                            <p:txEl>
                                              <p:pRg st="0" end="0"/>
                                            </p:txEl>
                                          </p:spTgt>
                                        </p:tgtEl>
                                        <p:attrNameLst>
                                          <p:attrName>style.visibility</p:attrName>
                                        </p:attrNameLst>
                                      </p:cBhvr>
                                      <p:to>
                                        <p:strVal val="visible"/>
                                      </p:to>
                                    </p:set>
                                    <p:anim calcmode="lin" valueType="num">
                                      <p:cBhvr additive="base">
                                        <p:cTn id="103" dur="300" fill="hold"/>
                                        <p:tgtEl>
                                          <p:spTgt spid="10267">
                                            <p:txEl>
                                              <p:pRg st="0" end="0"/>
                                            </p:txEl>
                                          </p:spTgt>
                                        </p:tgtEl>
                                        <p:attrNameLst>
                                          <p:attrName>ppt_x</p:attrName>
                                        </p:attrNameLst>
                                      </p:cBhvr>
                                      <p:tavLst>
                                        <p:tav tm="0">
                                          <p:val>
                                            <p:strVal val="#ppt_x"/>
                                          </p:val>
                                        </p:tav>
                                        <p:tav tm="100000">
                                          <p:val>
                                            <p:strVal val="#ppt_x"/>
                                          </p:val>
                                        </p:tav>
                                      </p:tavLst>
                                    </p:anim>
                                    <p:anim calcmode="lin" valueType="num">
                                      <p:cBhvr additive="base">
                                        <p:cTn id="104" dur="300" fill="hold"/>
                                        <p:tgtEl>
                                          <p:spTgt spid="10267">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1" fill="hold" grpId="0" nodeType="clickEffect">
                                  <p:stCondLst>
                                    <p:cond delay="0"/>
                                  </p:stCondLst>
                                  <p:iterate type="wd">
                                    <p:tmPct val="100000"/>
                                  </p:iterate>
                                  <p:childTnLst>
                                    <p:set>
                                      <p:cBhvr>
                                        <p:cTn id="108" dur="1" fill="hold">
                                          <p:stCondLst>
                                            <p:cond delay="0"/>
                                          </p:stCondLst>
                                        </p:cTn>
                                        <p:tgtEl>
                                          <p:spTgt spid="10267">
                                            <p:txEl>
                                              <p:pRg st="1" end="1"/>
                                            </p:txEl>
                                          </p:spTgt>
                                        </p:tgtEl>
                                        <p:attrNameLst>
                                          <p:attrName>style.visibility</p:attrName>
                                        </p:attrNameLst>
                                      </p:cBhvr>
                                      <p:to>
                                        <p:strVal val="visible"/>
                                      </p:to>
                                    </p:set>
                                    <p:anim calcmode="lin" valueType="num">
                                      <p:cBhvr additive="base">
                                        <p:cTn id="109" dur="300" fill="hold"/>
                                        <p:tgtEl>
                                          <p:spTgt spid="10267">
                                            <p:txEl>
                                              <p:pRg st="1" end="1"/>
                                            </p:txEl>
                                          </p:spTgt>
                                        </p:tgtEl>
                                        <p:attrNameLst>
                                          <p:attrName>ppt_x</p:attrName>
                                        </p:attrNameLst>
                                      </p:cBhvr>
                                      <p:tavLst>
                                        <p:tav tm="0">
                                          <p:val>
                                            <p:strVal val="#ppt_x"/>
                                          </p:val>
                                        </p:tav>
                                        <p:tav tm="100000">
                                          <p:val>
                                            <p:strVal val="#ppt_x"/>
                                          </p:val>
                                        </p:tav>
                                      </p:tavLst>
                                    </p:anim>
                                    <p:anim calcmode="lin" valueType="num">
                                      <p:cBhvr additive="base">
                                        <p:cTn id="110" dur="300" fill="hold"/>
                                        <p:tgtEl>
                                          <p:spTgt spid="10267">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1" fill="hold" grpId="0" nodeType="clickEffect">
                                  <p:stCondLst>
                                    <p:cond delay="0"/>
                                  </p:stCondLst>
                                  <p:iterate type="wd">
                                    <p:tmPct val="100000"/>
                                  </p:iterate>
                                  <p:childTnLst>
                                    <p:set>
                                      <p:cBhvr>
                                        <p:cTn id="114" dur="1" fill="hold">
                                          <p:stCondLst>
                                            <p:cond delay="0"/>
                                          </p:stCondLst>
                                        </p:cTn>
                                        <p:tgtEl>
                                          <p:spTgt spid="10267">
                                            <p:txEl>
                                              <p:pRg st="2" end="2"/>
                                            </p:txEl>
                                          </p:spTgt>
                                        </p:tgtEl>
                                        <p:attrNameLst>
                                          <p:attrName>style.visibility</p:attrName>
                                        </p:attrNameLst>
                                      </p:cBhvr>
                                      <p:to>
                                        <p:strVal val="visible"/>
                                      </p:to>
                                    </p:set>
                                    <p:anim calcmode="lin" valueType="num">
                                      <p:cBhvr additive="base">
                                        <p:cTn id="115" dur="300" fill="hold"/>
                                        <p:tgtEl>
                                          <p:spTgt spid="10267">
                                            <p:txEl>
                                              <p:pRg st="2" end="2"/>
                                            </p:txEl>
                                          </p:spTgt>
                                        </p:tgtEl>
                                        <p:attrNameLst>
                                          <p:attrName>ppt_x</p:attrName>
                                        </p:attrNameLst>
                                      </p:cBhvr>
                                      <p:tavLst>
                                        <p:tav tm="0">
                                          <p:val>
                                            <p:strVal val="#ppt_x"/>
                                          </p:val>
                                        </p:tav>
                                        <p:tav tm="100000">
                                          <p:val>
                                            <p:strVal val="#ppt_x"/>
                                          </p:val>
                                        </p:tav>
                                      </p:tavLst>
                                    </p:anim>
                                    <p:anim calcmode="lin" valueType="num">
                                      <p:cBhvr additive="base">
                                        <p:cTn id="116" dur="300" fill="hold"/>
                                        <p:tgtEl>
                                          <p:spTgt spid="10267">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1" fill="hold" grpId="0" nodeType="clickEffect">
                                  <p:stCondLst>
                                    <p:cond delay="0"/>
                                  </p:stCondLst>
                                  <p:iterate type="wd">
                                    <p:tmPct val="100000"/>
                                  </p:iterate>
                                  <p:childTnLst>
                                    <p:set>
                                      <p:cBhvr>
                                        <p:cTn id="120" dur="1" fill="hold">
                                          <p:stCondLst>
                                            <p:cond delay="0"/>
                                          </p:stCondLst>
                                        </p:cTn>
                                        <p:tgtEl>
                                          <p:spTgt spid="10267">
                                            <p:txEl>
                                              <p:pRg st="3" end="3"/>
                                            </p:txEl>
                                          </p:spTgt>
                                        </p:tgtEl>
                                        <p:attrNameLst>
                                          <p:attrName>style.visibility</p:attrName>
                                        </p:attrNameLst>
                                      </p:cBhvr>
                                      <p:to>
                                        <p:strVal val="visible"/>
                                      </p:to>
                                    </p:set>
                                    <p:anim calcmode="lin" valueType="num">
                                      <p:cBhvr additive="base">
                                        <p:cTn id="121" dur="300" fill="hold"/>
                                        <p:tgtEl>
                                          <p:spTgt spid="10267">
                                            <p:txEl>
                                              <p:pRg st="3" end="3"/>
                                            </p:txEl>
                                          </p:spTgt>
                                        </p:tgtEl>
                                        <p:attrNameLst>
                                          <p:attrName>ppt_x</p:attrName>
                                        </p:attrNameLst>
                                      </p:cBhvr>
                                      <p:tavLst>
                                        <p:tav tm="0">
                                          <p:val>
                                            <p:strVal val="#ppt_x"/>
                                          </p:val>
                                        </p:tav>
                                        <p:tav tm="100000">
                                          <p:val>
                                            <p:strVal val="#ppt_x"/>
                                          </p:val>
                                        </p:tav>
                                      </p:tavLst>
                                    </p:anim>
                                    <p:anim calcmode="lin" valueType="num">
                                      <p:cBhvr additive="base">
                                        <p:cTn id="122" dur="300" fill="hold"/>
                                        <p:tgtEl>
                                          <p:spTgt spid="10267">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1" fill="hold" grpId="0" nodeType="clickEffect">
                                  <p:stCondLst>
                                    <p:cond delay="0"/>
                                  </p:stCondLst>
                                  <p:iterate type="wd">
                                    <p:tmPct val="100000"/>
                                  </p:iterate>
                                  <p:childTnLst>
                                    <p:set>
                                      <p:cBhvr>
                                        <p:cTn id="126" dur="1" fill="hold">
                                          <p:stCondLst>
                                            <p:cond delay="0"/>
                                          </p:stCondLst>
                                        </p:cTn>
                                        <p:tgtEl>
                                          <p:spTgt spid="10267">
                                            <p:txEl>
                                              <p:pRg st="4" end="4"/>
                                            </p:txEl>
                                          </p:spTgt>
                                        </p:tgtEl>
                                        <p:attrNameLst>
                                          <p:attrName>style.visibility</p:attrName>
                                        </p:attrNameLst>
                                      </p:cBhvr>
                                      <p:to>
                                        <p:strVal val="visible"/>
                                      </p:to>
                                    </p:set>
                                    <p:anim calcmode="lin" valueType="num">
                                      <p:cBhvr additive="base">
                                        <p:cTn id="127" dur="300" fill="hold"/>
                                        <p:tgtEl>
                                          <p:spTgt spid="10267">
                                            <p:txEl>
                                              <p:pRg st="4" end="4"/>
                                            </p:txEl>
                                          </p:spTgt>
                                        </p:tgtEl>
                                        <p:attrNameLst>
                                          <p:attrName>ppt_x</p:attrName>
                                        </p:attrNameLst>
                                      </p:cBhvr>
                                      <p:tavLst>
                                        <p:tav tm="0">
                                          <p:val>
                                            <p:strVal val="#ppt_x"/>
                                          </p:val>
                                        </p:tav>
                                        <p:tav tm="100000">
                                          <p:val>
                                            <p:strVal val="#ppt_x"/>
                                          </p:val>
                                        </p:tav>
                                      </p:tavLst>
                                    </p:anim>
                                    <p:anim calcmode="lin" valueType="num">
                                      <p:cBhvr additive="base">
                                        <p:cTn id="128" dur="300" fill="hold"/>
                                        <p:tgtEl>
                                          <p:spTgt spid="10267">
                                            <p:txEl>
                                              <p:pRg st="4" end="4"/>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nimBg="1"/>
      <p:bldP spid="10246" grpId="0" build="p" autoUpdateAnimBg="0"/>
      <p:bldP spid="10247" grpId="0" animBg="1"/>
      <p:bldP spid="10248" grpId="0" build="p" autoUpdateAnimBg="0"/>
      <p:bldP spid="10249" grpId="0" animBg="1"/>
      <p:bldP spid="10250" grpId="0" build="p" autoUpdateAnimBg="0"/>
      <p:bldP spid="10251" grpId="0" animBg="1"/>
      <p:bldP spid="10252" grpId="0" build="p" autoUpdateAnimBg="0"/>
      <p:bldP spid="10253" grpId="0" animBg="1"/>
      <p:bldP spid="10254" grpId="0" build="p" autoUpdateAnimBg="0"/>
      <p:bldP spid="10260" grpId="0" animBg="1"/>
      <p:bldP spid="10261" grpId="0" build="p" autoUpdateAnimBg="0"/>
      <p:bldP spid="10262" grpId="0" animBg="1"/>
      <p:bldP spid="10263" grpId="0" build="p" autoUpdateAnimBg="0"/>
      <p:bldP spid="10266" grpId="0" animBg="1"/>
      <p:bldP spid="10267" grpId="0" build="p" autoUpdateAnimBg="0"/>
      <p:bldP spid="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are the implications of </a:t>
            </a:r>
            <a:r>
              <a:rPr lang="en-US" dirty="0" err="1"/>
              <a:t>hyperrelaity</a:t>
            </a:r>
            <a:r>
              <a:rPr lang="en-US" dirty="0"/>
              <a:t> and epiphenomenalism</a:t>
            </a:r>
          </a:p>
        </p:txBody>
      </p:sp>
      <p:sp>
        <p:nvSpPr>
          <p:cNvPr id="3" name="Content Placeholder 2"/>
          <p:cNvSpPr>
            <a:spLocks noGrp="1"/>
          </p:cNvSpPr>
          <p:nvPr>
            <p:ph idx="1"/>
          </p:nvPr>
        </p:nvSpPr>
        <p:spPr/>
        <p:txBody>
          <a:bodyPr/>
          <a:lstStyle/>
          <a:p>
            <a:r>
              <a:rPr lang="en-US" dirty="0"/>
              <a:t>For our understanding of organizations?</a:t>
            </a:r>
          </a:p>
          <a:p>
            <a:pPr>
              <a:buNone/>
            </a:pPr>
            <a:endParaRPr lang="en-US" dirty="0"/>
          </a:p>
          <a:p>
            <a:r>
              <a:rPr lang="en-US" dirty="0"/>
              <a:t>For our understanding of  politics?</a:t>
            </a:r>
          </a:p>
          <a:p>
            <a:pPr>
              <a:buNone/>
            </a:pPr>
            <a:endParaRPr lang="en-US" dirty="0"/>
          </a:p>
          <a:p>
            <a:r>
              <a:rPr lang="en-US" dirty="0"/>
              <a:t>For our understanding of governance?</a:t>
            </a:r>
          </a:p>
          <a:p>
            <a:pPr>
              <a:buNone/>
            </a:pPr>
            <a:endParaRPr lang="en-US" dirty="0"/>
          </a:p>
          <a:p>
            <a:r>
              <a:rPr lang="en-US" dirty="0"/>
              <a:t>For our understanding of ourselves?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“Cool” has been used since the 16</a:t>
            </a:r>
            <a:r>
              <a:rPr lang="en-US" baseline="30000" dirty="0"/>
              <a:t>th</a:t>
            </a:r>
            <a:r>
              <a:rPr lang="en-US" dirty="0"/>
              <a:t> century to describe a state of mind </a:t>
            </a:r>
          </a:p>
        </p:txBody>
      </p:sp>
      <p:sp>
        <p:nvSpPr>
          <p:cNvPr id="3" name="Content Placeholder 2"/>
          <p:cNvSpPr>
            <a:spLocks noGrp="1"/>
          </p:cNvSpPr>
          <p:nvPr>
            <p:ph idx="1"/>
          </p:nvPr>
        </p:nvSpPr>
        <p:spPr/>
        <p:txBody>
          <a:bodyPr>
            <a:normAutofit fontScale="85000" lnSpcReduction="10000"/>
          </a:bodyPr>
          <a:lstStyle/>
          <a:p>
            <a:r>
              <a:rPr lang="en-US" dirty="0"/>
              <a:t>“Spiffy”- Does anyone use the term to describe a sharp dresser?</a:t>
            </a:r>
          </a:p>
          <a:p>
            <a:r>
              <a:rPr lang="en-US" dirty="0"/>
              <a:t>“Sharp?”</a:t>
            </a:r>
          </a:p>
          <a:p>
            <a:r>
              <a:rPr lang="en-US" dirty="0"/>
              <a:t>Compare these sentences:</a:t>
            </a:r>
          </a:p>
          <a:p>
            <a:pPr lvl="1"/>
            <a:r>
              <a:rPr lang="en-US" dirty="0"/>
              <a:t>Jim is cold/Jim is unfriendly</a:t>
            </a:r>
          </a:p>
          <a:p>
            <a:pPr lvl="1"/>
            <a:r>
              <a:rPr lang="en-US" dirty="0"/>
              <a:t>Jim is smart/Jim is bright</a:t>
            </a:r>
          </a:p>
          <a:p>
            <a:r>
              <a:rPr lang="en-US" dirty="0"/>
              <a:t>Which of the pairs have the most punch</a:t>
            </a:r>
          </a:p>
          <a:p>
            <a:r>
              <a:rPr lang="en-US" dirty="0"/>
              <a:t>Sensory metaphors, because they link directly to bodily experience,  have more staying power </a:t>
            </a:r>
          </a:p>
          <a:p>
            <a:pPr lvl="1"/>
            <a:r>
              <a:rPr lang="en-US" sz="1800" dirty="0"/>
              <a:t>(Johan Berger, </a:t>
            </a:r>
            <a:r>
              <a:rPr lang="en-US" sz="1800" b="1" dirty="0" err="1"/>
              <a:t>NYTimes</a:t>
            </a:r>
            <a:r>
              <a:rPr lang="en-US" sz="1800" dirty="0"/>
              <a:t>, Sunday Review, </a:t>
            </a:r>
            <a:r>
              <a:rPr lang="en-US" sz="1800" i="1" dirty="0"/>
              <a:t>Why “Cool” is Still Cool” , </a:t>
            </a:r>
            <a:r>
              <a:rPr lang="en-US" sz="1800" dirty="0"/>
              <a:t>Nov. 20, 2015)</a:t>
            </a:r>
            <a:endParaRPr lang="en-US" sz="2100" i="1" dirty="0"/>
          </a:p>
        </p:txBody>
      </p:sp>
    </p:spTree>
    <p:extLst>
      <p:ext uri="{BB962C8B-B14F-4D97-AF65-F5344CB8AC3E}">
        <p14:creationId xmlns:p14="http://schemas.microsoft.com/office/powerpoint/2010/main" val="2152485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Organizations: there is no there, there</a:t>
            </a:r>
          </a:p>
        </p:txBody>
      </p:sp>
      <p:sp>
        <p:nvSpPr>
          <p:cNvPr id="3" name="Content Placeholder 2"/>
          <p:cNvSpPr>
            <a:spLocks noGrp="1"/>
          </p:cNvSpPr>
          <p:nvPr>
            <p:ph idx="1"/>
          </p:nvPr>
        </p:nvSpPr>
        <p:spPr/>
        <p:txBody>
          <a:bodyPr>
            <a:normAutofit fontScale="92500" lnSpcReduction="20000"/>
          </a:bodyPr>
          <a:lstStyle/>
          <a:p>
            <a:r>
              <a:rPr lang="en-US" dirty="0"/>
              <a:t>Institutions are habits not things</a:t>
            </a:r>
          </a:p>
          <a:p>
            <a:r>
              <a:rPr lang="en-US" dirty="0"/>
              <a:t>Recursive practices – repeating what has been done before, sort of!</a:t>
            </a:r>
          </a:p>
          <a:p>
            <a:pPr lvl="1"/>
            <a:r>
              <a:rPr lang="en-US" dirty="0"/>
              <a:t>E.g. language confines while providing opportunities for creativity</a:t>
            </a:r>
          </a:p>
          <a:p>
            <a:r>
              <a:rPr lang="en-US" dirty="0" err="1"/>
              <a:t>Structuration</a:t>
            </a:r>
            <a:r>
              <a:rPr lang="en-US" dirty="0"/>
              <a:t> Theory = social practices structured across space and time</a:t>
            </a:r>
          </a:p>
          <a:p>
            <a:pPr lvl="1"/>
            <a:r>
              <a:rPr lang="en-US" dirty="0"/>
              <a:t>Bureaucracy as ideograph – a symbolic vessel that carries a number of meanings but has no reality outside of human social interaction </a:t>
            </a:r>
          </a:p>
          <a:p>
            <a:endParaRPr lang="en-US" dirty="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Signifier Dominates the Signified</a:t>
            </a:r>
          </a:p>
        </p:txBody>
      </p:sp>
      <p:sp>
        <p:nvSpPr>
          <p:cNvPr id="3" name="Content Placeholder 2"/>
          <p:cNvSpPr>
            <a:spLocks noGrp="1"/>
          </p:cNvSpPr>
          <p:nvPr>
            <p:ph idx="1"/>
          </p:nvPr>
        </p:nvSpPr>
        <p:spPr/>
        <p:txBody>
          <a:bodyPr/>
          <a:lstStyle/>
          <a:p>
            <a:r>
              <a:rPr lang="en-US" dirty="0"/>
              <a:t>“…now more important to </a:t>
            </a:r>
            <a:r>
              <a:rPr lang="en-US" i="1" dirty="0"/>
              <a:t>show</a:t>
            </a:r>
            <a:r>
              <a:rPr lang="en-US" dirty="0"/>
              <a:t> you did your job than to actually </a:t>
            </a:r>
            <a:r>
              <a:rPr lang="en-US" i="1" dirty="0"/>
              <a:t>do</a:t>
            </a:r>
            <a:r>
              <a:rPr lang="en-US" dirty="0"/>
              <a:t> your job” </a:t>
            </a:r>
          </a:p>
          <a:p>
            <a:r>
              <a:rPr lang="en-US" dirty="0"/>
              <a:t>Accountability and Transparency: A chimera?  </a:t>
            </a:r>
          </a:p>
          <a:p>
            <a:pPr lvl="1"/>
            <a:r>
              <a:rPr lang="en-US" dirty="0"/>
              <a:t>Is accountability good?</a:t>
            </a:r>
          </a:p>
          <a:p>
            <a:pPr lvl="1"/>
            <a:r>
              <a:rPr lang="en-US" dirty="0"/>
              <a:t>Is it able to achieve reform?</a:t>
            </a:r>
          </a:p>
          <a:p>
            <a:pPr lvl="1"/>
            <a:r>
              <a:rPr lang="en-US" dirty="0"/>
              <a:t>Is transparency good</a:t>
            </a:r>
          </a:p>
          <a:p>
            <a:pPr lvl="1"/>
            <a:r>
              <a:rPr lang="en-US" dirty="0"/>
              <a:t>Is it able to achieve reform</a:t>
            </a:r>
          </a:p>
          <a:p>
            <a:endParaRPr lang="en-US" dirty="0"/>
          </a:p>
        </p:txBody>
      </p:sp>
    </p:spTree>
    <p:extLst>
      <p:ext uri="{BB962C8B-B14F-4D97-AF65-F5344CB8AC3E}">
        <p14:creationId xmlns:p14="http://schemas.microsoft.com/office/powerpoint/2010/main" val="802353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Problematizing</a:t>
            </a:r>
            <a:r>
              <a:rPr lang="en-US" dirty="0"/>
              <a:t> Accountability</a:t>
            </a:r>
          </a:p>
        </p:txBody>
      </p:sp>
      <p:sp>
        <p:nvSpPr>
          <p:cNvPr id="3" name="Content Placeholder 2"/>
          <p:cNvSpPr>
            <a:spLocks noGrp="1"/>
          </p:cNvSpPr>
          <p:nvPr>
            <p:ph idx="1"/>
          </p:nvPr>
        </p:nvSpPr>
        <p:spPr/>
        <p:txBody>
          <a:bodyPr/>
          <a:lstStyle/>
          <a:p>
            <a:r>
              <a:rPr lang="en-US" dirty="0"/>
              <a:t>The relationship between accountability and performance is not a subject /object relationship.</a:t>
            </a:r>
          </a:p>
          <a:p>
            <a:r>
              <a:rPr lang="en-US" dirty="0"/>
              <a:t>The relationship is dynamic – accountability necessarily becomes a verb - accounting </a:t>
            </a:r>
          </a:p>
          <a:p>
            <a:r>
              <a:rPr lang="en-US" dirty="0"/>
              <a:t>And giving an account is a performance</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Five barriers to objective accountability</a:t>
            </a:r>
          </a:p>
        </p:txBody>
      </p:sp>
      <p:sp>
        <p:nvSpPr>
          <p:cNvPr id="3" name="Content Placeholder 2"/>
          <p:cNvSpPr>
            <a:spLocks noGrp="1"/>
          </p:cNvSpPr>
          <p:nvPr>
            <p:ph idx="1"/>
          </p:nvPr>
        </p:nvSpPr>
        <p:spPr/>
        <p:txBody>
          <a:bodyPr>
            <a:normAutofit fontScale="77500" lnSpcReduction="20000"/>
          </a:bodyPr>
          <a:lstStyle/>
          <a:p>
            <a:r>
              <a:rPr lang="en-US" dirty="0"/>
              <a:t>The malleability of numbers (another example of the need to delay the moment of correspondence between appearance and reality)</a:t>
            </a:r>
          </a:p>
          <a:p>
            <a:pPr lvl="1"/>
            <a:r>
              <a:rPr lang="en-US" dirty="0"/>
              <a:t>Deciding what to count, what counts as an instance of a phenomenon, how it is counted, the context in which the number was produced, objectification of evaluative criteria, and the number as a goal all contribute to the lack of numeric objectivity.</a:t>
            </a:r>
          </a:p>
          <a:p>
            <a:r>
              <a:rPr lang="en-US" dirty="0"/>
              <a:t>Add to this the influence of organizational decision dynamics, organizational culture, environmental demands, and failure to distinguish data, information, and knowledge and objective accountability seems unattainable.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20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2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Barriers to transparency</a:t>
            </a:r>
          </a:p>
        </p:txBody>
      </p:sp>
      <p:sp>
        <p:nvSpPr>
          <p:cNvPr id="3" name="Content Placeholder 2"/>
          <p:cNvSpPr>
            <a:spLocks noGrp="1"/>
          </p:cNvSpPr>
          <p:nvPr>
            <p:ph idx="1"/>
          </p:nvPr>
        </p:nvSpPr>
        <p:spPr/>
        <p:txBody>
          <a:bodyPr/>
          <a:lstStyle/>
          <a:p>
            <a:r>
              <a:rPr lang="en-US" dirty="0"/>
              <a:t>Transparency is thought to be achieved through the mechanism of disclosure</a:t>
            </a:r>
          </a:p>
          <a:p>
            <a:r>
              <a:rPr lang="en-US" dirty="0"/>
              <a:t>But if all that is provided is data and information, context to make a decision is lost</a:t>
            </a:r>
          </a:p>
          <a:p>
            <a:r>
              <a:rPr lang="en-US" dirty="0"/>
              <a:t>Disclosure impedes rather than enhances transparency – i.e. </a:t>
            </a:r>
            <a:r>
              <a:rPr lang="en-US"/>
              <a:t>data dumps do not inform</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Perils of Management</a:t>
            </a:r>
          </a:p>
        </p:txBody>
      </p:sp>
      <p:sp>
        <p:nvSpPr>
          <p:cNvPr id="3" name="Content Placeholder 2"/>
          <p:cNvSpPr>
            <a:spLocks noGrp="1"/>
          </p:cNvSpPr>
          <p:nvPr>
            <p:ph idx="1"/>
          </p:nvPr>
        </p:nvSpPr>
        <p:spPr/>
        <p:txBody>
          <a:bodyPr/>
          <a:lstStyle/>
          <a:p>
            <a:r>
              <a:rPr lang="en-US" dirty="0">
                <a:hlinkClick r:id="rId2"/>
              </a:rPr>
              <a:t>http://www.fastcompany.com/3020699/bottom-line/why-intuit-founder-scott-cook-wants-you-to-stop-listening-to-your-boss</a:t>
            </a:r>
            <a:endParaRPr lang="en-US" dirty="0"/>
          </a:p>
        </p:txBody>
      </p:sp>
    </p:spTree>
    <p:extLst>
      <p:ext uri="{BB962C8B-B14F-4D97-AF65-F5344CB8AC3E}">
        <p14:creationId xmlns:p14="http://schemas.microsoft.com/office/powerpoint/2010/main" val="41201254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Politics: Ideographic Discourse </a:t>
            </a:r>
          </a:p>
        </p:txBody>
      </p:sp>
      <p:sp>
        <p:nvSpPr>
          <p:cNvPr id="3" name="Content Placeholder 2"/>
          <p:cNvSpPr>
            <a:spLocks noGrp="1"/>
          </p:cNvSpPr>
          <p:nvPr>
            <p:ph idx="1"/>
          </p:nvPr>
        </p:nvSpPr>
        <p:spPr/>
        <p:txBody>
          <a:bodyPr>
            <a:normAutofit fontScale="92500"/>
          </a:bodyPr>
          <a:lstStyle/>
          <a:p>
            <a:r>
              <a:rPr lang="en-US" dirty="0"/>
              <a:t>The collision of  ideographs</a:t>
            </a:r>
          </a:p>
          <a:p>
            <a:r>
              <a:rPr lang="en-US" dirty="0"/>
              <a:t>The domesticating of reality</a:t>
            </a:r>
          </a:p>
          <a:p>
            <a:r>
              <a:rPr lang="en-US" dirty="0"/>
              <a:t>Edelman: language matters because …it defines public problems, constructs political realities, generates political support, and creates favorable responses to government action</a:t>
            </a:r>
          </a:p>
          <a:p>
            <a:r>
              <a:rPr lang="en-US" dirty="0"/>
              <a:t>The locus of political power is symbolization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naagtag.com/media/catalog/product/cache/1/image/800x800/9df78eab33525d08d6e5fb8d27136e95/r/e/restroom-signs-wome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762000"/>
            <a:ext cx="2468879" cy="24688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restroom sig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929639"/>
            <a:ext cx="2133600" cy="2133601"/>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6" descr="data:image/jpeg;base64,/9j/4AAQSkZJRgABAQAAAQABAAD/2wCEAAkGBxQSEBQUDxQUFRQVFRQUFBQUFBQVFRUUFBQXFhQUFBUYHCggGBolHRQVITIhJSktLi4uFx8zODMsNygtLisBCgoKDgwOFQ8PFCwcFBwsLCwsLCwsLDc3LCwsLCwsLCwsLCwsLCwsLCwsLCwsNzcrLDcrLCssLDc3KyssNywsK//AABEIAN8A4gMBIgACEQEDEQH/xAAcAAAABwEBAAAAAAAAAAAAAAAAAQIEBQYHCAP/xABSEAACAQMBAwUJCgsFBwUBAAABAgMABBESBQYhBxMxQVEiMmFxcnOBsbIjMzQ1UnSRobPRFBYkU1SCkpPBwtIXJUJiojZjZIOEo8MVRrTh8EP/xAAXAQEBAQEAAAAAAAAAAAAAAAAAAQID/8QAGBEBAQEBAQAAAAAAAAAAAAAAAAERQTH/2gAMAwEAAhEDEQA/ANE3+3t/AY1WIBp5OKhslVUcC5A6fAKyyXfS+ZifwmQZ6lwB6BipjleP94L5iPH7clUisonPxwvf0mX6R91H+ON9+kyfSPuqCzRUE/8AjpffpMn+n7qP8db79Jk/0/dVfoqCw/jrf/pL/wCn7qP8d7/9Jf6F+6q7RUFj/Hm//SX+hPuoxv1f/pDfQn3VW6PNBZRv3f8A6Q37KfdRjfy//SD+yn3VWaOgs34+3/58/sp91GN/r/8APn9hPuqsUdBaBv8A3/5//Qn3Uf8AaDf/AJ4fu0+6qtQqC1DlDv8A88P3afdSxyiX/wCdX92n3VUwKFBbhyi3/wCcT92tLXlIvvlx/ulqoUKC4jlKvvlRfu//ALpQ5TL7/c/uz/VVMoU0XYcp172Qfu2/qo/7T735MH7Df11SKFQXf+1G8+TB+w/9dH/ajefIt/2H/rqjZoVNF5HKjefIt/2H/rqe3Y5S+dlWK7RU1kKsiZ06jwAYHOPHmsoFKzim1XTVCmOy5SYIieJMaEnwlRR100ZNywj+8E+bp9pLVGNXzllH5dEf+HX7WSqHUQVDNA0VAdAmioUAoUVWLdnc25vV1xKFi4gSOcBiOB0jpPjoK7Qqy7x7kXVmuuRQ8fW6HIXyh0iq1QHQFFQzQKBo6SDTixtHmkWKFS8jd6q9PhPgHhoPKhV1bkxvBHq9yLYzoD8fFnGM+mqfdWzRuUkUq6nDKRgg+Gg8hQoUKgPNAGk172Vq80ixwqzu3QqjJ8fgHhoPPNDNW2bk4vVj1aEJxnQrgt9xqpyxlWKsCCDggjBBHSCKgKizRURNAdGKTmlVAdGaKgalHRuyR+Tw+aj9gUKVsr3iLzaeyKOtqyrll+FwHttx9o/31QK0LlpH5VB5k+2fvrPKqUKFFQoDojQzQoPOc9zxOBwyewdZrp3ZVuscEaRABFRQoHRgAYrmRlBGD18K07cnlBMECwX0chCDSkyIWJUd6HXpyBwyOykVqVzAsiMjgFWBUg9YIwa5ov4gksiDoV2UeJWIFavvHykpzTLZJIzsCA7IyqmevB4k1kTk5OenPHx1aE0dFQqIOtM5ELZS13KQNatHGO0IVLHHjPqrMqsG5+3JbC451EZ0cBZUwe6UcVKnqYZoOg6yXlltVWeGRQAzowbw6SNJP049FWkcpFpo1Yn1Y7zmXznsz0enNZdvdtuS9uDKyFVA0ouD3Kjt8JPGrVQWaGaTRZqIWK07kRtFK3UxwXEixDtVAgfh4y3+msvBqybj7xvs+dm0M8MukSqBx7nOl18IyfHU6rfaxrletFS9Rk4GSIM+O0My59IA+irrLykWQTUplZscE5pw2ezJGB9NZLvLtiS8uGmlGM4Cr1Ko6AP/AN11bRFik4o80WaiDoZpJNDNQLoyaQDR5qDpTZg9wi82nsihStm+8x+bT2RQrSss5ax+UW/mn9sVnVaPy2D3e283J7S1m9aShRUeaKiBSXfAJPVSqd7FsPwi7t4Pzkqg+SvdP9QNRWt8nG5UcECXFwgeeRQ41AERKwyqqD/iwRk1fNA7B9FQu9u1WtbYNCAZXkihiBGQXkcIOHiJqbXo49PXWlFoHYPoqp77bmRXcTNEqpOoJVlAGvH+F8dOe2rdUBu9tl5bi8gmCh7eVQukY1QyLqiY+HgwPioOe3UgkHgRwI8NIdsAk9VWTlA2dzG0JlAwrHnF8TjPrzVVvz7m3iNZRtPJruXHHbx3N0geaVQ6q4yIlPFQAf8AFjBJ8NaCEHYPopnFOI7UOQcJCHIHThUyQPoo9i7SW5t4p4wQsqK6hsagGGQDjrqqd6B2D6KJolPSB9ApdR28O10s7aW4lDFIl1MFwWI8GSBVFI5SdzIjC1zbKEdBqkVRhXXrbA6COmsikbAJPVXSW2nD2Ux6mgkOD2GMmuap+geUvtCs0bZyfbjxQwJNcosk7gPhwCsQbiFUHrx0ntq8iJfkj6BTbat+tvbyTOCViRnIXGcKMkAGvTZ90JYo5FBAkRHAPSA6hgD4eNUehhX5K/QK8brZ0UilZI0ZTwIKg06qA2ttl4b+0hIXmbnnU1cdQmRS6DswQCPHVGO787DFndtGmebbu48/Jbq9ByKrxrWOWfZ+YoJwO9Zo28TDK/WD9NZNWKgUWaBNJJqBYNKryFegqDprZ49xj8hPZFCjsPeo/IX2RQrpist5bPfrXyJfaSs1rTOW0e6WvkzetKzOiUVA0KBogqvHI3s7nNoSTEcIIiF8uU49kN9NUc1s3Ixs3m9nmVh3VxI0n6i9wnsk+mixJbcXn9q2UPSsCyXcg/zcI4c+kufRVtqpbn+7Xd/dHiGmFrEf93bZDEeAuzfQKttVQqn7T/J9tW0vQt3E9s5/3kXukX1axVwqq8pNqxsTNH75ayR3SY6cwtlh6V1D00FY5adncIJwO2Jj/qX+askv/e38k10JvlbLe7Ldo+OY1nj6+9Ab1ZHprny+97fyTWaOlLv4vf5q32Rppyd/FVl83j9mnc/xe3zU/ZUz5OT/AHTZfN4/VVFjqp8qvxNe+ZPrFWyqpyqfE955k+sVRKX/AMXP82b7Kubp+geUntCukL74uf5q32Vc3z9A8pfaFZo6J39P913nzeT2TTzdn4Fa/N4fs1plygfFd583k9k0+3a+BW3zeH7NaokqqnKVERZc+g7u1liuVx04RxzgH6harXXhfWwlieNuKurIfEwwfXVEJvdbC72ZLo46ohKmOvA1rjxj11z6a3nk4n1bPWF+LWzSWjg9PuLFVz+rprFt4rHmLqaL5EjAeLOV+ois0R1CioxWUAClrScUpOkeMVKOnLL3pPIX2RQoWfvaeSvqFHXVWX8tw7q18U3rSswrUeW4fBf+d/JWW1Eo6FFQzRBGrnsPlIls7HmObV+bUrE+SMD/AAhh14zVMNSG7mz/AMJvbaDqeVS3kJl2z4MLUWN63J2eYLC3Ru/5sPJ5yTu3+tjU5RCjrShXncQh0ZGGVZSrDtDDBH116UVBjMW+s1hBJYNGrmHXDHISQQmSF1L14B9VZ5dLqRgOkg1fuV/ZnNXolHezIG/XTuW+rSfTVErI3o7x2zbJMglTBtiuMjVq5vTpK9Oc8Kccm3xRZZ/R4/VXPrdBroLk2+KLLzCVRYjKNWnIzjOM8cduKrPKfGW2ReKOkxED0kU1T/aFvmI+1FSPKD8WXPkfzCgZ3m8dsdlNIJVw1uVC5GrWY9OjT05zwrBZ+jxEH6Dn+FLNCpRuG/O8Vs+yLhklQ87CyoAQWLOMAY6R4fFVj3a+BW3zeH7Na5nu/e28k+qumN2vgVt83h+zWrKJKhRZoE1Rl28G3ZNk7RnMaK8V1pmKkkYkA0MwI7ccfRWc7a2m1zPJNJgM5yQOgcMAD0AVqPLNs/XbxTjpjYo3kv0fWv11kFYoOjoqFRB0tOkeMUilx9I8Y9dKOnLT3tPJX1ChQte8TyV9VCuisz5bhwtfHL6lrK61blu7y18qT1LWU1EoGio6FEEaXBMyMGRirDOGUkEZGDgikUVQOrvbVwEbE83R+cb766VsTmKPPWi+yK5avfe28RrqTZvvMfm09kVY0r3JjOz7MhaRizEy5ZiSTiVhxJrMuUDakybSuFSaRVDDCq7ADKKeAz4a0jkp+KofKm+2ess5SfjS58pfs1oIG7vpJMc7I746NTFsZ7M03oqGaiAx4Gug+TM/3RZeYSue26D4q6D5Mviiz8yv8aT1TJf9oj8x/wDKKk+UD4tufI/mFRn/ALi/6H/yipPf/wCLLnzf8RVHPVAUVAVEIu/e28k+qumN2vgVt83h+zWuZ7r3tvJPqrpjdv4FbeYh+zWkVBbuzMds7UUsxVVstKknC5iYnA6s0jlXlZNnEoxU87HxUkHpOeIpO7Px3tbybL7FqLld+LT52P8AjV4MWmvpGGHkdh2FmI+gmm4o6FZQKFCjoBXpD3w8Y9dIr1t++Xyl9YqUdNW/eL5I9VFSoe9XxD1UK6KzXluHuVt5b+yKyetZ5bh7jbecf2KyaolA0KFCiCNFR0VB43vvbeI+quo9me8RebT2RXLt4MxsB8k+qundjXCtawuGBXmkOrPDGkZOaRYr/JT8VxecuPt3rLOUn40ufKX7NK0/klmVtmIFIJWW4DAdRMzsM+gg+msu5R5Q207gqcjUoyO0IoI+kGiqzQoGgKiAeg10HyZH+6LPzK/xrnw9Fb3yU3SPsm2VCCY15tx1qyk5BH10nqvL/wBxf9CftRUnv/8AFtz5v+IqvvtSIbyAFxxtTDnPDnNYbRntxUzykXaR7NnDkAuoRR1liR0CqOf6AoqMCsoRde9t5J9VdM7t/ArbzEP2a1zPOuUYDrBFdIbnXyS2Fs0bAgQxqePesqAMG7CCDVioXdk/33tbxWX2LUnle+LT52P+NM909rRNtvaQDj3UW/N8Rh+ZQpJpPXgkUvlivUFksRYa3kVgvXhc5JHZQYxQoUdRAo6FHQGBXrAO7Xyl9YrzFe1t36+UvrFSjpiHvR4h6qFHF3o8Q9VFXRWcctw/J7bzrexWR1r3LaPya388fYNZBUSlUVCjogUnFKoqAqdR7RlWMxLI4jPSgY6ePTwprQNRTizv5YtXMyOmrvtDFc+PFNnbJyek0DRUBUVHQoAK97W7eMkxO6Z6dLFc+PHTXhR0Bs5JySc5znPHPTnPbXrcXkkmOcd3x0amLY8Wa8M0KAxShSRR0ChXrDcOgIR2UHvgrEA+MA8a8xR0ABIORwI4gjgR4jSppmc5dmY9rEk/SaTRVAKFCgKA6OhQFUGKcWvfp5S+sV4Cve098Ty19oVkdMR9A8QoUadAoVtWdctg/JYPPH2GrH62LlqH5JD57+Rqx2iVLbt7uzXrPzWlY4+MsznCJ148Jx1U5jsLEuEN3ICTpEhg9yz0AnjkL4at26qAbsSlO+YzlyOnPPY4/qgVnWz7Npp44IwC8raUycDIBPE9XAGgn9ibom42hNZ88oMKF+cALK2GVcD9r6qZ7e2XbW8c2i65yaIlea5plyQwVu6PDgMn0VaeTfZclrtuWGbGtbU6sHI7pomHHr6RVc32/A/ysRi45/W/FynN55zu+A44xnFFPNv7jSW9pFco3OoyK74GCgcAg46xx6agNibO/CGuBq08xbtcdGdWllXT4O+rSbbe8Ws1vBdYNrNZ2uc8RGzRBST2oeGezGaa3+6Bs5r6aHjbS2EoQg50sZIm0Z6xjJB7KCq7M3XWTZgvpJSq6nVkVNRGmXmxg549teuyt1YrxZPwG4LyxrqaGVNDEHo0nOD2VLbF/wBl389J/wDJFRvJJn/1dNPRzE2vsxlcZ9OKyGm5e64vpblJHaI26qxwoJOS4IIPRjRUftm2tI0U208sjl1VleLQAp4Fs54norQ9ymU7X2yU7zQvRw/xSZx6c1nO357QxAWsUqSB11NJKHBXsAAGDnFUWXau6FtbXMME9xLmfSEcRrpDMcKreM4FV7ejYbWVy0LsGwAysOGpW6DjqrVNsbEjutowc4+JYYFngiJwspQjix6e5bT0dorLd7NpTXF3I9yuiQHQUHDQE4BR4qgebibsf+otdJr0NAkTJwBDmTnODdgBjH01X9t20lqZFlXDx5yp7R/D76mt0LySGLaEkDFXRbFlYdomk4EdYIyCOwmrfty1j2/s5pbcKl9EhEkfW2Ae58KnpU+iqK/abqI+1zYc4wUIzCTA1EqqtjH6x+imW27GzhWVYpZ2mjJUK0ahCVbDd0PEatmy/wDar/lyfYrVb3rubXVcolu4m5yT3UzFhkOdR0Y4Z41Arbm7aQWFpcrIzNcKrFSAAuUDHGKjNi7OE63ZZiDb2/PKBjDMW04Pg6KtW9vxLso9XNL9mKgd0+82j4LIZ9Mq49VUPN1dh2l5LHAJbhZ2iMj9wnNhkC6wp6cZbhUfti0tI2EcDztIJ1ifnFQLpL6GZcddSXJT8cReYn/kqD2yv5Y4/wCK/wDPU4LTtHdW0gvYrSSS41TAaJBoKhjnAYY/y1V96dlmyuJYnOrm8EEdYKhlOO3BrWdobOim2nrzm7ht1ltkc4jbvxnHSSp9oGs4tEe82pm8x3DNPcau5VUgx3LdgyFWoHO8+6JtLS1myS0i4nHDCyFQwUdg6R6K891d3Y7q0vJ5HdWt86VXGG9z1DOR21adjQPdWN9azTQyyl3uoeak5wrrOvSezuwwHgao3k8GNm7WHo/7NUUUU4sh7onlp7QpuKcWXvieWntCiOl16KFAUK0rPuWj4HF54ew1Y5WyctHwOLzw9hqxqiVZ9zt6vwNJIZkMttLksgIDKxGCy57eyhs+5sILuK5je5bmnLrEY4xxwQFL6ujj9VVijoau2zt9o12tNfSRPpkhESxqQSCNHEk8OhPrqG3iurKdJ2iS4E8pLBndObBZ8t3K+DOKgqBoald5dqrcvEUUqEgihw2Dkxrpzw6qldj77PHYTWc6tIrIUhbOCgYd62elR1fRVS/xIPlOiZ7NbBc/XV6vdx4Ib2K0luZBJOPc2ES6CePBjqyDwNQR2yd5Yo9lixljkILOzOjKMlpOcAAPopGz95Y7NJBs+EpLKNLzytrk09QUAYUV7bP3ML7Wewlk06YmlEiqDqAK44E8M6vqqO2/s+0gWVYriaSaNigjMIVSwbSe61GinO5O8y2Mly8iNIZ0RODAEadWSSeknVUdtae0dALaGVH1qzM8uvKjiVA6B46lrvd+2tZI4b+WcSuqM7RInNRa+gHV3T46yKj9hWFrM6RTTTLLLOIoxHGpTSzAIzEngTnjQSe8W+rT3VtcwIYnthgZbOoZ4qfARkemmG+W3Y72fno4uaYjD91nUR0N4Djh6BXvvjsO2sTNGJpnnjVSoMaCNtShuLA5HA0+2rura2q2jTzT4ugnFFjwhfT056RlxQVnZl+IobqPTk3IgGrPeCFnbo686/qpewdryWlwk8Jwy8GHU6HvkbwerFSe8u6clvfpaQHnWm0811Eg5yX7AMEk9gr02psi0s5DFO888q45zmWjjjUkZKrqUljx7aBdtvYF2q1/zWSVZRHq6CwVc6vEv1032tta1mEhS1KTSEtzpmdsEtlu46OPGvTbm7iJaR3tpIZbZ+BLgK8bZIKuBw6QR46XHu4kFpHc7QaQGbjDbxaVcrjOqR2B0jBBxjrqBNjvGv4GtndxGWKM5iZX0SR8e9B6COJHHqprPtSNYXitIjEspUyszl5JAvFFLdAUZJwKk9i7Bt75JVszLHcxLr5mVldZEzjKOqjBzw49opvuZu3+HTXMZLK0MOpcY4ysxCq+R0dyeigZbq7YNldi5CayI3jCk4HdlTnP6v10zvbrnLhpcYzLzunPR3evTn6q8pbeTWIkXMrOI1Q/LJ04PZx6asO++7i2M0caMzholcs2O+ywbGAOHc/XVB7W3weW+gu0QRvCFAUHIZQTqU+Ag4pO2N6BM1yyQLG9ysayMGJ7mM5IAPRq4Z8VVyixUEturt1rG559FDdw0bITgMGwRk+AipTZe9whF2ogUpdyF3Uuw0hlClARxx0/TVVoxVRJ7UvYZAoht1hxnUVd3LZ6M6jTex98j8tPaFNlp1Ye+x+WntCoOlhQoUK0rPeWj4HF54ew1Y3WyctPwOHzw9hqxuqlChmhQqIOioURoQQ7+Lz0X2i1ue1tkxzbWEhbNxbwCW3ibhG2Sy6m6zg+0Kw1DhkPyXR8duhgwH1VaNpb8TS30N4ERJIVKAKSVZCTqVvAc1Gkvyf3cs28Dvc8JTBNrGMaSHjGkDqA6KgN6ry2L3CLblJedb3YzM3dCQktoIxxx6KcJvq67QN8kMQlaIxMvdaDlgdZGc6u5Ueio/a23I50cfglujO2ppED686tR4lj0np8dBe9kby2e1OatdpQhbhhojkH+JgM9y3SpIGcHhVItrHmNtW8IOoR38SA9oWUYJ8Ne0m9Cc+LmO0hS5A4ShpCFOnTrWItoDY68VC2t8yXMdx30kcomGrOGcNq7rrPGgn+WD4xufIj+xWrzebOgnk2THdZGYA0IzhTNEiOFcdeRxA/ymst3l2q17M80wUM4VSEyBhVC8Mk9Qp9tfeqa4W2DBENrp5pkBDAqFAJJPHvRQ1athXcv4y/l+Oc0TRJwwo6CmgHqKhiPHVT3xjZL+5EnA86x49hOQfoIobxbyy3kscsoRJI8aXjBVuBBUk5PEEcPHTm43vabSbu3trh1AAkkjIY46NWlgG9IoJq1HNbqy88Pf5WaJT0lTMpBGe0IzemnHKp3a2ksZzE8XcEdHEKR9Xqqm7a29NdlTMw0oMIigKiDsVRXrszeKWGLmSElh6opl1oOOe5619BoJ7khgY7SeXojhtpBIx70F2QqpPiQn0V4bN2ubf8LvoOg7RjUAf4okWSSRPSso9OKjrreeVoTBEscEJOWjgTQGP+Y9J+mo9b5vwfmBjm+cM2McS7LpJJ8QqGr1vrYRwSybShZSs1v+TAfpEy4aUeAJk+Nq8+Uhddvs+YcdVuFJ/VVv4mqZPfu8EULNmOEMsY7AxyRnr6eHYKdXu3JpoIoJCpjhAEYCgEADTxPSeFU1FYoEUuiNEIo6FGKACnez/fY/OJ7QpqKd7N9+i85H7YoOlKFChVVnnLV8Dh89/I1Y3Wx8tfwOHz38jVjlVKOhRUKIBp1Y7OeUEpp4EL3TBeJBPX4BTU05s9oyRAiNsAnV3qnjgjrHYTUU1Ip1Fs5mjMgKYAZsFwGwhAPc9PXQguwFKSAsndMFBC4kK4DE46B2V4wXDIGCnGtdDdHFc5x9VB7nZziLnMpp0hsaxqwW0juenOaZGpBNptzDRNkghVTGAFCtqORjjUeageXOz2RQxZCCwXuXB4lQ3HHVxpElqRJoJXvguoHuM8OOroxxo7m6yNEYKxghghOe70gM2fDjopC3B7hXyyIc6ejgSCwB8OKBEkZDFRxIJHc8QcdnaKdDZzawmpMlOczq4Y0lsZ7cUuC+RJUkjjK6MkgOckknGD1cCB6KK32kwk1vljoZB3WCAVKjiOzNA3jtydWSF0rqw3AnwAdZoRW5ZHbIATTkHpOo44UmeZnYs5JY9JPTwGK9ILnTHImO/CjpIxpOejroG9ORaHmw445LDABJAUAlj4ONNaeJfMIhGuRxYkhjxDAArjo6qBDQdwGBByCWAzlOOBq7M0FjGgtqAIIGnrOeseAV5pIQCASA2MjqODkZpcsgOnChcKAcZ4n5R8NA5ubQxnB6O57rBAyQGxx7AaNrfDgFhpJwJMHSQOkjwUm6vTI2TwUae5ySOAAzx7cUGusuCVGkHIj46QOweCgULfugGOkEEhiDgjqI8dec6AHAYNwHEeEcRS0uO6yQGAzhTnAHUB4BXiaAsUWKOkk0BrT3ZY93i87H7Ypkpp9sj4RD52L2xQdJUKKhWlZ5y1/A4fPfyNWOZrobfTd4X9pzasFcEPGxHDI6j4CCRWBXtk8UjxyDDozIwBBGVODx66JTagKWENDQaIQaKllDRaDUUihSih7KGg0CaFK0GhzZoE0KVzZo+bNAijpXNmgIjQJoV6c0ez1UfMN2eqoPKjr2/BW7PrFOLPZM0pIiTUQMnukHD0kVQypQqaXdO8P/8AH/uRf117puXenoh/7kX9VQV8UdWUbh335kfvY/6qUNwL780v72P76Cs5pWas/wDZ7ffm0/ep99H/AGeX35tP3qUFVzQxVrHJ3ffm0/erR/2dX3yE/erQVVaf7FXNzAB0maIfTItTq8nV9nvI/wB6tXDcnk+a3lE92yl14xovEK3ymJ6SOqg0KhR0K0r/2Q=="/>
          <p:cNvSpPr>
            <a:spLocks noChangeAspect="1" noChangeArrowheads="1"/>
          </p:cNvSpPr>
          <p:nvPr/>
        </p:nvSpPr>
        <p:spPr bwMode="auto">
          <a:xfrm>
            <a:off x="155575" y="-1347788"/>
            <a:ext cx="2857500" cy="2819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data:image/jpeg;base64,/9j/4AAQSkZJRgABAQAAAQABAAD/2wCEAAkGBxQSEBQUDxQUFRQVFRQUFBQUFBQVFRUUFBQXFhQUFBUYHCggGBolHRQVITIhJSktLi4uFx8zODMsNygtLisBCgoKDgwOFQ8PFCwcFBwsLCwsLCwsLDc3LCwsLCwsLCwsLCwsLCwsLCwsLCwsNzcrLDcrLCssLDc3KyssNywsK//AABEIAN8A4gMBIgACEQEDEQH/xAAcAAAABwEBAAAAAAAAAAAAAAAAAQIEBQYHCAP/xABSEAACAQMBAwUJCgsFBwUBAAABAgMABBESBQYhBxMxQVEiMmFxcnOBsbIjMzQ1UnSRobPRFBYkU1SCkpPBwtIXJUJiojZjZIOEo8MVRrTh8EP/xAAXAQEBAQEAAAAAAAAAAAAAAAAAAQID/8QAGBEBAQEBAQAAAAAAAAAAAAAAAAERQTH/2gAMAwEAAhEDEQA/ANE3+3t/AY1WIBp5OKhslVUcC5A6fAKyyXfS+ZifwmQZ6lwB6BipjleP94L5iPH7clUisonPxwvf0mX6R91H+ON9+kyfSPuqCzRUE/8AjpffpMn+n7qP8db79Jk/0/dVfoqCw/jrf/pL/wCn7qP8d7/9Jf6F+6q7RUFj/Hm//SX+hPuoxv1f/pDfQn3VW6PNBZRv3f8A6Q37KfdRjfy//SD+yn3VWaOgs34+3/58/sp91GN/r/8APn9hPuqsUdBaBv8A3/5//Qn3Uf8AaDf/AJ4fu0+6qtQqC1DlDv8A88P3afdSxyiX/wCdX92n3VUwKFBbhyi3/wCcT92tLXlIvvlx/ulqoUKC4jlKvvlRfu//ALpQ5TL7/c/uz/VVMoU0XYcp172Qfu2/qo/7T735MH7Df11SKFQXf+1G8+TB+w/9dH/ajefIt/2H/rqjZoVNF5HKjefIt/2H/rqe3Y5S+dlWK7RU1kKsiZ06jwAYHOPHmsoFKzim1XTVCmOy5SYIieJMaEnwlRR100ZNywj+8E+bp9pLVGNXzllH5dEf+HX7WSqHUQVDNA0VAdAmioUAoUVWLdnc25vV1xKFi4gSOcBiOB0jpPjoK7Qqy7x7kXVmuuRQ8fW6HIXyh0iq1QHQFFQzQKBo6SDTixtHmkWKFS8jd6q9PhPgHhoPKhV1bkxvBHq9yLYzoD8fFnGM+mqfdWzRuUkUq6nDKRgg+Gg8hQoUKgPNAGk172Vq80ixwqzu3QqjJ8fgHhoPPNDNW2bk4vVj1aEJxnQrgt9xqpyxlWKsCCDggjBBHSCKgKizRURNAdGKTmlVAdGaKgalHRuyR+Tw+aj9gUKVsr3iLzaeyKOtqyrll+FwHttx9o/31QK0LlpH5VB5k+2fvrPKqUKFFQoDojQzQoPOc9zxOBwyewdZrp3ZVuscEaRABFRQoHRgAYrmRlBGD18K07cnlBMECwX0chCDSkyIWJUd6HXpyBwyOykVqVzAsiMjgFWBUg9YIwa5ov4gksiDoV2UeJWIFavvHykpzTLZJIzsCA7IyqmevB4k1kTk5OenPHx1aE0dFQqIOtM5ELZS13KQNatHGO0IVLHHjPqrMqsG5+3JbC451EZ0cBZUwe6UcVKnqYZoOg6yXlltVWeGRQAzowbw6SNJP049FWkcpFpo1Yn1Y7zmXznsz0enNZdvdtuS9uDKyFVA0ouD3Kjt8JPGrVQWaGaTRZqIWK07kRtFK3UxwXEixDtVAgfh4y3+msvBqybj7xvs+dm0M8MukSqBx7nOl18IyfHU6rfaxrletFS9Rk4GSIM+O0My59IA+irrLykWQTUplZscE5pw2ezJGB9NZLvLtiS8uGmlGM4Cr1Ko6AP/AN11bRFik4o80WaiDoZpJNDNQLoyaQDR5qDpTZg9wi82nsihStm+8x+bT2RQrSss5ax+UW/mn9sVnVaPy2D3e283J7S1m9aShRUeaKiBSXfAJPVSqd7FsPwi7t4Pzkqg+SvdP9QNRWt8nG5UcECXFwgeeRQ41AERKwyqqD/iwRk1fNA7B9FQu9u1WtbYNCAZXkihiBGQXkcIOHiJqbXo49PXWlFoHYPoqp77bmRXcTNEqpOoJVlAGvH+F8dOe2rdUBu9tl5bi8gmCh7eVQukY1QyLqiY+HgwPioOe3UgkHgRwI8NIdsAk9VWTlA2dzG0JlAwrHnF8TjPrzVVvz7m3iNZRtPJruXHHbx3N0geaVQ6q4yIlPFQAf8AFjBJ8NaCEHYPopnFOI7UOQcJCHIHThUyQPoo9i7SW5t4p4wQsqK6hsagGGQDjrqqd6B2D6KJolPSB9ApdR28O10s7aW4lDFIl1MFwWI8GSBVFI5SdzIjC1zbKEdBqkVRhXXrbA6COmsikbAJPVXSW2nD2Ux6mgkOD2GMmuap+geUvtCs0bZyfbjxQwJNcosk7gPhwCsQbiFUHrx0ntq8iJfkj6BTbat+tvbyTOCViRnIXGcKMkAGvTZ90JYo5FBAkRHAPSA6hgD4eNUehhX5K/QK8brZ0UilZI0ZTwIKg06qA2ttl4b+0hIXmbnnU1cdQmRS6DswQCPHVGO787DFndtGmebbu48/Jbq9ByKrxrWOWfZ+YoJwO9Zo28TDK/WD9NZNWKgUWaBNJJqBYNKryFegqDprZ49xj8hPZFCjsPeo/IX2RQrpist5bPfrXyJfaSs1rTOW0e6WvkzetKzOiUVA0KBogqvHI3s7nNoSTEcIIiF8uU49kN9NUc1s3Ixs3m9nmVh3VxI0n6i9wnsk+mixJbcXn9q2UPSsCyXcg/zcI4c+kufRVtqpbn+7Xd/dHiGmFrEf93bZDEeAuzfQKttVQqn7T/J9tW0vQt3E9s5/3kXukX1axVwqq8pNqxsTNH75ayR3SY6cwtlh6V1D00FY5adncIJwO2Jj/qX+askv/e38k10JvlbLe7Ldo+OY1nj6+9Ab1ZHprny+97fyTWaOlLv4vf5q32Rppyd/FVl83j9mnc/xe3zU/ZUz5OT/AHTZfN4/VVFjqp8qvxNe+ZPrFWyqpyqfE955k+sVRKX/AMXP82b7Kubp+geUntCukL74uf5q32Vc3z9A8pfaFZo6J39P913nzeT2TTzdn4Fa/N4fs1plygfFd583k9k0+3a+BW3zeH7NaokqqnKVERZc+g7u1liuVx04RxzgH6harXXhfWwlieNuKurIfEwwfXVEJvdbC72ZLo46ohKmOvA1rjxj11z6a3nk4n1bPWF+LWzSWjg9PuLFVz+rprFt4rHmLqaL5EjAeLOV+ois0R1CioxWUAClrScUpOkeMVKOnLL3pPIX2RQoWfvaeSvqFHXVWX8tw7q18U3rSswrUeW4fBf+d/JWW1Eo6FFQzRBGrnsPlIls7HmObV+bUrE+SMD/AAhh14zVMNSG7mz/AMJvbaDqeVS3kJl2z4MLUWN63J2eYLC3Ru/5sPJ5yTu3+tjU5RCjrShXncQh0ZGGVZSrDtDDBH116UVBjMW+s1hBJYNGrmHXDHISQQmSF1L14B9VZ5dLqRgOkg1fuV/ZnNXolHezIG/XTuW+rSfTVErI3o7x2zbJMglTBtiuMjVq5vTpK9Oc8Kccm3xRZZ/R4/VXPrdBroLk2+KLLzCVRYjKNWnIzjOM8cduKrPKfGW2ReKOkxED0kU1T/aFvmI+1FSPKD8WXPkfzCgZ3m8dsdlNIJVw1uVC5GrWY9OjT05zwrBZ+jxEH6Dn+FLNCpRuG/O8Vs+yLhklQ87CyoAQWLOMAY6R4fFVj3a+BW3zeH7Na5nu/e28k+qumN2vgVt83h+zWrKJKhRZoE1Rl28G3ZNk7RnMaK8V1pmKkkYkA0MwI7ccfRWc7a2m1zPJNJgM5yQOgcMAD0AVqPLNs/XbxTjpjYo3kv0fWv11kFYoOjoqFRB0tOkeMUilx9I8Y9dKOnLT3tPJX1ChQte8TyV9VCuisz5bhwtfHL6lrK61blu7y18qT1LWU1EoGio6FEEaXBMyMGRirDOGUkEZGDgikUVQOrvbVwEbE83R+cb766VsTmKPPWi+yK5avfe28RrqTZvvMfm09kVY0r3JjOz7MhaRizEy5ZiSTiVhxJrMuUDakybSuFSaRVDDCq7ADKKeAz4a0jkp+KofKm+2ess5SfjS58pfs1oIG7vpJMc7I746NTFsZ7M03oqGaiAx4Gug+TM/3RZeYSue26D4q6D5Mviiz8yv8aT1TJf9oj8x/wDKKk+UD4tufI/mFRn/ALi/6H/yipPf/wCLLnzf8RVHPVAUVAVEIu/e28k+qumN2vgVt83h+zWuZ7r3tvJPqrpjdv4FbeYh+zWkVBbuzMds7UUsxVVstKknC5iYnA6s0jlXlZNnEoxU87HxUkHpOeIpO7Px3tbybL7FqLld+LT52P8AjV4MWmvpGGHkdh2FmI+gmm4o6FZQKFCjoBXpD3w8Y9dIr1t++Xyl9YqUdNW/eL5I9VFSoe9XxD1UK6KzXluHuVt5b+yKyetZ5bh7jbecf2KyaolA0KFCiCNFR0VB43vvbeI+quo9me8RebT2RXLt4MxsB8k+qundjXCtawuGBXmkOrPDGkZOaRYr/JT8VxecuPt3rLOUn40ufKX7NK0/klmVtmIFIJWW4DAdRMzsM+gg+msu5R5Q207gqcjUoyO0IoI+kGiqzQoGgKiAeg10HyZH+6LPzK/xrnw9Fb3yU3SPsm2VCCY15tx1qyk5BH10nqvL/wBxf9CftRUnv/8AFtz5v+IqvvtSIbyAFxxtTDnPDnNYbRntxUzykXaR7NnDkAuoRR1liR0CqOf6AoqMCsoRde9t5J9VdM7t/ArbzEP2a1zPOuUYDrBFdIbnXyS2Fs0bAgQxqePesqAMG7CCDVioXdk/33tbxWX2LUnle+LT52P+NM909rRNtvaQDj3UW/N8Rh+ZQpJpPXgkUvlivUFksRYa3kVgvXhc5JHZQYxQoUdRAo6FHQGBXrAO7Xyl9YrzFe1t36+UvrFSjpiHvR4h6qFHF3o8Q9VFXRWcctw/J7bzrexWR1r3LaPya388fYNZBUSlUVCjogUnFKoqAqdR7RlWMxLI4jPSgY6ePTwprQNRTizv5YtXMyOmrvtDFc+PFNnbJyek0DRUBUVHQoAK97W7eMkxO6Z6dLFc+PHTXhR0Bs5JySc5znPHPTnPbXrcXkkmOcd3x0amLY8Wa8M0KAxShSRR0ChXrDcOgIR2UHvgrEA+MA8a8xR0ABIORwI4gjgR4jSppmc5dmY9rEk/SaTRVAKFCgKA6OhQFUGKcWvfp5S+sV4Cve098Ty19oVkdMR9A8QoUadAoVtWdctg/JYPPH2GrH62LlqH5JD57+Rqx2iVLbt7uzXrPzWlY4+MsznCJ148Jx1U5jsLEuEN3ICTpEhg9yz0AnjkL4at26qAbsSlO+YzlyOnPPY4/qgVnWz7Npp44IwC8raUycDIBPE9XAGgn9ibom42hNZ88oMKF+cALK2GVcD9r6qZ7e2XbW8c2i65yaIlea5plyQwVu6PDgMn0VaeTfZclrtuWGbGtbU6sHI7pomHHr6RVc32/A/ysRi45/W/FynN55zu+A44xnFFPNv7jSW9pFco3OoyK74GCgcAg46xx6agNibO/CGuBq08xbtcdGdWllXT4O+rSbbe8Ws1vBdYNrNZ2uc8RGzRBST2oeGezGaa3+6Bs5r6aHjbS2EoQg50sZIm0Z6xjJB7KCq7M3XWTZgvpJSq6nVkVNRGmXmxg549teuyt1YrxZPwG4LyxrqaGVNDEHo0nOD2VLbF/wBl389J/wDJFRvJJn/1dNPRzE2vsxlcZ9OKyGm5e64vpblJHaI26qxwoJOS4IIPRjRUftm2tI0U208sjl1VleLQAp4Fs54norQ9ymU7X2yU7zQvRw/xSZx6c1nO357QxAWsUqSB11NJKHBXsAAGDnFUWXau6FtbXMME9xLmfSEcRrpDMcKreM4FV7ejYbWVy0LsGwAysOGpW6DjqrVNsbEjutowc4+JYYFngiJwspQjix6e5bT0dorLd7NpTXF3I9yuiQHQUHDQE4BR4qgebibsf+otdJr0NAkTJwBDmTnODdgBjH01X9t20lqZFlXDx5yp7R/D76mt0LySGLaEkDFXRbFlYdomk4EdYIyCOwmrfty1j2/s5pbcKl9EhEkfW2Ae58KnpU+iqK/abqI+1zYc4wUIzCTA1EqqtjH6x+imW27GzhWVYpZ2mjJUK0ahCVbDd0PEatmy/wDar/lyfYrVb3rubXVcolu4m5yT3UzFhkOdR0Y4Z41Arbm7aQWFpcrIzNcKrFSAAuUDHGKjNi7OE63ZZiDb2/PKBjDMW04Pg6KtW9vxLso9XNL9mKgd0+82j4LIZ9Mq49VUPN1dh2l5LHAJbhZ2iMj9wnNhkC6wp6cZbhUfti0tI2EcDztIJ1ifnFQLpL6GZcddSXJT8cReYn/kqD2yv5Y4/wCK/wDPU4LTtHdW0gvYrSSS41TAaJBoKhjnAYY/y1V96dlmyuJYnOrm8EEdYKhlOO3BrWdobOim2nrzm7ht1ltkc4jbvxnHSSp9oGs4tEe82pm8x3DNPcau5VUgx3LdgyFWoHO8+6JtLS1myS0i4nHDCyFQwUdg6R6K891d3Y7q0vJ5HdWt86VXGG9z1DOR21adjQPdWN9azTQyyl3uoeak5wrrOvSezuwwHgao3k8GNm7WHo/7NUUUU4sh7onlp7QpuKcWXvieWntCiOl16KFAUK0rPuWj4HF54ew1Y5WyctHwOLzw9hqxqiVZ9zt6vwNJIZkMttLksgIDKxGCy57eyhs+5sILuK5je5bmnLrEY4xxwQFL6ujj9VVijoau2zt9o12tNfSRPpkhESxqQSCNHEk8OhPrqG3iurKdJ2iS4E8pLBndObBZ8t3K+DOKgqBoald5dqrcvEUUqEgihw2Dkxrpzw6qldj77PHYTWc6tIrIUhbOCgYd62elR1fRVS/xIPlOiZ7NbBc/XV6vdx4Ib2K0luZBJOPc2ES6CePBjqyDwNQR2yd5Yo9lixljkILOzOjKMlpOcAAPopGz95Y7NJBs+EpLKNLzytrk09QUAYUV7bP3ML7Wewlk06YmlEiqDqAK44E8M6vqqO2/s+0gWVYriaSaNigjMIVSwbSe61GinO5O8y2Mly8iNIZ0RODAEadWSSeknVUdtae0dALaGVH1qzM8uvKjiVA6B46lrvd+2tZI4b+WcSuqM7RInNRa+gHV3T46yKj9hWFrM6RTTTLLLOIoxHGpTSzAIzEngTnjQSe8W+rT3VtcwIYnthgZbOoZ4qfARkemmG+W3Y72fno4uaYjD91nUR0N4Djh6BXvvjsO2sTNGJpnnjVSoMaCNtShuLA5HA0+2rura2q2jTzT4ugnFFjwhfT056RlxQVnZl+IobqPTk3IgGrPeCFnbo686/qpewdryWlwk8Jwy8GHU6HvkbwerFSe8u6clvfpaQHnWm0811Eg5yX7AMEk9gr02psi0s5DFO888q45zmWjjjUkZKrqUljx7aBdtvYF2q1/zWSVZRHq6CwVc6vEv1032tta1mEhS1KTSEtzpmdsEtlu46OPGvTbm7iJaR3tpIZbZ+BLgK8bZIKuBw6QR46XHu4kFpHc7QaQGbjDbxaVcrjOqR2B0jBBxjrqBNjvGv4GtndxGWKM5iZX0SR8e9B6COJHHqprPtSNYXitIjEspUyszl5JAvFFLdAUZJwKk9i7Bt75JVszLHcxLr5mVldZEzjKOqjBzw49opvuZu3+HTXMZLK0MOpcY4ysxCq+R0dyeigZbq7YNldi5CayI3jCk4HdlTnP6v10zvbrnLhpcYzLzunPR3evTn6q8pbeTWIkXMrOI1Q/LJ04PZx6asO++7i2M0caMzholcs2O+ywbGAOHc/XVB7W3weW+gu0QRvCFAUHIZQTqU+Ag4pO2N6BM1yyQLG9ysayMGJ7mM5IAPRq4Z8VVyixUEturt1rG559FDdw0bITgMGwRk+AipTZe9whF2ogUpdyF3Uuw0hlClARxx0/TVVoxVRJ7UvYZAoht1hxnUVd3LZ6M6jTex98j8tPaFNlp1Ye+x+WntCoOlhQoUK0rPeWj4HF54ew1Y3WyctPwOHzw9hqxuqlChmhQqIOioURoQQ7+Lz0X2i1ue1tkxzbWEhbNxbwCW3ibhG2Sy6m6zg+0Kw1DhkPyXR8duhgwH1VaNpb8TS30N4ERJIVKAKSVZCTqVvAc1Gkvyf3cs28Dvc8JTBNrGMaSHjGkDqA6KgN6ry2L3CLblJedb3YzM3dCQktoIxxx6KcJvq67QN8kMQlaIxMvdaDlgdZGc6u5Ueio/a23I50cfglujO2ppED686tR4lj0np8dBe9kby2e1OatdpQhbhhojkH+JgM9y3SpIGcHhVItrHmNtW8IOoR38SA9oWUYJ8Ne0m9Cc+LmO0hS5A4ShpCFOnTrWItoDY68VC2t8yXMdx30kcomGrOGcNq7rrPGgn+WD4xufIj+xWrzebOgnk2THdZGYA0IzhTNEiOFcdeRxA/ymst3l2q17M80wUM4VSEyBhVC8Mk9Qp9tfeqa4W2DBENrp5pkBDAqFAJJPHvRQ1athXcv4y/l+Oc0TRJwwo6CmgHqKhiPHVT3xjZL+5EnA86x49hOQfoIobxbyy3kscsoRJI8aXjBVuBBUk5PEEcPHTm43vabSbu3trh1AAkkjIY46NWlgG9IoJq1HNbqy88Pf5WaJT0lTMpBGe0IzemnHKp3a2ksZzE8XcEdHEKR9Xqqm7a29NdlTMw0oMIigKiDsVRXrszeKWGLmSElh6opl1oOOe5619BoJ7khgY7SeXojhtpBIx70F2QqpPiQn0V4bN2ubf8LvoOg7RjUAf4okWSSRPSso9OKjrreeVoTBEscEJOWjgTQGP+Y9J+mo9b5vwfmBjm+cM2McS7LpJJ8QqGr1vrYRwSybShZSs1v+TAfpEy4aUeAJk+Nq8+Uhddvs+YcdVuFJ/VVv4mqZPfu8EULNmOEMsY7AxyRnr6eHYKdXu3JpoIoJCpjhAEYCgEADTxPSeFU1FYoEUuiNEIo6FGKACnez/fY/OJ7QpqKd7N9+i85H7YoOlKFChVVnnLV8Dh89/I1Y3Wx8tfwOHz38jVjlVKOhRUKIBp1Y7OeUEpp4EL3TBeJBPX4BTU05s9oyRAiNsAnV3qnjgjrHYTUU1Ip1Fs5mjMgKYAZsFwGwhAPc9PXQguwFKSAsndMFBC4kK4DE46B2V4wXDIGCnGtdDdHFc5x9VB7nZziLnMpp0hsaxqwW0juenOaZGpBNptzDRNkghVTGAFCtqORjjUeageXOz2RQxZCCwXuXB4lQ3HHVxpElqRJoJXvguoHuM8OOroxxo7m6yNEYKxghghOe70gM2fDjopC3B7hXyyIc6ejgSCwB8OKBEkZDFRxIJHc8QcdnaKdDZzawmpMlOczq4Y0lsZ7cUuC+RJUkjjK6MkgOckknGD1cCB6KK32kwk1vljoZB3WCAVKjiOzNA3jtydWSF0rqw3AnwAdZoRW5ZHbIATTkHpOo44UmeZnYs5JY9JPTwGK9ILnTHImO/CjpIxpOejroG9ORaHmw445LDABJAUAlj4ONNaeJfMIhGuRxYkhjxDAArjo6qBDQdwGBByCWAzlOOBq7M0FjGgtqAIIGnrOeseAV5pIQCASA2MjqODkZpcsgOnChcKAcZ4n5R8NA5ubQxnB6O57rBAyQGxx7AaNrfDgFhpJwJMHSQOkjwUm6vTI2TwUae5ySOAAzx7cUGusuCVGkHIj46QOweCgULfugGOkEEhiDgjqI8dec6AHAYNwHEeEcRS0uO6yQGAzhTnAHUB4BXiaAsUWKOkk0BrT3ZY93i87H7Ypkpp9sj4RD52L2xQdJUKKhWlZ5y1/A4fPfyNWOZrobfTd4X9pzasFcEPGxHDI6j4CCRWBXtk8UjxyDDozIwBBGVODx66JTagKWENDQaIQaKllDRaDUUihSih7KGg0CaFK0GhzZoE0KVzZo+bNAijpXNmgIjQJoV6c0ez1UfMN2eqoPKjr2/BW7PrFOLPZM0pIiTUQMnukHD0kVQypQqaXdO8P/8AH/uRf117puXenoh/7kX9VQV8UdWUbh335kfvY/6qUNwL780v72P76Cs5pWas/wDZ7ffm0/ep99H/AGeX35tP3qUFVzQxVrHJ3ffm0/erR/2dX3yE/erQVVaf7FXNzAB0maIfTItTq8nV9nvI/wB6tXDcnk+a3lE92yl14xovEK3ymJ6SOqg0KhR0K0r/2Q=="/>
          <p:cNvSpPr>
            <a:spLocks noChangeAspect="1" noChangeArrowheads="1"/>
          </p:cNvSpPr>
          <p:nvPr/>
        </p:nvSpPr>
        <p:spPr bwMode="auto">
          <a:xfrm>
            <a:off x="307975" y="-1195388"/>
            <a:ext cx="2857500" cy="2819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4" name="Picture 10" descr="http://lgbtweekly.com/wp-content/uploads/2015/02/wpid-167_4817_696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4267200"/>
            <a:ext cx="2286000" cy="2257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152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Alternatives to Orthodoxy</a:t>
            </a:r>
          </a:p>
        </p:txBody>
      </p:sp>
      <p:sp>
        <p:nvSpPr>
          <p:cNvPr id="3" name="Content Placeholder 2"/>
          <p:cNvSpPr>
            <a:spLocks noGrp="1"/>
          </p:cNvSpPr>
          <p:nvPr>
            <p:ph idx="1"/>
          </p:nvPr>
        </p:nvSpPr>
        <p:spPr/>
        <p:txBody>
          <a:bodyPr>
            <a:normAutofit fontScale="92500"/>
          </a:bodyPr>
          <a:lstStyle/>
          <a:p>
            <a:r>
              <a:rPr lang="en-US" dirty="0"/>
              <a:t>Neoliberalism</a:t>
            </a:r>
          </a:p>
          <a:p>
            <a:pPr lvl="1"/>
            <a:r>
              <a:rPr lang="en-US" dirty="0"/>
              <a:t>Inefficient bureaucracy replaced with market reform</a:t>
            </a:r>
          </a:p>
          <a:p>
            <a:r>
              <a:rPr lang="en-US" dirty="0"/>
              <a:t>Constitutionalism</a:t>
            </a:r>
          </a:p>
          <a:p>
            <a:pPr lvl="1"/>
            <a:r>
              <a:rPr lang="en-US" dirty="0"/>
              <a:t>The administrative state is justified by the founding</a:t>
            </a:r>
          </a:p>
          <a:p>
            <a:r>
              <a:rPr lang="en-US" dirty="0" err="1"/>
              <a:t>Commutarianism</a:t>
            </a:r>
            <a:endParaRPr lang="en-US" dirty="0"/>
          </a:p>
          <a:p>
            <a:pPr lvl="1"/>
            <a:r>
              <a:rPr lang="en-US" dirty="0"/>
              <a:t>People should be involved in decisions that affect their lives</a:t>
            </a:r>
          </a:p>
        </p:txBody>
      </p:sp>
    </p:spTree>
    <p:extLst>
      <p:ext uri="{BB962C8B-B14F-4D97-AF65-F5344CB8AC3E}">
        <p14:creationId xmlns:p14="http://schemas.microsoft.com/office/powerpoint/2010/main" val="25354436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Governance: Creation of the </a:t>
            </a:r>
            <a:r>
              <a:rPr lang="en-US" dirty="0" err="1"/>
              <a:t>Subjectified</a:t>
            </a:r>
            <a:r>
              <a:rPr lang="en-US" dirty="0"/>
              <a:t> Individual</a:t>
            </a:r>
          </a:p>
        </p:txBody>
      </p:sp>
      <p:sp>
        <p:nvSpPr>
          <p:cNvPr id="3" name="Content Placeholder 2"/>
          <p:cNvSpPr>
            <a:spLocks noGrp="1"/>
          </p:cNvSpPr>
          <p:nvPr>
            <p:ph idx="1"/>
          </p:nvPr>
        </p:nvSpPr>
        <p:spPr/>
        <p:txBody>
          <a:bodyPr>
            <a:normAutofit fontScale="92500"/>
          </a:bodyPr>
          <a:lstStyle/>
          <a:p>
            <a:r>
              <a:rPr lang="en-US" dirty="0"/>
              <a:t>From concern with the sovereign to concern with the people</a:t>
            </a:r>
          </a:p>
          <a:p>
            <a:r>
              <a:rPr lang="en-US" dirty="0"/>
              <a:t>The creation of categories that include and exclude</a:t>
            </a:r>
          </a:p>
          <a:p>
            <a:r>
              <a:rPr lang="en-US" dirty="0"/>
              <a:t>Potential for robust sub-communities that resist dominant meta narratives </a:t>
            </a:r>
          </a:p>
          <a:p>
            <a:r>
              <a:rPr lang="en-US" dirty="0"/>
              <a:t>Obama won a second term based on demographic categories not economic policy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situated self</a:t>
            </a:r>
          </a:p>
        </p:txBody>
      </p:sp>
      <p:sp>
        <p:nvSpPr>
          <p:cNvPr id="3" name="Content Placeholder 2"/>
          <p:cNvSpPr>
            <a:spLocks noGrp="1"/>
          </p:cNvSpPr>
          <p:nvPr>
            <p:ph idx="1"/>
          </p:nvPr>
        </p:nvSpPr>
        <p:spPr/>
        <p:txBody>
          <a:bodyPr/>
          <a:lstStyle/>
          <a:p>
            <a:r>
              <a:rPr lang="en-US" dirty="0"/>
              <a:t>Appearance waits for reality before understanding can be achieved (what theory do you bring to the appearance)</a:t>
            </a:r>
          </a:p>
          <a:p>
            <a:r>
              <a:rPr lang="en-US" dirty="0" err="1"/>
              <a:t>Consociational</a:t>
            </a:r>
            <a:r>
              <a:rPr lang="en-US" dirty="0"/>
              <a:t> v. </a:t>
            </a:r>
            <a:r>
              <a:rPr lang="en-US" dirty="0" err="1"/>
              <a:t>majoritarian</a:t>
            </a:r>
            <a:endParaRPr lang="en-US" dirty="0"/>
          </a:p>
          <a:p>
            <a:r>
              <a:rPr lang="en-US" dirty="0"/>
              <a:t>Conflict is rehabilitated by the unit of analysis becoming a ideograph </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 to the Beginning</a:t>
            </a:r>
          </a:p>
        </p:txBody>
      </p:sp>
      <p:sp>
        <p:nvSpPr>
          <p:cNvPr id="3" name="Content Placeholder 2"/>
          <p:cNvSpPr>
            <a:spLocks noGrp="1"/>
          </p:cNvSpPr>
          <p:nvPr>
            <p:ph idx="1"/>
          </p:nvPr>
        </p:nvSpPr>
        <p:spPr/>
        <p:txBody>
          <a:bodyPr/>
          <a:lstStyle/>
          <a:p>
            <a:r>
              <a:rPr lang="en-US" dirty="0"/>
              <a:t>Conflict is bad</a:t>
            </a:r>
          </a:p>
          <a:p>
            <a:pPr lvl="1"/>
            <a:r>
              <a:rPr lang="en-US" dirty="0"/>
              <a:t>Worker v Management</a:t>
            </a:r>
          </a:p>
          <a:p>
            <a:pPr lvl="1"/>
            <a:r>
              <a:rPr lang="en-US" dirty="0"/>
              <a:t>Civilization v child “</a:t>
            </a:r>
            <a:r>
              <a:rPr lang="en-US" dirty="0" err="1"/>
              <a:t>nightmindedness</a:t>
            </a:r>
            <a:r>
              <a:rPr lang="en-US" dirty="0"/>
              <a:t>”</a:t>
            </a:r>
          </a:p>
          <a:p>
            <a:r>
              <a:rPr lang="en-US" dirty="0"/>
              <a:t>Conflict is good</a:t>
            </a:r>
          </a:p>
          <a:p>
            <a:pPr lvl="1"/>
            <a:r>
              <a:rPr lang="en-US" dirty="0"/>
              <a:t>Through dialectical process</a:t>
            </a:r>
          </a:p>
          <a:p>
            <a:pPr lvl="1"/>
            <a:r>
              <a:rPr lang="en-US" dirty="0"/>
              <a:t>Or the clash of ideographs </a:t>
            </a:r>
          </a:p>
        </p:txBody>
      </p:sp>
    </p:spTree>
    <p:extLst>
      <p:ext uri="{BB962C8B-B14F-4D97-AF65-F5344CB8AC3E}">
        <p14:creationId xmlns:p14="http://schemas.microsoft.com/office/powerpoint/2010/main" val="24990773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0900" y="2557463"/>
            <a:ext cx="2362200"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13116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t>The Seeds of Regeneration</a:t>
            </a:r>
          </a:p>
        </p:txBody>
      </p:sp>
      <p:sp>
        <p:nvSpPr>
          <p:cNvPr id="13315" name="Oval 3"/>
          <p:cNvSpPr>
            <a:spLocks noChangeArrowheads="1"/>
          </p:cNvSpPr>
          <p:nvPr/>
        </p:nvSpPr>
        <p:spPr bwMode="auto">
          <a:xfrm>
            <a:off x="1295400" y="2438400"/>
            <a:ext cx="1828800" cy="990600"/>
          </a:xfrm>
          <a:prstGeom prst="ellipse">
            <a:avLst/>
          </a:prstGeom>
          <a:noFill/>
          <a:ln w="9525">
            <a:solidFill>
              <a:schemeClr val="tx1"/>
            </a:solidFill>
            <a:round/>
            <a:headEnd/>
            <a:tailEnd/>
          </a:ln>
        </p:spPr>
        <p:txBody>
          <a:bodyPr wrap="none" anchor="ctr"/>
          <a:lstStyle/>
          <a:p>
            <a:pPr algn="ctr"/>
            <a:r>
              <a:rPr lang="en-US" sz="2000"/>
              <a:t>motility</a:t>
            </a:r>
          </a:p>
        </p:txBody>
      </p:sp>
      <p:sp>
        <p:nvSpPr>
          <p:cNvPr id="13317" name="Oval 5"/>
          <p:cNvSpPr>
            <a:spLocks noChangeArrowheads="1"/>
          </p:cNvSpPr>
          <p:nvPr/>
        </p:nvSpPr>
        <p:spPr bwMode="auto">
          <a:xfrm>
            <a:off x="4876800" y="2819400"/>
            <a:ext cx="3733800" cy="1676400"/>
          </a:xfrm>
          <a:prstGeom prst="ellipse">
            <a:avLst/>
          </a:prstGeom>
          <a:noFill/>
          <a:ln w="9525">
            <a:solidFill>
              <a:schemeClr val="tx1"/>
            </a:solidFill>
            <a:round/>
            <a:headEnd/>
            <a:tailEnd/>
          </a:ln>
        </p:spPr>
        <p:txBody>
          <a:bodyPr wrap="none" anchor="ctr"/>
          <a:lstStyle/>
          <a:p>
            <a:pPr algn="ctr"/>
            <a:r>
              <a:rPr lang="en-US" sz="2000"/>
              <a:t>Synthesize sedimented </a:t>
            </a:r>
          </a:p>
          <a:p>
            <a:pPr algn="ctr"/>
            <a:r>
              <a:rPr lang="en-US" sz="2000"/>
              <a:t>meanings</a:t>
            </a:r>
          </a:p>
        </p:txBody>
      </p:sp>
      <p:sp>
        <p:nvSpPr>
          <p:cNvPr id="13318" name="Oval 6"/>
          <p:cNvSpPr>
            <a:spLocks noChangeArrowheads="1"/>
          </p:cNvSpPr>
          <p:nvPr/>
        </p:nvSpPr>
        <p:spPr bwMode="auto">
          <a:xfrm>
            <a:off x="0" y="4876800"/>
            <a:ext cx="2057400" cy="1295400"/>
          </a:xfrm>
          <a:prstGeom prst="ellipse">
            <a:avLst/>
          </a:prstGeom>
          <a:noFill/>
          <a:ln w="9525">
            <a:solidFill>
              <a:schemeClr val="tx1"/>
            </a:solidFill>
            <a:round/>
            <a:headEnd/>
            <a:tailEnd/>
          </a:ln>
        </p:spPr>
        <p:txBody>
          <a:bodyPr wrap="none" anchor="ctr"/>
          <a:lstStyle/>
          <a:p>
            <a:pPr algn="ctr"/>
            <a:r>
              <a:rPr lang="en-US" sz="2000"/>
              <a:t>Intentionality</a:t>
            </a:r>
          </a:p>
        </p:txBody>
      </p:sp>
      <p:sp>
        <p:nvSpPr>
          <p:cNvPr id="13319" name="Oval 7"/>
          <p:cNvSpPr>
            <a:spLocks noChangeArrowheads="1"/>
          </p:cNvSpPr>
          <p:nvPr/>
        </p:nvSpPr>
        <p:spPr bwMode="auto">
          <a:xfrm>
            <a:off x="2362200" y="4572000"/>
            <a:ext cx="2743200" cy="1447800"/>
          </a:xfrm>
          <a:prstGeom prst="ellipse">
            <a:avLst/>
          </a:prstGeom>
          <a:noFill/>
          <a:ln w="9525">
            <a:solidFill>
              <a:schemeClr val="tx1"/>
            </a:solidFill>
            <a:round/>
            <a:headEnd/>
            <a:tailEnd/>
          </a:ln>
        </p:spPr>
        <p:txBody>
          <a:bodyPr wrap="none" anchor="ctr"/>
          <a:lstStyle/>
          <a:p>
            <a:pPr algn="ctr"/>
            <a:r>
              <a:rPr lang="en-US" sz="2000"/>
              <a:t>Situated body subject</a:t>
            </a:r>
          </a:p>
        </p:txBody>
      </p:sp>
      <p:sp>
        <p:nvSpPr>
          <p:cNvPr id="13320" name="Oval 8"/>
          <p:cNvSpPr>
            <a:spLocks noChangeArrowheads="1"/>
          </p:cNvSpPr>
          <p:nvPr/>
        </p:nvSpPr>
        <p:spPr bwMode="auto">
          <a:xfrm>
            <a:off x="5105400" y="5029200"/>
            <a:ext cx="2743200" cy="1447800"/>
          </a:xfrm>
          <a:prstGeom prst="ellipse">
            <a:avLst/>
          </a:prstGeom>
          <a:noFill/>
          <a:ln w="9525">
            <a:solidFill>
              <a:schemeClr val="tx1"/>
            </a:solidFill>
            <a:round/>
            <a:headEnd/>
            <a:tailEnd/>
          </a:ln>
        </p:spPr>
        <p:txBody>
          <a:bodyPr wrap="none" anchor="ctr"/>
          <a:lstStyle/>
          <a:p>
            <a:pPr algn="ctr"/>
            <a:r>
              <a:rPr lang="en-US" sz="2000"/>
              <a:t>Energy fields</a:t>
            </a:r>
          </a:p>
        </p:txBody>
      </p:sp>
      <p:sp>
        <p:nvSpPr>
          <p:cNvPr id="13321" name="Oval 9"/>
          <p:cNvSpPr>
            <a:spLocks noChangeArrowheads="1"/>
          </p:cNvSpPr>
          <p:nvPr/>
        </p:nvSpPr>
        <p:spPr bwMode="auto">
          <a:xfrm>
            <a:off x="4419600" y="1905000"/>
            <a:ext cx="3276600" cy="914400"/>
          </a:xfrm>
          <a:prstGeom prst="ellipse">
            <a:avLst/>
          </a:prstGeom>
          <a:noFill/>
          <a:ln w="9525">
            <a:solidFill>
              <a:schemeClr val="tx1"/>
            </a:solidFill>
            <a:round/>
            <a:headEnd/>
            <a:tailEnd/>
          </a:ln>
        </p:spPr>
        <p:txBody>
          <a:bodyPr wrap="none" anchor="ctr"/>
          <a:lstStyle/>
          <a:p>
            <a:pPr algn="ctr"/>
            <a:r>
              <a:rPr lang="en-US" sz="2000"/>
              <a:t>Warrants for discourse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box(out)">
                                      <p:cBhvr>
                                        <p:cTn id="7" dur="500"/>
                                        <p:tgtEl>
                                          <p:spTgt spid="13315"/>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13317"/>
                                        </p:tgtEl>
                                        <p:attrNameLst>
                                          <p:attrName>style.visibility</p:attrName>
                                        </p:attrNameLst>
                                      </p:cBhvr>
                                      <p:to>
                                        <p:strVal val="visible"/>
                                      </p:to>
                                    </p:set>
                                    <p:anim calcmode="lin" valueType="num">
                                      <p:cBhvr additive="base">
                                        <p:cTn id="12" dur="500" fill="hold"/>
                                        <p:tgtEl>
                                          <p:spTgt spid="13317"/>
                                        </p:tgtEl>
                                        <p:attrNameLst>
                                          <p:attrName>ppt_x</p:attrName>
                                        </p:attrNameLst>
                                      </p:cBhvr>
                                      <p:tavLst>
                                        <p:tav tm="0">
                                          <p:val>
                                            <p:strVal val="#ppt_x"/>
                                          </p:val>
                                        </p:tav>
                                        <p:tav tm="100000">
                                          <p:val>
                                            <p:strVal val="#ppt_x"/>
                                          </p:val>
                                        </p:tav>
                                      </p:tavLst>
                                    </p:anim>
                                    <p:anim calcmode="lin" valueType="num">
                                      <p:cBhvr additive="base">
                                        <p:cTn id="13" dur="500" fill="hold"/>
                                        <p:tgtEl>
                                          <p:spTgt spid="13317"/>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318"/>
                                        </p:tgtEl>
                                        <p:attrNameLst>
                                          <p:attrName>style.visibility</p:attrName>
                                        </p:attrNameLst>
                                      </p:cBhvr>
                                      <p:to>
                                        <p:strVal val="visible"/>
                                      </p:to>
                                    </p:set>
                                    <p:animEffect transition="in" filter="wipe(left)">
                                      <p:cBhvr>
                                        <p:cTn id="18" dur="500"/>
                                        <p:tgtEl>
                                          <p:spTgt spid="1331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319"/>
                                        </p:tgtEl>
                                        <p:attrNameLst>
                                          <p:attrName>style.visibility</p:attrName>
                                        </p:attrNameLst>
                                      </p:cBhvr>
                                      <p:to>
                                        <p:strVal val="visible"/>
                                      </p:to>
                                    </p:set>
                                    <p:animEffect transition="in" filter="wipe(left)">
                                      <p:cBhvr>
                                        <p:cTn id="23" dur="500"/>
                                        <p:tgtEl>
                                          <p:spTgt spid="13319"/>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3" fill="hold" grpId="0" nodeType="clickEffect">
                                  <p:stCondLst>
                                    <p:cond delay="0"/>
                                  </p:stCondLst>
                                  <p:iterate type="lt">
                                    <p:tmPct val="100000"/>
                                  </p:iterate>
                                  <p:childTnLst>
                                    <p:set>
                                      <p:cBhvr>
                                        <p:cTn id="27" dur="1" fill="hold">
                                          <p:stCondLst>
                                            <p:cond delay="0"/>
                                          </p:stCondLst>
                                        </p:cTn>
                                        <p:tgtEl>
                                          <p:spTgt spid="13320">
                                            <p:txEl>
                                              <p:pRg st="0" end="0"/>
                                            </p:txEl>
                                          </p:spTgt>
                                        </p:tgtEl>
                                        <p:attrNameLst>
                                          <p:attrName>style.visibility</p:attrName>
                                        </p:attrNameLst>
                                      </p:cBhvr>
                                      <p:to>
                                        <p:strVal val="visible"/>
                                      </p:to>
                                    </p:set>
                                    <p:anim calcmode="lin" valueType="num">
                                      <p:cBhvr additive="base">
                                        <p:cTn id="28" dur="75" fill="hold"/>
                                        <p:tgtEl>
                                          <p:spTgt spid="13320">
                                            <p:txEl>
                                              <p:pRg st="0" end="0"/>
                                            </p:txEl>
                                          </p:spTgt>
                                        </p:tgtEl>
                                        <p:attrNameLst>
                                          <p:attrName>ppt_x</p:attrName>
                                        </p:attrNameLst>
                                      </p:cBhvr>
                                      <p:tavLst>
                                        <p:tav tm="0">
                                          <p:val>
                                            <p:strVal val="1+#ppt_w/2"/>
                                          </p:val>
                                        </p:tav>
                                        <p:tav tm="100000">
                                          <p:val>
                                            <p:strVal val="#ppt_x"/>
                                          </p:val>
                                        </p:tav>
                                      </p:tavLst>
                                    </p:anim>
                                    <p:anim calcmode="lin" valueType="num">
                                      <p:cBhvr additive="base">
                                        <p:cTn id="29" dur="75" fill="hold"/>
                                        <p:tgtEl>
                                          <p:spTgt spid="13320">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26"/>
                                            </p:cond>
                                          </p:stCondLst>
                                          <p:endCondLst>
                                            <p:cond evt="onStopAudio" delay="0">
                                              <p:tgtEl>
                                                <p:sldTgt/>
                                              </p:tgtEl>
                                            </p:cond>
                                          </p:endCondLst>
                                        </p:cTn>
                                        <p:tgtEl>
                                          <p:sndTgt r:embed="rId3" name="laser.wav"/>
                                        </p:tgtEl>
                                      </p:cMediaNode>
                                    </p:audio>
                                  </p:sub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13321"/>
                                        </p:tgtEl>
                                        <p:attrNameLst>
                                          <p:attrName>style.visibility</p:attrName>
                                        </p:attrNameLst>
                                      </p:cBhvr>
                                      <p:to>
                                        <p:strVal val="visible"/>
                                      </p:to>
                                    </p:set>
                                    <p:anim calcmode="lin" valueType="num">
                                      <p:cBhvr additive="base">
                                        <p:cTn id="34" dur="500" fill="hold"/>
                                        <p:tgtEl>
                                          <p:spTgt spid="13321"/>
                                        </p:tgtEl>
                                        <p:attrNameLst>
                                          <p:attrName>ppt_x</p:attrName>
                                        </p:attrNameLst>
                                      </p:cBhvr>
                                      <p:tavLst>
                                        <p:tav tm="0">
                                          <p:val>
                                            <p:strVal val="0-#ppt_w/2"/>
                                          </p:val>
                                        </p:tav>
                                        <p:tav tm="100000">
                                          <p:val>
                                            <p:strVal val="#ppt_x"/>
                                          </p:val>
                                        </p:tav>
                                      </p:tavLst>
                                    </p:anim>
                                    <p:anim calcmode="lin" valueType="num">
                                      <p:cBhvr additive="base">
                                        <p:cTn id="35" dur="500" fill="hold"/>
                                        <p:tgtEl>
                                          <p:spTgt spid="1332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2"/>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nimBg="1" autoUpdateAnimBg="0"/>
      <p:bldP spid="13317" grpId="0" animBg="1" autoUpdateAnimBg="0"/>
      <p:bldP spid="13318" grpId="0" animBg="1" autoUpdateAnimBg="0"/>
      <p:bldP spid="13319" grpId="0" animBg="1" autoUpdateAnimBg="0"/>
      <p:bldP spid="13320" grpId="0" build="p" autoUpdateAnimBg="0"/>
      <p:bldP spid="13321" grpId="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t>Experiments in discourse</a:t>
            </a:r>
          </a:p>
        </p:txBody>
      </p:sp>
      <p:sp>
        <p:nvSpPr>
          <p:cNvPr id="43011" name="Oval 4"/>
          <p:cNvSpPr>
            <a:spLocks noChangeArrowheads="1"/>
          </p:cNvSpPr>
          <p:nvPr/>
        </p:nvSpPr>
        <p:spPr bwMode="auto">
          <a:xfrm>
            <a:off x="3200400" y="1752600"/>
            <a:ext cx="5562600" cy="3657600"/>
          </a:xfrm>
          <a:prstGeom prst="ellipse">
            <a:avLst/>
          </a:prstGeom>
          <a:noFill/>
          <a:ln w="9525">
            <a:solidFill>
              <a:schemeClr val="tx1"/>
            </a:solidFill>
            <a:round/>
            <a:headEnd/>
            <a:tailEnd/>
          </a:ln>
        </p:spPr>
        <p:txBody>
          <a:bodyPr wrap="none" anchor="ctr"/>
          <a:lstStyle/>
          <a:p>
            <a:pPr algn="ctr"/>
            <a:r>
              <a:rPr lang="en-US"/>
              <a:t>MANY TALK</a:t>
            </a:r>
          </a:p>
        </p:txBody>
      </p:sp>
      <p:sp>
        <p:nvSpPr>
          <p:cNvPr id="14341" name="Oval 5"/>
          <p:cNvSpPr>
            <a:spLocks noChangeArrowheads="1"/>
          </p:cNvSpPr>
          <p:nvPr/>
        </p:nvSpPr>
        <p:spPr bwMode="auto">
          <a:xfrm>
            <a:off x="1752600" y="5486400"/>
            <a:ext cx="1524000" cy="838200"/>
          </a:xfrm>
          <a:prstGeom prst="ellipse">
            <a:avLst/>
          </a:prstGeom>
          <a:noFill/>
          <a:ln w="9525">
            <a:solidFill>
              <a:schemeClr val="tx1"/>
            </a:solidFill>
            <a:round/>
            <a:headEnd/>
            <a:tailEnd/>
          </a:ln>
        </p:spPr>
        <p:txBody>
          <a:bodyPr wrap="none" anchor="ctr"/>
          <a:lstStyle/>
          <a:p>
            <a:pPr algn="ctr"/>
            <a:r>
              <a:rPr lang="en-US" sz="1800"/>
              <a:t>FEW TALK</a:t>
            </a:r>
          </a:p>
        </p:txBody>
      </p:sp>
      <p:sp>
        <p:nvSpPr>
          <p:cNvPr id="14342" name="Oval 6"/>
          <p:cNvSpPr>
            <a:spLocks noChangeArrowheads="1"/>
          </p:cNvSpPr>
          <p:nvPr/>
        </p:nvSpPr>
        <p:spPr bwMode="auto">
          <a:xfrm>
            <a:off x="0" y="2209800"/>
            <a:ext cx="2971800" cy="1752600"/>
          </a:xfrm>
          <a:prstGeom prst="ellipse">
            <a:avLst/>
          </a:prstGeom>
          <a:noFill/>
          <a:ln w="9525">
            <a:solidFill>
              <a:schemeClr val="tx1"/>
            </a:solidFill>
            <a:round/>
            <a:headEnd/>
            <a:tailEnd/>
          </a:ln>
        </p:spPr>
        <p:txBody>
          <a:bodyPr wrap="none" anchor="ctr"/>
          <a:lstStyle/>
          <a:p>
            <a:pPr algn="ctr"/>
            <a:r>
              <a:rPr lang="en-US"/>
              <a:t>SOME TALK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41"/>
                                        </p:tgtEl>
                                        <p:attrNameLst>
                                          <p:attrName>style.visibility</p:attrName>
                                        </p:attrNameLst>
                                      </p:cBhvr>
                                      <p:to>
                                        <p:strVal val="visible"/>
                                      </p:to>
                                    </p:set>
                                    <p:anim calcmode="lin" valueType="num">
                                      <p:cBhvr additive="base">
                                        <p:cTn id="7" dur="500" fill="hold"/>
                                        <p:tgtEl>
                                          <p:spTgt spid="14341"/>
                                        </p:tgtEl>
                                        <p:attrNameLst>
                                          <p:attrName>ppt_x</p:attrName>
                                        </p:attrNameLst>
                                      </p:cBhvr>
                                      <p:tavLst>
                                        <p:tav tm="0">
                                          <p:val>
                                            <p:strVal val="0-#ppt_w/2"/>
                                          </p:val>
                                        </p:tav>
                                        <p:tav tm="100000">
                                          <p:val>
                                            <p:strVal val="#ppt_x"/>
                                          </p:val>
                                        </p:tav>
                                      </p:tavLst>
                                    </p:anim>
                                    <p:anim calcmode="lin" valueType="num">
                                      <p:cBhvr additive="base">
                                        <p:cTn id="8" dur="500" fill="hold"/>
                                        <p:tgtEl>
                                          <p:spTgt spid="143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19" presetClass="entr" presetSubtype="10" fill="hold" grpId="0" nodeType="clickEffect">
                                  <p:stCondLst>
                                    <p:cond delay="0"/>
                                  </p:stCondLst>
                                  <p:childTnLst>
                                    <p:set>
                                      <p:cBhvr>
                                        <p:cTn id="12" dur="1" fill="hold">
                                          <p:stCondLst>
                                            <p:cond delay="0"/>
                                          </p:stCondLst>
                                        </p:cTn>
                                        <p:tgtEl>
                                          <p:spTgt spid="14342"/>
                                        </p:tgtEl>
                                        <p:attrNameLst>
                                          <p:attrName>style.visibility</p:attrName>
                                        </p:attrNameLst>
                                      </p:cBhvr>
                                      <p:to>
                                        <p:strVal val="visible"/>
                                      </p:to>
                                    </p:set>
                                    <p:anim calcmode="lin" valueType="num">
                                      <p:cBhvr>
                                        <p:cTn id="13" dur="5000" fill="hold"/>
                                        <p:tgtEl>
                                          <p:spTgt spid="14342"/>
                                        </p:tgtEl>
                                        <p:attrNameLst>
                                          <p:attrName>ppt_w</p:attrName>
                                        </p:attrNameLst>
                                      </p:cBhvr>
                                      <p:tavLst>
                                        <p:tav tm="0" fmla="#ppt_w*sin(2.5*pi*$)">
                                          <p:val>
                                            <p:fltVal val="0"/>
                                          </p:val>
                                        </p:tav>
                                        <p:tav tm="100000">
                                          <p:val>
                                            <p:fltVal val="1"/>
                                          </p:val>
                                        </p:tav>
                                      </p:tavLst>
                                    </p:anim>
                                    <p:anim calcmode="lin" valueType="num">
                                      <p:cBhvr>
                                        <p:cTn id="14" dur="5000" fill="hold"/>
                                        <p:tgtEl>
                                          <p:spTgt spid="1434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animBg="1" autoUpdateAnimBg="0"/>
      <p:bldP spid="14342" grpId="0" animBg="1" autoUpdateAnimBg="0"/>
    </p:bld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6597</TotalTime>
  <Words>2699</Words>
  <Application>Microsoft Office PowerPoint</Application>
  <PresentationFormat>On-screen Show (4:3)</PresentationFormat>
  <Paragraphs>353</Paragraphs>
  <Slides>53</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Calibri</vt:lpstr>
      <vt:lpstr>Times New Roman</vt:lpstr>
      <vt:lpstr>Default Design</vt:lpstr>
      <vt:lpstr>Organizations as Systems of Conflict</vt:lpstr>
      <vt:lpstr>Key Question Posed This Semester: Is organizational conflict good or bad? </vt:lpstr>
      <vt:lpstr>Where Everybody Agrees</vt:lpstr>
      <vt:lpstr>Definition of conflict: The Traditional View</vt:lpstr>
      <vt:lpstr>Clash</vt:lpstr>
      <vt:lpstr>First Reflective Pause </vt:lpstr>
      <vt:lpstr>Analyzing Sources of Conflict</vt:lpstr>
      <vt:lpstr>PowerPoint Presentation</vt:lpstr>
      <vt:lpstr>Second Reflective Pause fill in each square</vt:lpstr>
      <vt:lpstr>The case of abused children</vt:lpstr>
      <vt:lpstr>This slide shows how problem definitions flow/ it can start in either direction </vt:lpstr>
      <vt:lpstr>Consequences</vt:lpstr>
      <vt:lpstr>So if conflict is a social construct- </vt:lpstr>
      <vt:lpstr>Organisms Deteriorate Over Time</vt:lpstr>
      <vt:lpstr>Memory and the Organization</vt:lpstr>
      <vt:lpstr>Retention: A key organizational process, but ----</vt:lpstr>
      <vt:lpstr>Discrediting Memory: Another key organizational process</vt:lpstr>
      <vt:lpstr>Third reflective pause</vt:lpstr>
      <vt:lpstr>An illustration:The Problem of “Doing” Classroom</vt:lpstr>
      <vt:lpstr>Deconstructing “Doing Class”</vt:lpstr>
      <vt:lpstr>PowerPoint Presentation</vt:lpstr>
      <vt:lpstr>How class starts and moves ahead </vt:lpstr>
      <vt:lpstr>Fourth Reflective Pause</vt:lpstr>
      <vt:lpstr>PowerPoint Presentation</vt:lpstr>
      <vt:lpstr>We use language to structure reality</vt:lpstr>
      <vt:lpstr>PowerPoint Presentation</vt:lpstr>
      <vt:lpstr>Fifth Reflective Pause</vt:lpstr>
      <vt:lpstr>Unpackaging the conversation</vt:lpstr>
      <vt:lpstr>PowerPoint Presentation</vt:lpstr>
      <vt:lpstr>Language Sets Agendas through </vt:lpstr>
      <vt:lpstr>Final Reflective Pause</vt:lpstr>
      <vt:lpstr>Is authentic public discourse possible?</vt:lpstr>
      <vt:lpstr> </vt:lpstr>
      <vt:lpstr>The Separation</vt:lpstr>
      <vt:lpstr>The Battle for reunification</vt:lpstr>
      <vt:lpstr>The seeds of destruction have been sown</vt:lpstr>
      <vt:lpstr>What are the implications of hyperrelaity and epiphenomenalism</vt:lpstr>
      <vt:lpstr>“Cool” has been used since the 16th century to describe a state of mind </vt:lpstr>
      <vt:lpstr>Organizations: there is no there, there</vt:lpstr>
      <vt:lpstr>The Signifier Dominates the Signified</vt:lpstr>
      <vt:lpstr>Problematizing Accountability</vt:lpstr>
      <vt:lpstr>Five barriers to objective accountability</vt:lpstr>
      <vt:lpstr>Barriers to transparency</vt:lpstr>
      <vt:lpstr>Perils of Management</vt:lpstr>
      <vt:lpstr>Politics: Ideographic Discourse </vt:lpstr>
      <vt:lpstr>PowerPoint Presentation</vt:lpstr>
      <vt:lpstr>Alternatives to Orthodoxy</vt:lpstr>
      <vt:lpstr>Governance: Creation of the Subjectified Individual</vt:lpstr>
      <vt:lpstr>The situated self</vt:lpstr>
      <vt:lpstr>Back to the Beginning</vt:lpstr>
      <vt:lpstr>PowerPoint Presentation</vt:lpstr>
      <vt:lpstr>The Seeds of Regeneration</vt:lpstr>
      <vt:lpstr>Experiments in discourse</vt:lpstr>
    </vt:vector>
  </TitlesOfParts>
  <Company>Saint Louis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Organizations as Systems of Conflict</dc:title>
  <dc:creator>James Gilsinan</dc:creator>
  <cp:lastModifiedBy>James Gislsinan</cp:lastModifiedBy>
  <cp:revision>89</cp:revision>
  <cp:lastPrinted>2013-11-18T15:22:44Z</cp:lastPrinted>
  <dcterms:created xsi:type="dcterms:W3CDTF">2000-10-23T19:36:14Z</dcterms:created>
  <dcterms:modified xsi:type="dcterms:W3CDTF">2020-03-30T18:43:54Z</dcterms:modified>
</cp:coreProperties>
</file>