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48" r:id="rId2"/>
  </p:sldMasterIdLst>
  <p:notesMasterIdLst>
    <p:notesMasterId r:id="rId26"/>
  </p:notesMasterIdLst>
  <p:sldIdLst>
    <p:sldId id="256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7" r:id="rId12"/>
    <p:sldId id="277" r:id="rId13"/>
    <p:sldId id="268" r:id="rId14"/>
    <p:sldId id="269" r:id="rId15"/>
    <p:sldId id="270" r:id="rId16"/>
    <p:sldId id="278" r:id="rId17"/>
    <p:sldId id="271" r:id="rId18"/>
    <p:sldId id="279" r:id="rId19"/>
    <p:sldId id="273" r:id="rId20"/>
    <p:sldId id="274" r:id="rId21"/>
    <p:sldId id="275" r:id="rId22"/>
    <p:sldId id="280" r:id="rId23"/>
    <p:sldId id="276" r:id="rId24"/>
    <p:sldId id="28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>
        <p:scale>
          <a:sx n="60" d="100"/>
          <a:sy n="60" d="100"/>
        </p:scale>
        <p:origin x="927" y="102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869175-A018-4805-9874-64FE5D4986B7}" type="datetimeFigureOut">
              <a:rPr lang="en-US" smtClean="0"/>
              <a:t>3/30/2020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90A6BF-90FD-4010-B859-3AA0E43B8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329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8500"/>
            <a:ext cx="6194425" cy="3484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F65EB64-0289-48D5-9A6A-A427384F7C48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9957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8500"/>
            <a:ext cx="6194425" cy="3484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F65EB64-0289-48D5-9A6A-A427384F7C48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442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DE548-B598-4E9F-BCE1-9B0EE27C0B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2B1B0D-86F0-4338-8BB7-3246215918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C32B9-2F07-4373-A1A4-64D91D302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84D6-52C6-4653-AC1A-292EED69A11C}" type="datetimeFigureOut">
              <a:rPr lang="en-US" smtClean="0"/>
              <a:t>3/30/2020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5D706-E259-4FBA-945B-36EC49D1D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76D80-0B63-47A4-99C5-CFA82FA66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C692A-11D5-4523-B455-0060571C5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423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7263D-E0D2-4565-99A1-138DEC055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8996A-BCC5-4CA9-9902-00788B808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FEAAD-A419-42D1-9317-009EB74D3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84D6-52C6-4653-AC1A-292EED69A11C}" type="datetimeFigureOut">
              <a:rPr lang="en-US" smtClean="0"/>
              <a:t>3/30/2020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76CFA-9146-48AF-8A88-F85B9B4E1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8A00F-E60E-43E9-BDCB-BD9117436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C692A-11D5-4523-B455-0060571C5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725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EF99B-90ED-4CF4-B5B1-86DB7647E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CBE81D-601C-4DEB-BE7A-50C59B1885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3A17A-9129-45B3-9BB1-4DF34CB74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84D6-52C6-4653-AC1A-292EED69A11C}" type="datetimeFigureOut">
              <a:rPr lang="en-US" smtClean="0"/>
              <a:t>3/30/2020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427B1-4130-474D-A75A-C9383D2B6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AA15A-32F8-4173-B941-888EF750F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C692A-11D5-4523-B455-0060571C5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036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C2BEE-E4A2-45F1-8F35-A7213F9AE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81F56-5313-4A87-87C4-BC625443CB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C7D466-343B-4AEC-8B6C-DF547806E2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939801-15E0-4452-A12F-5EA322F13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84D6-52C6-4653-AC1A-292EED69A11C}" type="datetimeFigureOut">
              <a:rPr lang="en-US" smtClean="0"/>
              <a:t>3/30/2020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EACBC-6E8F-47D2-9169-804286F74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D0A34B-357F-4224-BA8A-215A01DE7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C692A-11D5-4523-B455-0060571C5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026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02070-67E8-450F-822F-F30851341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BB0375-3B8A-4989-BE5B-ACAEE98522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D0E5F8-E4C2-4166-9B32-961FCF7194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DF1A14-7ABD-4E0F-9FAE-F029F2DD00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9BE95B-30AF-4AD8-8129-0B7F531332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9953ED-85E5-4047-B8D8-121EA3252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84D6-52C6-4653-AC1A-292EED69A11C}" type="datetimeFigureOut">
              <a:rPr lang="en-US" smtClean="0"/>
              <a:t>3/30/2020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A8FF76-3F37-4EBA-AC2D-87D29A340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CD3327-A4A5-464C-93B8-1B1CED019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C692A-11D5-4523-B455-0060571C5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777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489A3-B4F2-4ECB-9FE7-7B556BE24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C20485-4659-4B56-A20E-6AFBAF823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84D6-52C6-4653-AC1A-292EED69A11C}" type="datetimeFigureOut">
              <a:rPr lang="en-US" smtClean="0"/>
              <a:t>3/30/2020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3FE200-1880-4F4F-A4FC-6EAC639ED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F589E6-12C3-4C01-B0BC-F7879410C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C692A-11D5-4523-B455-0060571C5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635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754088-F821-4CBA-A941-9F65358BF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84D6-52C6-4653-AC1A-292EED69A11C}" type="datetimeFigureOut">
              <a:rPr lang="en-US" smtClean="0"/>
              <a:t>3/30/2020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E91E88-451B-46B9-893C-C5D000F55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CC1860-AECA-446C-A081-99D22EB6D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C692A-11D5-4523-B455-0060571C5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125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8193B-FDC4-4AE4-A084-7AA8720FA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F5260-4D48-4E52-8C02-EF4C110BCA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BE5E31-C6DF-4A2F-A9C5-4B57F9B60C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9C5B72-33CC-4525-8B50-C9A9EF0DF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84D6-52C6-4653-AC1A-292EED69A11C}" type="datetimeFigureOut">
              <a:rPr lang="en-US" smtClean="0"/>
              <a:t>3/30/2020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7AAC99-4479-4E9B-82C0-32920211F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C334C-3955-4F54-A4FA-64DCAF55C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C692A-11D5-4523-B455-0060571C5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085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C5347-99DF-4FB8-A389-32450A733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B3DB2E-B77A-4763-88DC-CCFBAA81C8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6FD1CA-F86F-4753-91C2-C72580C138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E6969F-8E2C-479C-B00F-65271BC99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84D6-52C6-4653-AC1A-292EED69A11C}" type="datetimeFigureOut">
              <a:rPr lang="en-US" smtClean="0"/>
              <a:t>3/30/2020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A9905B-93D9-4360-9D2E-B4C71BD79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C487E3-9E9D-4C3F-81BE-A5370CC7E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C692A-11D5-4523-B455-0060571C5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502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E5673-E8AE-48E9-AB43-494994D16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C1F5BE-C40A-48E1-AC3B-CE02D6E3C2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5D833-FFEA-476B-8806-4D987A085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84D6-52C6-4653-AC1A-292EED69A11C}" type="datetimeFigureOut">
              <a:rPr lang="en-US" smtClean="0"/>
              <a:t>3/30/2020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8A1B3-FFDA-4410-929E-FAF214DE2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28DFE-C398-4457-BF08-E05BDBD65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C692A-11D5-4523-B455-0060571C5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910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327AFF-EE14-4C17-AD0D-08A6EC9066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E0D9AC-4BFD-4E10-B2F7-83CB094DF2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02744-9A15-458A-9A7D-2ED86CACB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84D6-52C6-4653-AC1A-292EED69A11C}" type="datetimeFigureOut">
              <a:rPr lang="en-US" smtClean="0"/>
              <a:t>3/30/2020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11A5E-FAA2-456F-9ACD-923DAEE26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1D09F-FD17-4A80-B338-77A3B1EA4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C692A-11D5-4523-B455-0060571C5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264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F00311-7E95-45A0-88CC-6340456997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81021A-4253-47B0-B71B-956E713AEB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0F2238-8776-4986-8345-B568CA355A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918DDD-7A70-4C95-A39D-A00802EE31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EE8895-C7C5-4EE9-91CE-9842635D9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731C52-2354-455A-81FA-19D3B72149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149F2-8A7B-482E-A945-48D1622639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1984D6-52C6-4653-AC1A-292EED69A11C}" type="datetimeFigureOut">
              <a:rPr lang="en-US" smtClean="0"/>
              <a:t>3/30/2020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FD422-1AE2-4554-A551-5194BE91C5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66758-7C9C-499A-A525-E9EFB0EAA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DC692A-11D5-4523-B455-0060571C5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077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51" r:id="rId3"/>
    <p:sldLayoutId id="2147483663" r:id="rId4"/>
    <p:sldLayoutId id="2147483653" r:id="rId5"/>
    <p:sldLayoutId id="2147483661" r:id="rId6"/>
    <p:sldLayoutId id="2147483662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charset="0"/>
              </a:defRPr>
            </a:lvl1pPr>
          </a:lstStyle>
          <a:p>
            <a:pPr>
              <a:defRPr/>
            </a:pPr>
            <a:fld id="{145EB004-62BD-4471-9D18-53CB553853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5" r:id="rId3"/>
    <p:sldLayoutId id="2147483654" r:id="rId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5" Type="http://schemas.openxmlformats.org/officeDocument/2006/relationships/hyperlink" Target="http://www.bing.com/videos/search?q=What+did+you+learn+in+school+today&amp;qpvt=What+did+you+learn+in+school+today&amp;FORM=VDRE" TargetMode="External"/><Relationship Id="rId4" Type="http://schemas.openxmlformats.org/officeDocument/2006/relationships/hyperlink" Target="https://www.youtube.com/watch?v=VucczIg98Gw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audio6.wav"/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15.xml"/><Relationship Id="rId4" Type="http://schemas.openxmlformats.org/officeDocument/2006/relationships/audio" Target="../media/audio4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7B6E0-40FE-43B4-A488-086AEAF7BF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organization as words and action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927364-FB5F-4372-AB34-4A0870B2A9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There is no “there” there</a:t>
            </a:r>
          </a:p>
        </p:txBody>
      </p:sp>
    </p:spTree>
    <p:extLst>
      <p:ext uri="{BB962C8B-B14F-4D97-AF65-F5344CB8AC3E}">
        <p14:creationId xmlns:p14="http://schemas.microsoft.com/office/powerpoint/2010/main" val="2328114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Is authentic public discourse possible?</a:t>
            </a:r>
          </a:p>
        </p:txBody>
      </p:sp>
      <p:sp>
        <p:nvSpPr>
          <p:cNvPr id="36867" name="Text Box 3"/>
          <p:cNvSpPr txBox="1">
            <a:spLocks noChangeArrowheads="1"/>
          </p:cNvSpPr>
          <p:nvPr/>
        </p:nvSpPr>
        <p:spPr bwMode="auto">
          <a:xfrm>
            <a:off x="2346325" y="3241675"/>
            <a:ext cx="47196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dirty="0"/>
              <a:t>Habermas and warrants for discourse</a:t>
            </a: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3429000" y="3851190"/>
            <a:ext cx="4262438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dirty="0"/>
              <a:t>Sincerity – truly interested in problem solving</a:t>
            </a:r>
          </a:p>
          <a:p>
            <a:r>
              <a:rPr lang="en-US" sz="2400" dirty="0"/>
              <a:t>Situation regarding intentionality – focused on the current situation, not future gain</a:t>
            </a:r>
          </a:p>
          <a:p>
            <a:r>
              <a:rPr lang="en-US" sz="2400" dirty="0"/>
              <a:t>Attention –being in the moment</a:t>
            </a:r>
          </a:p>
          <a:p>
            <a:r>
              <a:rPr lang="en-US" sz="2400" dirty="0"/>
              <a:t>Substantive Contribution – using one’s expertise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B24252-B2BE-42A9-8169-21C3072F5F33}"/>
              </a:ext>
            </a:extLst>
          </p:cNvPr>
          <p:cNvSpPr txBox="1"/>
          <p:nvPr/>
        </p:nvSpPr>
        <p:spPr>
          <a:xfrm>
            <a:off x="1243914" y="2092411"/>
            <a:ext cx="94899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Social media, mass media, the internet, all of these challenge the possibility of authentic  public discourse which has the following characteristics:</a:t>
            </a:r>
          </a:p>
        </p:txBody>
      </p:sp>
    </p:spTree>
    <p:extLst>
      <p:ext uri="{BB962C8B-B14F-4D97-AF65-F5344CB8AC3E}">
        <p14:creationId xmlns:p14="http://schemas.microsoft.com/office/powerpoint/2010/main" val="4231871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5DAF5-3CC1-482E-9C1F-7F0556EF9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we’ve been – Where we’re going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63799-77AF-40AF-BBAC-48EE14F7F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next slide visually illustrates one of the paths we went down this semester</a:t>
            </a:r>
          </a:p>
          <a:p>
            <a:r>
              <a:rPr lang="en-US" dirty="0"/>
              <a:t>We started with the idea of an organization consisting of individuals whose minds and bodies worked together – the craft guild</a:t>
            </a:r>
          </a:p>
          <a:p>
            <a:r>
              <a:rPr lang="en-US" dirty="0"/>
              <a:t>Modern organizations separate mind and body – mind being management, body being the worker – think Charlie Chaplin</a:t>
            </a:r>
          </a:p>
          <a:p>
            <a:r>
              <a:rPr lang="en-US" dirty="0"/>
              <a:t>Postmodern organizational theory is an attempt to reunite mind and body in the way we view organizations </a:t>
            </a:r>
          </a:p>
        </p:txBody>
      </p:sp>
    </p:spTree>
    <p:extLst>
      <p:ext uri="{BB962C8B-B14F-4D97-AF65-F5344CB8AC3E}">
        <p14:creationId xmlns:p14="http://schemas.microsoft.com/office/powerpoint/2010/main" val="1270885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609600"/>
            <a:ext cx="7772400" cy="1143000"/>
          </a:xfrm>
        </p:spPr>
        <p:txBody>
          <a:bodyPr/>
          <a:lstStyle/>
          <a:p>
            <a:pPr eaLnBrk="1" hangingPunct="1"/>
            <a:r>
              <a:rPr lang="en-US"/>
              <a:t> </a:t>
            </a:r>
          </a:p>
        </p:txBody>
      </p:sp>
      <p:sp>
        <p:nvSpPr>
          <p:cNvPr id="3081" name="Text Box 9"/>
          <p:cNvSpPr txBox="1">
            <a:spLocks noChangeArrowheads="1"/>
          </p:cNvSpPr>
          <p:nvPr/>
        </p:nvSpPr>
        <p:spPr bwMode="auto">
          <a:xfrm>
            <a:off x="4953001" y="641351"/>
            <a:ext cx="249872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4000"/>
              <a:t>BodyMind</a:t>
            </a:r>
          </a:p>
        </p:txBody>
      </p:sp>
      <p:sp>
        <p:nvSpPr>
          <p:cNvPr id="3083" name="Text Box 11"/>
          <p:cNvSpPr txBox="1">
            <a:spLocks noChangeArrowheads="1"/>
          </p:cNvSpPr>
          <p:nvPr/>
        </p:nvSpPr>
        <p:spPr bwMode="auto">
          <a:xfrm>
            <a:off x="3657600" y="1825626"/>
            <a:ext cx="525145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4000"/>
              <a:t>Body                     Mind</a:t>
            </a:r>
          </a:p>
        </p:txBody>
      </p:sp>
      <p:sp>
        <p:nvSpPr>
          <p:cNvPr id="3084" name="Text Box 12"/>
          <p:cNvSpPr txBox="1">
            <a:spLocks noChangeArrowheads="1"/>
          </p:cNvSpPr>
          <p:nvPr/>
        </p:nvSpPr>
        <p:spPr bwMode="auto">
          <a:xfrm>
            <a:off x="4937126" y="3654426"/>
            <a:ext cx="262572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4000"/>
              <a:t>BodyMind </a:t>
            </a:r>
          </a:p>
        </p:txBody>
      </p:sp>
    </p:spTree>
    <p:extLst>
      <p:ext uri="{BB962C8B-B14F-4D97-AF65-F5344CB8AC3E}">
        <p14:creationId xmlns:p14="http://schemas.microsoft.com/office/powerpoint/2010/main" val="3122623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3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30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30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300" fill="hold"/>
                                        <p:tgtEl>
                                          <p:spTgt spid="3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300" fill="hold"/>
                                        <p:tgtEl>
                                          <p:spTgt spid="3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1" grpId="0" autoUpdateAnimBg="0"/>
      <p:bldP spid="3083" grpId="0" autoUpdateAnimBg="0"/>
      <p:bldP spid="3084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The Separation</a:t>
            </a:r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en-US"/>
              <a:t>Greco-Roman </a:t>
            </a:r>
          </a:p>
          <a:p>
            <a:pPr eaLnBrk="1" hangingPunct="1"/>
            <a:r>
              <a:rPr lang="en-US"/>
              <a:t>Judeo-Christian</a:t>
            </a:r>
          </a:p>
          <a:p>
            <a:pPr eaLnBrk="1" hangingPunct="1"/>
            <a:r>
              <a:rPr lang="en-US"/>
              <a:t>Barbarian tradition</a:t>
            </a:r>
          </a:p>
          <a:p>
            <a:pPr eaLnBrk="1" hangingPunct="1"/>
            <a:endParaRPr lang="en-US"/>
          </a:p>
          <a:p>
            <a:pPr eaLnBrk="1" hangingPunct="1"/>
            <a:endParaRPr lang="en-US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eaLnBrk="1" hangingPunct="1"/>
            <a:r>
              <a:rPr lang="en-US"/>
              <a:t>Weber</a:t>
            </a:r>
          </a:p>
          <a:p>
            <a:pPr eaLnBrk="1" hangingPunct="1"/>
            <a:r>
              <a:rPr lang="en-US"/>
              <a:t>Taylor</a:t>
            </a:r>
          </a:p>
          <a:p>
            <a:pPr eaLnBrk="1" hangingPunct="1"/>
            <a:r>
              <a:rPr lang="en-US"/>
              <a:t>Gulick </a:t>
            </a:r>
          </a:p>
        </p:txBody>
      </p:sp>
    </p:spTree>
    <p:extLst>
      <p:ext uri="{BB962C8B-B14F-4D97-AF65-F5344CB8AC3E}">
        <p14:creationId xmlns:p14="http://schemas.microsoft.com/office/powerpoint/2010/main" val="482943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8" grpId="0" build="p" autoUpdateAnimBg="0"/>
      <p:bldP spid="6149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The Battle for reunification</a:t>
            </a:r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2727325" y="2108560"/>
            <a:ext cx="6548438" cy="192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4000" dirty="0"/>
              <a:t>Orthodoxy and the loop model </a:t>
            </a:r>
          </a:p>
          <a:p>
            <a:r>
              <a:rPr lang="en-US" sz="4000" dirty="0"/>
              <a:t>                of democracy</a:t>
            </a:r>
          </a:p>
          <a:p>
            <a:endParaRPr lang="en-US" sz="4000" dirty="0"/>
          </a:p>
        </p:txBody>
      </p:sp>
      <p:sp>
        <p:nvSpPr>
          <p:cNvPr id="9221" name="Text Box 5"/>
          <p:cNvSpPr txBox="1">
            <a:spLocks noChangeArrowheads="1"/>
          </p:cNvSpPr>
          <p:nvPr/>
        </p:nvSpPr>
        <p:spPr bwMode="auto">
          <a:xfrm>
            <a:off x="1957374" y="3954642"/>
            <a:ext cx="18047761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dirty="0"/>
              <a:t>a.) people know what they want; b.) politicians offer choices; </a:t>
            </a:r>
          </a:p>
          <a:p>
            <a:r>
              <a:rPr lang="en-US" sz="2400" dirty="0"/>
              <a:t>c.) people choose based on these choices; d.)laws reflect popular will;</a:t>
            </a:r>
          </a:p>
          <a:p>
            <a:r>
              <a:rPr lang="en-US" sz="2400" dirty="0"/>
              <a:t>e.) people pay attention; f.) rascals will be voted out</a:t>
            </a:r>
          </a:p>
          <a:p>
            <a:r>
              <a:rPr lang="en-US" sz="2400" dirty="0">
                <a:hlinkClick r:id="rId4"/>
              </a:rPr>
              <a:t>https://www.youtube.com/watch?v=VucczIg98Gw</a:t>
            </a:r>
            <a:endParaRPr lang="en-US" sz="2400" dirty="0"/>
          </a:p>
          <a:p>
            <a:r>
              <a:rPr lang="en-US" sz="2400" dirty="0">
                <a:hlinkClick r:id="" action="ppaction://noaction"/>
              </a:rPr>
              <a:t>http://www.bing.com/videos/search?q=What+did+you+learn+in+school+today&amp;qpvt=What+did+you+learn+in+school+today&amp;FORM=VDRE</a:t>
            </a:r>
            <a:r>
              <a:rPr lang="en-US" sz="2400" dirty="0"/>
              <a:t>#</a:t>
            </a:r>
          </a:p>
          <a:p>
            <a:r>
              <a:rPr lang="en-US" sz="2400" dirty="0">
                <a:hlinkClick r:id="" action="ppaction://noaction"/>
              </a:rPr>
              <a:t>The Battle for reunification</a:t>
            </a:r>
            <a:r>
              <a:rPr lang="en-US" sz="2400" dirty="0"/>
              <a:t> </a:t>
            </a:r>
          </a:p>
          <a:p>
            <a:r>
              <a:rPr lang="en-US" sz="2400" dirty="0">
                <a:hlinkClick r:id="rId5"/>
              </a:rPr>
              <a:t>http://www.bing.com/videos/search?q=What+did+you+learn+in+school+today&amp;qpvt=What+did+you+learn+in+school+today&amp;FORM=VDRE#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90131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autoUpdateAnimBg="0"/>
      <p:bldP spid="9221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The seeds of destruction have been sown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524000" y="1981200"/>
            <a:ext cx="3810000" cy="4114800"/>
          </a:xfrm>
        </p:spPr>
        <p:txBody>
          <a:bodyPr/>
          <a:lstStyle/>
          <a:p>
            <a:pPr eaLnBrk="1" hangingPunct="1"/>
            <a:endParaRPr lang="en-US" sz="2800"/>
          </a:p>
          <a:p>
            <a:pPr lvl="1" eaLnBrk="1" hangingPunct="1"/>
            <a:endParaRPr lang="en-US" sz="2400"/>
          </a:p>
        </p:txBody>
      </p:sp>
      <p:sp>
        <p:nvSpPr>
          <p:cNvPr id="10245" name="Oval 5"/>
          <p:cNvSpPr>
            <a:spLocks noChangeArrowheads="1"/>
          </p:cNvSpPr>
          <p:nvPr/>
        </p:nvSpPr>
        <p:spPr bwMode="auto">
          <a:xfrm flipV="1">
            <a:off x="2743200" y="2514600"/>
            <a:ext cx="2286000" cy="228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0246" name="Text Box 6"/>
          <p:cNvSpPr txBox="1">
            <a:spLocks noChangeArrowheads="1"/>
          </p:cNvSpPr>
          <p:nvPr/>
        </p:nvSpPr>
        <p:spPr bwMode="auto">
          <a:xfrm>
            <a:off x="2955925" y="3138489"/>
            <a:ext cx="1760538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dirty="0"/>
              <a:t>Monologic </a:t>
            </a:r>
          </a:p>
          <a:p>
            <a:r>
              <a:rPr lang="en-US" sz="2000" dirty="0"/>
              <a:t>communication</a:t>
            </a:r>
          </a:p>
        </p:txBody>
      </p:sp>
      <p:sp>
        <p:nvSpPr>
          <p:cNvPr id="10247" name="Oval 7"/>
          <p:cNvSpPr>
            <a:spLocks noChangeArrowheads="1"/>
          </p:cNvSpPr>
          <p:nvPr/>
        </p:nvSpPr>
        <p:spPr bwMode="auto">
          <a:xfrm>
            <a:off x="5638800" y="2514600"/>
            <a:ext cx="18288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5927725" y="2605089"/>
            <a:ext cx="149225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/>
              <a:t>Pseudo</a:t>
            </a:r>
          </a:p>
          <a:p>
            <a:r>
              <a:rPr lang="en-US" sz="2000"/>
              <a:t>communities</a:t>
            </a:r>
          </a:p>
        </p:txBody>
      </p:sp>
      <p:sp>
        <p:nvSpPr>
          <p:cNvPr id="10249" name="Oval 9"/>
          <p:cNvSpPr>
            <a:spLocks noChangeArrowheads="1"/>
          </p:cNvSpPr>
          <p:nvPr/>
        </p:nvSpPr>
        <p:spPr bwMode="auto">
          <a:xfrm>
            <a:off x="4267200" y="4419600"/>
            <a:ext cx="2590800" cy="1752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0250" name="Text Box 10"/>
          <p:cNvSpPr txBox="1">
            <a:spLocks noChangeArrowheads="1"/>
          </p:cNvSpPr>
          <p:nvPr/>
        </p:nvSpPr>
        <p:spPr bwMode="auto">
          <a:xfrm>
            <a:off x="4479925" y="4891089"/>
            <a:ext cx="1168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/>
              <a:t>simulacra</a:t>
            </a:r>
          </a:p>
        </p:txBody>
      </p:sp>
      <p:sp>
        <p:nvSpPr>
          <p:cNvPr id="10251" name="Oval 11"/>
          <p:cNvSpPr>
            <a:spLocks noChangeArrowheads="1"/>
          </p:cNvSpPr>
          <p:nvPr/>
        </p:nvSpPr>
        <p:spPr bwMode="auto">
          <a:xfrm>
            <a:off x="7467600" y="3581400"/>
            <a:ext cx="2438400" cy="1295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0252" name="Text Box 12"/>
          <p:cNvSpPr txBox="1">
            <a:spLocks noChangeArrowheads="1"/>
          </p:cNvSpPr>
          <p:nvPr/>
        </p:nvSpPr>
        <p:spPr bwMode="auto">
          <a:xfrm>
            <a:off x="7832725" y="3976689"/>
            <a:ext cx="13731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/>
              <a:t>Reification </a:t>
            </a:r>
          </a:p>
        </p:txBody>
      </p:sp>
      <p:sp>
        <p:nvSpPr>
          <p:cNvPr id="10253" name="Oval 13"/>
          <p:cNvSpPr>
            <a:spLocks noChangeArrowheads="1"/>
          </p:cNvSpPr>
          <p:nvPr/>
        </p:nvSpPr>
        <p:spPr bwMode="auto">
          <a:xfrm>
            <a:off x="7467600" y="1676400"/>
            <a:ext cx="2057400" cy="1676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0254" name="Text Box 14"/>
          <p:cNvSpPr txBox="1">
            <a:spLocks noChangeArrowheads="1"/>
          </p:cNvSpPr>
          <p:nvPr/>
        </p:nvSpPr>
        <p:spPr bwMode="auto">
          <a:xfrm>
            <a:off x="7680325" y="1919289"/>
            <a:ext cx="1423988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/>
              <a:t>De-centered</a:t>
            </a:r>
          </a:p>
          <a:p>
            <a:r>
              <a:rPr lang="en-US" sz="2000"/>
              <a:t>self</a:t>
            </a:r>
          </a:p>
        </p:txBody>
      </p:sp>
      <p:sp>
        <p:nvSpPr>
          <p:cNvPr id="10260" name="Oval 20"/>
          <p:cNvSpPr>
            <a:spLocks noChangeArrowheads="1"/>
          </p:cNvSpPr>
          <p:nvPr/>
        </p:nvSpPr>
        <p:spPr bwMode="auto">
          <a:xfrm>
            <a:off x="1524000" y="5410200"/>
            <a:ext cx="20574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0261" name="Text Box 21"/>
          <p:cNvSpPr txBox="1">
            <a:spLocks noChangeArrowheads="1"/>
          </p:cNvSpPr>
          <p:nvPr/>
        </p:nvSpPr>
        <p:spPr bwMode="auto">
          <a:xfrm>
            <a:off x="1812926" y="5500689"/>
            <a:ext cx="111442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/>
              <a:t>Thinning</a:t>
            </a:r>
          </a:p>
          <a:p>
            <a:r>
              <a:rPr lang="en-US" sz="2000"/>
              <a:t>reality </a:t>
            </a:r>
          </a:p>
        </p:txBody>
      </p:sp>
      <p:sp>
        <p:nvSpPr>
          <p:cNvPr id="10262" name="Oval 22"/>
          <p:cNvSpPr>
            <a:spLocks noChangeArrowheads="1"/>
          </p:cNvSpPr>
          <p:nvPr/>
        </p:nvSpPr>
        <p:spPr bwMode="auto">
          <a:xfrm>
            <a:off x="8534400" y="5334000"/>
            <a:ext cx="1905000" cy="1524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0263" name="Text Box 23"/>
          <p:cNvSpPr txBox="1">
            <a:spLocks noChangeArrowheads="1"/>
          </p:cNvSpPr>
          <p:nvPr/>
        </p:nvSpPr>
        <p:spPr bwMode="auto">
          <a:xfrm>
            <a:off x="8823325" y="5653089"/>
            <a:ext cx="14493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/>
              <a:t>neotribalism</a:t>
            </a:r>
          </a:p>
        </p:txBody>
      </p:sp>
      <p:sp>
        <p:nvSpPr>
          <p:cNvPr id="10266" name="Oval 26"/>
          <p:cNvSpPr>
            <a:spLocks noChangeArrowheads="1"/>
          </p:cNvSpPr>
          <p:nvPr/>
        </p:nvSpPr>
        <p:spPr bwMode="auto">
          <a:xfrm>
            <a:off x="1524000" y="1371600"/>
            <a:ext cx="1676400" cy="1828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0267" name="Text Box 27"/>
          <p:cNvSpPr txBox="1">
            <a:spLocks noChangeArrowheads="1"/>
          </p:cNvSpPr>
          <p:nvPr/>
        </p:nvSpPr>
        <p:spPr bwMode="auto">
          <a:xfrm>
            <a:off x="1736726" y="1538289"/>
            <a:ext cx="1370013" cy="161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/>
              <a:t>Meta </a:t>
            </a:r>
          </a:p>
          <a:p>
            <a:r>
              <a:rPr lang="en-US" sz="2000"/>
              <a:t>Narratives</a:t>
            </a:r>
          </a:p>
          <a:p>
            <a:r>
              <a:rPr lang="en-US" sz="2000"/>
              <a:t>And God’s </a:t>
            </a:r>
          </a:p>
          <a:p>
            <a:r>
              <a:rPr lang="en-US" sz="2000"/>
              <a:t>Eye are </a:t>
            </a:r>
          </a:p>
          <a:p>
            <a:r>
              <a:rPr lang="en-US" sz="2000"/>
              <a:t>blinded</a:t>
            </a: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 flipH="1">
            <a:off x="8610600" y="6096001"/>
            <a:ext cx="1828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200" b="1"/>
              <a:t>It’s not a traditional America, anymore</a:t>
            </a:r>
          </a:p>
        </p:txBody>
      </p:sp>
    </p:spTree>
    <p:extLst>
      <p:ext uri="{BB962C8B-B14F-4D97-AF65-F5344CB8AC3E}">
        <p14:creationId xmlns:p14="http://schemas.microsoft.com/office/powerpoint/2010/main" val="1540849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300" fill="hold"/>
                                        <p:tgtEl>
                                          <p:spTgt spid="10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300" fill="hold"/>
                                        <p:tgtEl>
                                          <p:spTgt spid="10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300" fill="hold"/>
                                        <p:tgtEl>
                                          <p:spTgt spid="102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300" fill="hold"/>
                                        <p:tgtEl>
                                          <p:spTgt spid="102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02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0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300" fill="hold"/>
                                        <p:tgtEl>
                                          <p:spTgt spid="10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300" fill="hold"/>
                                        <p:tgtEl>
                                          <p:spTgt spid="10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300" fill="hold"/>
                                        <p:tgtEl>
                                          <p:spTgt spid="10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300" fill="hold"/>
                                        <p:tgtEl>
                                          <p:spTgt spid="10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300" fill="hold"/>
                                        <p:tgtEl>
                                          <p:spTgt spid="10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300" fill="hold"/>
                                        <p:tgtEl>
                                          <p:spTgt spid="10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300" fill="hold"/>
                                        <p:tgtEl>
                                          <p:spTgt spid="10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300" fill="hold"/>
                                        <p:tgtEl>
                                          <p:spTgt spid="10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300" fill="hold"/>
                                        <p:tgtEl>
                                          <p:spTgt spid="10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300" fill="hold"/>
                                        <p:tgtEl>
                                          <p:spTgt spid="10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5" grpId="0" animBg="1"/>
      <p:bldP spid="10246" grpId="0" build="p" autoUpdateAnimBg="0"/>
      <p:bldP spid="10247" grpId="0" animBg="1"/>
      <p:bldP spid="10248" grpId="0" build="p" autoUpdateAnimBg="0"/>
      <p:bldP spid="10249" grpId="0" animBg="1"/>
      <p:bldP spid="10250" grpId="0" build="p" autoUpdateAnimBg="0"/>
      <p:bldP spid="10251" grpId="0" animBg="1"/>
      <p:bldP spid="10252" grpId="0" build="p" autoUpdateAnimBg="0"/>
      <p:bldP spid="10253" grpId="0" animBg="1"/>
      <p:bldP spid="10254" grpId="0" build="p" autoUpdateAnimBg="0"/>
      <p:bldP spid="10260" grpId="0" animBg="1"/>
      <p:bldP spid="10261" grpId="0" build="p" autoUpdateAnimBg="0"/>
      <p:bldP spid="10262" grpId="0" animBg="1"/>
      <p:bldP spid="10263" grpId="0" build="p" autoUpdateAnimBg="0"/>
      <p:bldP spid="10266" grpId="0" animBg="1"/>
      <p:bldP spid="10267" grpId="0" build="p" autoUpdateAnimBg="0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D1A8F-3C66-41CF-B9A2-699A3BC9D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Reflective Pause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0C6E5-576F-4A6B-AE6E-CBECD008F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Each of the seeds (circles) represent a frustration with the current mind/body separation</a:t>
            </a:r>
          </a:p>
          <a:p>
            <a:pPr lvl="1"/>
            <a:r>
              <a:rPr lang="en-US" dirty="0"/>
              <a:t>We’ve seen a general disenchantment with monologic, top-down, communication – Lindblom's notion of impairment and the discussion in Getting to Yes about networks replacing hierarchies    </a:t>
            </a:r>
          </a:p>
          <a:p>
            <a:pPr lvl="1"/>
            <a:r>
              <a:rPr lang="en-US" dirty="0"/>
              <a:t>Facebook and all the instant messaging platforms don’t result in real community </a:t>
            </a:r>
          </a:p>
          <a:p>
            <a:pPr lvl="1"/>
            <a:r>
              <a:rPr lang="en-US" dirty="0"/>
              <a:t>Simulacra – a self referent symbol with no independent reality has been used to mislead people (WMD’s, Socialized Medicine, Fake </a:t>
            </a:r>
            <a:r>
              <a:rPr lang="en-US" dirty="0" err="1"/>
              <a:t>News,etc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Reification assigns concrete reality to something conceptual (the idea of organization, separate from the people who act)</a:t>
            </a:r>
          </a:p>
          <a:p>
            <a:pPr lvl="1"/>
            <a:r>
              <a:rPr lang="en-US" dirty="0"/>
              <a:t>Decentered self was the concern of Weber, Durkheim, Mayo and others – what the rational organization did to Charlie Chaplin</a:t>
            </a:r>
          </a:p>
          <a:p>
            <a:pPr lvl="1"/>
            <a:r>
              <a:rPr lang="en-US" dirty="0"/>
              <a:t>Thinning of realty – the idea of alternative facts and suspicion of experts</a:t>
            </a:r>
          </a:p>
          <a:p>
            <a:pPr lvl="1"/>
            <a:r>
              <a:rPr lang="en-US" dirty="0"/>
              <a:t>Neo tribalism -  anything that contradicts my tribal view is false and evil</a:t>
            </a:r>
          </a:p>
          <a:p>
            <a:pPr lvl="1"/>
            <a:r>
              <a:rPr lang="en-US" dirty="0"/>
              <a:t>No universal narrative that we can agree on   </a:t>
            </a:r>
          </a:p>
        </p:txBody>
      </p:sp>
    </p:spTree>
    <p:extLst>
      <p:ext uri="{BB962C8B-B14F-4D97-AF65-F5344CB8AC3E}">
        <p14:creationId xmlns:p14="http://schemas.microsoft.com/office/powerpoint/2010/main" val="2350557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 what are the implications of hyperreality and epiphenomenalism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our understanding of organizations?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For our understanding of  politics?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For our understanding of governance?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For our understanding of ourselves?  </a:t>
            </a:r>
          </a:p>
        </p:txBody>
      </p:sp>
    </p:spTree>
    <p:extLst>
      <p:ext uri="{BB962C8B-B14F-4D97-AF65-F5344CB8AC3E}">
        <p14:creationId xmlns:p14="http://schemas.microsoft.com/office/powerpoint/2010/main" val="873087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Organizations: there is no there, there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Institutions are habits not things</a:t>
            </a:r>
          </a:p>
          <a:p>
            <a:r>
              <a:rPr lang="en-US" dirty="0"/>
              <a:t>Recursive practices – repeating what has been done before, sort of!</a:t>
            </a:r>
          </a:p>
          <a:p>
            <a:pPr lvl="1"/>
            <a:r>
              <a:rPr lang="en-US" dirty="0"/>
              <a:t>E.g. language confines while providing opportunities for creativity</a:t>
            </a:r>
          </a:p>
          <a:p>
            <a:r>
              <a:rPr lang="en-US" dirty="0" err="1"/>
              <a:t>Structuration</a:t>
            </a:r>
            <a:r>
              <a:rPr lang="en-US" dirty="0"/>
              <a:t> Theory = social practices structured across space and time</a:t>
            </a:r>
          </a:p>
          <a:p>
            <a:pPr lvl="1"/>
            <a:r>
              <a:rPr lang="en-US" dirty="0"/>
              <a:t>Bureaucracy as ideograph – a symbolic vessel that carries a number of meanings but has no reality outside of human social interaction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091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52A2A-E47D-44EA-B878-5DE9C993E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reflective pause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0555E-CBDB-4D41-A8E7-2D7922723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Analyze the sentence, “St. Louis University required that I put this course online”</a:t>
            </a:r>
          </a:p>
          <a:p>
            <a:r>
              <a:rPr lang="en-US" dirty="0"/>
              <a:t>What’s false about this statement?</a:t>
            </a:r>
          </a:p>
          <a:p>
            <a:r>
              <a:rPr lang="en-US" dirty="0"/>
              <a:t>What’s true about this statement?</a:t>
            </a:r>
          </a:p>
        </p:txBody>
      </p:sp>
    </p:spTree>
    <p:extLst>
      <p:ext uri="{BB962C8B-B14F-4D97-AF65-F5344CB8AC3E}">
        <p14:creationId xmlns:p14="http://schemas.microsoft.com/office/powerpoint/2010/main" val="1352190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Signifier Dominates the Signified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“…now more important to </a:t>
            </a:r>
            <a:r>
              <a:rPr lang="en-US" i="1" dirty="0"/>
              <a:t>show</a:t>
            </a:r>
            <a:r>
              <a:rPr lang="en-US" dirty="0"/>
              <a:t> you did your job than to actually </a:t>
            </a:r>
            <a:r>
              <a:rPr lang="en-US" i="1" dirty="0"/>
              <a:t>do</a:t>
            </a:r>
            <a:r>
              <a:rPr lang="en-US" dirty="0"/>
              <a:t> your job” </a:t>
            </a:r>
          </a:p>
          <a:p>
            <a:r>
              <a:rPr lang="en-US" dirty="0"/>
              <a:t>Accountability and Transparency: A chimera?  </a:t>
            </a:r>
          </a:p>
          <a:p>
            <a:pPr lvl="1"/>
            <a:r>
              <a:rPr lang="en-US" dirty="0"/>
              <a:t>Is accountability good?</a:t>
            </a:r>
          </a:p>
          <a:p>
            <a:pPr lvl="1"/>
            <a:r>
              <a:rPr lang="en-US" dirty="0"/>
              <a:t>Is it able to achieve reform?</a:t>
            </a:r>
          </a:p>
          <a:p>
            <a:pPr lvl="1"/>
            <a:r>
              <a:rPr lang="en-US" dirty="0"/>
              <a:t>Is transparency good</a:t>
            </a:r>
          </a:p>
          <a:p>
            <a:pPr lvl="1"/>
            <a:r>
              <a:rPr lang="en-US" dirty="0"/>
              <a:t>Is it able to achieve reform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2353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Problematizing</a:t>
            </a:r>
            <a:r>
              <a:rPr lang="en-US" dirty="0"/>
              <a:t> Accountability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relationship between accountability and performance is not a subject /object relationship.</a:t>
            </a:r>
          </a:p>
          <a:p>
            <a:r>
              <a:rPr lang="en-US" dirty="0"/>
              <a:t>The relationship is dynamic – accountability necessarily becomes a verb - accounting </a:t>
            </a:r>
          </a:p>
          <a:p>
            <a:r>
              <a:rPr lang="en-US" dirty="0"/>
              <a:t>And giving an account is a performance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489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Five barriers to objective accountability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malleability of numbers (another example of the need to delay the moment of correspondence between appearance and reality)</a:t>
            </a:r>
          </a:p>
          <a:p>
            <a:pPr lvl="1"/>
            <a:r>
              <a:rPr lang="en-US" dirty="0"/>
              <a:t>Deciding what to count, what counts as an instance of a phenomenon, how it is counted, the context in which the number was produced, objectification of evaluative criteria, and the number as a goal all contribute to the lack of numeric objectivity.</a:t>
            </a:r>
          </a:p>
          <a:p>
            <a:r>
              <a:rPr lang="en-US" dirty="0"/>
              <a:t>Add to this the influence of organizational decision dynamics, organizational culture, environmental demands, and failure to distinguish data, information, and knowledge and objective accountability seems unattainable.    </a:t>
            </a:r>
          </a:p>
        </p:txBody>
      </p:sp>
    </p:spTree>
    <p:extLst>
      <p:ext uri="{BB962C8B-B14F-4D97-AF65-F5344CB8AC3E}">
        <p14:creationId xmlns:p14="http://schemas.microsoft.com/office/powerpoint/2010/main" val="34928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469EE-04E6-440F-9428-3905FEECB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Third reflective pause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74D7D-9C50-4F92-A35F-ED4DDEB71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are the implications of the statement “accountability is ultimately a verb, giving an account”</a:t>
            </a:r>
          </a:p>
          <a:p>
            <a:endParaRPr lang="en-US" dirty="0"/>
          </a:p>
          <a:p>
            <a:r>
              <a:rPr lang="en-US" dirty="0"/>
              <a:t>Give an example of where giving an account ( a written report, a verbal presentation) is not the same thing as accountability</a:t>
            </a:r>
          </a:p>
        </p:txBody>
      </p:sp>
    </p:spTree>
    <p:extLst>
      <p:ext uri="{BB962C8B-B14F-4D97-AF65-F5344CB8AC3E}">
        <p14:creationId xmlns:p14="http://schemas.microsoft.com/office/powerpoint/2010/main" val="19892461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Barriers to transparency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Transparency is thought to be achieved through the mechanism of disclosure</a:t>
            </a:r>
          </a:p>
          <a:p>
            <a:r>
              <a:rPr lang="en-US" dirty="0"/>
              <a:t>But if all that is provided is data and information, context to make a decision is lost</a:t>
            </a:r>
          </a:p>
          <a:p>
            <a:r>
              <a:rPr lang="en-US" dirty="0"/>
              <a:t>Disclosure impedes rather than enhances transparency – i.e. </a:t>
            </a:r>
            <a:r>
              <a:rPr lang="en-US"/>
              <a:t>data dumps do not inform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98912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70A40-AE1B-484E-B4F9-9644B7A7B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Fourth reflective pause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0B70C-828F-45D5-9D7A-F57EBCBD4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Credit card companies are required to give terms and conditions of their credit card membership – transparency</a:t>
            </a:r>
          </a:p>
          <a:p>
            <a:endParaRPr lang="en-US" dirty="0"/>
          </a:p>
          <a:p>
            <a:r>
              <a:rPr lang="en-US" dirty="0"/>
              <a:t>Has anyone actually read through all the terms and conditions – why or why not</a:t>
            </a:r>
          </a:p>
        </p:txBody>
      </p:sp>
    </p:spTree>
    <p:extLst>
      <p:ext uri="{BB962C8B-B14F-4D97-AF65-F5344CB8AC3E}">
        <p14:creationId xmlns:p14="http://schemas.microsoft.com/office/powerpoint/2010/main" val="14849648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Politics: Ideographic Discourse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collision of  ideographs (the war of symbols)</a:t>
            </a:r>
          </a:p>
          <a:p>
            <a:r>
              <a:rPr lang="en-US" dirty="0"/>
              <a:t>The domesticating of reality</a:t>
            </a:r>
          </a:p>
          <a:p>
            <a:r>
              <a:rPr lang="en-US" dirty="0"/>
              <a:t>Edelman: language matters because …it defines public problems, constructs political realities, generates political support, and creates favorable responses to government action</a:t>
            </a:r>
          </a:p>
          <a:p>
            <a:r>
              <a:rPr lang="en-US" dirty="0"/>
              <a:t>The locus of political power is symbolization</a:t>
            </a:r>
          </a:p>
        </p:txBody>
      </p:sp>
    </p:spTree>
    <p:extLst>
      <p:ext uri="{BB962C8B-B14F-4D97-AF65-F5344CB8AC3E}">
        <p14:creationId xmlns:p14="http://schemas.microsoft.com/office/powerpoint/2010/main" val="21171367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www.naagtag.com/media/catalog/product/cache/1/image/800x800/9df78eab33525d08d6e5fb8d27136e95/r/e/restroom-signs-women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1" y="762000"/>
            <a:ext cx="2468879" cy="2468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restroom sig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929640"/>
            <a:ext cx="2133600" cy="21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6" descr="data:image/jpeg;base64,/9j/4AAQSkZJRgABAQAAAQABAAD/2wCEAAkGBxQSEBQUDxQUFRQVFRQUFBQUFBQVFRUUFBQXFhQUFBUYHCggGBolHRQVITIhJSktLi4uFx8zODMsNygtLisBCgoKDgwOFQ8PFCwcFBwsLCwsLCwsLDc3LCwsLCwsLCwsLCwsLCwsLCwsLCwsNzcrLDcrLCssLDc3KyssNywsK//AABEIAN8A4gMBIgACEQEDEQH/xAAcAAAABwEBAAAAAAAAAAAAAAAAAQIEBQYHCAP/xABSEAACAQMBAwUJCgsFBwUBAAABAgMABBESBQYhBxMxQVEiMmFxcnOBsbIjMzQ1UnSRobPRFBYkU1SCkpPBwtIXJUJiojZjZIOEo8MVRrTh8EP/xAAXAQEBAQEAAAAAAAAAAAAAAAAAAQID/8QAGBEBAQEBAQAAAAAAAAAAAAAAAAERQTH/2gAMAwEAAhEDEQA/ANE3+3t/AY1WIBp5OKhslVUcC5A6fAKyyXfS+ZifwmQZ6lwB6BipjleP94L5iPH7clUisonPxwvf0mX6R91H+ON9+kyfSPuqCzRUE/8AjpffpMn+n7qP8db79Jk/0/dVfoqCw/jrf/pL/wCn7qP8d7/9Jf6F+6q7RUFj/Hm//SX+hPuoxv1f/pDfQn3VW6PNBZRv3f8A6Q37KfdRjfy//SD+yn3VWaOgs34+3/58/sp91GN/r/8APn9hPuqsUdBaBv8A3/5//Qn3Uf8AaDf/AJ4fu0+6qtQqC1DlDv8A88P3afdSxyiX/wCdX92n3VUwKFBbhyi3/wCcT92tLXlIvvlx/ulqoUKC4jlKvvlRfu//ALpQ5TL7/c/uz/VVMoU0XYcp172Qfu2/qo/7T735MH7Df11SKFQXf+1G8+TB+w/9dH/ajefIt/2H/rqjZoVNF5HKjefIt/2H/rqe3Y5S+dlWK7RU1kKsiZ06jwAYHOPHmsoFKzim1XTVCmOy5SYIieJMaEnwlRR100ZNywj+8E+bp9pLVGNXzllH5dEf+HX7WSqHUQVDNA0VAdAmioUAoUVWLdnc25vV1xKFi4gSOcBiOB0jpPjoK7Qqy7x7kXVmuuRQ8fW6HIXyh0iq1QHQFFQzQKBo6SDTixtHmkWKFS8jd6q9PhPgHhoPKhV1bkxvBHq9yLYzoD8fFnGM+mqfdWzRuUkUq6nDKRgg+Gg8hQoUKgPNAGk172Vq80ixwqzu3QqjJ8fgHhoPPNDNW2bk4vVj1aEJxnQrgt9xqpyxlWKsCCDggjBBHSCKgKizRURNAdGKTmlVAdGaKgalHRuyR+Tw+aj9gUKVsr3iLzaeyKOtqyrll+FwHttx9o/31QK0LlpH5VB5k+2fvrPKqUKFFQoDojQzQoPOc9zxOBwyewdZrp3ZVuscEaRABFRQoHRgAYrmRlBGD18K07cnlBMECwX0chCDSkyIWJUd6HXpyBwyOykVqVzAsiMjgFWBUg9YIwa5ov4gksiDoV2UeJWIFavvHykpzTLZJIzsCA7IyqmevB4k1kTk5OenPHx1aE0dFQqIOtM5ELZS13KQNatHGO0IVLHHjPqrMqsG5+3JbC451EZ0cBZUwe6UcVKnqYZoOg6yXlltVWeGRQAzowbw6SNJP049FWkcpFpo1Yn1Y7zmXznsz0enNZdvdtuS9uDKyFVA0ouD3Kjt8JPGrVQWaGaTRZqIWK07kRtFK3UxwXEixDtVAgfh4y3+msvBqybj7xvs+dm0M8MukSqBx7nOl18IyfHU6rfaxrletFS9Rk4GSIM+O0My59IA+irrLykWQTUplZscE5pw2ezJGB9NZLvLtiS8uGmlGM4Cr1Ko6AP/AN11bRFik4o80WaiDoZpJNDNQLoyaQDR5qDpTZg9wi82nsihStm+8x+bT2RQrSss5ax+UW/mn9sVnVaPy2D3e283J7S1m9aShRUeaKiBSXfAJPVSqd7FsPwi7t4Pzkqg+SvdP9QNRWt8nG5UcECXFwgeeRQ41AERKwyqqD/iwRk1fNA7B9FQu9u1WtbYNCAZXkihiBGQXkcIOHiJqbXo49PXWlFoHYPoqp77bmRXcTNEqpOoJVlAGvH+F8dOe2rdUBu9tl5bi8gmCh7eVQukY1QyLqiY+HgwPioOe3UgkHgRwI8NIdsAk9VWTlA2dzG0JlAwrHnF8TjPrzVVvz7m3iNZRtPJruXHHbx3N0geaVQ6q4yIlPFQAf8AFjBJ8NaCEHYPopnFOI7UOQcJCHIHThUyQPoo9i7SW5t4p4wQsqK6hsagGGQDjrqqd6B2D6KJolPSB9ApdR28O10s7aW4lDFIl1MFwWI8GSBVFI5SdzIjC1zbKEdBqkVRhXXrbA6COmsikbAJPVXSW2nD2Ux6mgkOD2GMmuap+geUvtCs0bZyfbjxQwJNcosk7gPhwCsQbiFUHrx0ntq8iJfkj6BTbat+tvbyTOCViRnIXGcKMkAGvTZ90JYo5FBAkRHAPSA6hgD4eNUehhX5K/QK8brZ0UilZI0ZTwIKg06qA2ttl4b+0hIXmbnnU1cdQmRS6DswQCPHVGO787DFndtGmebbu48/Jbq9ByKrxrWOWfZ+YoJwO9Zo28TDK/WD9NZNWKgUWaBNJJqBYNKryFegqDprZ49xj8hPZFCjsPeo/IX2RQrpist5bPfrXyJfaSs1rTOW0e6WvkzetKzOiUVA0KBogqvHI3s7nNoSTEcIIiF8uU49kN9NUc1s3Ixs3m9nmVh3VxI0n6i9wnsk+mixJbcXn9q2UPSsCyXcg/zcI4c+kufRVtqpbn+7Xd/dHiGmFrEf93bZDEeAuzfQKttVQqn7T/J9tW0vQt3E9s5/3kXukX1axVwqq8pNqxsTNH75ayR3SY6cwtlh6V1D00FY5adncIJwO2Jj/qX+askv/e38k10JvlbLe7Ldo+OY1nj6+9Ab1ZHprny+97fyTWaOlLv4vf5q32Rppyd/FVl83j9mnc/xe3zU/ZUz5OT/AHTZfN4/VVFjqp8qvxNe+ZPrFWyqpyqfE955k+sVRKX/AMXP82b7Kubp+geUntCukL74uf5q32Vc3z9A8pfaFZo6J39P913nzeT2TTzdn4Fa/N4fs1plygfFd583k9k0+3a+BW3zeH7NaokqqnKVERZc+g7u1liuVx04RxzgH6harXXhfWwlieNuKurIfEwwfXVEJvdbC72ZLo46ohKmOvA1rjxj11z6a3nk4n1bPWF+LWzSWjg9PuLFVz+rprFt4rHmLqaL5EjAeLOV+ois0R1CioxWUAClrScUpOkeMVKOnLL3pPIX2RQoWfvaeSvqFHXVWX8tw7q18U3rSswrUeW4fBf+d/JWW1Eo6FFQzRBGrnsPlIls7HmObV+bUrE+SMD/AAhh14zVMNSG7mz/AMJvbaDqeVS3kJl2z4MLUWN63J2eYLC3Ru/5sPJ5yTu3+tjU5RCjrShXncQh0ZGGVZSrDtDDBH116UVBjMW+s1hBJYNGrmHXDHISQQmSF1L14B9VZ5dLqRgOkg1fuV/ZnNXolHezIG/XTuW+rSfTVErI3o7x2zbJMglTBtiuMjVq5vTpK9Oc8Kccm3xRZZ/R4/VXPrdBroLk2+KLLzCVRYjKNWnIzjOM8cduKrPKfGW2ReKOkxED0kU1T/aFvmI+1FSPKD8WXPkfzCgZ3m8dsdlNIJVw1uVC5GrWY9OjT05zwrBZ+jxEH6Dn+FLNCpRuG/O8Vs+yLhklQ87CyoAQWLOMAY6R4fFVj3a+BW3zeH7Na5nu/e28k+qumN2vgVt83h+zWrKJKhRZoE1Rl28G3ZNk7RnMaK8V1pmKkkYkA0MwI7ccfRWc7a2m1zPJNJgM5yQOgcMAD0AVqPLNs/XbxTjpjYo3kv0fWv11kFYoOjoqFRB0tOkeMUilx9I8Y9dKOnLT3tPJX1ChQte8TyV9VCuisz5bhwtfHL6lrK61blu7y18qT1LWU1EoGio6FEEaXBMyMGRirDOGUkEZGDgikUVQOrvbVwEbE83R+cb766VsTmKPPWi+yK5avfe28RrqTZvvMfm09kVY0r3JjOz7MhaRizEy5ZiSTiVhxJrMuUDakybSuFSaRVDDCq7ADKKeAz4a0jkp+KofKm+2ess5SfjS58pfs1oIG7vpJMc7I746NTFsZ7M03oqGaiAx4Gug+TM/3RZeYSue26D4q6D5Mviiz8yv8aT1TJf9oj8x/wDKKk+UD4tufI/mFRn/ALi/6H/yipPf/wCLLnzf8RVHPVAUVAVEIu/e28k+qumN2vgVt83h+zWuZ7r3tvJPqrpjdv4FbeYh+zWkVBbuzMds7UUsxVVstKknC5iYnA6s0jlXlZNnEoxU87HxUkHpOeIpO7Px3tbybL7FqLld+LT52P8AjV4MWmvpGGHkdh2FmI+gmm4o6FZQKFCjoBXpD3w8Y9dIr1t++Xyl9YqUdNW/eL5I9VFSoe9XxD1UK6KzXluHuVt5b+yKyetZ5bh7jbecf2KyaolA0KFCiCNFR0VB43vvbeI+quo9me8RebT2RXLt4MxsB8k+qundjXCtawuGBXmkOrPDGkZOaRYr/JT8VxecuPt3rLOUn40ufKX7NK0/klmVtmIFIJWW4DAdRMzsM+gg+msu5R5Q207gqcjUoyO0IoI+kGiqzQoGgKiAeg10HyZH+6LPzK/xrnw9Fb3yU3SPsm2VCCY15tx1qyk5BH10nqvL/wBxf9CftRUnv/8AFtz5v+IqvvtSIbyAFxxtTDnPDnNYbRntxUzykXaR7NnDkAuoRR1liR0CqOf6AoqMCsoRde9t5J9VdM7t/ArbzEP2a1zPOuUYDrBFdIbnXyS2Fs0bAgQxqePesqAMG7CCDVioXdk/33tbxWX2LUnle+LT52P+NM909rRNtvaQDj3UW/N8Rh+ZQpJpPXgkUvlivUFksRYa3kVgvXhc5JHZQYxQoUdRAo6FHQGBXrAO7Xyl9YrzFe1t36+UvrFSjpiHvR4h6qFHF3o8Q9VFXRWcctw/J7bzrexWR1r3LaPya388fYNZBUSlUVCjogUnFKoqAqdR7RlWMxLI4jPSgY6ePTwprQNRTizv5YtXMyOmrvtDFc+PFNnbJyek0DRUBUVHQoAK97W7eMkxO6Z6dLFc+PHTXhR0Bs5JySc5znPHPTnPbXrcXkkmOcd3x0amLY8Wa8M0KAxShSRR0ChXrDcOgIR2UHvgrEA+MA8a8xR0ABIORwI4gjgR4jSppmc5dmY9rEk/SaTRVAKFCgKA6OhQFUGKcWvfp5S+sV4Cve098Ty19oVkdMR9A8QoUadAoVtWdctg/JYPPH2GrH62LlqH5JD57+Rqx2iVLbt7uzXrPzWlY4+MsznCJ148Jx1U5jsLEuEN3ICTpEhg9yz0AnjkL4at26qAbsSlO+YzlyOnPPY4/qgVnWz7Npp44IwC8raUycDIBPE9XAGgn9ibom42hNZ88oMKF+cALK2GVcD9r6qZ7e2XbW8c2i65yaIlea5plyQwVu6PDgMn0VaeTfZclrtuWGbGtbU6sHI7pomHHr6RVc32/A/ysRi45/W/FynN55zu+A44xnFFPNv7jSW9pFco3OoyK74GCgcAg46xx6agNibO/CGuBq08xbtcdGdWllXT4O+rSbbe8Ws1vBdYNrNZ2uc8RGzRBST2oeGezGaa3+6Bs5r6aHjbS2EoQg50sZIm0Z6xjJB7KCq7M3XWTZgvpJSq6nVkVNRGmXmxg549teuyt1YrxZPwG4LyxrqaGVNDEHo0nOD2VLbF/wBl389J/wDJFRvJJn/1dNPRzE2vsxlcZ9OKyGm5e64vpblJHaI26qxwoJOS4IIPRjRUftm2tI0U208sjl1VleLQAp4Fs54norQ9ymU7X2yU7zQvRw/xSZx6c1nO357QxAWsUqSB11NJKHBXsAAGDnFUWXau6FtbXMME9xLmfSEcRrpDMcKreM4FV7ejYbWVy0LsGwAysOGpW6DjqrVNsbEjutowc4+JYYFngiJwspQjix6e5bT0dorLd7NpTXF3I9yuiQHQUHDQE4BR4qgebibsf+otdJr0NAkTJwBDmTnODdgBjH01X9t20lqZFlXDx5yp7R/D76mt0LySGLaEkDFXRbFlYdomk4EdYIyCOwmrfty1j2/s5pbcKl9EhEkfW2Ae58KnpU+iqK/abqI+1zYc4wUIzCTA1EqqtjH6x+imW27GzhWVYpZ2mjJUK0ahCVbDd0PEatmy/wDar/lyfYrVb3rubXVcolu4m5yT3UzFhkOdR0Y4Z41Arbm7aQWFpcrIzNcKrFSAAuUDHGKjNi7OE63ZZiDb2/PKBjDMW04Pg6KtW9vxLso9XNL9mKgd0+82j4LIZ9Mq49VUPN1dh2l5LHAJbhZ2iMj9wnNhkC6wp6cZbhUfti0tI2EcDztIJ1ifnFQLpL6GZcddSXJT8cReYn/kqD2yv5Y4/wCK/wDPU4LTtHdW0gvYrSSS41TAaJBoKhjnAYY/y1V96dlmyuJYnOrm8EEdYKhlOO3BrWdobOim2nrzm7ht1ltkc4jbvxnHSSp9oGs4tEe82pm8x3DNPcau5VUgx3LdgyFWoHO8+6JtLS1myS0i4nHDCyFQwUdg6R6K891d3Y7q0vJ5HdWt86VXGG9z1DOR21adjQPdWN9azTQyyl3uoeak5wrrOvSezuwwHgao3k8GNm7WHo/7NUUUU4sh7onlp7QpuKcWXvieWntCiOl16KFAUK0rPuWj4HF54ew1Y5WyctHwOLzw9hqxqiVZ9zt6vwNJIZkMttLksgIDKxGCy57eyhs+5sILuK5je5bmnLrEY4xxwQFL6ujj9VVijoau2zt9o12tNfSRPpkhESxqQSCNHEk8OhPrqG3iurKdJ2iS4E8pLBndObBZ8t3K+DOKgqBoald5dqrcvEUUqEgihw2Dkxrpzw6qldj77PHYTWc6tIrIUhbOCgYd62elR1fRVS/xIPlOiZ7NbBc/XV6vdx4Ib2K0luZBJOPc2ES6CePBjqyDwNQR2yd5Yo9lixljkILOzOjKMlpOcAAPopGz95Y7NJBs+EpLKNLzytrk09QUAYUV7bP3ML7Wewlk06YmlEiqDqAK44E8M6vqqO2/s+0gWVYriaSaNigjMIVSwbSe61GinO5O8y2Mly8iNIZ0RODAEadWSSeknVUdtae0dALaGVH1qzM8uvKjiVA6B46lrvd+2tZI4b+WcSuqM7RInNRa+gHV3T46yKj9hWFrM6RTTTLLLOIoxHGpTSzAIzEngTnjQSe8W+rT3VtcwIYnthgZbOoZ4qfARkemmG+W3Y72fno4uaYjD91nUR0N4Djh6BXvvjsO2sTNGJpnnjVSoMaCNtShuLA5HA0+2rura2q2jTzT4ugnFFjwhfT056RlxQVnZl+IobqPTk3IgGrPeCFnbo686/qpewdryWlwk8Jwy8GHU6HvkbwerFSe8u6clvfpaQHnWm0811Eg5yX7AMEk9gr02psi0s5DFO888q45zmWjjjUkZKrqUljx7aBdtvYF2q1/zWSVZRHq6CwVc6vEv1032tta1mEhS1KTSEtzpmdsEtlu46OPGvTbm7iJaR3tpIZbZ+BLgK8bZIKuBw6QR46XHu4kFpHc7QaQGbjDbxaVcrjOqR2B0jBBxjrqBNjvGv4GtndxGWKM5iZX0SR8e9B6COJHHqprPtSNYXitIjEspUyszl5JAvFFLdAUZJwKk9i7Bt75JVszLHcxLr5mVldZEzjKOqjBzw49opvuZu3+HTXMZLK0MOpcY4ysxCq+R0dyeigZbq7YNldi5CayI3jCk4HdlTnP6v10zvbrnLhpcYzLzunPR3evTn6q8pbeTWIkXMrOI1Q/LJ04PZx6asO++7i2M0caMzholcs2O+ywbGAOHc/XVB7W3weW+gu0QRvCFAUHIZQTqU+Ag4pO2N6BM1yyQLG9ysayMGJ7mM5IAPRq4Z8VVyixUEturt1rG559FDdw0bITgMGwRk+AipTZe9whF2ogUpdyF3Uuw0hlClARxx0/TVVoxVRJ7UvYZAoht1hxnUVd3LZ6M6jTex98j8tPaFNlp1Ye+x+WntCoOlhQoUK0rPeWj4HF54ew1Y3WyctPwOHzw9hqxuqlChmhQqIOioURoQQ7+Lz0X2i1ue1tkxzbWEhbNxbwCW3ibhG2Sy6m6zg+0Kw1DhkPyXR8duhgwH1VaNpb8TS30N4ERJIVKAKSVZCTqVvAc1Gkvyf3cs28Dvc8JTBNrGMaSHjGkDqA6KgN6ry2L3CLblJedb3YzM3dCQktoIxxx6KcJvq67QN8kMQlaIxMvdaDlgdZGc6u5Ueio/a23I50cfglujO2ppED686tR4lj0np8dBe9kby2e1OatdpQhbhhojkH+JgM9y3SpIGcHhVItrHmNtW8IOoR38SA9oWUYJ8Ne0m9Cc+LmO0hS5A4ShpCFOnTrWItoDY68VC2t8yXMdx30kcomGrOGcNq7rrPGgn+WD4xufIj+xWrzebOgnk2THdZGYA0IzhTNEiOFcdeRxA/ymst3l2q17M80wUM4VSEyBhVC8Mk9Qp9tfeqa4W2DBENrp5pkBDAqFAJJPHvRQ1athXcv4y/l+Oc0TRJwwo6CmgHqKhiPHVT3xjZL+5EnA86x49hOQfoIobxbyy3kscsoRJI8aXjBVuBBUk5PEEcPHTm43vabSbu3trh1AAkkjIY46NWlgG9IoJq1HNbqy88Pf5WaJT0lTMpBGe0IzemnHKp3a2ksZzE8XcEdHEKR9Xqqm7a29NdlTMw0oMIigKiDsVRXrszeKWGLmSElh6opl1oOOe5619BoJ7khgY7SeXojhtpBIx70F2QqpPiQn0V4bN2ubf8LvoOg7RjUAf4okWSSRPSso9OKjrreeVoTBEscEJOWjgTQGP+Y9J+mo9b5vwfmBjm+cM2McS7LpJJ8QqGr1vrYRwSybShZSs1v+TAfpEy4aUeAJk+Nq8+Uhddvs+YcdVuFJ/VVv4mqZPfu8EULNmOEMsY7AxyRnr6eHYKdXu3JpoIoJCpjhAEYCgEADTxPSeFU1FYoEUuiNEIo6FGKACnez/fY/OJ7QpqKd7N9+i85H7YoOlKFChVVnnLV8Dh89/I1Y3Wx8tfwOHz38jVjlVKOhRUKIBp1Y7OeUEpp4EL3TBeJBPX4BTU05s9oyRAiNsAnV3qnjgjrHYTUU1Ip1Fs5mjMgKYAZsFwGwhAPc9PXQguwFKSAsndMFBC4kK4DE46B2V4wXDIGCnGtdDdHFc5x9VB7nZziLnMpp0hsaxqwW0juenOaZGpBNptzDRNkghVTGAFCtqORjjUeageXOz2RQxZCCwXuXB4lQ3HHVxpElqRJoJXvguoHuM8OOroxxo7m6yNEYKxghghOe70gM2fDjopC3B7hXyyIc6ejgSCwB8OKBEkZDFRxIJHc8QcdnaKdDZzawmpMlOczq4Y0lsZ7cUuC+RJUkjjK6MkgOckknGD1cCB6KK32kwk1vljoZB3WCAVKjiOzNA3jtydWSF0rqw3AnwAdZoRW5ZHbIATTkHpOo44UmeZnYs5JY9JPTwGK9ILnTHImO/CjpIxpOejroG9ORaHmw445LDABJAUAlj4ONNaeJfMIhGuRxYkhjxDAArjo6qBDQdwGBByCWAzlOOBq7M0FjGgtqAIIGnrOeseAV5pIQCASA2MjqODkZpcsgOnChcKAcZ4n5R8NA5ubQxnB6O57rBAyQGxx7AaNrfDgFhpJwJMHSQOkjwUm6vTI2TwUae5ySOAAzx7cUGusuCVGkHIj46QOweCgULfugGOkEEhiDgjqI8dec6AHAYNwHEeEcRS0uO6yQGAzhTnAHUB4BXiaAsUWKOkk0BrT3ZY93i87H7Ypkpp9sj4RD52L2xQdJUKKhWlZ5y1/A4fPfyNWOZrobfTd4X9pzasFcEPGxHDI6j4CCRWBXtk8UjxyDDozIwBBGVODx66JTagKWENDQaIQaKllDRaDUUihSih7KGg0CaFK0GhzZoE0KVzZo+bNAijpXNmgIjQJoV6c0ez1UfMN2eqoPKjr2/BW7PrFOLPZM0pIiTUQMnukHD0kVQypQqaXdO8P/8AH/uRf117puXenoh/7kX9VQV8UdWUbh335kfvY/6qUNwL780v72P76Cs5pWas/wDZ7ffm0/ep99H/AGeX35tP3qUFVzQxVrHJ3ffm0/erR/2dX3yE/erQVVaf7FXNzAB0maIfTItTq8nV9nvI/wB6tXDcnk+a3lE92yl14xovEK3ymJ6SOqg0KhR0K0r/2Q=="/>
          <p:cNvSpPr>
            <a:spLocks noChangeAspect="1" noChangeArrowheads="1"/>
          </p:cNvSpPr>
          <p:nvPr/>
        </p:nvSpPr>
        <p:spPr bwMode="auto">
          <a:xfrm>
            <a:off x="1679575" y="-1347788"/>
            <a:ext cx="2857500" cy="2819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sp>
        <p:nvSpPr>
          <p:cNvPr id="3" name="AutoShape 8" descr="data:image/jpeg;base64,/9j/4AAQSkZJRgABAQAAAQABAAD/2wCEAAkGBxQSEBQUDxQUFRQVFRQUFBQUFBQVFRUUFBQXFhQUFBUYHCggGBolHRQVITIhJSktLi4uFx8zODMsNygtLisBCgoKDgwOFQ8PFCwcFBwsLCwsLCwsLDc3LCwsLCwsLCwsLCwsLCwsLCwsLCwsNzcrLDcrLCssLDc3KyssNywsK//AABEIAN8A4gMBIgACEQEDEQH/xAAcAAAABwEBAAAAAAAAAAAAAAAAAQIEBQYHCAP/xABSEAACAQMBAwUJCgsFBwUBAAABAgMABBESBQYhBxMxQVEiMmFxcnOBsbIjMzQ1UnSRobPRFBYkU1SCkpPBwtIXJUJiojZjZIOEo8MVRrTh8EP/xAAXAQEBAQEAAAAAAAAAAAAAAAAAAQID/8QAGBEBAQEBAQAAAAAAAAAAAAAAAAERQTH/2gAMAwEAAhEDEQA/ANE3+3t/AY1WIBp5OKhslVUcC5A6fAKyyXfS+ZifwmQZ6lwB6BipjleP94L5iPH7clUisonPxwvf0mX6R91H+ON9+kyfSPuqCzRUE/8AjpffpMn+n7qP8db79Jk/0/dVfoqCw/jrf/pL/wCn7qP8d7/9Jf6F+6q7RUFj/Hm//SX+hPuoxv1f/pDfQn3VW6PNBZRv3f8A6Q37KfdRjfy//SD+yn3VWaOgs34+3/58/sp91GN/r/8APn9hPuqsUdBaBv8A3/5//Qn3Uf8AaDf/AJ4fu0+6qtQqC1DlDv8A88P3afdSxyiX/wCdX92n3VUwKFBbhyi3/wCcT92tLXlIvvlx/ulqoUKC4jlKvvlRfu//ALpQ5TL7/c/uz/VVMoU0XYcp172Qfu2/qo/7T735MH7Df11SKFQXf+1G8+TB+w/9dH/ajefIt/2H/rqjZoVNF5HKjefIt/2H/rqe3Y5S+dlWK7RU1kKsiZ06jwAYHOPHmsoFKzim1XTVCmOy5SYIieJMaEnwlRR100ZNywj+8E+bp9pLVGNXzllH5dEf+HX7WSqHUQVDNA0VAdAmioUAoUVWLdnc25vV1xKFi4gSOcBiOB0jpPjoK7Qqy7x7kXVmuuRQ8fW6HIXyh0iq1QHQFFQzQKBo6SDTixtHmkWKFS8jd6q9PhPgHhoPKhV1bkxvBHq9yLYzoD8fFnGM+mqfdWzRuUkUq6nDKRgg+Gg8hQoUKgPNAGk172Vq80ixwqzu3QqjJ8fgHhoPPNDNW2bk4vVj1aEJxnQrgt9xqpyxlWKsCCDggjBBHSCKgKizRURNAdGKTmlVAdGaKgalHRuyR+Tw+aj9gUKVsr3iLzaeyKOtqyrll+FwHttx9o/31QK0LlpH5VB5k+2fvrPKqUKFFQoDojQzQoPOc9zxOBwyewdZrp3ZVuscEaRABFRQoHRgAYrmRlBGD18K07cnlBMECwX0chCDSkyIWJUd6HXpyBwyOykVqVzAsiMjgFWBUg9YIwa5ov4gksiDoV2UeJWIFavvHykpzTLZJIzsCA7IyqmevB4k1kTk5OenPHx1aE0dFQqIOtM5ELZS13KQNatHGO0IVLHHjPqrMqsG5+3JbC451EZ0cBZUwe6UcVKnqYZoOg6yXlltVWeGRQAzowbw6SNJP049FWkcpFpo1Yn1Y7zmXznsz0enNZdvdtuS9uDKyFVA0ouD3Kjt8JPGrVQWaGaTRZqIWK07kRtFK3UxwXEixDtVAgfh4y3+msvBqybj7xvs+dm0M8MukSqBx7nOl18IyfHU6rfaxrletFS9Rk4GSIM+O0My59IA+irrLykWQTUplZscE5pw2ezJGB9NZLvLtiS8uGmlGM4Cr1Ko6AP/AN11bRFik4o80WaiDoZpJNDNQLoyaQDR5qDpTZg9wi82nsihStm+8x+bT2RQrSss5ax+UW/mn9sVnVaPy2D3e283J7S1m9aShRUeaKiBSXfAJPVSqd7FsPwi7t4Pzkqg+SvdP9QNRWt8nG5UcECXFwgeeRQ41AERKwyqqD/iwRk1fNA7B9FQu9u1WtbYNCAZXkihiBGQXkcIOHiJqbXo49PXWlFoHYPoqp77bmRXcTNEqpOoJVlAGvH+F8dOe2rdUBu9tl5bi8gmCh7eVQukY1QyLqiY+HgwPioOe3UgkHgRwI8NIdsAk9VWTlA2dzG0JlAwrHnF8TjPrzVVvz7m3iNZRtPJruXHHbx3N0geaVQ6q4yIlPFQAf8AFjBJ8NaCEHYPopnFOI7UOQcJCHIHThUyQPoo9i7SW5t4p4wQsqK6hsagGGQDjrqqd6B2D6KJolPSB9ApdR28O10s7aW4lDFIl1MFwWI8GSBVFI5SdzIjC1zbKEdBqkVRhXXrbA6COmsikbAJPVXSW2nD2Ux6mgkOD2GMmuap+geUvtCs0bZyfbjxQwJNcosk7gPhwCsQbiFUHrx0ntq8iJfkj6BTbat+tvbyTOCViRnIXGcKMkAGvTZ90JYo5FBAkRHAPSA6hgD4eNUehhX5K/QK8brZ0UilZI0ZTwIKg06qA2ttl4b+0hIXmbnnU1cdQmRS6DswQCPHVGO787DFndtGmebbu48/Jbq9ByKrxrWOWfZ+YoJwO9Zo28TDK/WD9NZNWKgUWaBNJJqBYNKryFegqDprZ49xj8hPZFCjsPeo/IX2RQrpist5bPfrXyJfaSs1rTOW0e6WvkzetKzOiUVA0KBogqvHI3s7nNoSTEcIIiF8uU49kN9NUc1s3Ixs3m9nmVh3VxI0n6i9wnsk+mixJbcXn9q2UPSsCyXcg/zcI4c+kufRVtqpbn+7Xd/dHiGmFrEf93bZDEeAuzfQKttVQqn7T/J9tW0vQt3E9s5/3kXukX1axVwqq8pNqxsTNH75ayR3SY6cwtlh6V1D00FY5adncIJwO2Jj/qX+askv/e38k10JvlbLe7Ldo+OY1nj6+9Ab1ZHprny+97fyTWaOlLv4vf5q32Rppyd/FVl83j9mnc/xe3zU/ZUz5OT/AHTZfN4/VVFjqp8qvxNe+ZPrFWyqpyqfE955k+sVRKX/AMXP82b7Kubp+geUntCukL74uf5q32Vc3z9A8pfaFZo6J39P913nzeT2TTzdn4Fa/N4fs1plygfFd583k9k0+3a+BW3zeH7NaokqqnKVERZc+g7u1liuVx04RxzgH6harXXhfWwlieNuKurIfEwwfXVEJvdbC72ZLo46ohKmOvA1rjxj11z6a3nk4n1bPWF+LWzSWjg9PuLFVz+rprFt4rHmLqaL5EjAeLOV+ois0R1CioxWUAClrScUpOkeMVKOnLL3pPIX2RQoWfvaeSvqFHXVWX8tw7q18U3rSswrUeW4fBf+d/JWW1Eo6FFQzRBGrnsPlIls7HmObV+bUrE+SMD/AAhh14zVMNSG7mz/AMJvbaDqeVS3kJl2z4MLUWN63J2eYLC3Ru/5sPJ5yTu3+tjU5RCjrShXncQh0ZGGVZSrDtDDBH116UVBjMW+s1hBJYNGrmHXDHISQQmSF1L14B9VZ5dLqRgOkg1fuV/ZnNXolHezIG/XTuW+rSfTVErI3o7x2zbJMglTBtiuMjVq5vTpK9Oc8Kccm3xRZZ/R4/VXPrdBroLk2+KLLzCVRYjKNWnIzjOM8cduKrPKfGW2ReKOkxED0kU1T/aFvmI+1FSPKD8WXPkfzCgZ3m8dsdlNIJVw1uVC5GrWY9OjT05zwrBZ+jxEH6Dn+FLNCpRuG/O8Vs+yLhklQ87CyoAQWLOMAY6R4fFVj3a+BW3zeH7Na5nu/e28k+qumN2vgVt83h+zWrKJKhRZoE1Rl28G3ZNk7RnMaK8V1pmKkkYkA0MwI7ccfRWc7a2m1zPJNJgM5yQOgcMAD0AVqPLNs/XbxTjpjYo3kv0fWv11kFYoOjoqFRB0tOkeMUilx9I8Y9dKOnLT3tPJX1ChQte8TyV9VCuisz5bhwtfHL6lrK61blu7y18qT1LWU1EoGio6FEEaXBMyMGRirDOGUkEZGDgikUVQOrvbVwEbE83R+cb766VsTmKPPWi+yK5avfe28RrqTZvvMfm09kVY0r3JjOz7MhaRizEy5ZiSTiVhxJrMuUDakybSuFSaRVDDCq7ADKKeAz4a0jkp+KofKm+2ess5SfjS58pfs1oIG7vpJMc7I746NTFsZ7M03oqGaiAx4Gug+TM/3RZeYSue26D4q6D5Mviiz8yv8aT1TJf9oj8x/wDKKk+UD4tufI/mFRn/ALi/6H/yipPf/wCLLnzf8RVHPVAUVAVEIu/e28k+qumN2vgVt83h+zWuZ7r3tvJPqrpjdv4FbeYh+zWkVBbuzMds7UUsxVVstKknC5iYnA6s0jlXlZNnEoxU87HxUkHpOeIpO7Px3tbybL7FqLld+LT52P8AjV4MWmvpGGHkdh2FmI+gmm4o6FZQKFCjoBXpD3w8Y9dIr1t++Xyl9YqUdNW/eL5I9VFSoe9XxD1UK6KzXluHuVt5b+yKyetZ5bh7jbecf2KyaolA0KFCiCNFR0VB43vvbeI+quo9me8RebT2RXLt4MxsB8k+qundjXCtawuGBXmkOrPDGkZOaRYr/JT8VxecuPt3rLOUn40ufKX7NK0/klmVtmIFIJWW4DAdRMzsM+gg+msu5R5Q207gqcjUoyO0IoI+kGiqzQoGgKiAeg10HyZH+6LPzK/xrnw9Fb3yU3SPsm2VCCY15tx1qyk5BH10nqvL/wBxf9CftRUnv/8AFtz5v+IqvvtSIbyAFxxtTDnPDnNYbRntxUzykXaR7NnDkAuoRR1liR0CqOf6AoqMCsoRde9t5J9VdM7t/ArbzEP2a1zPOuUYDrBFdIbnXyS2Fs0bAgQxqePesqAMG7CCDVioXdk/33tbxWX2LUnle+LT52P+NM909rRNtvaQDj3UW/N8Rh+ZQpJpPXgkUvlivUFksRYa3kVgvXhc5JHZQYxQoUdRAo6FHQGBXrAO7Xyl9YrzFe1t36+UvrFSjpiHvR4h6qFHF3o8Q9VFXRWcctw/J7bzrexWR1r3LaPya388fYNZBUSlUVCjogUnFKoqAqdR7RlWMxLI4jPSgY6ePTwprQNRTizv5YtXMyOmrvtDFc+PFNnbJyek0DRUBUVHQoAK97W7eMkxO6Z6dLFc+PHTXhR0Bs5JySc5znPHPTnPbXrcXkkmOcd3x0amLY8Wa8M0KAxShSRR0ChXrDcOgIR2UHvgrEA+MA8a8xR0ABIORwI4gjgR4jSppmc5dmY9rEk/SaTRVAKFCgKA6OhQFUGKcWvfp5S+sV4Cve098Ty19oVkdMR9A8QoUadAoVtWdctg/JYPPH2GrH62LlqH5JD57+Rqx2iVLbt7uzXrPzWlY4+MsznCJ148Jx1U5jsLEuEN3ICTpEhg9yz0AnjkL4at26qAbsSlO+YzlyOnPPY4/qgVnWz7Npp44IwC8raUycDIBPE9XAGgn9ibom42hNZ88oMKF+cALK2GVcD9r6qZ7e2XbW8c2i65yaIlea5plyQwVu6PDgMn0VaeTfZclrtuWGbGtbU6sHI7pomHHr6RVc32/A/ysRi45/W/FynN55zu+A44xnFFPNv7jSW9pFco3OoyK74GCgcAg46xx6agNibO/CGuBq08xbtcdGdWllXT4O+rSbbe8Ws1vBdYNrNZ2uc8RGzRBST2oeGezGaa3+6Bs5r6aHjbS2EoQg50sZIm0Z6xjJB7KCq7M3XWTZgvpJSq6nVkVNRGmXmxg549teuyt1YrxZPwG4LyxrqaGVNDEHo0nOD2VLbF/wBl389J/wDJFRvJJn/1dNPRzE2vsxlcZ9OKyGm5e64vpblJHaI26qxwoJOS4IIPRjRUftm2tI0U208sjl1VleLQAp4Fs54norQ9ymU7X2yU7zQvRw/xSZx6c1nO357QxAWsUqSB11NJKHBXsAAGDnFUWXau6FtbXMME9xLmfSEcRrpDMcKreM4FV7ejYbWVy0LsGwAysOGpW6DjqrVNsbEjutowc4+JYYFngiJwspQjix6e5bT0dorLd7NpTXF3I9yuiQHQUHDQE4BR4qgebibsf+otdJr0NAkTJwBDmTnODdgBjH01X9t20lqZFlXDx5yp7R/D76mt0LySGLaEkDFXRbFlYdomk4EdYIyCOwmrfty1j2/s5pbcKl9EhEkfW2Ae58KnpU+iqK/abqI+1zYc4wUIzCTA1EqqtjH6x+imW27GzhWVYpZ2mjJUK0ahCVbDd0PEatmy/wDar/lyfYrVb3rubXVcolu4m5yT3UzFhkOdR0Y4Z41Arbm7aQWFpcrIzNcKrFSAAuUDHGKjNi7OE63ZZiDb2/PKBjDMW04Pg6KtW9vxLso9XNL9mKgd0+82j4LIZ9Mq49VUPN1dh2l5LHAJbhZ2iMj9wnNhkC6wp6cZbhUfti0tI2EcDztIJ1ifnFQLpL6GZcddSXJT8cReYn/kqD2yv5Y4/wCK/wDPU4LTtHdW0gvYrSSS41TAaJBoKhjnAYY/y1V96dlmyuJYnOrm8EEdYKhlOO3BrWdobOim2nrzm7ht1ltkc4jbvxnHSSp9oGs4tEe82pm8x3DNPcau5VUgx3LdgyFWoHO8+6JtLS1myS0i4nHDCyFQwUdg6R6K891d3Y7q0vJ5HdWt86VXGG9z1DOR21adjQPdWN9azTQyyl3uoeak5wrrOvSezuwwHgao3k8GNm7WHo/7NUUUU4sh7onlp7QpuKcWXvieWntCiOl16KFAUK0rPuWj4HF54ew1Y5WyctHwOLzw9hqxqiVZ9zt6vwNJIZkMttLksgIDKxGCy57eyhs+5sILuK5je5bmnLrEY4xxwQFL6ujj9VVijoau2zt9o12tNfSRPpkhESxqQSCNHEk8OhPrqG3iurKdJ2iS4E8pLBndObBZ8t3K+DOKgqBoald5dqrcvEUUqEgihw2Dkxrpzw6qldj77PHYTWc6tIrIUhbOCgYd62elR1fRVS/xIPlOiZ7NbBc/XV6vdx4Ib2K0luZBJOPc2ES6CePBjqyDwNQR2yd5Yo9lixljkILOzOjKMlpOcAAPopGz95Y7NJBs+EpLKNLzytrk09QUAYUV7bP3ML7Wewlk06YmlEiqDqAK44E8M6vqqO2/s+0gWVYriaSaNigjMIVSwbSe61GinO5O8y2Mly8iNIZ0RODAEadWSSeknVUdtae0dALaGVH1qzM8uvKjiVA6B46lrvd+2tZI4b+WcSuqM7RInNRa+gHV3T46yKj9hWFrM6RTTTLLLOIoxHGpTSzAIzEngTnjQSe8W+rT3VtcwIYnthgZbOoZ4qfARkemmG+W3Y72fno4uaYjD91nUR0N4Djh6BXvvjsO2sTNGJpnnjVSoMaCNtShuLA5HA0+2rura2q2jTzT4ugnFFjwhfT056RlxQVnZl+IobqPTk3IgGrPeCFnbo686/qpewdryWlwk8Jwy8GHU6HvkbwerFSe8u6clvfpaQHnWm0811Eg5yX7AMEk9gr02psi0s5DFO888q45zmWjjjUkZKrqUljx7aBdtvYF2q1/zWSVZRHq6CwVc6vEv1032tta1mEhS1KTSEtzpmdsEtlu46OPGvTbm7iJaR3tpIZbZ+BLgK8bZIKuBw6QR46XHu4kFpHc7QaQGbjDbxaVcrjOqR2B0jBBxjrqBNjvGv4GtndxGWKM5iZX0SR8e9B6COJHHqprPtSNYXitIjEspUyszl5JAvFFLdAUZJwKk9i7Bt75JVszLHcxLr5mVldZEzjKOqjBzw49opvuZu3+HTXMZLK0MOpcY4ysxCq+R0dyeigZbq7YNldi5CayI3jCk4HdlTnP6v10zvbrnLhpcYzLzunPR3evTn6q8pbeTWIkXMrOI1Q/LJ04PZx6asO++7i2M0caMzholcs2O+ywbGAOHc/XVB7W3weW+gu0QRvCFAUHIZQTqU+Ag4pO2N6BM1yyQLG9ysayMGJ7mM5IAPRq4Z8VVyixUEturt1rG559FDdw0bITgMGwRk+AipTZe9whF2ogUpdyF3Uuw0hlClARxx0/TVVoxVRJ7UvYZAoht1hxnUVd3LZ6M6jTex98j8tPaFNlp1Ye+x+WntCoOlhQoUK0rPeWj4HF54ew1Y3WyctPwOHzw9hqxuqlChmhQqIOioURoQQ7+Lz0X2i1ue1tkxzbWEhbNxbwCW3ibhG2Sy6m6zg+0Kw1DhkPyXR8duhgwH1VaNpb8TS30N4ERJIVKAKSVZCTqVvAc1Gkvyf3cs28Dvc8JTBNrGMaSHjGkDqA6KgN6ry2L3CLblJedb3YzM3dCQktoIxxx6KcJvq67QN8kMQlaIxMvdaDlgdZGc6u5Ueio/a23I50cfglujO2ppED686tR4lj0np8dBe9kby2e1OatdpQhbhhojkH+JgM9y3SpIGcHhVItrHmNtW8IOoR38SA9oWUYJ8Ne0m9Cc+LmO0hS5A4ShpCFOnTrWItoDY68VC2t8yXMdx30kcomGrOGcNq7rrPGgn+WD4xufIj+xWrzebOgnk2THdZGYA0IzhTNEiOFcdeRxA/ymst3l2q17M80wUM4VSEyBhVC8Mk9Qp9tfeqa4W2DBENrp5pkBDAqFAJJPHvRQ1athXcv4y/l+Oc0TRJwwo6CmgHqKhiPHVT3xjZL+5EnA86x49hOQfoIobxbyy3kscsoRJI8aXjBVuBBUk5PEEcPHTm43vabSbu3trh1AAkkjIY46NWlgG9IoJq1HNbqy88Pf5WaJT0lTMpBGe0IzemnHKp3a2ksZzE8XcEdHEKR9Xqqm7a29NdlTMw0oMIigKiDsVRXrszeKWGLmSElh6opl1oOOe5619BoJ7khgY7SeXojhtpBIx70F2QqpPiQn0V4bN2ubf8LvoOg7RjUAf4okWSSRPSso9OKjrreeVoTBEscEJOWjgTQGP+Y9J+mo9b5vwfmBjm+cM2McS7LpJJ8QqGr1vrYRwSybShZSs1v+TAfpEy4aUeAJk+Nq8+Uhddvs+YcdVuFJ/VVv4mqZPfu8EULNmOEMsY7AxyRnr6eHYKdXu3JpoIoJCpjhAEYCgEADTxPSeFU1FYoEUuiNEIo6FGKACnez/fY/OJ7QpqKd7N9+i85H7YoOlKFChVVnnLV8Dh89/I1Y3Wx8tfwOHz38jVjlVKOhRUKIBp1Y7OeUEpp4EL3TBeJBPX4BTU05s9oyRAiNsAnV3qnjgjrHYTUU1Ip1Fs5mjMgKYAZsFwGwhAPc9PXQguwFKSAsndMFBC4kK4DE46B2V4wXDIGCnGtdDdHFc5x9VB7nZziLnMpp0hsaxqwW0juenOaZGpBNptzDRNkghVTGAFCtqORjjUeageXOz2RQxZCCwXuXB4lQ3HHVxpElqRJoJXvguoHuM8OOroxxo7m6yNEYKxghghOe70gM2fDjopC3B7hXyyIc6ejgSCwB8OKBEkZDFRxIJHc8QcdnaKdDZzawmpMlOczq4Y0lsZ7cUuC+RJUkjjK6MkgOckknGD1cCB6KK32kwk1vljoZB3WCAVKjiOzNA3jtydWSF0rqw3AnwAdZoRW5ZHbIATTkHpOo44UmeZnYs5JY9JPTwGK9ILnTHImO/CjpIxpOejroG9ORaHmw445LDABJAUAlj4ONNaeJfMIhGuRxYkhjxDAArjo6qBDQdwGBByCWAzlOOBq7M0FjGgtqAIIGnrOeseAV5pIQCASA2MjqODkZpcsgOnChcKAcZ4n5R8NA5ubQxnB6O57rBAyQGxx7AaNrfDgFhpJwJMHSQOkjwUm6vTI2TwUae5ySOAAzx7cUGusuCVGkHIj46QOweCgULfugGOkEEhiDgjqI8dec6AHAYNwHEeEcRS0uO6yQGAzhTnAHUB4BXiaAsUWKOkk0BrT3ZY93i87H7Ypkpp9sj4RD52L2xQdJUKKhWlZ5y1/A4fPfyNWOZrobfTd4X9pzasFcEPGxHDI6j4CCRWBXtk8UjxyDDozIwBBGVODx66JTagKWENDQaIQaKllDRaDUUihSih7KGg0CaFK0GhzZoE0KVzZo+bNAijpXNmgIjQJoV6c0ez1UfMN2eqoPKjr2/BW7PrFOLPZM0pIiTUQMnukHD0kVQypQqaXdO8P/8AH/uRf117puXenoh/7kX9VQV8UdWUbh335kfvY/6qUNwL780v72P76Cs5pWas/wDZ7ffm0/ep99H/AGeX35tP3qUFVzQxVrHJ3ffm0/erR/2dX3yE/erQVVaf7FXNzAB0maIfTItTq8nV9nvI/wB6tXDcnk+a3lE92yl14xovEK3ymJ6SOqg0KhR0K0r/2Q=="/>
          <p:cNvSpPr>
            <a:spLocks noChangeAspect="1" noChangeArrowheads="1"/>
          </p:cNvSpPr>
          <p:nvPr/>
        </p:nvSpPr>
        <p:spPr bwMode="auto">
          <a:xfrm>
            <a:off x="1831975" y="-1195388"/>
            <a:ext cx="2857500" cy="2819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pic>
        <p:nvPicPr>
          <p:cNvPr id="1034" name="Picture 10" descr="http://lgbtweekly.com/wp-content/uploads/2015/02/wpid-167_4817_6960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4267200"/>
            <a:ext cx="2286000" cy="2257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7152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The Seeds of Regeneration</a:t>
            </a:r>
          </a:p>
        </p:txBody>
      </p:sp>
      <p:sp>
        <p:nvSpPr>
          <p:cNvPr id="13315" name="Oval 3"/>
          <p:cNvSpPr>
            <a:spLocks noChangeArrowheads="1"/>
          </p:cNvSpPr>
          <p:nvPr/>
        </p:nvSpPr>
        <p:spPr bwMode="auto">
          <a:xfrm>
            <a:off x="2819400" y="2438400"/>
            <a:ext cx="18288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/>
              <a:t>motility</a:t>
            </a:r>
          </a:p>
        </p:txBody>
      </p:sp>
      <p:sp>
        <p:nvSpPr>
          <p:cNvPr id="13317" name="Oval 5"/>
          <p:cNvSpPr>
            <a:spLocks noChangeArrowheads="1"/>
          </p:cNvSpPr>
          <p:nvPr/>
        </p:nvSpPr>
        <p:spPr bwMode="auto">
          <a:xfrm>
            <a:off x="6400800" y="2819400"/>
            <a:ext cx="3733800" cy="1676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/>
              <a:t>Synthesize sedimented </a:t>
            </a:r>
          </a:p>
          <a:p>
            <a:pPr algn="ctr"/>
            <a:r>
              <a:rPr lang="en-US" sz="2000"/>
              <a:t>meanings</a:t>
            </a:r>
          </a:p>
        </p:txBody>
      </p:sp>
      <p:sp>
        <p:nvSpPr>
          <p:cNvPr id="13318" name="Oval 6"/>
          <p:cNvSpPr>
            <a:spLocks noChangeArrowheads="1"/>
          </p:cNvSpPr>
          <p:nvPr/>
        </p:nvSpPr>
        <p:spPr bwMode="auto">
          <a:xfrm>
            <a:off x="1524000" y="4876800"/>
            <a:ext cx="2057400" cy="1295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/>
              <a:t>Intentionality</a:t>
            </a:r>
          </a:p>
        </p:txBody>
      </p:sp>
      <p:sp>
        <p:nvSpPr>
          <p:cNvPr id="13319" name="Oval 7"/>
          <p:cNvSpPr>
            <a:spLocks noChangeArrowheads="1"/>
          </p:cNvSpPr>
          <p:nvPr/>
        </p:nvSpPr>
        <p:spPr bwMode="auto">
          <a:xfrm>
            <a:off x="3886200" y="4572000"/>
            <a:ext cx="2743200" cy="1447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/>
              <a:t>Situated body subject</a:t>
            </a:r>
          </a:p>
        </p:txBody>
      </p:sp>
      <p:sp>
        <p:nvSpPr>
          <p:cNvPr id="13320" name="Oval 8"/>
          <p:cNvSpPr>
            <a:spLocks noChangeArrowheads="1"/>
          </p:cNvSpPr>
          <p:nvPr/>
        </p:nvSpPr>
        <p:spPr bwMode="auto">
          <a:xfrm>
            <a:off x="6629400" y="5029200"/>
            <a:ext cx="2743200" cy="1447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/>
              <a:t>Energy fields</a:t>
            </a:r>
          </a:p>
        </p:txBody>
      </p:sp>
      <p:sp>
        <p:nvSpPr>
          <p:cNvPr id="13321" name="Oval 9"/>
          <p:cNvSpPr>
            <a:spLocks noChangeArrowheads="1"/>
          </p:cNvSpPr>
          <p:nvPr/>
        </p:nvSpPr>
        <p:spPr bwMode="auto">
          <a:xfrm>
            <a:off x="5943600" y="1905000"/>
            <a:ext cx="32766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/>
              <a:t>Warrants for discourse</a:t>
            </a:r>
          </a:p>
        </p:txBody>
      </p:sp>
    </p:spTree>
    <p:extLst>
      <p:ext uri="{BB962C8B-B14F-4D97-AF65-F5344CB8AC3E}">
        <p14:creationId xmlns:p14="http://schemas.microsoft.com/office/powerpoint/2010/main" val="3071710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" fill="hold"/>
                                        <p:tgtEl>
                                          <p:spTgt spid="133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" fill="hold"/>
                                        <p:tgtEl>
                                          <p:spTgt spid="133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animBg="1" autoUpdateAnimBg="0"/>
      <p:bldP spid="13317" grpId="0" animBg="1" autoUpdateAnimBg="0"/>
      <p:bldP spid="13318" grpId="0" animBg="1" autoUpdateAnimBg="0"/>
      <p:bldP spid="13319" grpId="0" animBg="1" autoUpdateAnimBg="0"/>
      <p:bldP spid="13320" grpId="0" build="p" autoUpdateAnimBg="0"/>
      <p:bldP spid="13321" grpId="0" animBg="1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9A9CC-9AE1-44B1-925E-771C222A7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Fifth reflective pause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83F05-105D-45D4-B642-7D5AAC012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Think back to the YouTube on getting to yes – what the seeds of regeneration imply is a network where negotiation dominates directives</a:t>
            </a:r>
          </a:p>
          <a:p>
            <a:pPr lvl="1"/>
            <a:r>
              <a:rPr lang="en-US" dirty="0"/>
              <a:t>Motility refers to an organism’s ability to move independently of outside influences – contrasts with mobility which is being moved  </a:t>
            </a:r>
          </a:p>
          <a:p>
            <a:pPr lvl="1"/>
            <a:r>
              <a:rPr lang="en-US" dirty="0"/>
              <a:t>The other seeds of regeneration are restatements of Habermas’s warrants for discourse</a:t>
            </a:r>
          </a:p>
          <a:p>
            <a:r>
              <a:rPr lang="en-US" dirty="0"/>
              <a:t>Have you seen a move toward networking rather than structure in your work?  Both? Does one seem to dominate?</a:t>
            </a:r>
          </a:p>
        </p:txBody>
      </p:sp>
    </p:spTree>
    <p:extLst>
      <p:ext uri="{BB962C8B-B14F-4D97-AF65-F5344CB8AC3E}">
        <p14:creationId xmlns:p14="http://schemas.microsoft.com/office/powerpoint/2010/main" val="20700311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Experiments in discourse</a:t>
            </a:r>
          </a:p>
        </p:txBody>
      </p:sp>
      <p:sp>
        <p:nvSpPr>
          <p:cNvPr id="43011" name="Oval 4"/>
          <p:cNvSpPr>
            <a:spLocks noChangeArrowheads="1"/>
          </p:cNvSpPr>
          <p:nvPr/>
        </p:nvSpPr>
        <p:spPr bwMode="auto">
          <a:xfrm>
            <a:off x="4724400" y="1752600"/>
            <a:ext cx="5562600" cy="3657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/>
              <a:t>MANY TALK</a:t>
            </a:r>
          </a:p>
        </p:txBody>
      </p:sp>
      <p:sp>
        <p:nvSpPr>
          <p:cNvPr id="14341" name="Oval 5"/>
          <p:cNvSpPr>
            <a:spLocks noChangeArrowheads="1"/>
          </p:cNvSpPr>
          <p:nvPr/>
        </p:nvSpPr>
        <p:spPr bwMode="auto">
          <a:xfrm>
            <a:off x="3276600" y="5486400"/>
            <a:ext cx="15240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FEW TALK</a:t>
            </a:r>
          </a:p>
        </p:txBody>
      </p:sp>
      <p:sp>
        <p:nvSpPr>
          <p:cNvPr id="14342" name="Oval 6"/>
          <p:cNvSpPr>
            <a:spLocks noChangeArrowheads="1"/>
          </p:cNvSpPr>
          <p:nvPr/>
        </p:nvSpPr>
        <p:spPr bwMode="auto">
          <a:xfrm>
            <a:off x="1524000" y="2209800"/>
            <a:ext cx="2971800" cy="1752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/>
              <a:t>SOME TALK</a:t>
            </a:r>
          </a:p>
        </p:txBody>
      </p:sp>
    </p:spTree>
    <p:extLst>
      <p:ext uri="{BB962C8B-B14F-4D97-AF65-F5344CB8AC3E}">
        <p14:creationId xmlns:p14="http://schemas.microsoft.com/office/powerpoint/2010/main" val="3259456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1" grpId="0" animBg="1" autoUpdateAnimBg="0"/>
      <p:bldP spid="14342" grpId="0" animBg="1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698BA-9139-482C-952E-69F0DC089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reflective pause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F88B6-D074-4779-8738-DCE789AE5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many talk – chaos</a:t>
            </a:r>
          </a:p>
          <a:p>
            <a:r>
              <a:rPr lang="en-US" dirty="0"/>
              <a:t>If few talk – monologic communication</a:t>
            </a:r>
          </a:p>
          <a:p>
            <a:r>
              <a:rPr lang="en-US" dirty="0"/>
              <a:t>If some talk – situational regarding intentionality – true discourse</a:t>
            </a:r>
          </a:p>
          <a:p>
            <a:r>
              <a:rPr lang="en-US" dirty="0"/>
              <a:t>What talk dominates in your </a:t>
            </a:r>
            <a:r>
              <a:rPr lang="en-US"/>
              <a:t>organizational experience.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827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1178</Words>
  <Application>Microsoft Office PowerPoint</Application>
  <PresentationFormat>Widescreen</PresentationFormat>
  <Paragraphs>137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Times New Roman</vt:lpstr>
      <vt:lpstr>Office Theme</vt:lpstr>
      <vt:lpstr>Default Design</vt:lpstr>
      <vt:lpstr>The organization as words and action</vt:lpstr>
      <vt:lpstr>Is authentic public discourse possible?</vt:lpstr>
      <vt:lpstr>Where we’ve been – Where we’re going</vt:lpstr>
      <vt:lpstr> </vt:lpstr>
      <vt:lpstr>The Separation</vt:lpstr>
      <vt:lpstr>The Battle for reunification</vt:lpstr>
      <vt:lpstr>The seeds of destruction have been sown</vt:lpstr>
      <vt:lpstr>First Reflective Pause</vt:lpstr>
      <vt:lpstr>So what are the implications of hyperreality and epiphenomenalism</vt:lpstr>
      <vt:lpstr>Organizations: there is no there, there</vt:lpstr>
      <vt:lpstr>Second reflective pause</vt:lpstr>
      <vt:lpstr>The Signifier Dominates the Signified</vt:lpstr>
      <vt:lpstr>Problematizing Accountability</vt:lpstr>
      <vt:lpstr>Five barriers to objective accountability</vt:lpstr>
      <vt:lpstr>Third reflective pause</vt:lpstr>
      <vt:lpstr>Barriers to transparency</vt:lpstr>
      <vt:lpstr>Fourth reflective pause</vt:lpstr>
      <vt:lpstr>Politics: Ideographic Discourse </vt:lpstr>
      <vt:lpstr>PowerPoint Presentation</vt:lpstr>
      <vt:lpstr>The Seeds of Regeneration</vt:lpstr>
      <vt:lpstr>Fifth reflective pause</vt:lpstr>
      <vt:lpstr>Experiments in discourse</vt:lpstr>
      <vt:lpstr>Final reflective pause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organization as words and action</dc:title>
  <dc:creator>James Gislsinan</dc:creator>
  <cp:lastModifiedBy>James Gislsinan</cp:lastModifiedBy>
  <cp:revision>8</cp:revision>
  <dcterms:created xsi:type="dcterms:W3CDTF">2020-03-30T18:45:27Z</dcterms:created>
  <dcterms:modified xsi:type="dcterms:W3CDTF">2020-03-30T19:58:44Z</dcterms:modified>
</cp:coreProperties>
</file>